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71" r:id="rId2"/>
    <p:sldId id="275" r:id="rId3"/>
    <p:sldId id="276" r:id="rId4"/>
    <p:sldId id="277" r:id="rId5"/>
    <p:sldId id="278" r:id="rId6"/>
    <p:sldId id="279" r:id="rId7"/>
    <p:sldId id="280" r:id="rId8"/>
    <p:sldId id="281" r:id="rId9"/>
    <p:sldId id="282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44"/>
    <p:restoredTop sz="94659"/>
  </p:normalViewPr>
  <p:slideViewPr>
    <p:cSldViewPr snapToGrid="0" snapToObjects="1">
      <p:cViewPr varScale="1">
        <p:scale>
          <a:sx n="146" d="100"/>
          <a:sy n="146" d="100"/>
        </p:scale>
        <p:origin x="936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D3419C-A357-C54A-B2C2-0F9B03EA96E5}" type="datetimeFigureOut">
              <a:rPr lang="en-US" smtClean="0"/>
              <a:t>8/31/26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ABA392-52C1-0A41-834B-02666ED08D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2830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4693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859A46D-E9AF-41F1-9AAA-A7CC6702603D}"/>
              </a:ext>
            </a:extLst>
          </p:cNvPr>
          <p:cNvSpPr>
            <a:spLocks noGrp="1"/>
          </p:cNvSpPr>
          <p:nvPr/>
        </p:nvSpPr>
        <p:spPr>
          <a:xfrm>
            <a:off x="685800" y="566928"/>
            <a:ext cx="10820095" cy="0"/>
          </a:xfrm>
          <a:prstGeom prst="line">
            <a:avLst/>
          </a:prstGeom>
          <a:noFill/>
          <a:ln w="12700">
            <a:solidFill>
              <a:srgbClr val="B9C2CE"/>
            </a:solidFill>
            <a:prstDash val="solid"/>
          </a:ln>
        </p:spPr>
        <p:txBody>
          <a:bodyPr/>
          <a:lstStyle/>
          <a:p>
            <a:endParaRPr sz="24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6AB96FD-DE45-4000-8C11-5F1EC1B13424}"/>
              </a:ext>
            </a:extLst>
          </p:cNvPr>
          <p:cNvSpPr>
            <a:spLocks noGrp="1"/>
          </p:cNvSpPr>
          <p:nvPr/>
        </p:nvSpPr>
        <p:spPr>
          <a:xfrm>
            <a:off x="685800" y="1975104"/>
            <a:ext cx="10820095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800" b="1">
                <a:latin typeface="Times New Roman"/>
                <a:ea typeface="Times New Roman"/>
                <a:cs typeface="Times New Roman"/>
              </a:rPr>
              <a:t>WEEKLY UPDATE</a:t>
            </a:r>
            <a:endParaRPr sz="28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C836C77-B985-4660-843E-8A4A677D08D0}"/>
              </a:ext>
            </a:extLst>
          </p:cNvPr>
          <p:cNvSpPr>
            <a:spLocks noGrp="1"/>
          </p:cNvSpPr>
          <p:nvPr/>
        </p:nvSpPr>
        <p:spPr>
          <a:xfrm>
            <a:off x="685799" y="2441449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200" b="1">
                <a:latin typeface="Times New Roman"/>
                <a:ea typeface="Times New Roman"/>
                <a:cs typeface="Times New Roman"/>
              </a:rPr>
              <a:t>Argonne National Laboratory</a:t>
            </a:r>
            <a:endParaRPr sz="32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22F3EE0A-42ED-4742-8E25-822DF32F72D1}"/>
              </a:ext>
            </a:extLst>
          </p:cNvPr>
          <p:cNvSpPr>
            <a:spLocks noGrp="1"/>
          </p:cNvSpPr>
          <p:nvPr/>
        </p:nvSpPr>
        <p:spPr>
          <a:xfrm>
            <a:off x="759372" y="342900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altLang="zh-CN" dirty="0">
                <a:latin typeface="Times New Roman"/>
                <a:ea typeface="Times New Roman"/>
                <a:cs typeface="Times New Roman"/>
              </a:rPr>
              <a:t>Sep</a:t>
            </a:r>
            <a:r>
              <a:rPr dirty="0">
                <a:latin typeface="Times New Roman"/>
                <a:ea typeface="Times New Roman"/>
                <a:cs typeface="Times New Roman"/>
              </a:rPr>
              <a:t> </a:t>
            </a:r>
            <a:r>
              <a:rPr lang="en-US" altLang="zh-CN" dirty="0">
                <a:latin typeface="Times New Roman"/>
                <a:ea typeface="Times New Roman"/>
                <a:cs typeface="Times New Roman"/>
              </a:rPr>
              <a:t>1st</a:t>
            </a:r>
            <a:r>
              <a:rPr dirty="0">
                <a:latin typeface="Times New Roman"/>
                <a:ea typeface="Times New Roman"/>
                <a:cs typeface="Times New Roman"/>
              </a:rPr>
              <a:t>, 2026</a:t>
            </a: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E9D348F4-78A6-4350-BF92-D8C0CC1D2BA7}"/>
              </a:ext>
            </a:extLst>
          </p:cNvPr>
          <p:cNvSpPr>
            <a:spLocks noGrp="1"/>
          </p:cNvSpPr>
          <p:nvPr/>
        </p:nvSpPr>
        <p:spPr>
          <a:xfrm>
            <a:off x="685800" y="6291072"/>
            <a:ext cx="10820095" cy="0"/>
          </a:xfrm>
          <a:prstGeom prst="line">
            <a:avLst/>
          </a:prstGeom>
          <a:noFill/>
          <a:ln w="12700">
            <a:solidFill>
              <a:srgbClr val="B9C2CE"/>
            </a:solidFill>
            <a:prstDash val="solid"/>
          </a:ln>
        </p:spPr>
        <p:txBody>
          <a:bodyPr/>
          <a:lstStyle/>
          <a:p>
            <a:endParaRPr sz="24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1" name="PageNumber"/>
          <p:cNvSpPr txBox="1"/>
          <p:nvPr/>
        </p:nvSpPr>
        <p:spPr>
          <a:xfrm>
            <a:off x="11109960" y="6382512"/>
            <a:ext cx="8686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100">
                <a:solidFill>
                  <a:srgbClr val="777777"/>
                </a:solidFill>
                <a:latin typeface="Calibr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0832300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0ED63D0-A434-EA70-4EF0-00EB021C5844}"/>
              </a:ext>
            </a:extLst>
          </p:cNvPr>
          <p:cNvSpPr txBox="1"/>
          <p:nvPr/>
        </p:nvSpPr>
        <p:spPr>
          <a:xfrm>
            <a:off x="669070" y="727595"/>
            <a:ext cx="1067171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1. What are the current gaps for RAS Problems 1–3?</a:t>
            </a:r>
          </a:p>
          <a:p>
            <a:r>
              <a:rPr lang="en-US" dirty="0"/>
              <a:t>2. Is Problem 3 completed under the current physical validator?</a:t>
            </a:r>
          </a:p>
          <a:p>
            <a:r>
              <a:rPr lang="en-US" dirty="0"/>
              <a:t>3. What does OFQ actually contribute relative to standard LR/DP?</a:t>
            </a:r>
          </a:p>
          <a:p>
            <a:r>
              <a:rPr lang="en-US" dirty="0"/>
              <a:t>4. Can the current solver move from RAS benchmarks to Version A corridor instances?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C63139-127B-DC68-49E0-00DAED0607DE}"/>
              </a:ext>
            </a:extLst>
          </p:cNvPr>
          <p:cNvSpPr txBox="1"/>
          <p:nvPr/>
        </p:nvSpPr>
        <p:spPr>
          <a:xfrm>
            <a:off x="379140" y="142890"/>
            <a:ext cx="60997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Questions</a:t>
            </a:r>
            <a:r>
              <a:rPr lang="en-US" sz="2400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0FB994-DF71-C498-3506-9A5DF31EDB4A}"/>
              </a:ext>
            </a:extLst>
          </p:cNvPr>
          <p:cNvSpPr txBox="1"/>
          <p:nvPr/>
        </p:nvSpPr>
        <p:spPr>
          <a:xfrm>
            <a:off x="669070" y="2174003"/>
            <a:ext cx="9813075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RAS benchmark</a:t>
            </a:r>
            <a:endParaRPr lang="en-US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P1 gap: </a:t>
            </a:r>
            <a:r>
              <a:rPr lang="en-US" b="1" dirty="0"/>
              <a:t>14.86%</a:t>
            </a:r>
            <a:r>
              <a:rPr lang="en-US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P2 gap: </a:t>
            </a:r>
            <a:r>
              <a:rPr lang="en-US" b="1" dirty="0"/>
              <a:t>57.75%</a:t>
            </a:r>
            <a:r>
              <a:rPr lang="en-US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P3 gap: </a:t>
            </a:r>
            <a:r>
              <a:rPr lang="en-US" b="1" dirty="0"/>
              <a:t>29.83%</a:t>
            </a:r>
            <a:r>
              <a:rPr lang="en-US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All three current UBs: </a:t>
            </a:r>
            <a:r>
              <a:rPr lang="en-US" b="1" dirty="0"/>
              <a:t>0 physical conflicts</a:t>
            </a:r>
            <a:r>
              <a:rPr lang="en-US" dirty="0"/>
              <a:t> 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Corridor</a:t>
            </a:r>
            <a:endParaRPr lang="en-US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Version A data/objective/validator integration: </a:t>
            </a:r>
            <a:r>
              <a:rPr lang="en-US" b="1" dirty="0"/>
              <a:t>completed</a:t>
            </a:r>
            <a:r>
              <a:rPr lang="en-US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Feasible recovery on native corridors: </a:t>
            </a:r>
            <a:r>
              <a:rPr lang="en-US" b="1" dirty="0"/>
              <a:t>not yet completed</a:t>
            </a:r>
            <a:r>
              <a:rPr lang="en-US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Current bottleneck: </a:t>
            </a:r>
            <a:r>
              <a:rPr lang="en-US" b="1" dirty="0"/>
              <a:t>bootstrap fails before pair/LNS recovery</a:t>
            </a:r>
            <a:r>
              <a:rPr lang="en-US" dirty="0"/>
              <a:t> 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Original Fluid Queue</a:t>
            </a:r>
            <a:r>
              <a:rPr lang="zh-CN" altLang="en-US" b="1" dirty="0"/>
              <a:t> </a:t>
            </a:r>
            <a:endParaRPr lang="en-US" altLang="zh-C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Mechanism established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Incremental benefit still requires formal ablation</a:t>
            </a:r>
          </a:p>
        </p:txBody>
      </p:sp>
      <p:sp>
        <p:nvSpPr>
          <p:cNvPr id="8" name="PageNumber">
            <a:extLst>
              <a:ext uri="{FF2B5EF4-FFF2-40B4-BE49-F238E27FC236}">
                <a16:creationId xmlns:a16="http://schemas.microsoft.com/office/drawing/2014/main" id="{98D3B6F6-35AC-E4CC-B930-E955F7949203}"/>
              </a:ext>
            </a:extLst>
          </p:cNvPr>
          <p:cNvSpPr txBox="1"/>
          <p:nvPr/>
        </p:nvSpPr>
        <p:spPr>
          <a:xfrm>
            <a:off x="11583120" y="6382512"/>
            <a:ext cx="72135" cy="1692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zh-CN" sz="1100" dirty="0">
                <a:solidFill>
                  <a:srgbClr val="777777"/>
                </a:solidFill>
                <a:latin typeface="Calibri"/>
              </a:rPr>
              <a:t>2</a:t>
            </a:r>
            <a:endParaRPr sz="1100" dirty="0">
              <a:solidFill>
                <a:srgbClr val="777777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315047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261FCB0-B73D-C4AE-C06B-473DEC869778}"/>
              </a:ext>
            </a:extLst>
          </p:cNvPr>
          <p:cNvSpPr txBox="1"/>
          <p:nvPr/>
        </p:nvSpPr>
        <p:spPr>
          <a:xfrm>
            <a:off x="496230" y="345017"/>
            <a:ext cx="60997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RAS P1–P3 Benchmark Scorecard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E105A9-3193-ED16-653C-E7F2304DE4BE}"/>
              </a:ext>
            </a:extLst>
          </p:cNvPr>
          <p:cNvSpPr txBox="1"/>
          <p:nvPr/>
        </p:nvSpPr>
        <p:spPr>
          <a:xfrm>
            <a:off x="618150" y="3643255"/>
            <a:ext cx="609971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P1 currently has the smallest gap; P2 is substantially harder.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The current recovery pipeline produces physically validated schedules for all three RAS instances.</a:t>
            </a:r>
          </a:p>
        </p:txBody>
      </p:sp>
      <p:sp>
        <p:nvSpPr>
          <p:cNvPr id="8" name="PageNumber">
            <a:extLst>
              <a:ext uri="{FF2B5EF4-FFF2-40B4-BE49-F238E27FC236}">
                <a16:creationId xmlns:a16="http://schemas.microsoft.com/office/drawing/2014/main" id="{CDDC7760-C08C-DB6F-F21F-26B5239EE405}"/>
              </a:ext>
            </a:extLst>
          </p:cNvPr>
          <p:cNvSpPr txBox="1"/>
          <p:nvPr/>
        </p:nvSpPr>
        <p:spPr>
          <a:xfrm>
            <a:off x="11583120" y="6382512"/>
            <a:ext cx="72135" cy="1692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zh-CN" sz="1100" dirty="0">
                <a:solidFill>
                  <a:srgbClr val="777777"/>
                </a:solidFill>
                <a:latin typeface="Calibri"/>
              </a:rPr>
              <a:t>3</a:t>
            </a:r>
            <a:endParaRPr sz="1100" dirty="0">
              <a:solidFill>
                <a:srgbClr val="777777"/>
              </a:solidFill>
              <a:latin typeface="Calibri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8D69FBA-D948-AB36-A731-299217F7E6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9643625"/>
              </p:ext>
            </p:extLst>
          </p:nvPr>
        </p:nvGraphicFramePr>
        <p:xfrm>
          <a:off x="618150" y="1177763"/>
          <a:ext cx="8229600" cy="17373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028700">
                  <a:extLst>
                    <a:ext uri="{9D8B030D-6E8A-4147-A177-3AD203B41FA5}">
                      <a16:colId xmlns:a16="http://schemas.microsoft.com/office/drawing/2014/main" val="2575260980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597678076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533110546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28514596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137935693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00372069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742668520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3801364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Problem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Trains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LB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Validated UB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Gap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dirty="0"/>
                        <a:t>Runtime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Conflicts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Status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26826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RAS</a:t>
                      </a:r>
                      <a:r>
                        <a:rPr lang="zh-CN" altLang="en-US" dirty="0"/>
                        <a:t> </a:t>
                      </a:r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dirty="0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1817.10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2134.21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14.86%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68.3 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Feasible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72048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RAS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2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2653.81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6281.93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57.75%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dirty="0"/>
                        <a:t>456.0 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Feasible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8287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RAS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3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dirty="0"/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3366.82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4797.85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29.83%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/>
                        <a:t>1456.56</a:t>
                      </a:r>
                      <a:r>
                        <a:rPr lang="en-US" altLang="zh-CN" b="0"/>
                        <a:t>s</a:t>
                      </a:r>
                      <a:endParaRPr lang="en-US" b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Feasible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99879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5244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0B08275-EA69-28E0-A334-83F8A74BA20B}"/>
              </a:ext>
            </a:extLst>
          </p:cNvPr>
          <p:cNvSpPr txBox="1"/>
          <p:nvPr/>
        </p:nvSpPr>
        <p:spPr>
          <a:xfrm>
            <a:off x="351264" y="182018"/>
            <a:ext cx="66628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RAS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Dataset</a:t>
            </a:r>
            <a:r>
              <a:rPr lang="en-US" sz="2400" b="1" dirty="0"/>
              <a:t> 3: What Is Completed and What Is Not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C18A33-02FE-B101-519A-03333DDCF5D6}"/>
              </a:ext>
            </a:extLst>
          </p:cNvPr>
          <p:cNvSpPr txBox="1"/>
          <p:nvPr/>
        </p:nvSpPr>
        <p:spPr>
          <a:xfrm>
            <a:off x="351264" y="674339"/>
            <a:ext cx="493441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Completed</a:t>
            </a:r>
          </a:p>
          <a:p>
            <a:pPr>
              <a:buNone/>
            </a:pPr>
            <a:r>
              <a:rPr lang="en-US" altLang="zh-CN" b="1" dirty="0"/>
              <a:t>1.</a:t>
            </a:r>
            <a:r>
              <a:rPr lang="zh-CN" altLang="en-US" b="1" dirty="0"/>
              <a:t> </a:t>
            </a:r>
            <a:r>
              <a:rPr lang="en-US" b="1" dirty="0"/>
              <a:t>Physical feasibility</a:t>
            </a:r>
            <a:endParaRPr lang="en-US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Current full validator: </a:t>
            </a:r>
            <a:r>
              <a:rPr lang="en-US" b="1" dirty="0"/>
              <a:t>PASS</a:t>
            </a:r>
            <a:r>
              <a:rPr lang="en-US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Scheduled trains: </a:t>
            </a:r>
            <a:r>
              <a:rPr lang="en-US" b="1" dirty="0"/>
              <a:t>20/20</a:t>
            </a:r>
            <a:r>
              <a:rPr lang="en-US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Physical conflicts: </a:t>
            </a:r>
            <a:r>
              <a:rPr lang="en-US" b="1" dirty="0"/>
              <a:t>0</a:t>
            </a:r>
            <a:r>
              <a:rPr lang="en-US" dirty="0"/>
              <a:t> 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altLang="zh-CN" b="1" dirty="0"/>
              <a:t>2.</a:t>
            </a:r>
            <a:r>
              <a:rPr lang="zh-CN" altLang="en-US" b="1" dirty="0"/>
              <a:t> </a:t>
            </a:r>
            <a:r>
              <a:rPr lang="en-US" b="1" dirty="0"/>
              <a:t>Current best result</a:t>
            </a:r>
            <a:endParaRPr lang="en-US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LB = </a:t>
            </a:r>
            <a:r>
              <a:rPr lang="en-US" b="1" dirty="0"/>
              <a:t>3366.818</a:t>
            </a:r>
            <a:r>
              <a:rPr lang="en-US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UB = </a:t>
            </a:r>
            <a:r>
              <a:rPr lang="en-US" b="1" dirty="0"/>
              <a:t>4797.846</a:t>
            </a:r>
            <a:r>
              <a:rPr lang="en-US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Gap = </a:t>
            </a:r>
            <a:r>
              <a:rPr lang="en-US" b="1" dirty="0"/>
              <a:t>29.83%</a:t>
            </a:r>
            <a:r>
              <a:rPr lang="en-US" dirty="0"/>
              <a:t> 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altLang="zh-CN" b="1" dirty="0"/>
              <a:t>3.</a:t>
            </a:r>
            <a:r>
              <a:rPr lang="zh-CN" altLang="en-US" b="1" dirty="0"/>
              <a:t> </a:t>
            </a:r>
            <a:r>
              <a:rPr lang="en-US" b="1" dirty="0"/>
              <a:t>Bug fixed</a:t>
            </a:r>
            <a:endParaRPr lang="en-US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Illegal same-direction main-track overtaking corrected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A4F2CB-2C75-8687-F1BB-78DEEBA67467}"/>
              </a:ext>
            </a:extLst>
          </p:cNvPr>
          <p:cNvSpPr txBox="1"/>
          <p:nvPr/>
        </p:nvSpPr>
        <p:spPr>
          <a:xfrm>
            <a:off x="351264" y="4797463"/>
            <a:ext cx="882096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Not Completed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Lower bound is still relatively weak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Corridor-scale performance has not yet been established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Frequency sensitivity remains to be tested systematically</a:t>
            </a:r>
          </a:p>
        </p:txBody>
      </p:sp>
      <p:sp>
        <p:nvSpPr>
          <p:cNvPr id="8" name="PageNumber">
            <a:extLst>
              <a:ext uri="{FF2B5EF4-FFF2-40B4-BE49-F238E27FC236}">
                <a16:creationId xmlns:a16="http://schemas.microsoft.com/office/drawing/2014/main" id="{75A8170A-B79A-A831-3EE7-536F4F77FF2A}"/>
              </a:ext>
            </a:extLst>
          </p:cNvPr>
          <p:cNvSpPr txBox="1"/>
          <p:nvPr/>
        </p:nvSpPr>
        <p:spPr>
          <a:xfrm>
            <a:off x="11583120" y="6382512"/>
            <a:ext cx="72135" cy="1692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zh-CN" sz="1100" dirty="0">
                <a:solidFill>
                  <a:srgbClr val="777777"/>
                </a:solidFill>
                <a:latin typeface="Calibri"/>
              </a:rPr>
              <a:t>4</a:t>
            </a:r>
            <a:endParaRPr sz="1100" dirty="0">
              <a:solidFill>
                <a:srgbClr val="777777"/>
              </a:solidFill>
              <a:latin typeface="Calibri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FB22726-8439-06F2-8938-676C156F21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2636" y="860463"/>
            <a:ext cx="6388100" cy="393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9340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65B3FDB-D380-054A-BC4C-C44F60B46737}"/>
              </a:ext>
            </a:extLst>
          </p:cNvPr>
          <p:cNvSpPr txBox="1"/>
          <p:nvPr/>
        </p:nvSpPr>
        <p:spPr>
          <a:xfrm>
            <a:off x="250903" y="222354"/>
            <a:ext cx="60997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Relative Algorithm Performance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7D76B1A-31ED-EB0A-3C08-8BD7D9C091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9055036"/>
              </p:ext>
            </p:extLst>
          </p:nvPr>
        </p:nvGraphicFramePr>
        <p:xfrm>
          <a:off x="2649770" y="1154566"/>
          <a:ext cx="6996035" cy="4554856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399207">
                  <a:extLst>
                    <a:ext uri="{9D8B030D-6E8A-4147-A177-3AD203B41FA5}">
                      <a16:colId xmlns:a16="http://schemas.microsoft.com/office/drawing/2014/main" val="2238317245"/>
                    </a:ext>
                  </a:extLst>
                </a:gridCol>
                <a:gridCol w="1399207">
                  <a:extLst>
                    <a:ext uri="{9D8B030D-6E8A-4147-A177-3AD203B41FA5}">
                      <a16:colId xmlns:a16="http://schemas.microsoft.com/office/drawing/2014/main" val="837074534"/>
                    </a:ext>
                  </a:extLst>
                </a:gridCol>
                <a:gridCol w="1399207">
                  <a:extLst>
                    <a:ext uri="{9D8B030D-6E8A-4147-A177-3AD203B41FA5}">
                      <a16:colId xmlns:a16="http://schemas.microsoft.com/office/drawing/2014/main" val="3377475343"/>
                    </a:ext>
                  </a:extLst>
                </a:gridCol>
                <a:gridCol w="1399207">
                  <a:extLst>
                    <a:ext uri="{9D8B030D-6E8A-4147-A177-3AD203B41FA5}">
                      <a16:colId xmlns:a16="http://schemas.microsoft.com/office/drawing/2014/main" val="4222738809"/>
                    </a:ext>
                  </a:extLst>
                </a:gridCol>
                <a:gridCol w="1399207">
                  <a:extLst>
                    <a:ext uri="{9D8B030D-6E8A-4147-A177-3AD203B41FA5}">
                      <a16:colId xmlns:a16="http://schemas.microsoft.com/office/drawing/2014/main" val="350006798"/>
                    </a:ext>
                  </a:extLst>
                </a:gridCol>
              </a:tblGrid>
              <a:tr h="7117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Method</a:t>
                      </a:r>
                    </a:p>
                  </a:txBody>
                  <a:tcPr marL="70718" marR="70718" marT="35359" marB="353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Role</a:t>
                      </a:r>
                    </a:p>
                  </a:txBody>
                  <a:tcPr marL="70718" marR="70718" marT="35359" marB="353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Observed Result</a:t>
                      </a:r>
                    </a:p>
                  </a:txBody>
                  <a:tcPr marL="70718" marR="70718" marT="35359" marB="353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Runtime / Search Evidence</a:t>
                      </a:r>
                    </a:p>
                  </a:txBody>
                  <a:tcPr marL="70718" marR="70718" marT="35359" marB="353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Current Conclusion</a:t>
                      </a:r>
                    </a:p>
                  </a:txBody>
                  <a:tcPr marL="70718" marR="70718" marT="35359" marB="35359" anchor="ctr"/>
                </a:tc>
                <a:extLst>
                  <a:ext uri="{0D108BD9-81ED-4DB2-BD59-A6C34878D82A}">
                    <a16:rowId xmlns:a16="http://schemas.microsoft.com/office/drawing/2014/main" val="908940331"/>
                  </a:ext>
                </a:extLst>
              </a:tr>
              <a:tr h="9253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 err="1"/>
                        <a:t>g+h</a:t>
                      </a:r>
                      <a:r>
                        <a:rPr lang="en-US" sz="1400" dirty="0"/>
                        <a:t> pruning</a:t>
                      </a:r>
                    </a:p>
                  </a:txBody>
                  <a:tcPr marL="70718" marR="70718" marT="35359" marB="353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DP acceleration</a:t>
                      </a:r>
                    </a:p>
                  </a:txBody>
                  <a:tcPr marL="70718" marR="70718" marT="35359" marB="353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3,559 labels pruned; objective unchanged</a:t>
                      </a:r>
                    </a:p>
                  </a:txBody>
                  <a:tcPr marL="70718" marR="70718" marT="35359" marB="353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runtime comparison to add</a:t>
                      </a:r>
                    </a:p>
                  </a:txBody>
                  <a:tcPr marL="70718" marR="70718" marT="35359" marB="353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Safe acceleration</a:t>
                      </a:r>
                    </a:p>
                  </a:txBody>
                  <a:tcPr marL="70718" marR="70718" marT="35359" marB="35359" anchor="ctr"/>
                </a:tc>
                <a:extLst>
                  <a:ext uri="{0D108BD9-81ED-4DB2-BD59-A6C34878D82A}">
                    <a16:rowId xmlns:a16="http://schemas.microsoft.com/office/drawing/2014/main" val="3757126785"/>
                  </a:ext>
                </a:extLst>
              </a:tr>
              <a:tr h="4980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OFQ + LR + DP</a:t>
                      </a:r>
                    </a:p>
                  </a:txBody>
                  <a:tcPr marL="70718" marR="70718" marT="35359" marB="353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LB baseline</a:t>
                      </a:r>
                    </a:p>
                  </a:txBody>
                  <a:tcPr marL="70718" marR="70718" marT="35359" marB="353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LB = 3345.109</a:t>
                      </a:r>
                    </a:p>
                  </a:txBody>
                  <a:tcPr marL="70718" marR="70718" marT="35359" marB="353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baseline</a:t>
                      </a:r>
                    </a:p>
                  </a:txBody>
                  <a:tcPr marL="70718" marR="70718" marT="35359" marB="353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Core decomposition</a:t>
                      </a:r>
                    </a:p>
                  </a:txBody>
                  <a:tcPr marL="70718" marR="70718" marT="35359" marB="35359" anchor="ctr"/>
                </a:tc>
                <a:extLst>
                  <a:ext uri="{0D108BD9-81ED-4DB2-BD59-A6C34878D82A}">
                    <a16:rowId xmlns:a16="http://schemas.microsoft.com/office/drawing/2014/main" val="479461730"/>
                  </a:ext>
                </a:extLst>
              </a:tr>
              <a:tr h="7117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Joint-order MIP</a:t>
                      </a:r>
                    </a:p>
                  </a:txBody>
                  <a:tcPr marL="70718" marR="70718" marT="35359" marB="353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LB strengthening</a:t>
                      </a:r>
                    </a:p>
                  </a:txBody>
                  <a:tcPr marL="70718" marR="70718" marT="35359" marB="353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3345.109 → 3366.818 (+0.649%)</a:t>
                      </a:r>
                    </a:p>
                  </a:txBody>
                  <a:tcPr marL="70718" marR="70718" marT="35359" marB="353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modest additional solve</a:t>
                      </a:r>
                    </a:p>
                  </a:txBody>
                  <a:tcPr marL="70718" marR="70718" marT="35359" marB="353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Small gain</a:t>
                      </a:r>
                    </a:p>
                  </a:txBody>
                  <a:tcPr marL="70718" marR="70718" marT="35359" marB="35359" anchor="ctr"/>
                </a:tc>
                <a:extLst>
                  <a:ext uri="{0D108BD9-81ED-4DB2-BD59-A6C34878D82A}">
                    <a16:rowId xmlns:a16="http://schemas.microsoft.com/office/drawing/2014/main" val="2385143086"/>
                  </a:ext>
                </a:extLst>
              </a:tr>
              <a:tr h="4980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B&amp;B / CBS-style branching</a:t>
                      </a:r>
                    </a:p>
                  </a:txBody>
                  <a:tcPr marL="70718" marR="70718" marT="35359" marB="353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LB strengthening</a:t>
                      </a:r>
                    </a:p>
                  </a:txBody>
                  <a:tcPr marL="70718" marR="70718" marT="35359" marB="353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0 useful uplift</a:t>
                      </a:r>
                    </a:p>
                  </a:txBody>
                  <a:tcPr marL="70718" marR="70718" marT="35359" marB="353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min-child gain = 0</a:t>
                      </a:r>
                    </a:p>
                  </a:txBody>
                  <a:tcPr marL="70718" marR="70718" marT="35359" marB="353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Ineffective on P3</a:t>
                      </a:r>
                    </a:p>
                  </a:txBody>
                  <a:tcPr marL="70718" marR="70718" marT="35359" marB="35359" anchor="ctr"/>
                </a:tc>
                <a:extLst>
                  <a:ext uri="{0D108BD9-81ED-4DB2-BD59-A6C34878D82A}">
                    <a16:rowId xmlns:a16="http://schemas.microsoft.com/office/drawing/2014/main" val="3601641775"/>
                  </a:ext>
                </a:extLst>
              </a:tr>
              <a:tr h="4980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Cross-resource coupling</a:t>
                      </a:r>
                    </a:p>
                  </a:txBody>
                  <a:tcPr marL="70718" marR="70718" marT="35359" marB="353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LB strengthening</a:t>
                      </a:r>
                    </a:p>
                  </a:txBody>
                  <a:tcPr marL="70718" marR="70718" marT="35359" marB="353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no usable native bound</a:t>
                      </a:r>
                    </a:p>
                  </a:txBody>
                  <a:tcPr marL="70718" marR="70718" marT="35359" marB="353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CPLEX pilots failed</a:t>
                      </a:r>
                    </a:p>
                  </a:txBody>
                  <a:tcPr marL="70718" marR="70718" marT="35359" marB="353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Suspend</a:t>
                      </a:r>
                    </a:p>
                  </a:txBody>
                  <a:tcPr marL="70718" marR="70718" marT="35359" marB="35359" anchor="ctr"/>
                </a:tc>
                <a:extLst>
                  <a:ext uri="{0D108BD9-81ED-4DB2-BD59-A6C34878D82A}">
                    <a16:rowId xmlns:a16="http://schemas.microsoft.com/office/drawing/2014/main" val="4225672999"/>
                  </a:ext>
                </a:extLst>
              </a:tr>
              <a:tr h="7117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Pair-deep / recovery</a:t>
                      </a:r>
                    </a:p>
                  </a:txBody>
                  <a:tcPr marL="70718" marR="70718" marT="35359" marB="353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UB</a:t>
                      </a:r>
                    </a:p>
                  </a:txBody>
                  <a:tcPr marL="70718" marR="70718" marT="35359" marB="353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4830.411 → 4797.846 final accepted move</a:t>
                      </a:r>
                    </a:p>
                  </a:txBody>
                  <a:tcPr marL="70718" marR="70718" marT="35359" marB="353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validated improvement</a:t>
                      </a:r>
                    </a:p>
                  </a:txBody>
                  <a:tcPr marL="70718" marR="70718" marT="35359" marB="353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Most reliable primal improvement</a:t>
                      </a:r>
                    </a:p>
                  </a:txBody>
                  <a:tcPr marL="70718" marR="70718" marT="35359" marB="35359" anchor="ctr"/>
                </a:tc>
                <a:extLst>
                  <a:ext uri="{0D108BD9-81ED-4DB2-BD59-A6C34878D82A}">
                    <a16:rowId xmlns:a16="http://schemas.microsoft.com/office/drawing/2014/main" val="2857494908"/>
                  </a:ext>
                </a:extLst>
              </a:tr>
            </a:tbl>
          </a:graphicData>
        </a:graphic>
      </p:graphicFrame>
      <p:sp>
        <p:nvSpPr>
          <p:cNvPr id="5" name="PageNumber">
            <a:extLst>
              <a:ext uri="{FF2B5EF4-FFF2-40B4-BE49-F238E27FC236}">
                <a16:creationId xmlns:a16="http://schemas.microsoft.com/office/drawing/2014/main" id="{158792DD-570F-DB52-4B9C-0E6135ACEFB5}"/>
              </a:ext>
            </a:extLst>
          </p:cNvPr>
          <p:cNvSpPr txBox="1"/>
          <p:nvPr/>
        </p:nvSpPr>
        <p:spPr>
          <a:xfrm>
            <a:off x="11583120" y="6382512"/>
            <a:ext cx="72135" cy="1692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zh-CN" sz="1100" dirty="0">
                <a:solidFill>
                  <a:srgbClr val="777777"/>
                </a:solidFill>
                <a:latin typeface="Calibri"/>
              </a:rPr>
              <a:t>5</a:t>
            </a:r>
            <a:endParaRPr sz="1100" dirty="0">
              <a:solidFill>
                <a:srgbClr val="777777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510452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A00216D-7226-D4AF-AB92-9F66BDD5189C}"/>
              </a:ext>
            </a:extLst>
          </p:cNvPr>
          <p:cNvSpPr txBox="1"/>
          <p:nvPr/>
        </p:nvSpPr>
        <p:spPr>
          <a:xfrm>
            <a:off x="440473" y="456529"/>
            <a:ext cx="60997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Why the Lower Bound Plateaued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02D2C1-EA84-7AF9-6CBD-079D2005A0DE}"/>
              </a:ext>
            </a:extLst>
          </p:cNvPr>
          <p:cNvSpPr txBox="1"/>
          <p:nvPr/>
        </p:nvSpPr>
        <p:spPr>
          <a:xfrm>
            <a:off x="440473" y="1393892"/>
            <a:ext cx="520204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Evidence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Joint-order coupling improves LB by only </a:t>
            </a:r>
            <a:r>
              <a:rPr lang="en-US" b="1" dirty="0"/>
              <a:t>0.649%</a:t>
            </a:r>
            <a:r>
              <a:rPr lang="en-US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B&amp;B/CBS-style branching produced </a:t>
            </a:r>
            <a:r>
              <a:rPr lang="en-US" b="1" dirty="0"/>
              <a:t>zero min-child uplift</a:t>
            </a:r>
            <a:r>
              <a:rPr lang="en-US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/>
              <a:t>88%</a:t>
            </a:r>
            <a:r>
              <a:rPr lang="en-US" dirty="0"/>
              <a:t> of node–train records retained multiple exact minimizers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Pair/triple cross-resource pilots produced no usable additional bound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91B0B0-33D7-840C-220D-CA5F0D2AF80F}"/>
              </a:ext>
            </a:extLst>
          </p:cNvPr>
          <p:cNvSpPr txBox="1"/>
          <p:nvPr/>
        </p:nvSpPr>
        <p:spPr>
          <a:xfrm>
            <a:off x="6356195" y="1393892"/>
            <a:ext cx="539533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Hypotheses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Strong degeneracy in single-train DP solutions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Local ordering decisions do not sufficiently change the relaxed face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Physical-conflict branching is weakly aligned with LR decision variables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Remaining gap may require stronger cross-train coupling rather than additional local branching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295454-F611-37B4-E3DB-2F5F9C405672}"/>
              </a:ext>
            </a:extLst>
          </p:cNvPr>
          <p:cNvSpPr txBox="1"/>
          <p:nvPr/>
        </p:nvSpPr>
        <p:spPr>
          <a:xfrm>
            <a:off x="3217128" y="4817777"/>
            <a:ext cx="60997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These conclusions currently apply only to the Problem 3 configuration.</a:t>
            </a:r>
          </a:p>
        </p:txBody>
      </p:sp>
      <p:sp>
        <p:nvSpPr>
          <p:cNvPr id="10" name="PageNumber">
            <a:extLst>
              <a:ext uri="{FF2B5EF4-FFF2-40B4-BE49-F238E27FC236}">
                <a16:creationId xmlns:a16="http://schemas.microsoft.com/office/drawing/2014/main" id="{73B5F75A-65B9-63D8-ED56-495137C3159C}"/>
              </a:ext>
            </a:extLst>
          </p:cNvPr>
          <p:cNvSpPr txBox="1"/>
          <p:nvPr/>
        </p:nvSpPr>
        <p:spPr>
          <a:xfrm>
            <a:off x="11583120" y="6382512"/>
            <a:ext cx="72135" cy="1692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zh-CN" sz="1100" dirty="0">
                <a:solidFill>
                  <a:srgbClr val="777777"/>
                </a:solidFill>
                <a:latin typeface="Calibri"/>
              </a:rPr>
              <a:t>6</a:t>
            </a:r>
            <a:endParaRPr sz="1100" dirty="0">
              <a:solidFill>
                <a:srgbClr val="777777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751171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779A8D6-F55B-A070-96E0-70E6F590B14C}"/>
              </a:ext>
            </a:extLst>
          </p:cNvPr>
          <p:cNvSpPr txBox="1"/>
          <p:nvPr/>
        </p:nvSpPr>
        <p:spPr>
          <a:xfrm>
            <a:off x="440473" y="400773"/>
            <a:ext cx="7086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What OFQ Contributes — and Required Ablation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0D5A8D-EB09-2A78-3980-960E4A3C930E}"/>
              </a:ext>
            </a:extLst>
          </p:cNvPr>
          <p:cNvSpPr txBox="1"/>
          <p:nvPr/>
        </p:nvSpPr>
        <p:spPr>
          <a:xfrm>
            <a:off x="663498" y="2000529"/>
            <a:ext cx="511283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What OFQ is intended to provide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Queue-informed congestion prices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Train-level DP decomposability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A scalable mechanism for steering trajectories away from congested resources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500C268-88DA-D44C-E3E4-5BBBEB470D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4252971"/>
              </p:ext>
            </p:extLst>
          </p:nvPr>
        </p:nvGraphicFramePr>
        <p:xfrm>
          <a:off x="6415668" y="1680942"/>
          <a:ext cx="5285678" cy="26517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642839">
                  <a:extLst>
                    <a:ext uri="{9D8B030D-6E8A-4147-A177-3AD203B41FA5}">
                      <a16:colId xmlns:a16="http://schemas.microsoft.com/office/drawing/2014/main" val="2367731618"/>
                    </a:ext>
                  </a:extLst>
                </a:gridCol>
                <a:gridCol w="2642839">
                  <a:extLst>
                    <a:ext uri="{9D8B030D-6E8A-4147-A177-3AD203B41FA5}">
                      <a16:colId xmlns:a16="http://schemas.microsoft.com/office/drawing/2014/main" val="2386203963"/>
                    </a:ext>
                  </a:extLst>
                </a:gridCol>
              </a:tblGrid>
              <a:tr h="2581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Experiment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What We Measure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0531693"/>
                  </a:ext>
                </a:extLst>
              </a:tr>
              <a:tr h="2581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PATH-K DP without congestion pricing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objective / conflicts / runtime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4640022"/>
                  </a:ext>
                </a:extLst>
              </a:tr>
              <a:tr h="2581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Standard LR + PATH-K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LB / iterations / runtime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4587940"/>
                  </a:ext>
                </a:extLst>
              </a:tr>
              <a:tr h="2581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OFQ update + LR + PATH-K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LB / convergence / price stability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6672025"/>
                  </a:ext>
                </a:extLst>
              </a:tr>
              <a:tr h="2581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OFQ/LR + current recovery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validated UB / recovery time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6605416"/>
                  </a:ext>
                </a:extLst>
              </a:tr>
            </a:tbl>
          </a:graphicData>
        </a:graphic>
      </p:graphicFrame>
      <p:sp>
        <p:nvSpPr>
          <p:cNvPr id="11" name="PageNumber">
            <a:extLst>
              <a:ext uri="{FF2B5EF4-FFF2-40B4-BE49-F238E27FC236}">
                <a16:creationId xmlns:a16="http://schemas.microsoft.com/office/drawing/2014/main" id="{91D3FBC9-B62C-EE36-5A94-ECBBF1FBB10A}"/>
              </a:ext>
            </a:extLst>
          </p:cNvPr>
          <p:cNvSpPr txBox="1"/>
          <p:nvPr/>
        </p:nvSpPr>
        <p:spPr>
          <a:xfrm>
            <a:off x="11583120" y="6382512"/>
            <a:ext cx="72135" cy="1692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zh-CN" sz="1100" dirty="0">
                <a:solidFill>
                  <a:srgbClr val="777777"/>
                </a:solidFill>
                <a:latin typeface="Calibri"/>
              </a:rPr>
              <a:t>7</a:t>
            </a:r>
            <a:endParaRPr sz="1100" dirty="0">
              <a:solidFill>
                <a:srgbClr val="777777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362887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3AE5029-25C8-ED8E-163E-D4186729DEB9}"/>
              </a:ext>
            </a:extLst>
          </p:cNvPr>
          <p:cNvSpPr txBox="1"/>
          <p:nvPr/>
        </p:nvSpPr>
        <p:spPr>
          <a:xfrm>
            <a:off x="407020" y="211203"/>
            <a:ext cx="60997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Corridor Experiment Pathway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D8AF2B-3CCF-5F0F-4506-0249785412CF}"/>
              </a:ext>
            </a:extLst>
          </p:cNvPr>
          <p:cNvSpPr txBox="1"/>
          <p:nvPr/>
        </p:nvSpPr>
        <p:spPr>
          <a:xfrm>
            <a:off x="518531" y="949624"/>
            <a:ext cx="774452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Phase 1 — Benchmark Transfer</a:t>
            </a:r>
          </a:p>
          <a:p>
            <a:pPr>
              <a:buNone/>
            </a:pPr>
            <a:r>
              <a:rPr lang="en-US" b="1" dirty="0"/>
              <a:t>Belen–Clovis, NM</a:t>
            </a:r>
            <a:endParaRPr lang="en-US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BNSF Southern Transcon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236.6 miles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26 nodes / 25 controlling blocks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32 trains </a:t>
            </a:r>
          </a:p>
          <a:p>
            <a:pPr>
              <a:buNone/>
            </a:pPr>
            <a:r>
              <a:rPr lang="en-US" b="1" dirty="0"/>
              <a:t>Current method</a:t>
            </a:r>
            <a:endParaRPr lang="en-US" dirty="0"/>
          </a:p>
          <a:p>
            <a:pPr>
              <a:buNone/>
            </a:pPr>
            <a:r>
              <a:rPr lang="en-US" dirty="0"/>
              <a:t>OFQ + LR + PATH</a:t>
            </a:r>
            <a:r>
              <a:rPr lang="zh-CN" altLang="en-US" dirty="0"/>
              <a:t> </a:t>
            </a:r>
            <a:r>
              <a:rPr lang="en-US" dirty="0"/>
              <a:t>K </a:t>
            </a:r>
            <a:r>
              <a:rPr lang="en-US" dirty="0" err="1"/>
              <a:t>DP→Current</a:t>
            </a:r>
            <a:r>
              <a:rPr lang="en-US" dirty="0"/>
              <a:t> Feasible </a:t>
            </a:r>
            <a:r>
              <a:rPr lang="en-US" dirty="0" err="1"/>
              <a:t>Recovery→Full</a:t>
            </a:r>
            <a:r>
              <a:rPr lang="en-US" dirty="0"/>
              <a:t> Physical Validator</a:t>
            </a:r>
          </a:p>
        </p:txBody>
      </p:sp>
      <p:sp>
        <p:nvSpPr>
          <p:cNvPr id="6" name="PageNumber">
            <a:extLst>
              <a:ext uri="{FF2B5EF4-FFF2-40B4-BE49-F238E27FC236}">
                <a16:creationId xmlns:a16="http://schemas.microsoft.com/office/drawing/2014/main" id="{62574986-DD16-82CC-8A6F-B72179668334}"/>
              </a:ext>
            </a:extLst>
          </p:cNvPr>
          <p:cNvSpPr txBox="1"/>
          <p:nvPr/>
        </p:nvSpPr>
        <p:spPr>
          <a:xfrm>
            <a:off x="11583120" y="6382512"/>
            <a:ext cx="72135" cy="1692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zh-CN" sz="1100" dirty="0">
                <a:solidFill>
                  <a:srgbClr val="777777"/>
                </a:solidFill>
                <a:latin typeface="Calibri"/>
              </a:rPr>
              <a:t>8</a:t>
            </a:r>
            <a:endParaRPr sz="1100" dirty="0">
              <a:solidFill>
                <a:srgbClr val="777777"/>
              </a:solidFill>
              <a:latin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0E5F9B-E294-A0AF-E14F-C2E4A779D8C1}"/>
              </a:ext>
            </a:extLst>
          </p:cNvPr>
          <p:cNvSpPr txBox="1"/>
          <p:nvPr/>
        </p:nvSpPr>
        <p:spPr>
          <a:xfrm>
            <a:off x="8084252" y="1094590"/>
            <a:ext cx="298890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Current Status </a:t>
            </a:r>
          </a:p>
          <a:p>
            <a:r>
              <a:rPr lang="en-US" dirty="0"/>
              <a:t>✓ Data/model integration</a:t>
            </a:r>
          </a:p>
          <a:p>
            <a:r>
              <a:rPr lang="en-US" dirty="0"/>
              <a:t>✓ Stage A completed</a:t>
            </a:r>
          </a:p>
          <a:p>
            <a:r>
              <a:rPr lang="en-US" dirty="0"/>
              <a:t>! Recovery bottleneck</a:t>
            </a:r>
          </a:p>
          <a:p>
            <a:r>
              <a:rPr lang="en-US" dirty="0"/>
              <a:t>! No formal LB/UB/gap yet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AA7A4C-C7AB-2122-7514-6720CF178014}"/>
              </a:ext>
            </a:extLst>
          </p:cNvPr>
          <p:cNvSpPr txBox="1"/>
          <p:nvPr/>
        </p:nvSpPr>
        <p:spPr>
          <a:xfrm>
            <a:off x="518531" y="3600053"/>
            <a:ext cx="609971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/>
              <a:t>Step 1 — Resolve 32-train feasibility</a:t>
            </a:r>
          </a:p>
          <a:p>
            <a:pPr>
              <a:buNone/>
            </a:pPr>
            <a:r>
              <a:rPr lang="en-US" sz="1600" dirty="0"/>
              <a:t>Diagnose the minimal conflict core around </a:t>
            </a:r>
            <a:r>
              <a:rPr lang="en-US" sz="1600" dirty="0">
                <a:latin typeface="+mn-lt"/>
              </a:rPr>
              <a:t>WB01Z</a:t>
            </a:r>
            <a:endParaRPr lang="en-US" sz="1600" dirty="0"/>
          </a:p>
          <a:p>
            <a:pPr>
              <a:buNone/>
            </a:pPr>
            <a:endParaRPr lang="en-US" sz="1600" dirty="0"/>
          </a:p>
          <a:p>
            <a:pPr>
              <a:buNone/>
            </a:pPr>
            <a:r>
              <a:rPr lang="en-US" sz="1600" b="1" dirty="0"/>
              <a:t>Step 2 — Complete corridor benchmark</a:t>
            </a:r>
          </a:p>
          <a:p>
            <a:pPr>
              <a:buNone/>
            </a:pPr>
            <a:r>
              <a:rPr lang="en-US" sz="1600" dirty="0"/>
              <a:t>Obtain: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600" dirty="0"/>
              <a:t>Formal/certified LB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600" dirty="0"/>
              <a:t>0-conflict validated UB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600" dirty="0"/>
              <a:t>Optimality gap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600" dirty="0"/>
              <a:t>Runtime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ADFE0F5-2EA9-9453-C6AD-8E7D18EAB082}"/>
                  </a:ext>
                </a:extLst>
              </p:cNvPr>
              <p:cNvSpPr txBox="1"/>
              <p:nvPr/>
            </p:nvSpPr>
            <p:spPr>
              <a:xfrm>
                <a:off x="5718718" y="3538254"/>
                <a:ext cx="6099716" cy="31085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1400" b="1" dirty="0"/>
                  <a:t>Step 3 — Full-Day Scalability</a:t>
                </a:r>
              </a:p>
              <a:p>
                <a:pPr>
                  <a:buNone/>
                </a:pPr>
                <a:r>
                  <a:rPr lang="en-US" sz="1400" dirty="0"/>
                  <a:t>Belen–Clovis full-day</a:t>
                </a:r>
                <a:r>
                  <a:rPr lang="zh-CN" altLang="en-US" sz="1400" dirty="0"/>
                  <a:t> </a:t>
                </a:r>
                <a:r>
                  <a:rPr lang="en-US" altLang="zh-CN" sz="1400" dirty="0"/>
                  <a:t>(frequencies</a:t>
                </a:r>
                <a:r>
                  <a:rPr lang="zh-CN" altLang="en-US" sz="1400" dirty="0"/>
                  <a:t> </a:t>
                </a:r>
                <a:r>
                  <a:rPr lang="en-US" altLang="zh-CN" sz="1400" dirty="0"/>
                  <a:t>test)</a:t>
                </a:r>
                <a:r>
                  <a:rPr lang="en-US" sz="1400" dirty="0"/>
                  <a:t>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400">
                          <a:latin typeface="Cambria Math" panose="02040503050406030204" pitchFamily="18" charset="0"/>
                        </a:rPr>
                        <m:t>32</m:t>
                      </m:r>
                      <m:r>
                        <m:rPr>
                          <m:nor/>
                        </m:rPr>
                        <a:rPr lang="en-US" sz="1400" b="0" i="0"/>
                        <m:t> trains</m:t>
                      </m:r>
                      <m:r>
                        <a:rPr lang="en-US" sz="1400" b="0" i="0">
                          <a:latin typeface="Cambria Math" panose="02040503050406030204" pitchFamily="18" charset="0"/>
                        </a:rPr>
                        <m:t>→∼88</m:t>
                      </m:r>
                      <m:r>
                        <m:rPr>
                          <m:nor/>
                        </m:rPr>
                        <a:rPr lang="en-US" sz="1400" b="0" i="0"/>
                        <m:t> trains</m:t>
                      </m:r>
                    </m:oMath>
                  </m:oMathPara>
                </a14:m>
                <a:endParaRPr lang="en-US" sz="1400" b="0" dirty="0"/>
              </a:p>
              <a:p>
                <a:pPr>
                  <a:buNone/>
                </a:pPr>
                <a:r>
                  <a:rPr lang="en-US" sz="1400" dirty="0"/>
                  <a:t>Measure: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sz="1400" dirty="0"/>
                  <a:t>runtime growth 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sz="1400" dirty="0"/>
                  <a:t>recovery difficulty 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sz="1400" dirty="0"/>
                  <a:t>LB/UB degradation </a:t>
                </a:r>
              </a:p>
              <a:p>
                <a:pPr>
                  <a:buNone/>
                </a:pPr>
                <a:endParaRPr lang="en-US" sz="1400" dirty="0"/>
              </a:p>
              <a:p>
                <a:pPr>
                  <a:buNone/>
                </a:pPr>
                <a:r>
                  <a:rPr lang="en-US" sz="1400" b="1" dirty="0"/>
                  <a:t>Step 4 — Frequency Sensitivity</a:t>
                </a:r>
              </a:p>
              <a:p>
                <a:pPr>
                  <a:buNone/>
                </a:pPr>
                <a:r>
                  <a:rPr lang="en-US" sz="1400" dirty="0"/>
                  <a:t>Low / Base / High frequency</a:t>
                </a:r>
              </a:p>
              <a:p>
                <a:pPr>
                  <a:buNone/>
                </a:pPr>
                <a:r>
                  <a:rPr lang="en-US" sz="1400" dirty="0"/>
                  <a:t>Measure: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sz="1400" dirty="0"/>
                  <a:t>Gap vs. frequency 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sz="1400" dirty="0"/>
                  <a:t>Runtime vs. frequency 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sz="1400" dirty="0"/>
                  <a:t>siding / meet-pass conflicts</a:t>
                </a:r>
                <a:endParaRPr lang="en-US" sz="2000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ADFE0F5-2EA9-9453-C6AD-8E7D18EAB0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8718" y="3538254"/>
                <a:ext cx="6099716" cy="3108543"/>
              </a:xfrm>
              <a:prstGeom prst="rect">
                <a:avLst/>
              </a:prstGeom>
              <a:blipFill>
                <a:blip r:embed="rId2"/>
                <a:stretch>
                  <a:fillRect l="-416" t="-407" b="-16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371786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85CC562-82C5-E8B8-07D2-C34994D177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7903433"/>
              </p:ext>
            </p:extLst>
          </p:nvPr>
        </p:nvGraphicFramePr>
        <p:xfrm>
          <a:off x="497304" y="1146456"/>
          <a:ext cx="6706383" cy="403245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235461">
                  <a:extLst>
                    <a:ext uri="{9D8B030D-6E8A-4147-A177-3AD203B41FA5}">
                      <a16:colId xmlns:a16="http://schemas.microsoft.com/office/drawing/2014/main" val="337496841"/>
                    </a:ext>
                  </a:extLst>
                </a:gridCol>
                <a:gridCol w="2235461">
                  <a:extLst>
                    <a:ext uri="{9D8B030D-6E8A-4147-A177-3AD203B41FA5}">
                      <a16:colId xmlns:a16="http://schemas.microsoft.com/office/drawing/2014/main" val="2966367692"/>
                    </a:ext>
                  </a:extLst>
                </a:gridCol>
                <a:gridCol w="2235461">
                  <a:extLst>
                    <a:ext uri="{9D8B030D-6E8A-4147-A177-3AD203B41FA5}">
                      <a16:colId xmlns:a16="http://schemas.microsoft.com/office/drawing/2014/main" val="6017506"/>
                    </a:ext>
                  </a:extLst>
                </a:gridCol>
              </a:tblGrid>
              <a:tr h="3017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/>
                        <a:t>Stage</a:t>
                      </a:r>
                    </a:p>
                  </a:txBody>
                  <a:tcPr marL="75433" marR="75433" marT="37716" marB="377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Status</a:t>
                      </a:r>
                    </a:p>
                  </a:txBody>
                  <a:tcPr marL="75433" marR="75433" marT="37716" marB="377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/>
                        <a:t>Deliverable</a:t>
                      </a:r>
                    </a:p>
                  </a:txBody>
                  <a:tcPr marL="75433" marR="75433" marT="37716" marB="37716" anchor="ctr"/>
                </a:tc>
                <a:extLst>
                  <a:ext uri="{0D108BD9-81ED-4DB2-BD59-A6C34878D82A}">
                    <a16:rowId xmlns:a16="http://schemas.microsoft.com/office/drawing/2014/main" val="2044117053"/>
                  </a:ext>
                </a:extLst>
              </a:tr>
              <a:tr h="5280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RAS P1–P3 benchmark</a:t>
                      </a:r>
                    </a:p>
                  </a:txBody>
                  <a:tcPr marL="75433" marR="75433" marT="37716" marB="377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Completed</a:t>
                      </a:r>
                    </a:p>
                  </a:txBody>
                  <a:tcPr marL="75433" marR="75433" marT="37716" marB="377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/>
                        <a:t>LB, validated UB, gap, conflicts</a:t>
                      </a:r>
                    </a:p>
                  </a:txBody>
                  <a:tcPr marL="75433" marR="75433" marT="37716" marB="37716" anchor="ctr"/>
                </a:tc>
                <a:extLst>
                  <a:ext uri="{0D108BD9-81ED-4DB2-BD59-A6C34878D82A}">
                    <a16:rowId xmlns:a16="http://schemas.microsoft.com/office/drawing/2014/main" val="2745811120"/>
                  </a:ext>
                </a:extLst>
              </a:tr>
              <a:tr h="7543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Version A data/objective/validator integration</a:t>
                      </a:r>
                    </a:p>
                  </a:txBody>
                  <a:tcPr marL="75433" marR="75433" marT="37716" marB="377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Completed</a:t>
                      </a:r>
                    </a:p>
                  </a:txBody>
                  <a:tcPr marL="75433" marR="75433" marT="37716" marB="377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Adapter + validator + objective audit</a:t>
                      </a:r>
                    </a:p>
                  </a:txBody>
                  <a:tcPr marL="75433" marR="75433" marT="37716" marB="37716" anchor="ctr"/>
                </a:tc>
                <a:extLst>
                  <a:ext uri="{0D108BD9-81ED-4DB2-BD59-A6C34878D82A}">
                    <a16:rowId xmlns:a16="http://schemas.microsoft.com/office/drawing/2014/main" val="942935669"/>
                  </a:ext>
                </a:extLst>
              </a:tr>
              <a:tr h="5280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Belen–Clovis 32-train benchmark</a:t>
                      </a:r>
                    </a:p>
                  </a:txBody>
                  <a:tcPr marL="75433" marR="75433" marT="37716" marB="377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In progress</a:t>
                      </a:r>
                    </a:p>
                  </a:txBody>
                  <a:tcPr marL="75433" marR="75433" marT="37716" marB="377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/>
                        <a:t>LB, UB, gap, runtime</a:t>
                      </a:r>
                    </a:p>
                  </a:txBody>
                  <a:tcPr marL="75433" marR="75433" marT="37716" marB="37716" anchor="ctr"/>
                </a:tc>
                <a:extLst>
                  <a:ext uri="{0D108BD9-81ED-4DB2-BD59-A6C34878D82A}">
                    <a16:rowId xmlns:a16="http://schemas.microsoft.com/office/drawing/2014/main" val="865713721"/>
                  </a:ext>
                </a:extLst>
              </a:tr>
              <a:tr h="5280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Belen–Clovis full-day (~88 trains)</a:t>
                      </a:r>
                    </a:p>
                  </a:txBody>
                  <a:tcPr marL="75433" marR="75433" marT="37716" marB="377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Next</a:t>
                      </a:r>
                    </a:p>
                  </a:txBody>
                  <a:tcPr marL="75433" marR="75433" marT="37716" marB="377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Scalability results</a:t>
                      </a:r>
                    </a:p>
                  </a:txBody>
                  <a:tcPr marL="75433" marR="75433" marT="37716" marB="37716" anchor="ctr"/>
                </a:tc>
                <a:extLst>
                  <a:ext uri="{0D108BD9-81ED-4DB2-BD59-A6C34878D82A}">
                    <a16:rowId xmlns:a16="http://schemas.microsoft.com/office/drawing/2014/main" val="1149607963"/>
                  </a:ext>
                </a:extLst>
              </a:tr>
              <a:tr h="5280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Low/Base/High frequency study</a:t>
                      </a:r>
                    </a:p>
                  </a:txBody>
                  <a:tcPr marL="75433" marR="75433" marT="37716" marB="377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Next</a:t>
                      </a:r>
                    </a:p>
                  </a:txBody>
                  <a:tcPr marL="75433" marR="75433" marT="37716" marB="377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Gap/runtime/conflict curves</a:t>
                      </a:r>
                    </a:p>
                  </a:txBody>
                  <a:tcPr marL="75433" marR="75433" marT="37716" marB="37716" anchor="ctr"/>
                </a:tc>
                <a:extLst>
                  <a:ext uri="{0D108BD9-81ED-4DB2-BD59-A6C34878D82A}">
                    <a16:rowId xmlns:a16="http://schemas.microsoft.com/office/drawing/2014/main" val="4086015638"/>
                  </a:ext>
                </a:extLst>
              </a:tr>
              <a:tr h="5280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OFQ ablation</a:t>
                      </a:r>
                    </a:p>
                  </a:txBody>
                  <a:tcPr marL="75433" marR="75433" marT="37716" marB="377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Next</a:t>
                      </a:r>
                    </a:p>
                  </a:txBody>
                  <a:tcPr marL="75433" marR="75433" marT="37716" marB="377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DP vs LR vs OFQ comparison</a:t>
                      </a:r>
                    </a:p>
                  </a:txBody>
                  <a:tcPr marL="75433" marR="75433" marT="37716" marB="37716" anchor="ctr"/>
                </a:tc>
                <a:extLst>
                  <a:ext uri="{0D108BD9-81ED-4DB2-BD59-A6C34878D82A}">
                    <a16:rowId xmlns:a16="http://schemas.microsoft.com/office/drawing/2014/main" val="1202098455"/>
                  </a:ext>
                </a:extLst>
              </a:tr>
              <a:tr h="3017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/>
                        <a:t>ANL review gate</a:t>
                      </a:r>
                    </a:p>
                  </a:txBody>
                  <a:tcPr marL="75433" marR="75433" marT="37716" marB="377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Final</a:t>
                      </a:r>
                    </a:p>
                  </a:txBody>
                  <a:tcPr marL="75433" marR="75433" marT="37716" marB="377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/>
                        <a:t>8-slide deck + CSV + logs</a:t>
                      </a:r>
                    </a:p>
                  </a:txBody>
                  <a:tcPr marL="75433" marR="75433" marT="37716" marB="37716" anchor="ctr"/>
                </a:tc>
                <a:extLst>
                  <a:ext uri="{0D108BD9-81ED-4DB2-BD59-A6C34878D82A}">
                    <a16:rowId xmlns:a16="http://schemas.microsoft.com/office/drawing/2014/main" val="2726757364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E1292B3-9A8F-B2CB-97A2-2E1AE5559BDE}"/>
              </a:ext>
            </a:extLst>
          </p:cNvPr>
          <p:cNvSpPr txBox="1"/>
          <p:nvPr/>
        </p:nvSpPr>
        <p:spPr>
          <a:xfrm>
            <a:off x="284356" y="255807"/>
            <a:ext cx="691933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Schedule, Deliverables, and ANL Decisions Needed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A20195-7D87-2550-FCA6-F3F54678C273}"/>
              </a:ext>
            </a:extLst>
          </p:cNvPr>
          <p:cNvSpPr txBox="1"/>
          <p:nvPr/>
        </p:nvSpPr>
        <p:spPr>
          <a:xfrm>
            <a:off x="7713713" y="1674674"/>
            <a:ext cx="418463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b="1" dirty="0"/>
              <a:t>1</a:t>
            </a:r>
            <a:r>
              <a:rPr lang="en-US" b="1" dirty="0"/>
              <a:t>. Frequency Definition</a:t>
            </a:r>
          </a:p>
          <a:p>
            <a:pPr>
              <a:buNone/>
            </a:pPr>
            <a:r>
              <a:rPr lang="en-US" dirty="0"/>
              <a:t>What should define </a:t>
            </a:r>
            <a:r>
              <a:rPr lang="en-US" b="1" dirty="0"/>
              <a:t>Low / Base / High</a:t>
            </a:r>
            <a:r>
              <a:rPr lang="en-US" dirty="0"/>
              <a:t> frequency for the formal sensitivity test?</a:t>
            </a:r>
          </a:p>
          <a:p>
            <a:r>
              <a:rPr lang="en-US" altLang="zh-CN" b="1" dirty="0"/>
              <a:t>2</a:t>
            </a:r>
            <a:r>
              <a:rPr lang="en-US" b="1" dirty="0"/>
              <a:t>. Scheduling → Planning Feedback</a:t>
            </a:r>
          </a:p>
          <a:p>
            <a:r>
              <a:rPr lang="en-US" dirty="0"/>
              <a:t>What scheduling outputs should be returned to the upstream planning model?</a:t>
            </a:r>
          </a:p>
        </p:txBody>
      </p:sp>
      <p:sp>
        <p:nvSpPr>
          <p:cNvPr id="9" name="PageNumber">
            <a:extLst>
              <a:ext uri="{FF2B5EF4-FFF2-40B4-BE49-F238E27FC236}">
                <a16:creationId xmlns:a16="http://schemas.microsoft.com/office/drawing/2014/main" id="{8F99A9C7-231D-58F2-4D73-F16720F35BAD}"/>
              </a:ext>
            </a:extLst>
          </p:cNvPr>
          <p:cNvSpPr txBox="1"/>
          <p:nvPr/>
        </p:nvSpPr>
        <p:spPr>
          <a:xfrm>
            <a:off x="11583120" y="6382512"/>
            <a:ext cx="72135" cy="1692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zh-CN" sz="1100" dirty="0">
                <a:solidFill>
                  <a:srgbClr val="777777"/>
                </a:solidFill>
                <a:latin typeface="Calibri"/>
              </a:rPr>
              <a:t>9</a:t>
            </a:r>
            <a:endParaRPr sz="1100" dirty="0">
              <a:solidFill>
                <a:srgbClr val="777777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997236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294</TotalTime>
  <Words>846</Words>
  <Application>Microsoft Macintosh PowerPoint</Application>
  <PresentationFormat>Widescreen</PresentationFormat>
  <Paragraphs>213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Arial</vt:lpstr>
      <vt:lpstr>Calibri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Wenlin Li</cp:lastModifiedBy>
  <cp:revision>8</cp:revision>
  <dcterms:created xsi:type="dcterms:W3CDTF">2013-01-27T09:14:16Z</dcterms:created>
  <dcterms:modified xsi:type="dcterms:W3CDTF">2026-09-01T08:22:24Z</dcterms:modified>
  <cp:category/>
</cp:coreProperties>
</file>