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notesSlides/notesSlide14.xml" ContentType="application/vnd.openxmlformats-officedocument.presentationml.notesSlide+xml"/>
  <Override PartName="/ppt/ink/ink2.xml" ContentType="application/inkml+xml"/>
  <Override PartName="/ppt/notesSlides/notesSlide15.xml" ContentType="application/vnd.openxmlformats-officedocument.presentationml.notesSlide+xml"/>
  <Override PartName="/ppt/ink/ink3.xml" ContentType="application/inkml+xml"/>
  <Override PartName="/ppt/notesSlides/notesSlide16.xml" ContentType="application/vnd.openxmlformats-officedocument.presentationml.notesSlide+xml"/>
  <Override PartName="/ppt/ink/ink4.xml" ContentType="application/inkml+xml"/>
  <Override PartName="/ppt/notesSlides/notesSlide17.xml" ContentType="application/vnd.openxmlformats-officedocument.presentationml.notesSlide+xml"/>
  <Override PartName="/ppt/ink/ink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68" r:id="rId3"/>
    <p:sldId id="269" r:id="rId4"/>
    <p:sldId id="257" r:id="rId5"/>
    <p:sldId id="258" r:id="rId6"/>
    <p:sldId id="259" r:id="rId7"/>
    <p:sldId id="260" r:id="rId8"/>
    <p:sldId id="261" r:id="rId9"/>
    <p:sldId id="262" r:id="rId10"/>
    <p:sldId id="263" r:id="rId11"/>
    <p:sldId id="264" r:id="rId12"/>
    <p:sldId id="265" r:id="rId13"/>
    <p:sldId id="266" r:id="rId14"/>
    <p:sldId id="267" r:id="rId15"/>
    <p:sldId id="270" r:id="rId16"/>
    <p:sldId id="271" r:id="rId17"/>
    <p:sldId id="272" r:id="rId18"/>
    <p:sldId id="273" r:id="rId19"/>
    <p:sldId id="280" r:id="rId20"/>
    <p:sldId id="275" r:id="rId21"/>
    <p:sldId id="281"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02"/>
    <p:restoredTop sz="94548"/>
  </p:normalViewPr>
  <p:slideViewPr>
    <p:cSldViewPr snapToGrid="0" snapToObjects="1">
      <p:cViewPr varScale="1">
        <p:scale>
          <a:sx n="114" d="100"/>
          <a:sy n="114" d="100"/>
        </p:scale>
        <p:origin x="8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9:33:16.700"/>
    </inkml:context>
    <inkml:brush xml:id="br0">
      <inkml:brushProperty name="width" value="0.05292" units="cm"/>
      <inkml:brushProperty name="height" value="0.05292" units="cm"/>
      <inkml:brushProperty name="color" value="#FF0000"/>
    </inkml:brush>
  </inkml:definitions>
  <inkml:trace contextRef="#ctx0" brushRef="#br0">7858 2193 24575,'59'-1'0,"1"0"0,0 0 0,-5 0 0,0 0 0,5 0-1967,-6 1 1,3 0 0,3 0 0,1 0 0,-3 0 1712,-3 0 0,-1 0 0,0 0 0,-1 0 0,0 0 254,12 0 0,-1 0 0,-1 0 0,-1 0 0,-4 0 0,-1 0 0,-1 0 0,-1 0 0,-5 0 0,-1 0 0,0 0 0,0 0 279,-2 0 0,0 0 1,1 0-1,2 0-279,1 0 0,2 0 0,2 0 0,-2 0 0,-3 0 0,13 0 0,-5 0 0,2 0 69,-9 0 0,2 0 0,-1 0 0,-7 0-69,4 0 0,-4 0 0,6 0 0,0 0 0,-7 0 0,-3 0 0,22 0 5146,-22 0-5146,-29 0 1866,-3 0-1866,-3 1 0,-2 0 0,-3 0 0</inkml:trace>
  <inkml:trace contextRef="#ctx0" brushRef="#br0" timeOffset="19357">11017 11851 12879,'1'-6'0,"1"1"0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9:33:52.538"/>
    </inkml:context>
    <inkml:brush xml:id="br0">
      <inkml:brushProperty name="width" value="0.05292" units="cm"/>
      <inkml:brushProperty name="height" value="0.05292" units="cm"/>
      <inkml:brushProperty name="color" value="#FF0000"/>
    </inkml:brush>
  </inkml:definitions>
  <inkml:trace contextRef="#ctx0" brushRef="#br0">4663 2771 24575,'0'54'0,"0"-17"0,0 5 0,0-2 0,0 5 0,0 6-829,0-3 1,0 7-1,0 3 1,0 4-1,0-1 1,0 0 828,0-8 0,0 1 0,0 1 0,0 0 0,0 0 0,0 1 0,0 0-795,0 3 1,0 1 0,0 1 0,0 0 0,0-1 0,0 0 0,0-2 794,0 3 0,0 0 0,0-1 0,0-1 0,0-1 0,0-3 0,0 0 0,0-2 0,0-2 0,0-1 0,0 0 268,0 4 0,0-1 1,0-1-1,0 2-268,0 4 0,0 1 0,0-1 0,0-3 0,0-4 0,0-3 0,0 0 0,0 1 0,0 0 0,0-4 0,0 0 0,0-1 0,0 7 0,0-1 0,0-15 0,0-3 0,0 18 1645,0 0-1645,0-23 6274,0-7-6274,0-6 1538,0-7-1538,0 11 0,0-2 0,0 11 0,0 2 0,0-5 0,0-5 0,0-9 0,0-4 0,0 0 0,-1-1 0,1-2 0,-2-1 0</inkml:trace>
  <inkml:trace contextRef="#ctx0" brushRef="#br0" timeOffset="1383">7716 2773 24575,'-3'24'0,"1"36"0,2-9 0,0 10-2458,0-6 0,0 7 1,0 2-1,0-2 2438,0-8 0,0-1 0,0 0 1,0 2 19,0-1 0,0 1 0,0 2 0,0 1 0,0 1-478,0-6 1,0 2 0,0 1 0,0 0-1,0-2 1,0-2 477,0 11 0,0-3 0,0 1 0,0 2 0,0-11 0,0 1 0,0 2 0,0 0 0,0 1 0,0 0 44,0 5 1,0 1 0,0 0-1,0 1 1,0-2 0,0-2-45,0 1 0,1-4 0,-1 1 0,0 1 0,-1 5-331,0-7 1,-1 5 0,0 3 0,-1 2 0,1-1 0,-1-3 0,1-3-1,0-6 331,-1 10 0,1-7 0,0-2 0,-2 2 0,0-4 0,-1 2 0,-1-1 0,1-2 0,-2-8 1030,-5 14 0,0-7-1030,-1 1 0,0 0 0,2-3 0,-1-1 1830,1-11 1,1-5-1831,-1-3 646,0 0 1,5-17-1,2-5 1</inkml:trace>
  <inkml:trace contextRef="#ctx0" brushRef="#br0" timeOffset="2841">11785 2961 24575,'1'52'0,"0"0"0,0 1 0,1 5 0,-1 2 0,-1-12 0,0 5 0,0 1 0,0 0-2415,0 1 1,0 1-1,0 0 1,0 0 2414,0 2 0,0 0 0,0 1 0,0 3 0,0-1 0,0 3 0,0 0 0,0 0 0,0-5 0,0 0 0,0-3 0,0-2 0,0 0 0,0 0 0,0 0 0,0-1 0,0 0 315,0-2 0,0 0 0,0-1 0,0 0-315,0 11 0,0 0 0,0 1 0,0-10 0,0 1 0,0 0 0,0-3 0,0-1 0,0-2 0,0 0 0,0 6 0,0 0 0,0-2 619,-2 10 1,0 2-620,-2-1 0,0 3 0,0-5 0,-1-7 0,-1-3 0,1-3 0,-1 2 0,0-7 0,-1 10 0,3-17 0,1 1 0,-1 27 0,0-12 2502,1-19 1,0 0-2503,-10 16 1463,4-21-1463,-4-5 0,10-19 0,0-1 0</inkml:trace>
  <inkml:trace contextRef="#ctx0" brushRef="#br0" timeOffset="27576">2612 3928 24575,'26'0'0,"28"-5"0,-3-5 0,12-4 0,1-1-2425,-6 2 1,1-2 0,9-2 2424,-21 4 0,6-3 0,4-1 0,2-1 0,1 0 0,0 0 0,-2 0 0,-4 2-547,3 0 1,-3 0-1,-2 1 1,1 0-1,3-1 1,4-1 546,-7 2 0,2-1 0,4 0 0,2-1 0,0 0 0,2 0 0,-1 0 0,0 1 0,-1 0 0,-3 1-219,0 1 0,-1 1 0,-2 0 0,1 1 0,-1 0 0,0 0 0,2 0 0,1 0 0,2-1 219,-2 1 0,2-1 0,2 0 0,1 0 0,1 0 0,0 0 0,0 0 0,-2 0 0,0 1 0,-2 0 0,-2 1-330,6-1 1,-1 0-1,-2 2 1,-2-1-1,1 1 1,-2-1 0,1 1-1,1-1 330,-1 1 0,0-1 0,1-1 0,0 1 0,-2 0 0,0 1 0,-3 0 0,-3 1-178,10-1 0,-4 2 0,-2 0 0,0 0 0,2 0 178,-6 0 0,0 0 0,1-1 0,1 1 0,1 0 0,4 0-42,-1 1 0,3-1 0,2 1 0,2-1 1,0 1-1,-1 0 0,-1 0 0,-4 1 42,5-1 0,-4 1 0,-2 0 0,1 0 0,2 0 0,4 0 0,-7 2 0,4-1 0,3 1 0,2-1 0,-1 1 0,-1 0 0,-3 1 0,-3 0 0,-7 0 0,15 1 0,-9 1 0,-1 0 0,7 0 227,-12-1 0,4 1 0,2 0 0,2 0 0,0 0 0,-2 1 0,-1 0-227,2 2 0,0 0 0,-1 0 0,-1 1 0,0 0 0,1 1 0,1-1 0,0 0 0,1 1 0,-1 0 0,-1 0 0,0 1 34,-1 0 0,0 0 0,-1 0 0,0 1 0,-3 0 0,-2 1-34,6 2 0,-4 0 0,0 1 0,0 0 0,1 1 0,0 0 0,0 0 0,1 1 204,1-1 0,1 1 0,-1 0 0,0 0-204,-3 0 0,-1-1 0,0 1 0,0-1 663,-2 0 0,0 0 0,-1 0 0,-1 0-663,12 3 0,-2 0 0,-3 0 0,-10-2 0,-4 0 0,2 0 241,6 0 1,1 1-1,-2 1-241,-4 0 0,-2 2 0,-4-1 0,-2 0 0,0 0 0,5 4 0,3 2 0,-5-2 0,-9-2 0,-4 0 0,8 4 0,-3 1 4473,15 14-4473,-18-12 4559,5 6-4559,-20-19 1367,-1 3-1367,-2-5 0,-3-3 0,0-1 0,-4-4 0,-1-2 0</inkml:trace>
  <inkml:trace contextRef="#ctx0" brushRef="#br0" timeOffset="28766">11694 3422 24575,'22'-3'0,"35"1"0,-6 4 0,8 3 0,5 2 0,-16 0 0,-1 1-1128,7 1 1,-2 1 1127,-13-4 0,-2 1 361,-5 0 1,-1 1-362,19 6 0,-15-2 0,-1 1 0,4 3 372,14 6-372,-29-12 0,12 0 0,-13-7 1160,3-1-1160,-9-10 0,-6-1 0,-5-18 0,-5-5 0,0 1 0,-2 1 0,-9-1 0,-4 4 0,-13-15 0,10 14 0,-1 0 0,-1-3 0,-1-1 0,-1-6 0,0-2 0,-7-14 0,3 3 0,-1-5 0,8 15 0,3 5 0,10 23 0,1-1 0,0 8 0,1 1 0,2 2 0,-1 1 0</inkml:trace>
  <inkml:trace contextRef="#ctx0" brushRef="#br0" timeOffset="76337">24370 12006 24575,'33'3'0,"6"0"0,-3-3 0,-8 0 0,-5 0 0,-5 0 0,7 0 0,-2 0 0,7 0 0,-7 0 0,0 0 0,-1 0 0,-8 0 0,-1 0 0,3 0 0,1 0 0,-1 0 0,1 0 0,-9 0 0,4 0 0,-6 0 0,0 0 0,-4 0 0</inkml:trace>
  <inkml:trace contextRef="#ctx0" brushRef="#br0" timeOffset="77887">25433 11953 24575,'13'0'0,"3"0"0,-2 0 0,2 0 0,0 0 0,-3 0 0,7 0 0,-6 0 0,1 0 0,-5 0 0,-1 0 0,0 0 0,0 0 0,-1 0 0,-2 0 0,3 0 0,1 0 0,1 0 0,-2 0 0,-1 0 0,0 0 0,-2 0 0,2 0 0,-2 0 0,0 0 0,0 0 0,-1 0 0,1 0 0,-3 0 0,-1 0 0</inkml:trace>
  <inkml:trace contextRef="#ctx0" brushRef="#br0" timeOffset="88778">2926 4541 24575,'28'2'0,"7"6"0,6 3 0,6 3 0,4 4 0,-7-2 0,5 4 0,2 0 0,-6 0 0,-3-1 0,-3 0 0,2 1 0,17 7 0,5 1 0,-11-5 0,-21-9 0,-3-2 0,7 0 0,-2-3 0,4-6 0,-11-1 0,19 2 0,-13-1 0,3 1 0,-1 4 0,1 0 0,8 0 0,1 1 0,7 7 0,-3 1 0,-17-5 0,0-1 0,10 4 0,0 0 0,7 5 0,6 0 0,-11-3 0,-5-3 0,-14-4 0,-9-2 0,-5-4 0,-2 2 0,-5-6 0,-1 1 0</inkml:trace>
  <inkml:trace contextRef="#ctx0" brushRef="#br0" timeOffset="89912">4149 5241 24575,'31'0'0,"-1"0"0,16 0 0,3 0 0,13 0 0,-20 0 0,-1 0 0,10 0 0,-11 0 0,-3 0 0,-12 0 0,16 0 0,-29 0 0,4-1 0,-6-10 0,0-9 0,0-5 0,-4 0 0,-3 4 0,-3 7 0,1 0 0,-1 4 0,-2-1 0,-5 2 0,-28-20 0,-4-2 0,14 11 0,0-1 0,1-4 0,3 0 0,-4-7 0,7 5 0,0 0 0,-1-1 0,-7-12 0,9 16 0,4 7 0,3 2 0,5 8 0,3 5 0,1 1 0</inkml:trace>
  <inkml:trace contextRef="#ctx0" brushRef="#br0" timeOffset="95254">3973 4634 24575,'0'19'0,"0"42"0,0-17 0,0 6 0,0 2 0,0-3 0,0-8 0,0-1 0,0 5 0,0 4 0,0-21 0,0-10 0,-3-9 0,-1 0 0,-1-2 0,-4 8 0,3 4 0,-3 1 0,4-1 0,-3-1 0,3-5 0,-7 8 0,6-12 0,-5 1 0,9-9 0,0-1 0</inkml:trace>
  <inkml:trace contextRef="#ctx0" brushRef="#br0" timeOffset="96337">6668 5246 24575,'0'27'0,"0"4"0,0 3-836,0 19 836,0-12 0,0 1 0,0 20 0,0-13 275,0 4-275,0-1 34,0-22 1,0 1 0,0-26-1</inkml:trace>
  <inkml:trace contextRef="#ctx0" brushRef="#br0" timeOffset="97487">10759 4575 24575,'-3'53'0,"0"6"0,3-15 0,0 2 0,0 0 0,0 0 0,0 8 0,0 0 0,0-13 0,0-1 0,0-7 0,0-2 0,0 21 0,0-19 0,0-13 0,0-17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9:35:47.271"/>
    </inkml:context>
    <inkml:brush xml:id="br0">
      <inkml:brushProperty name="width" value="0.05292" units="cm"/>
      <inkml:brushProperty name="height" value="0.05292" units="cm"/>
      <inkml:brushProperty name="color" value="#FF0000"/>
    </inkml:brush>
  </inkml:definitions>
  <inkml:trace contextRef="#ctx0" brushRef="#br0">1292 1345 24575,'23'0'0,"25"0"0,-3 0 0,7 0 0,-9 2 0,4 1 0,-2 0-1643,17 0 0,-3 0 1643,-1 3 0,-2 1 0,-1 0 0,-2 1 0,-13-2 0,1 0 0,19 2 0,3 1 0,-7 0 0,-1-1 0,-9-2 0,2 1 0,13 2 0,2-1-43,-10-3 1,1 0 42,-12-2 0,1 1 0,3-1 0,15-1 0,3-1 0,-5 0 0,-2 1 0,-2 0 0,-8-2 0,2 0 0,-4 0 0,-1 0 0,-3 0 0,-8 0 0,-1 0 0,8 0 0,1 0 327,-7 0 1,-3 0-328,11 0 0,17 0 0,-20 0 1623,1 0-1623,-1 0 942,-9 0-942,-3 0 151,-7 0-151,-1 0 0,4 0 0,-4-2 0,10 0 0,-7 1 0,3-1 0,-4 2 0,-1-3 0,-5 3 0,-2-3 0,-1 3 0,-1-1 0,3-1 0,-2 0 0,8 0 0,3 0 0,3-3 0,4 2 0,-7-1 0,-3 1 0,1 2 0,-7-2 0,3 1 0,-10 1 0,5-3 0,-1 2 0,4 0 0,2 0 0,-1 2 0,-4 0 0,-2-1 0,0-1 0,-5 1 0,1-1 0</inkml:trace>
  <inkml:trace contextRef="#ctx0" brushRef="#br0" timeOffset="18174">5023 5209 24575,'49'0'0,"-1"0"0,1 0 0,2 0 0,0 0 0,-1 0 0,12 0 0,0 0 0,-8 0 0,2 0 0,-6 0 0,-14 0 0,-1 0 0,18 0 0,1 0 0,-14 0 0,-3 0 0,25 0 0,-21 0 0,1 0 0,-4 0 0,0 0 0,2 0 0,1 0 0,5 0 0,-2 0 0,-8 0 0,-2 0 0,18 0 0,-25 1 0,-9 1 0,-9 1 0,-4-2 0,-1 1 0</inkml:trace>
  <inkml:trace contextRef="#ctx0" brushRef="#br0" timeOffset="19508">5092 8975 24575,'56'0'0,"0"-1"0,-1 0 0,1 0 0,-9 1 0,-1-1 0,1 0 0,5 1-772,-1-1 1,5 1-1,2 0 1,2 1-1,1-1 1,0 0 771,-6 0 0,3 0 0,0 0 0,0 0 0,0 0 0,-1 0 0,-1 0 0,3 0 0,-1 0 0,-1 0 0,0 0 0,1 0 0,1 0 0,4 0 0,2 0 0,0 0 0,-1 0 0,-1 0 0,-5 0 0,10 0 0,-4 0 0,-3 0 0,-6 0 0,-5 0 0,-4 0 0,-5 0 706,4 0 1,-7 0-707,-5 0 0,-25 0 0,-8 0 0</inkml:trace>
  <inkml:trace contextRef="#ctx0" brushRef="#br0" timeOffset="29816">10510 4449 24575,'10'0'0,"2"0"0,0 0 0,9 0 0,5 0 0,21 0 0,-13 0 0,3 0 0,9 0 0,4 0 0,10 0 0,5 0 0,-6 0 0,5 0 0,-5 0 0,4 0 0,-1 0-847,2 0 1,3 0 0,-9 0 846,-19 0 0,-1 0 0,7 0 0,4 0 0,-3 0 0,-6 0 0,-2 0 0,16 0 0,2 0 0,-4 0 0,-2 0 0,-6 0 0,-2 0 0,-2 0 0,-2 0 0,22-3 0,-32-1 2539,8 0-2539,-9 1 0,-7 3 0,7-2 0,-6 0 0,2-1 0,2-1 0,-11 2 0,-1 1 0,-8 1 0,1-2 0,-3 2 0,-1-1 0</inkml:trace>
  <inkml:trace contextRef="#ctx0" brushRef="#br0" timeOffset="44558">10688 8594 24575,'55'0'0,"0"0"0,1 0 0,-7 0 0,-1 0 0,2 0 0,9 0 0,1 0 0,4 0-2458,-7 0 0,4 0 1,0 0-1,0 0 2414,-5 0 1,-1 0 0,2 0 0,7 0 43,-10 0 0,6 0 0,4 0 0,2 0 0,0 0 0,-1 0 0,-4 0 0,-6 0 0,2 0 0,-6 0 0,-3 0 0,2 0 0,5 0-222,-1 0 0,5 0 1,3 0-1,1 0 1,-4 0-1,-3 0 1,-8 0 221,8 0 0,-8 0 0,0 0 686,3 0 1,1 0-1,-3 0-686,12 0 0,-2 0 0,3 0 0,-2 0 0,-8 0 0,-4 0 0,-14 0 0,-2 0 4374,14 0-4374,-10 0 5122,-17 0-5122,-9 0 0,-1 0 0,-6 0 0,0 0 0</inkml:trace>
  <inkml:trace contextRef="#ctx0" brushRef="#br0" timeOffset="57835">10558 8559 24575,'33'0'0,"12"0"0,8 0 0,-14 0 0,3 0 0,3 0 0,0 0 0,-1 0 0,-1 0 0,-5 0 0,-2 0 0,17 0 0,9 0 0,-10 0 0,-20 0 0,1 0 0,3 0 0,0 0 0,27 0 0,-20 0 0,1 0 0,-7 0 0,0 0 0,-4 0 0,0 0-6784,25 0 6784,-19 0 0,-11 0 0,-1 0 0,-10 0 0,3 0 0,-5 0 0,-4 0 1696,1 0 0,-6 0 0,-3 0 0</inkml:trace>
  <inkml:trace contextRef="#ctx0" brushRef="#br0" timeOffset="59885">11697 8135 24575,'0'17'0,"0"2"0,0 5 0,0 10 0,0-13 0,0 16 0,2-20 0,1 7 0,3-8 0,0 1 0,2-1 0,-1 1 0,0-3 0,-2-2 0,3 6 0,-3-8 0,5 11 0,-6-12 0,2 3 0,0-3 0,1-3 0,1 2 0,-2-3 0,0 2 0,5 0 0,-3-3 0,6 5 0,-4-6 0,21 5 0,-6-6 0,14 3 0,-15-5 0,-4 0 0,4-1 0,-3-10 0,0 0 0,-5-7 0,2-14 0,-4 1 0,3-18 0,-10 13 0,-4 2 0,-3 15 0,0-3 0,0 8 0,0-5 0,-4 3 0,-4-2 0,-6 0 0,-5 0 0,2 2 0,-3 4 0,6 3 0,-4 0 0,4 2 0,-2 3 0,-1 2 0,-3 1 0,4-1 0,2 1 0,-5-6 0,10 6 0,-12-6 0,12 5 0,-4 0 0,4-1 0,-4 1 0,3 0 0,0-1 0,3 1 0,4 1 0,1 0 0</inkml:trace>
  <inkml:trace contextRef="#ctx0" brushRef="#br0" timeOffset="70604">17436 4244 24575,'54'0'0,"-2"0"0,8 0 0,-15 0 0,5 0 0,1 0 0,2 0-1114,-4 0 0,2 0 1,1 0-1,1 0 1,1 0 1113,1 0 0,1 0 0,2 0 0,0 0 0,-1 0 0,-1 0 0,4 0 0,-1 0 0,0 0 0,-1 0 0,-1 0 0,-1 0 0,-1 0 0,-1 0 0,0 0 0,-2 0 0,6 0 0,-1 0 0,-3 0 0,-1 0 0,3 0 0,-3 0 0,-1 0 0,-8 0 0,-1 0 0,-1 0-145,3 0 0,-1 0 0,-2 0 145,2 0 0,0 0 437,-3 0 0,2 0 1,3 0-438,8 1 0,2 0 0,-2 0 0,6 0 0,-1-1 0,-6 3 0,3 0 0,-7-1 0,-9-2 0,-7 1 0,13 3 2714,0-4-2714,-5 0 1977,-5 0-1977,0 0 0,-13 0 0,-2 2 0,-8 0 0,-5 3 0,-6-3 0,-2 0 0</inkml:trace>
  <inkml:trace contextRef="#ctx0" brushRef="#br0" timeOffset="80759">23763 4317 24575,'15'-7'0,"20"3"0,11 3 0,5 0 0,-2 0 0,4 2-238,-9-1 0,5 0 0,2 0 0,-1 0 238,11 0 0,0 0 0,0 0 0,-12 0 0,0 0 0,-1 0 0,-1 0 0,11 0 0,-2 0 0,-5 0 0,0 0 0,-6 0 0,-9 0 0,-4 0 312,16 0-312,-10 0 158,-15 0-158,2 0 0,-18 0 0,1 0 482,-2 0-482,-1 0 0,1 0 0,0 0 0,5 0 0,-2 0 0,0 0 0,-4 0 0</inkml:trace>
  <inkml:trace contextRef="#ctx0" brushRef="#br0" timeOffset="82019">25177 4025 24575,'21'22'0,"-6"-3"0,6 19 0,-14-14 0,-1 12 0,-5-21 0,-1 1 0,0-10 0,0 0 0,0 3 0,0-3 0,3 5 0,4-2 0,5 4 0,2 4 0,-3 9 0,-4-8 0,-4 10 0,-3-17 0,0 3 0,-10-1 0,-5 2 0,-14 6 0,-4-2 0,-3 0 0,-7 7 0,1-3 0,0-1 0,10-7 0,-10 4 0,16-12 0,12-3 0,1-2 0</inkml:trace>
  <inkml:trace contextRef="#ctx0" brushRef="#br0" timeOffset="127184">13324 11852 24575,'0'51'0,"0"11"0,0-26 0,0 1 0,0 1 0,0-2 0,0 15 0,0-6 0,-1-28 0,1-3 0,-1-12 0</inkml:trace>
  <inkml:trace contextRef="#ctx0" brushRef="#br0" timeOffset="128699">13477 11917 24575,'43'-2'0,"0"0"0,6 0 0,-7 14 0,-5 4 0,-19-1 0,-10 42 0,-10-27 0,-2 14 0,-2-11 0,-5-5 0,2-7 0,-3-5 0,-7-4 0,5-5 0,-11 0 0,5-4 0,-7 1 0,3 3 0,-3 6 0,9 1 0,3-3 0,9-1 0,-1-1 0,5-3 0,12 2 0,10-4 0,17-6 0,-2-1 0,3-2 0,20 2 0,-9 0 0,-14 3 0,3 0 0,5-1 0,1 1 0,-8 0 0,1 0 0,7 1 0,-2 0 0,8 1 0,-26-1 0,-12 1 0</inkml:trace>
  <inkml:trace contextRef="#ctx0" brushRef="#br0" timeOffset="130117">14161 11710 24575,'0'21'0,"0"0"0,0 13 0,0-3 0,0 19 0,0-6 0,0 9 0,0-2 0,0-2 0,0-14 0,0-6 0,0-12 0,0-1 0,0-4 0,-1-4 0,-1-6 0,-3 0 0,1-5 0,1-3 0,2-1 0,1-2 0,0 3 0,0 0 0,0-2 0,0 1 0,4-14 0,6 0 0,6-6 0,4 4 0,-1 8 0,0 2 0,15-4 0,-3 8 0,15-7 0,-6 10 0,2-2 0,-5 5 0,2 1 0,-20 3 0,-2 9 0,-13 2 0,-2 19 0,-2-2 0,0 6 0,0-6 0,-3-7 0,2-1 0,-1-9 0,2-2 0,0-3 0,0-1 0,0-2 0,0-1 0</inkml:trace>
  <inkml:trace contextRef="#ctx0" brushRef="#br0" timeOffset="138766">7673 12479 24575,'14'27'0,"-1"-4"0,12 22 0,-6-13 0,-3 3 0,1-4 0,-9-11 0,2-1 0,-6-8 0,2-1 0,-2-3 0,0 4 0,0-2 0,1 1 0,-1 1 0,2 0 0,-3-4 0,-2-2 0,0-4 0</inkml:trace>
  <inkml:trace contextRef="#ctx0" brushRef="#br0" timeOffset="140034">7351 12689 24575,'28'3'0,"-8"1"0,23 10 0,-24-6 0,34 15 0,-28-15 0,17 2 0,-8-8 0,7 3 0,1 5 0,-11-2 0,4 5 0,-18-10 0,7 0 0,-10-2 0,-1-1 0,-4 0 0,-4-4 0,-1 1 0,-1-4 0,-1-1 0,-1 2 0,1-3 0,0-9 0,-1-8 0,1-6 0,-2-2 0,0 18 0,0 4 0</inkml:trace>
  <inkml:trace contextRef="#ctx0" brushRef="#br0" timeOffset="142425">9990 13450 24575,'40'0'0,"0"0"0,2 0 0,-8 0 0,2 0 0,21 0 0,10 0 0,-9 0 0,-19 0 0,0 0 0,7 0 0,4 0 0,-14 0 0,-18 0 0,0 0 0</inkml:trace>
  <inkml:trace contextRef="#ctx0" brushRef="#br0" timeOffset="143393">10522 13315 24575,'13'0'0,"29"0"0,-4 1 0,18 9 0,-23 3 0,-14 9 0,-8-1 0,-7-5 0,-3-2 0,-4-3 0,-3-3 0,-9 4 0,-1-3 0,-12 5 0,-5 0 0,-15 6 0,1 0 0,-3 0 0,16-5 0,5-5 0,13-4 0,8-2 0,3-2 0</inkml:trace>
  <inkml:trace contextRef="#ctx0" brushRef="#br0" timeOffset="145200">8461 12531 12066,'-5'0'0,"16"0"4806,0 0-4806,14 0 2176,-6 0-2176,-2 0 1223,-7 0-1223,-2 0 4304,-3 5-4304,1 9 0,-2 2 0,3 8 0,-1-10 0,1-1 0,0-4 0,2 2 0,1 4 0,0-1 0,2 3 0,-3-6 0,2 0 0,1-4 0,1-2 0,-1-1 0,-1 3 0,1 5 0,-4-3 0,-1 2 0,-3-5 0,0-2 0,2-1 0,2-1 0,-2-2 0,2 0 0,1-3 0,4-13 0,1 0 0,7-41 0,-13 20 0,-1-22 0,-26 25 0,-14 9 0,-19-2 0,4 8 0,-2-6 0,4-2 0,12 3 0,-6-8 0,21 13 0,2 1 0,10 10 0,5 7 0</inkml:trace>
  <inkml:trace contextRef="#ctx0" brushRef="#br0" timeOffset="145942">8940 12508 24575,'29'0'0,"26"0"0,-17 0 0,11 0 0,0 0 0,-9 0 0,18 0 0,-41 0 0</inkml:trace>
  <inkml:trace contextRef="#ctx0" brushRef="#br0" timeOffset="147075">9378 12229 24575,'9'1'0,"2"8"-9831,7 11 8341,-5 6 4236,2 25-2746,-11 1 0,0 9 1729,-4 2-1729,-9-12 0,-6-5 0,-10-12 6753,-11-4-6753,14-17 93,-3 5-93,8-11 0,4 1 0,0-4 0,17 0 0,11-4 0,16-3 0,-3 2 0,23-2 0,-16 2 0,1 1 0,9 6 0,0 3 0,-4 1 0,-4 4 0,-6 4 0,-7 4 0,-9 22 0,-20 0 0,-9-13 0,-15-3 0,-23-7 0,9-4 0,10-6 0,0-1 0,-16 5 0,0 1 0,12-6 0,15-3 0,13-5 0,6-1 0</inkml:trace>
  <inkml:trace contextRef="#ctx0" brushRef="#br0" timeOffset="149100">10102 12212 24575,'0'36'0,"0"0"0,0 16 0,0 5 0,0 2 0,0 2 0,0 0 0,0 1 0,0-17 0,0 1 0,0-3 0,0-1 0,0 0 0,0 14 0,0-3 0,0-2 0,0-22 0,0-12 0,0-9 0,-3-1 0,-3-16 0,2-21 0,-1-25 0,6 17 0,2-1 0,5-1 0,1 0 0,0 4 0,3 1 0,11-6 0,2 2 0,6-5 0,1 7 0,2 2 0,1 8 0,-8 7 0,0 4 0,5 6 0,-6 10 0,-6 26 0,-9 13 0,-3 10 0,-6-4 0,0 0 0,1 6 0,-2-8 0,1-1 0,3 4 0,-3 3 0,3-10 0,0-6 0,-2-13 0,0-9 0,-3-7 0</inkml:trace>
  <inkml:trace contextRef="#ctx0" brushRef="#br0" timeOffset="152208">12100 12863 24575,'28'-4'0,"3"2"0,10 1 0,10 2 0,-4-1 0,8 0 0,2 0 0,-4 0-1135,2 0 1,-3 0 0,6 0 1134,-1 0 0,7 0 0,2 0 0,-3 0 0,-7 0 355,-5 0 1,-6 0-1,5 0-355,1 0 0,6-1 0,3 1 0,-3 0 0,-6 1 0,-2 1 0,-5 1 0,4 0-427,7 1 1,5 1-1,-2 1 1,-9-1 426,-8 3 0,-4 0-24,9 7 0,-6-1 24,-15-5 1558,7 6-1558,-9-5 0,-10-4 0,5 1 0,-14-6 0,0 1 0</inkml:trace>
  <inkml:trace contextRef="#ctx0" brushRef="#br0" timeOffset="153441">13780 13276 24575,'52'-3'0,"-18"0"0,28 3 0,-11 0 0,5 0 0,-8 0 0,-7 0 0,-26-8 0,-9 1 0,-2-9 0,-4-3 0,0 3 0,0-10 0,0 6 0,-1-7 0,-3-1 0,-1-1 0,-4 4 0,-1-5 0,-1 3 0,1 0 0,1 3 0,-2-5 0,1 9 0,-3-14 0,2 10 0,2-1 0,-2 5 0,3 6 0,1 5 0,-4 1 0,1 5 0,-1 1 0,6 2 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9:38:38.405"/>
    </inkml:context>
    <inkml:brush xml:id="br0">
      <inkml:brushProperty name="width" value="0.05292" units="cm"/>
      <inkml:brushProperty name="height" value="0.05292" units="cm"/>
      <inkml:brushProperty name="color" value="#FF0000"/>
    </inkml:brush>
  </inkml:definitions>
  <inkml:trace contextRef="#ctx0" brushRef="#br0">16620 3461 8191,'-14'-4'0,"29"2"5063,9 0-5063,17 1 0,13 2 0,-2-1 0,-3 0 0,2 0 133,-1 0 0,8 0 1,-1 0-1,-7 0-133,2 0 0,-4 0 0,16 0 0,-2 0 997,-23 0 0,-1 0-997,12 0 0,0 0 0,-15 0 0,-3 0 2894,5 0 0,-6 0-2894,-12 0 0,-11 0 0,-5 0 0</inkml:trace>
  <inkml:trace contextRef="#ctx0" brushRef="#br0" timeOffset="1492">16610 3201 24575,'-29'12'0,"9"-3"0,-14 8 0,12-5 0,-1-1 0,4-2 0,1 1 0,6-4 0,3 2 0,1 3 0,1 6 0,0 1 0,-2 4 0,0-5 0,-1 0 0,1-4 0,0-1 0,0 0 0,-1 1 0,-1 1 0,-5 6 0,4-8 0,-5 6 0,10-12 0,-2 0 0,5-5 0,4-1 0,5 0 0,4 0 0,2 0 0,4 0 0,2 0 0,6 2 0,9 2 0,8 5 0,6 5 0,6 5-6784,4 4 6784,-5 0-273,-17-7 0,1 1 273,16 8 0,-19-8 0,-1 1 0,14 7 0,-7-3 0,-8-4 0,-7-3 0,-9-4 1628,-3-1 1,-8-5-1,-2-2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9:39:03.235"/>
    </inkml:context>
    <inkml:brush xml:id="br0">
      <inkml:brushProperty name="width" value="0.05292" units="cm"/>
      <inkml:brushProperty name="height" value="0.05292" units="cm"/>
      <inkml:brushProperty name="color" value="#FF0000"/>
    </inkml:brush>
  </inkml:definitions>
  <inkml:trace contextRef="#ctx0" brushRef="#br0">1600 6499 24575,'-1'27'0,"3"-10"0,6 21 0,6-8 0,3 7 0,2 5 0,0-1 0,2-2 0,5 4 0,-7-11 0,1 1 0,-11-14 0,0-1 0,-1 0 0,-1-3 0,1-2 0,-3-2 0,-1-3 0,-3 2 0,-1-4 0,0 2 0,0-2 0,0-3 0,4-12 0,3-5 0,6-13 0,6-4 0,5-7 0,5-10 0,-11 20 0,1-3 0,11-16 0,2-4-921,-8 14 0,0 0 0,0 0 921,0-1 0,1-1 0,-2 2 0,10-16 0,-3 4-439,-9 12 0,-2 3 439,-1 1 0,-1 0-93,9-24 93,-6 10 0,-6 10 0,-5 11 0,-3 6 2611,-4 7-2611,-2 3 1010,0 0-1010,0 1 113,0 0-113,0 1 0,0-1 0,2 3 0,1-2 0,1 3 0,-2 2 0,1 1 0</inkml:trace>
  <inkml:trace contextRef="#ctx0" brushRef="#br0" timeOffset="4840">2247 9844 24575,'52'0'0,"-6"0"0,7 0 0,5 0 0,6 0 0,-1 0-3277,-6 0 0,0 0 0,1 0 2904,-5 0 1,2 0-1,0 0 1,-3 0 372,5 0 0,-3 0 0,1 0 193,4 0 1,1 0 0,-1 0-194,-4 0 0,0 0 0,0 0 0,0 0 0,-1 0 0,-2 0 0,11 0 0,-3 0 530,-3 0 0,-2 0-530,-7 0 0,-3 0-140,-6 0 0,-3 0 140,24 0 5211,-11 0-5211,-12 0 2639,-10 0-2639,-7 0 1579,-6 0-1579,-2 0 531,-1 0-531,-2 0 0,-2 0 0,-1 0 0,-2 0 0,-1 0 0</inkml:trace>
  <inkml:trace contextRef="#ctx0" brushRef="#br0" timeOffset="29473">10654 14382 24575,'-5'0'0,"9"0"0,11 0 0,39 0 0,-11 0 0,7 0-2536,6 0 0,8 0 0,2 0 2536,-10 0 0,1 0 0,2 0 0,2 0-641,-6 0 0,2 0 0,0 0 0,2 0 1,1 0 640,-4 0 0,2 0 0,0 0 0,1 0 0,0 0 0,-1 0-534,-4 0 0,0 0 0,-1 0 1,0 0-1,2 0 0,0 0 534,5 0 0,1 0 0,1 0 0,1 0 0,-1 0 0,1 0-357,0 0 0,0 0 0,0 0 0,0 0 1,0 0-1,0 0 357,-8 0 0,0 1 0,0-1 0,1 1 0,-1 0 0,0-1 0,-1 1-38,8 0 0,0-1 0,-1 1 0,0 0 0,-1 0 0,0 0 38,-5 1 0,-1-1 0,0 1 0,-1 0 0,0-1 0,-1 1 0,5 0 0,0 0 0,-1 0 0,-1 0 0,-3 0 376,2 0 1,-3 0-1,0 0 1,1 0-377,7 1 0,3-1 0,-3 0 0,-4 1 0,-8-1 0,-4 0 0,0 0 437,5 1 0,0-1 0,-5 1-437,-7 0 0,-3-1 3424,21 2-3424,-12-1 5120,-23-3-5120,-14 1 1445,-18-1-1445,-5 0 894,-3 0 1,12 0-1,2 0 1</inkml:trace>
  <inkml:trace contextRef="#ctx0" brushRef="#br0" timeOffset="30989">13312 13510 24575,'-3'12'0,"0"-4"0,3 6 0,0-6 0,0 0 0,0 0 0,2 0 0,0 0 0,6 3 0,2 1 0,5 8 0,0 1 0,0 3 0,-1 0 0,-2 0 0,-3-2 0,0-1 0,-2-2 0,0-1 0,0-1 0,-1-3 0,-2-3 0,-2-2 0,-2-3 0,1-1 0,2-2 0,1-2 0,1-1 0,1-1 0,0-2 0,-1-1 0,1-2 0,0-1 0,3-3 0,-1-3 0,4-6 0,-4 4 0,2-8 0,-5 4 0,0-5 0,-3 0 0,-1-2 0,-1 1 0,0 3 0,0 4 0,0 3 0,0 4 0,0 2 0,0 0 0,0 0 0,0 1 0,0-1 0,0-1 0,2 4 0,-1-3 0,2 5 0,1 1 0,-1 4 0,0 5 0,2 12 0,0-1 0,3 12 0,0-7 0,0 4 0,1 0 0,0-1 0,1 0 0,0-4 0,1-3 0,2 0 0,-2-5 0,1-1 0,-2-3 0,-2-1 0,1-1 0,0-1 0,1 1 0,-1-1 0,0 1 0,-3-1 0,2 0 0,-2-2 0,2-1 0,-2 0 0,0-1 0,1 0 0,-4-1 0,0-1 0</inkml:trace>
  <inkml:trace contextRef="#ctx0" brushRef="#br0" timeOffset="32223">13756 13504 24575,'0'2'0,"0"0"0,0 10 0,0-2 0,0 0 0,0 1 0,0-3 0,0 4 0,0-3 0,0 2 0,0 0 0,0-4 0,0 2 0,0-3 0,0 1 0,0-1 0,0 2 0,0-2 0,0 2 0,0-2 0,0 0 0,0 1 0,0-1 0,-1-1 0,0-1 0,-1-1 0,2-3 0,6-18 0,0-3 0,7-14-6784,-3 8 6784,0 7 0,1 3 0,0 2 0,1 2 0,0 0 0,1 2 0,0 1 6784,1 1-6784,1 1 0,4-2 0,2 0 0,-3 3 0,0-1 0,-8 4 0,1 2 0,-1 0 0,-2 2 0,-1 0 0,-1 0 0,-1 0 0,2 0 0,-4 0 0,-1 0 0</inkml:trace>
  <inkml:trace contextRef="#ctx0" brushRef="#br0" timeOffset="33406">14333 13436 24575,'-7'1'0,"4"1"0,0 4 0,3 8 0,-3 0 0,-2 8 0,-3-6 0,-1 3 0,0-1 0,-2 2 0,0 2 0,-1 0 0,3 0 0,2-3 0,1-1 0,-2 3 0,0 1 0,1 1 0,1-1 0,2-4 0,2 0 0,-3 3 0,4-4 0,-2 1 0,3-3 0,0-5 0,0-1 0,0 1 0,1-1 0,2-2 0,4 0 0,10-4 0,-2-2 0,16 0 0,-12-1 0,18 0 0,-8-1 0,2-3 0,6-5 0,-17 1 0,6-2 0,-11 4 0,-3 1 0,-3 2 0,-2 0 0,-1 0 0,-1 2 0,1-1 0,0 1 0,1-2 0,-2 0 0,1-1 0,-3 1 0,-2 1 0,0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INFORMS RAS, 2012 Problem Solving Competition announcement, “Movement Planner Algorithm Design For Dispatching On Multi-Track Territories”: https://higherlogicdownload.s3.amazonaws.com/INFORMS/e52cec4c-eedb-4c3b-a379-8408d89f8fc9/UploadedImages/RAS%202012%20Problem%20Solving%20Competition%20Announcement.pdf</a:t>
            </a:r>
          </a:p>
          <a:p>
            <a:r>
              <a:t>2012 RAS Problem Solving Competition Corrections: https://higherlogicdownload.s3.amazonaws.com/INFORMS/e52cec4c-eedb-4c3b-a379-8408d89f8fc9/UploadedImages/2012%20RAS%20Problem%20Competition%20Corrections.pdf</a:t>
            </a:r>
          </a:p>
          <a:p>
            <a:r>
              <a:t>Yan &amp; Yang, Mixed-integer Programming Based Approaches for the Movement Planner Problem: https://optimization-online.org/wp-content/uploads/2016/06/5473.pdf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INFORMS RAS, 2012 Problem Solving Competition announcement: https://higherlogicdownload.s3.amazonaws.com/INFORMS/e52cec4c-eedb-4c3b-a379-8408d89f8fc9/UploadedImages/RAS%202012%20Problem%20Solving%20Competition%20Announcement.pdf</a:t>
            </a:r>
          </a:p>
          <a:p>
            <a:r>
              <a:t>2012 RAS Problem Solving Competition Corrections (five-minute / 300-second separation): https://higherlogicdownload.s3.amazonaws.com/INFORMS/e52cec4c-eedb-4c3b-a379-8408d89f8fc9/UploadedImages/2012%20RAS%20Problem%20Competition%20Corrections.pdf</a:t>
            </a:r>
          </a:p>
          <a:p>
            <a:r>
              <a:t>Yan &amp; Yang, Mixed-integer Programming Based Approaches for the Movement Planner Problem: https://optimization-online.org/wp-content/uploads/2016/06/5473.pdf</a:t>
            </a:r>
          </a:p>
          <a:p>
            <a:r>
              <a:t>Independent validator and Pass/Fail → objective → runtime framework: proposed modern competition mechanism, not asserted as the historical 2012 scoring format.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old corridor label was assigned by proximity to 18 waypoints with a match radius up to 89.9 km. The rebuild routes through BNSF's own named facilities and weights edges by NARN main-track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correction to our original hypothesis. We expected parallel records to be undercounted tracks. Inspection showed most are duplicate records of the same track, so clustering by lateral offset is required, and the estimator takes a max rather than a sum. Shared-node connected components cannot be used because parallel mains are joined at every crossover.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reconciliation takes a max across sources because every source under-reports and none systematically over-reports. Modal values are taken within each source so one mis-keyed crossing cannot lift a bin.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failures are findings, not defects. G05/G06 are the substantive result to discuss with ANL: two independent official datasets disagree with the carrier's public statement, and we have the exact mileposts.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73870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59A46D-E9AF-41F1-9AAA-A7CC6702603D}"/>
              </a:ext>
            </a:extLst>
          </p:cNvPr>
          <p:cNvSpPr>
            <a:spLocks noGrp="1"/>
          </p:cNvSpPr>
          <p:nvPr/>
        </p:nvSpPr>
        <p:spPr>
          <a:xfrm>
            <a:off x="685800" y="566928"/>
            <a:ext cx="10820095" cy="0"/>
          </a:xfrm>
          <a:prstGeom prst="line">
            <a:avLst/>
          </a:prstGeom>
          <a:noFill/>
          <a:ln w="12700">
            <a:solidFill>
              <a:srgbClr val="B9C2CE"/>
            </a:solidFill>
            <a:prstDash val="solid"/>
          </a:ln>
        </p:spPr>
        <p:txBody>
          <a:bodyPr/>
          <a:lstStyle/>
          <a:p>
            <a:endParaRPr sz="2400">
              <a:latin typeface="Times New Roman"/>
              <a:ea typeface="Times New Roman"/>
              <a:cs typeface="Times New Roman"/>
            </a:endParaRPr>
          </a:p>
        </p:txBody>
      </p:sp>
      <p:sp>
        <p:nvSpPr>
          <p:cNvPr id="3" name="Text 1">
            <a:extLst>
              <a:ext uri="{FF2B5EF4-FFF2-40B4-BE49-F238E27FC236}">
                <a16:creationId xmlns:a16="http://schemas.microsoft.com/office/drawing/2014/main" id="{26AB96FD-DE45-4000-8C11-5F1EC1B13424}"/>
              </a:ext>
            </a:extLst>
          </p:cNvPr>
          <p:cNvSpPr>
            <a:spLocks noGrp="1"/>
          </p:cNvSpPr>
          <p:nvPr/>
        </p:nvSpPr>
        <p:spPr>
          <a:xfrm>
            <a:off x="685800" y="1975104"/>
            <a:ext cx="10820095" cy="219456"/>
          </a:xfrm>
          <a:prstGeom prst="rect">
            <a:avLst/>
          </a:prstGeom>
          <a:noFill/>
        </p:spPr>
        <p:txBody>
          <a:bodyPr wrap="square" lIns="0" tIns="0" rIns="0" bIns="0" anchor="ctr"/>
          <a:lstStyle/>
          <a:p>
            <a:pPr marL="0" indent="0">
              <a:buNone/>
            </a:pPr>
            <a:r>
              <a:rPr sz="2800" b="1">
                <a:latin typeface="Times New Roman"/>
                <a:ea typeface="Times New Roman"/>
                <a:cs typeface="Times New Roman"/>
              </a:rPr>
              <a:t>WEEKLY UPDATE</a:t>
            </a:r>
            <a:endParaRPr sz="2800">
              <a:latin typeface="Times New Roman"/>
              <a:ea typeface="Times New Roman"/>
              <a:cs typeface="Times New Roman"/>
            </a:endParaRPr>
          </a:p>
        </p:txBody>
      </p:sp>
      <p:sp>
        <p:nvSpPr>
          <p:cNvPr id="4" name="Text 2">
            <a:extLst>
              <a:ext uri="{FF2B5EF4-FFF2-40B4-BE49-F238E27FC236}">
                <a16:creationId xmlns:a16="http://schemas.microsoft.com/office/drawing/2014/main" id="{DC836C77-B985-4660-843E-8A4A677D08D0}"/>
              </a:ext>
            </a:extLst>
          </p:cNvPr>
          <p:cNvSpPr>
            <a:spLocks noGrp="1"/>
          </p:cNvSpPr>
          <p:nvPr/>
        </p:nvSpPr>
        <p:spPr>
          <a:xfrm>
            <a:off x="685799" y="2441449"/>
            <a:ext cx="10820095" cy="731520"/>
          </a:xfrm>
          <a:prstGeom prst="rect">
            <a:avLst/>
          </a:prstGeom>
          <a:noFill/>
        </p:spPr>
        <p:txBody>
          <a:bodyPr wrap="square" lIns="0" tIns="0" rIns="0" bIns="0" anchor="ctr"/>
          <a:lstStyle/>
          <a:p>
            <a:pPr marL="0" indent="0">
              <a:buNone/>
            </a:pPr>
            <a:r>
              <a:rPr sz="3200" b="1">
                <a:latin typeface="Times New Roman"/>
                <a:ea typeface="Times New Roman"/>
                <a:cs typeface="Times New Roman"/>
              </a:rPr>
              <a:t>Argonne National Laboratory</a:t>
            </a:r>
            <a:endParaRPr sz="3200">
              <a:latin typeface="Times New Roman"/>
              <a:ea typeface="Times New Roman"/>
              <a:cs typeface="Times New Roman"/>
            </a:endParaRPr>
          </a:p>
        </p:txBody>
      </p:sp>
      <p:sp>
        <p:nvSpPr>
          <p:cNvPr id="9" name="Text 7">
            <a:extLst>
              <a:ext uri="{FF2B5EF4-FFF2-40B4-BE49-F238E27FC236}">
                <a16:creationId xmlns:a16="http://schemas.microsoft.com/office/drawing/2014/main" id="{22F3EE0A-42ED-4742-8E25-822DF32F72D1}"/>
              </a:ext>
            </a:extLst>
          </p:cNvPr>
          <p:cNvSpPr>
            <a:spLocks noGrp="1"/>
          </p:cNvSpPr>
          <p:nvPr/>
        </p:nvSpPr>
        <p:spPr>
          <a:xfrm>
            <a:off x="759372" y="3429000"/>
            <a:ext cx="5486400" cy="256032"/>
          </a:xfrm>
          <a:prstGeom prst="rect">
            <a:avLst/>
          </a:prstGeom>
          <a:noFill/>
        </p:spPr>
        <p:txBody>
          <a:bodyPr wrap="square" lIns="0" tIns="0" rIns="0" bIns="0" anchor="ctr"/>
          <a:lstStyle/>
          <a:p>
            <a:pPr marL="0" indent="0">
              <a:buNone/>
            </a:pPr>
            <a:r>
              <a:rPr>
                <a:latin typeface="Times New Roman"/>
                <a:ea typeface="Times New Roman"/>
                <a:cs typeface="Times New Roman"/>
              </a:rPr>
              <a:t>August 11, 2026</a:t>
            </a:r>
          </a:p>
        </p:txBody>
      </p:sp>
      <p:sp>
        <p:nvSpPr>
          <p:cNvPr id="10" name="Shape 8">
            <a:extLst>
              <a:ext uri="{FF2B5EF4-FFF2-40B4-BE49-F238E27FC236}">
                <a16:creationId xmlns:a16="http://schemas.microsoft.com/office/drawing/2014/main" id="{E9D348F4-78A6-4350-BF92-D8C0CC1D2BA7}"/>
              </a:ext>
            </a:extLst>
          </p:cNvPr>
          <p:cNvSpPr>
            <a:spLocks noGrp="1"/>
          </p:cNvSpPr>
          <p:nvPr/>
        </p:nvSpPr>
        <p:spPr>
          <a:xfrm>
            <a:off x="685800" y="6291072"/>
            <a:ext cx="10820095" cy="0"/>
          </a:xfrm>
          <a:prstGeom prst="line">
            <a:avLst/>
          </a:prstGeom>
          <a:noFill/>
          <a:ln w="12700">
            <a:solidFill>
              <a:srgbClr val="B9C2CE"/>
            </a:solidFill>
            <a:prstDash val="solid"/>
          </a:ln>
        </p:spPr>
        <p:txBody>
          <a:bodyPr/>
          <a:lstStyle/>
          <a:p>
            <a:endParaRPr sz="2400">
              <a:latin typeface="Times New Roman"/>
              <a:ea typeface="Times New Roman"/>
              <a:cs typeface="Times New Roman"/>
            </a:endParaRPr>
          </a:p>
        </p:txBody>
      </p:sp>
    </p:spTree>
    <p:extLst>
      <p:ext uri="{BB962C8B-B14F-4D97-AF65-F5344CB8AC3E}">
        <p14:creationId xmlns:p14="http://schemas.microsoft.com/office/powerpoint/2010/main" val="108323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6C46189-EE9A-4A86-8370-52489035CBF0}"/>
              </a:ext>
            </a:extLst>
          </p:cNvPr>
          <p:cNvSpPr>
            <a:spLocks noGrp="1"/>
          </p:cNvSpPr>
          <p:nvPr/>
        </p:nvSpPr>
        <p:spPr>
          <a:xfrm>
            <a:off x="502920" y="266700"/>
            <a:ext cx="11155680" cy="590550"/>
          </a:xfrm>
          <a:prstGeom prst="rect">
            <a:avLst/>
          </a:prstGeom>
          <a:noFill/>
          <a:ln w="0">
            <a:noFill/>
            <a:prstDash val="solid"/>
          </a:ln>
        </p:spPr>
        <p:txBody>
          <a:bodyPr wrap="square" lIns="0" tIns="0" rIns="0" bIns="0" anchor="ctr"/>
          <a:lstStyle/>
          <a:p>
            <a:pPr algn="l">
              <a:defRPr sz="3200" b="1">
                <a:solidFill>
                  <a:srgbClr val="16232E"/>
                </a:solidFill>
                <a:latin typeface="Cambria"/>
                <a:ea typeface="Cambria"/>
                <a:cs typeface="Cambria"/>
              </a:defRPr>
            </a:pPr>
            <a:r>
              <a:rPr sz="3200" b="1">
                <a:solidFill>
                  <a:srgbClr val="16232E"/>
                </a:solidFill>
                <a:latin typeface="Cambria"/>
                <a:ea typeface="Cambria"/>
                <a:cs typeface="Cambria"/>
              </a:rPr>
              <a:t>2012 RAS Competition Problem</a:t>
            </a:r>
            <a:endParaRPr sz="3200"/>
          </a:p>
        </p:txBody>
      </p:sp>
      <p:sp>
        <p:nvSpPr>
          <p:cNvPr id="3" name="Text 1">
            <a:extLst>
              <a:ext uri="{FF2B5EF4-FFF2-40B4-BE49-F238E27FC236}">
                <a16:creationId xmlns:a16="http://schemas.microsoft.com/office/drawing/2014/main" id="{D18B7BC4-FA45-4E90-8CD7-9146CB88F446}"/>
              </a:ext>
            </a:extLst>
          </p:cNvPr>
          <p:cNvSpPr>
            <a:spLocks noGrp="1"/>
          </p:cNvSpPr>
          <p:nvPr/>
        </p:nvSpPr>
        <p:spPr>
          <a:xfrm>
            <a:off x="502920" y="866775"/>
            <a:ext cx="11155680" cy="323850"/>
          </a:xfrm>
          <a:prstGeom prst="rect">
            <a:avLst/>
          </a:prstGeom>
          <a:noFill/>
          <a:ln w="0">
            <a:noFill/>
            <a:prstDash val="solid"/>
          </a:ln>
        </p:spPr>
        <p:txBody>
          <a:bodyPr wrap="square" lIns="0" tIns="0" rIns="0" bIns="0" anchor="ctr"/>
          <a:lstStyle/>
          <a:p>
            <a:pPr marL="0" indent="0" algn="l">
              <a:buNone/>
              <a:defRPr sz="1400">
                <a:solidFill>
                  <a:srgbClr val="5C6F82"/>
                </a:solidFill>
                <a:latin typeface="Calibri"/>
                <a:ea typeface="Calibri"/>
                <a:cs typeface="Calibri"/>
              </a:defRPr>
            </a:pPr>
            <a:r>
              <a:rPr sz="1400">
                <a:solidFill>
                  <a:srgbClr val="5C6F82"/>
                </a:solidFill>
                <a:latin typeface="Calibri"/>
                <a:ea typeface="Calibri"/>
                <a:cs typeface="Calibri"/>
              </a:rPr>
              <a:t>Movement planning and train dispatching on multi-track territories</a:t>
            </a:r>
            <a:endParaRPr sz="1400"/>
          </a:p>
        </p:txBody>
      </p:sp>
      <p:sp>
        <p:nvSpPr>
          <p:cNvPr id="4" name="Shape 2">
            <a:extLst>
              <a:ext uri="{FF2B5EF4-FFF2-40B4-BE49-F238E27FC236}">
                <a16:creationId xmlns:a16="http://schemas.microsoft.com/office/drawing/2014/main" id="{788829B0-437C-407F-A43C-62E4B72F7C7B}"/>
              </a:ext>
            </a:extLst>
          </p:cNvPr>
          <p:cNvSpPr>
            <a:spLocks noGrp="1"/>
          </p:cNvSpPr>
          <p:nvPr/>
        </p:nvSpPr>
        <p:spPr>
          <a:xfrm>
            <a:off x="502920" y="1381125"/>
            <a:ext cx="3429000" cy="3028950"/>
          </a:xfrm>
          <a:prstGeom prst="roundRect">
            <a:avLst>
              <a:gd name="adj" fmla="val 3145"/>
            </a:avLst>
          </a:prstGeom>
          <a:noFill/>
          <a:ln w="14288">
            <a:solidFill>
              <a:srgbClr val="2A64C5"/>
            </a:solidFill>
            <a:prstDash val="solid"/>
          </a:ln>
        </p:spPr>
        <p:txBody>
          <a:bodyPr/>
          <a:lstStyle/>
          <a:p>
            <a:endParaRPr sz="2000"/>
          </a:p>
        </p:txBody>
      </p:sp>
      <p:sp>
        <p:nvSpPr>
          <p:cNvPr id="5" name="Text 3">
            <a:extLst>
              <a:ext uri="{FF2B5EF4-FFF2-40B4-BE49-F238E27FC236}">
                <a16:creationId xmlns:a16="http://schemas.microsoft.com/office/drawing/2014/main" id="{EB353A97-8555-4C82-AA2B-FD9A5DC9D757}"/>
              </a:ext>
            </a:extLst>
          </p:cNvPr>
          <p:cNvSpPr>
            <a:spLocks noGrp="1"/>
          </p:cNvSpPr>
          <p:nvPr/>
        </p:nvSpPr>
        <p:spPr>
          <a:xfrm>
            <a:off x="704850" y="1524000"/>
            <a:ext cx="1524000" cy="209550"/>
          </a:xfrm>
          <a:prstGeom prst="rect">
            <a:avLst/>
          </a:prstGeom>
          <a:noFill/>
          <a:ln w="0">
            <a:noFill/>
            <a:prstDash val="solid"/>
          </a:ln>
        </p:spPr>
        <p:txBody>
          <a:bodyPr wrap="square" lIns="0" tIns="0" rIns="0" bIns="0" anchor="t"/>
          <a:lstStyle/>
          <a:p>
            <a:pPr marL="0" indent="0" algn="l">
              <a:buNone/>
              <a:defRPr sz="938" b="1">
                <a:solidFill>
                  <a:srgbClr val="2A64C5"/>
                </a:solidFill>
                <a:latin typeface="Calibri"/>
                <a:ea typeface="Calibri"/>
                <a:cs typeface="Calibri"/>
              </a:defRPr>
            </a:pPr>
            <a:r>
              <a:rPr sz="1000" b="1">
                <a:solidFill>
                  <a:srgbClr val="2A64C5"/>
                </a:solidFill>
                <a:latin typeface="Calibri"/>
                <a:ea typeface="Calibri"/>
                <a:cs typeface="Calibri"/>
              </a:rPr>
              <a:t>GIVEN</a:t>
            </a:r>
            <a:endParaRPr sz="1000"/>
          </a:p>
        </p:txBody>
      </p:sp>
      <p:sp>
        <p:nvSpPr>
          <p:cNvPr id="6" name="Text 4">
            <a:extLst>
              <a:ext uri="{FF2B5EF4-FFF2-40B4-BE49-F238E27FC236}">
                <a16:creationId xmlns:a16="http://schemas.microsoft.com/office/drawing/2014/main" id="{C5C6D89E-B512-46C2-826A-94EF86E16F15}"/>
              </a:ext>
            </a:extLst>
          </p:cNvPr>
          <p:cNvSpPr>
            <a:spLocks noGrp="1"/>
          </p:cNvSpPr>
          <p:nvPr/>
        </p:nvSpPr>
        <p:spPr>
          <a:xfrm>
            <a:off x="615315" y="1752600"/>
            <a:ext cx="3227070" cy="285750"/>
          </a:xfrm>
          <a:prstGeom prst="rect">
            <a:avLst/>
          </a:prstGeom>
          <a:noFill/>
          <a:ln w="0">
            <a:noFill/>
            <a:prstDash val="solid"/>
          </a:ln>
        </p:spPr>
        <p:txBody>
          <a:bodyPr wrap="square" lIns="0" tIns="0" rIns="0" bIns="0" anchor="t"/>
          <a:lstStyle/>
          <a:p>
            <a:pPr marL="0" indent="0" algn="l">
              <a:buNone/>
              <a:defRPr sz="1400" b="1">
                <a:solidFill>
                  <a:srgbClr val="16232E"/>
                </a:solidFill>
                <a:latin typeface="Cambria"/>
                <a:ea typeface="Cambria"/>
                <a:cs typeface="Cambria"/>
              </a:defRPr>
            </a:pPr>
            <a:r>
              <a:rPr sz="1600" b="1" dirty="0">
                <a:solidFill>
                  <a:srgbClr val="16232E"/>
                </a:solidFill>
                <a:latin typeface="Cambria"/>
                <a:ea typeface="Cambria"/>
                <a:cs typeface="Cambria"/>
              </a:rPr>
              <a:t>Network + trains + operating rules</a:t>
            </a:r>
            <a:endParaRPr sz="1600" dirty="0"/>
          </a:p>
        </p:txBody>
      </p:sp>
      <p:sp>
        <p:nvSpPr>
          <p:cNvPr id="7" name="Shape 5">
            <a:extLst>
              <a:ext uri="{FF2B5EF4-FFF2-40B4-BE49-F238E27FC236}">
                <a16:creationId xmlns:a16="http://schemas.microsoft.com/office/drawing/2014/main" id="{184BBDC4-CADF-46A7-91EC-E3D73305E03E}"/>
              </a:ext>
            </a:extLst>
          </p:cNvPr>
          <p:cNvSpPr>
            <a:spLocks noGrp="1"/>
          </p:cNvSpPr>
          <p:nvPr/>
        </p:nvSpPr>
        <p:spPr>
          <a:xfrm>
            <a:off x="762000" y="4171950"/>
            <a:ext cx="2914650" cy="0"/>
          </a:xfrm>
          <a:prstGeom prst="line">
            <a:avLst/>
          </a:prstGeom>
          <a:noFill/>
          <a:ln w="30480">
            <a:solidFill>
              <a:srgbClr val="2A64C5"/>
            </a:solidFill>
            <a:prstDash val="solid"/>
          </a:ln>
        </p:spPr>
        <p:txBody>
          <a:bodyPr/>
          <a:lstStyle/>
          <a:p>
            <a:endParaRPr sz="2000"/>
          </a:p>
        </p:txBody>
      </p:sp>
      <p:sp>
        <p:nvSpPr>
          <p:cNvPr id="9" name="Text 7">
            <a:extLst>
              <a:ext uri="{FF2B5EF4-FFF2-40B4-BE49-F238E27FC236}">
                <a16:creationId xmlns:a16="http://schemas.microsoft.com/office/drawing/2014/main" id="{94F1711C-825A-4A2E-9AF1-7906BBDA87BB}"/>
              </a:ext>
            </a:extLst>
          </p:cNvPr>
          <p:cNvSpPr>
            <a:spLocks noGrp="1"/>
          </p:cNvSpPr>
          <p:nvPr/>
        </p:nvSpPr>
        <p:spPr>
          <a:xfrm>
            <a:off x="3962400" y="2571750"/>
            <a:ext cx="381000" cy="514350"/>
          </a:xfrm>
          <a:prstGeom prst="rect">
            <a:avLst/>
          </a:prstGeom>
          <a:noFill/>
          <a:ln w="0">
            <a:noFill/>
            <a:prstDash val="solid"/>
          </a:ln>
        </p:spPr>
        <p:txBody>
          <a:bodyPr wrap="square" lIns="0" tIns="0" rIns="0" bIns="0" anchor="ctr"/>
          <a:lstStyle/>
          <a:p>
            <a:pPr marL="0" indent="0" algn="ctr">
              <a:buNone/>
              <a:defRPr sz="2325" b="1">
                <a:solidFill>
                  <a:srgbClr val="163A70"/>
                </a:solidFill>
                <a:latin typeface="Calibri"/>
                <a:ea typeface="Calibri"/>
                <a:cs typeface="Calibri"/>
              </a:defRPr>
            </a:pPr>
            <a:r>
              <a:rPr sz="2400" b="1" i="1">
                <a:solidFill>
                  <a:srgbClr val="163A70"/>
                </a:solidFill>
                <a:latin typeface="Calibri"/>
                <a:ea typeface="Calibri"/>
                <a:cs typeface="Calibri"/>
              </a:rPr>
              <a:t>→</a:t>
            </a:r>
            <a:endParaRPr sz="900"/>
          </a:p>
        </p:txBody>
      </p:sp>
      <p:sp>
        <p:nvSpPr>
          <p:cNvPr id="12" name="Text 10">
            <a:extLst>
              <a:ext uri="{FF2B5EF4-FFF2-40B4-BE49-F238E27FC236}">
                <a16:creationId xmlns:a16="http://schemas.microsoft.com/office/drawing/2014/main" id="{C3CDC7AD-D24E-4508-A834-C7F016667E61}"/>
              </a:ext>
            </a:extLst>
          </p:cNvPr>
          <p:cNvSpPr>
            <a:spLocks noGrp="1"/>
          </p:cNvSpPr>
          <p:nvPr/>
        </p:nvSpPr>
        <p:spPr>
          <a:xfrm>
            <a:off x="704850" y="2152650"/>
            <a:ext cx="2981325" cy="1866900"/>
          </a:xfrm>
          <a:prstGeom prst="rect">
            <a:avLst/>
          </a:prstGeom>
          <a:noFill/>
          <a:ln w="0">
            <a:noFill/>
            <a:prstDash val="solid"/>
          </a:ln>
        </p:spPr>
        <p:txBody>
          <a:bodyPr wrap="square" lIns="0" tIns="0" rIns="0" bIns="0" anchor="t"/>
          <a:lstStyle/>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Multi-track territory: main tracks, sidings, switches, crossovers</a:t>
            </a:r>
            <a:endParaRPr sz="1100" dirty="0"/>
          </a:p>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Train origin, destination, direction, and ENTRY TIME</a:t>
            </a:r>
            <a:endParaRPr sz="1100" dirty="0"/>
          </a:p>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Running times, speed/length, and operating attributes</a:t>
            </a:r>
            <a:endParaRPr sz="1100" dirty="0"/>
          </a:p>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Usable siding length and special-train restrictions</a:t>
            </a:r>
            <a:endParaRPr sz="1100" dirty="0"/>
          </a:p>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MOW windows and conflict relationships</a:t>
            </a:r>
            <a:endParaRPr sz="1100" dirty="0"/>
          </a:p>
          <a:p>
            <a:pPr marL="0" indent="0" algn="l">
              <a:buNone/>
              <a:defRPr sz="982">
                <a:solidFill>
                  <a:srgbClr val="16232E"/>
                </a:solidFill>
                <a:latin typeface="Calibri"/>
                <a:ea typeface="Calibri"/>
                <a:cs typeface="Calibri"/>
              </a:defRPr>
            </a:pPr>
            <a:r>
              <a:rPr sz="1100" dirty="0">
                <a:solidFill>
                  <a:srgbClr val="16232E"/>
                </a:solidFill>
                <a:latin typeface="Calibri"/>
                <a:ea typeface="Calibri"/>
                <a:cs typeface="Calibri"/>
              </a:rPr>
              <a:t>• Scheduled Arrival (SA), Terminal Want Time (TWT), track preferences</a:t>
            </a:r>
            <a:endParaRPr sz="1100" dirty="0"/>
          </a:p>
        </p:txBody>
      </p:sp>
      <p:sp>
        <p:nvSpPr>
          <p:cNvPr id="14" name="Shape 12">
            <a:extLst>
              <a:ext uri="{FF2B5EF4-FFF2-40B4-BE49-F238E27FC236}">
                <a16:creationId xmlns:a16="http://schemas.microsoft.com/office/drawing/2014/main" id="{3F08DBAB-20C3-452A-A28E-84E688FB3932}"/>
              </a:ext>
            </a:extLst>
          </p:cNvPr>
          <p:cNvSpPr>
            <a:spLocks noGrp="1"/>
          </p:cNvSpPr>
          <p:nvPr/>
        </p:nvSpPr>
        <p:spPr>
          <a:xfrm>
            <a:off x="4381500" y="1381125"/>
            <a:ext cx="3429000" cy="3028950"/>
          </a:xfrm>
          <a:prstGeom prst="roundRect">
            <a:avLst>
              <a:gd name="adj" fmla="val 3145"/>
            </a:avLst>
          </a:prstGeom>
          <a:noFill/>
          <a:ln w="14288">
            <a:solidFill>
              <a:srgbClr val="E97719"/>
            </a:solidFill>
            <a:prstDash val="solid"/>
          </a:ln>
        </p:spPr>
        <p:txBody>
          <a:bodyPr/>
          <a:lstStyle/>
          <a:p>
            <a:endParaRPr sz="2000"/>
          </a:p>
        </p:txBody>
      </p:sp>
      <p:sp>
        <p:nvSpPr>
          <p:cNvPr id="15" name="Text 13">
            <a:extLst>
              <a:ext uri="{FF2B5EF4-FFF2-40B4-BE49-F238E27FC236}">
                <a16:creationId xmlns:a16="http://schemas.microsoft.com/office/drawing/2014/main" id="{2AD8E344-FA4F-4B72-AD4D-878DE6BFC4AA}"/>
              </a:ext>
            </a:extLst>
          </p:cNvPr>
          <p:cNvSpPr>
            <a:spLocks noGrp="1"/>
          </p:cNvSpPr>
          <p:nvPr/>
        </p:nvSpPr>
        <p:spPr>
          <a:xfrm>
            <a:off x="4572000" y="1524000"/>
            <a:ext cx="1524000" cy="209550"/>
          </a:xfrm>
          <a:prstGeom prst="rect">
            <a:avLst/>
          </a:prstGeom>
          <a:noFill/>
          <a:ln w="0">
            <a:noFill/>
            <a:prstDash val="solid"/>
          </a:ln>
        </p:spPr>
        <p:txBody>
          <a:bodyPr wrap="square" lIns="0" tIns="0" rIns="0" bIns="0" anchor="t"/>
          <a:lstStyle/>
          <a:p>
            <a:pPr marL="0" indent="0" algn="l">
              <a:buNone/>
              <a:defRPr sz="938" b="1">
                <a:solidFill>
                  <a:srgbClr val="E97719"/>
                </a:solidFill>
                <a:latin typeface="Calibri"/>
                <a:ea typeface="Calibri"/>
                <a:cs typeface="Calibri"/>
              </a:defRPr>
            </a:pPr>
            <a:r>
              <a:rPr sz="1000" b="1">
                <a:solidFill>
                  <a:srgbClr val="E97719"/>
                </a:solidFill>
                <a:latin typeface="Calibri"/>
                <a:ea typeface="Calibri"/>
                <a:cs typeface="Calibri"/>
              </a:rPr>
              <a:t>DETERMINE</a:t>
            </a:r>
            <a:endParaRPr sz="1000"/>
          </a:p>
        </p:txBody>
      </p:sp>
      <p:sp>
        <p:nvSpPr>
          <p:cNvPr id="16" name="Text 14">
            <a:extLst>
              <a:ext uri="{FF2B5EF4-FFF2-40B4-BE49-F238E27FC236}">
                <a16:creationId xmlns:a16="http://schemas.microsoft.com/office/drawing/2014/main" id="{E2764062-7DCA-4854-AA8E-21CF9FA11747}"/>
              </a:ext>
            </a:extLst>
          </p:cNvPr>
          <p:cNvSpPr>
            <a:spLocks noGrp="1"/>
          </p:cNvSpPr>
          <p:nvPr/>
        </p:nvSpPr>
        <p:spPr>
          <a:xfrm>
            <a:off x="4572000" y="1752600"/>
            <a:ext cx="3000375" cy="285750"/>
          </a:xfrm>
          <a:prstGeom prst="rect">
            <a:avLst/>
          </a:prstGeom>
          <a:noFill/>
          <a:ln w="0">
            <a:noFill/>
            <a:prstDash val="solid"/>
          </a:ln>
        </p:spPr>
        <p:txBody>
          <a:bodyPr wrap="square" lIns="0" tIns="0" rIns="0" bIns="0" anchor="t"/>
          <a:lstStyle/>
          <a:p>
            <a:pPr marL="0" indent="0" algn="l">
              <a:buNone/>
              <a:defRPr sz="1400" b="1">
                <a:solidFill>
                  <a:srgbClr val="16232E"/>
                </a:solidFill>
                <a:latin typeface="Cambria"/>
                <a:ea typeface="Cambria"/>
                <a:cs typeface="Cambria"/>
              </a:defRPr>
            </a:pPr>
            <a:r>
              <a:rPr sz="1600" b="1">
                <a:solidFill>
                  <a:srgbClr val="16232E"/>
                </a:solidFill>
                <a:latin typeface="Cambria"/>
                <a:ea typeface="Cambria"/>
                <a:cs typeface="Cambria"/>
              </a:rPr>
              <a:t>Routing + timing + precedence</a:t>
            </a:r>
            <a:endParaRPr sz="1600"/>
          </a:p>
        </p:txBody>
      </p:sp>
      <p:sp>
        <p:nvSpPr>
          <p:cNvPr id="17" name="Shape 15">
            <a:extLst>
              <a:ext uri="{FF2B5EF4-FFF2-40B4-BE49-F238E27FC236}">
                <a16:creationId xmlns:a16="http://schemas.microsoft.com/office/drawing/2014/main" id="{DC9CD139-5631-4A66-BFB8-DD0E367F5C23}"/>
              </a:ext>
            </a:extLst>
          </p:cNvPr>
          <p:cNvSpPr>
            <a:spLocks noGrp="1"/>
          </p:cNvSpPr>
          <p:nvPr/>
        </p:nvSpPr>
        <p:spPr>
          <a:xfrm>
            <a:off x="4629150" y="4171950"/>
            <a:ext cx="2914650" cy="0"/>
          </a:xfrm>
          <a:prstGeom prst="line">
            <a:avLst/>
          </a:prstGeom>
          <a:noFill/>
          <a:ln w="30480">
            <a:solidFill>
              <a:srgbClr val="E97719"/>
            </a:solidFill>
            <a:prstDash val="solid"/>
          </a:ln>
        </p:spPr>
        <p:txBody>
          <a:bodyPr/>
          <a:lstStyle/>
          <a:p>
            <a:endParaRPr sz="2000"/>
          </a:p>
        </p:txBody>
      </p:sp>
      <p:sp>
        <p:nvSpPr>
          <p:cNvPr id="20" name="Text 18">
            <a:extLst>
              <a:ext uri="{FF2B5EF4-FFF2-40B4-BE49-F238E27FC236}">
                <a16:creationId xmlns:a16="http://schemas.microsoft.com/office/drawing/2014/main" id="{2BB0EF03-5B26-44B2-8B31-EB4C6CDEA7E6}"/>
              </a:ext>
            </a:extLst>
          </p:cNvPr>
          <p:cNvSpPr>
            <a:spLocks noGrp="1"/>
          </p:cNvSpPr>
          <p:nvPr/>
        </p:nvSpPr>
        <p:spPr>
          <a:xfrm>
            <a:off x="7839075" y="2571750"/>
            <a:ext cx="381000" cy="514350"/>
          </a:xfrm>
          <a:prstGeom prst="rect">
            <a:avLst/>
          </a:prstGeom>
          <a:noFill/>
          <a:ln w="0">
            <a:noFill/>
            <a:prstDash val="solid"/>
          </a:ln>
        </p:spPr>
        <p:txBody>
          <a:bodyPr wrap="square" lIns="0" tIns="0" rIns="0" bIns="0" anchor="ctr"/>
          <a:lstStyle/>
          <a:p>
            <a:pPr marL="0" indent="0" algn="ctr">
              <a:buNone/>
              <a:defRPr sz="2325" b="1">
                <a:solidFill>
                  <a:srgbClr val="163A70"/>
                </a:solidFill>
                <a:latin typeface="Calibri"/>
                <a:ea typeface="Calibri"/>
                <a:cs typeface="Calibri"/>
              </a:defRPr>
            </a:pPr>
            <a:r>
              <a:rPr sz="2400" b="1" i="1">
                <a:solidFill>
                  <a:srgbClr val="163A70"/>
                </a:solidFill>
                <a:latin typeface="Calibri"/>
                <a:ea typeface="Calibri"/>
                <a:cs typeface="Calibri"/>
              </a:rPr>
              <a:t>→</a:t>
            </a:r>
            <a:endParaRPr sz="900"/>
          </a:p>
        </p:txBody>
      </p:sp>
      <p:sp>
        <p:nvSpPr>
          <p:cNvPr id="23" name="Text 21">
            <a:extLst>
              <a:ext uri="{FF2B5EF4-FFF2-40B4-BE49-F238E27FC236}">
                <a16:creationId xmlns:a16="http://schemas.microsoft.com/office/drawing/2014/main" id="{C61B33F4-DE8A-4BFE-A017-7A224AD4B3F2}"/>
              </a:ext>
            </a:extLst>
          </p:cNvPr>
          <p:cNvSpPr>
            <a:spLocks noGrp="1"/>
          </p:cNvSpPr>
          <p:nvPr/>
        </p:nvSpPr>
        <p:spPr>
          <a:xfrm>
            <a:off x="4572000" y="2152650"/>
            <a:ext cx="2990850" cy="1866900"/>
          </a:xfrm>
          <a:prstGeom prst="rect">
            <a:avLst/>
          </a:prstGeom>
          <a:noFill/>
          <a:ln w="0">
            <a:noFill/>
            <a:prstDash val="solid"/>
          </a:ln>
        </p:spPr>
        <p:txBody>
          <a:bodyPr wrap="square" lIns="0" tIns="0" rIns="0" bIns="0" anchor="t"/>
          <a:lstStyle/>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Route / physical track used by each train</a:t>
            </a:r>
            <a:endParaRPr sz="1200" dirty="0"/>
          </a:p>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Entry and exit time on each selected segment/resource</a:t>
            </a:r>
            <a:endParaRPr sz="1200" dirty="0"/>
          </a:p>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Main-track</a:t>
            </a:r>
            <a:r>
              <a:rPr lang="zh-CN" altLang="en-US" sz="1200" dirty="0">
                <a:solidFill>
                  <a:srgbClr val="16232E"/>
                </a:solidFill>
                <a:latin typeface="Calibri"/>
                <a:ea typeface="Calibri"/>
                <a:cs typeface="Calibri"/>
              </a:rPr>
              <a:t> </a:t>
            </a:r>
            <a:r>
              <a:rPr lang="en-US" altLang="zh-CN" sz="1200" dirty="0">
                <a:solidFill>
                  <a:srgbClr val="16232E"/>
                </a:solidFill>
                <a:latin typeface="Calibri"/>
                <a:ea typeface="Calibri"/>
                <a:cs typeface="Calibri"/>
              </a:rPr>
              <a:t>(link</a:t>
            </a:r>
            <a:r>
              <a:rPr lang="zh-CN" altLang="en-US" sz="1200" dirty="0">
                <a:solidFill>
                  <a:srgbClr val="16232E"/>
                </a:solidFill>
                <a:latin typeface="Calibri"/>
                <a:ea typeface="Calibri"/>
                <a:cs typeface="Calibri"/>
              </a:rPr>
              <a:t> </a:t>
            </a:r>
            <a:r>
              <a:rPr lang="en-US" altLang="zh-CN" sz="1200" dirty="0">
                <a:solidFill>
                  <a:srgbClr val="16232E"/>
                </a:solidFill>
                <a:latin typeface="Calibri"/>
                <a:ea typeface="Calibri"/>
                <a:cs typeface="Calibri"/>
              </a:rPr>
              <a:t>type</a:t>
            </a:r>
            <a:r>
              <a:rPr lang="zh-CN" altLang="en-US" sz="1200" dirty="0">
                <a:solidFill>
                  <a:srgbClr val="16232E"/>
                </a:solidFill>
                <a:latin typeface="Calibri"/>
                <a:ea typeface="Calibri"/>
                <a:cs typeface="Calibri"/>
              </a:rPr>
              <a:t> </a:t>
            </a:r>
            <a:r>
              <a:rPr lang="en-US" altLang="zh-CN" sz="1200" dirty="0">
                <a:solidFill>
                  <a:srgbClr val="16232E"/>
                </a:solidFill>
                <a:latin typeface="Calibri"/>
                <a:ea typeface="Calibri"/>
                <a:cs typeface="Calibri"/>
              </a:rPr>
              <a:t>0/1/2)</a:t>
            </a:r>
            <a:r>
              <a:rPr sz="1200" dirty="0">
                <a:solidFill>
                  <a:srgbClr val="16232E"/>
                </a:solidFill>
                <a:latin typeface="Calibri"/>
                <a:ea typeface="Calibri"/>
                <a:cs typeface="Calibri"/>
              </a:rPr>
              <a:t> vs. siding/switch/crossover selection</a:t>
            </a:r>
            <a:endParaRPr sz="1200" dirty="0"/>
          </a:p>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Meet/pass and overtaking decisions</a:t>
            </a:r>
            <a:endParaRPr sz="1200" dirty="0"/>
          </a:p>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Conflict precedence: which train moves first</a:t>
            </a:r>
            <a:endParaRPr sz="1200" dirty="0"/>
          </a:p>
          <a:p>
            <a:pPr marL="0" indent="0" algn="l">
              <a:buNone/>
              <a:defRPr sz="982">
                <a:solidFill>
                  <a:srgbClr val="16232E"/>
                </a:solidFill>
                <a:latin typeface="Calibri"/>
                <a:ea typeface="Calibri"/>
                <a:cs typeface="Calibri"/>
              </a:defRPr>
            </a:pPr>
            <a:r>
              <a:rPr sz="1200" dirty="0">
                <a:solidFill>
                  <a:srgbClr val="16232E"/>
                </a:solidFill>
                <a:latin typeface="Calibri"/>
                <a:ea typeface="Calibri"/>
                <a:cs typeface="Calibri"/>
              </a:rPr>
              <a:t>• Holding and departure decisions when needed</a:t>
            </a:r>
            <a:endParaRPr sz="1200" dirty="0"/>
          </a:p>
        </p:txBody>
      </p:sp>
      <p:sp>
        <p:nvSpPr>
          <p:cNvPr id="25" name="Shape 23">
            <a:extLst>
              <a:ext uri="{FF2B5EF4-FFF2-40B4-BE49-F238E27FC236}">
                <a16:creationId xmlns:a16="http://schemas.microsoft.com/office/drawing/2014/main" id="{521BD3BC-DBBC-44FB-9C6B-465C512515EB}"/>
              </a:ext>
            </a:extLst>
          </p:cNvPr>
          <p:cNvSpPr>
            <a:spLocks noGrp="1"/>
          </p:cNvSpPr>
          <p:nvPr/>
        </p:nvSpPr>
        <p:spPr>
          <a:xfrm>
            <a:off x="8258175" y="1381125"/>
            <a:ext cx="3400425" cy="3028950"/>
          </a:xfrm>
          <a:prstGeom prst="roundRect">
            <a:avLst>
              <a:gd name="adj" fmla="val 3145"/>
            </a:avLst>
          </a:prstGeom>
          <a:noFill/>
          <a:ln w="14288">
            <a:solidFill>
              <a:srgbClr val="268A4B"/>
            </a:solidFill>
            <a:prstDash val="solid"/>
          </a:ln>
        </p:spPr>
        <p:txBody>
          <a:bodyPr/>
          <a:lstStyle/>
          <a:p>
            <a:endParaRPr sz="2000"/>
          </a:p>
        </p:txBody>
      </p:sp>
      <p:sp>
        <p:nvSpPr>
          <p:cNvPr id="26" name="Text 24">
            <a:extLst>
              <a:ext uri="{FF2B5EF4-FFF2-40B4-BE49-F238E27FC236}">
                <a16:creationId xmlns:a16="http://schemas.microsoft.com/office/drawing/2014/main" id="{C34CCCFA-9968-4D60-B40B-8BEB526D2A88}"/>
              </a:ext>
            </a:extLst>
          </p:cNvPr>
          <p:cNvSpPr>
            <a:spLocks noGrp="1"/>
          </p:cNvSpPr>
          <p:nvPr/>
        </p:nvSpPr>
        <p:spPr>
          <a:xfrm>
            <a:off x="8448675" y="1524000"/>
            <a:ext cx="1524000" cy="209550"/>
          </a:xfrm>
          <a:prstGeom prst="rect">
            <a:avLst/>
          </a:prstGeom>
          <a:noFill/>
          <a:ln w="0">
            <a:noFill/>
            <a:prstDash val="solid"/>
          </a:ln>
        </p:spPr>
        <p:txBody>
          <a:bodyPr wrap="square" lIns="0" tIns="0" rIns="0" bIns="0" anchor="t"/>
          <a:lstStyle/>
          <a:p>
            <a:pPr marL="0" indent="0" algn="l">
              <a:buNone/>
              <a:defRPr sz="938" b="1">
                <a:solidFill>
                  <a:srgbClr val="268A4B"/>
                </a:solidFill>
                <a:latin typeface="Calibri"/>
                <a:ea typeface="Calibri"/>
                <a:cs typeface="Calibri"/>
              </a:defRPr>
            </a:pPr>
            <a:r>
              <a:rPr sz="1000" b="1">
                <a:solidFill>
                  <a:srgbClr val="268A4B"/>
                </a:solidFill>
                <a:latin typeface="Calibri"/>
                <a:ea typeface="Calibri"/>
                <a:cs typeface="Calibri"/>
              </a:rPr>
              <a:t>OUTPUT</a:t>
            </a:r>
            <a:endParaRPr sz="1000"/>
          </a:p>
        </p:txBody>
      </p:sp>
      <p:sp>
        <p:nvSpPr>
          <p:cNvPr id="27" name="Text 25">
            <a:extLst>
              <a:ext uri="{FF2B5EF4-FFF2-40B4-BE49-F238E27FC236}">
                <a16:creationId xmlns:a16="http://schemas.microsoft.com/office/drawing/2014/main" id="{84D3847E-4B90-45FD-BCD8-7A99ABAF8126}"/>
              </a:ext>
            </a:extLst>
          </p:cNvPr>
          <p:cNvSpPr>
            <a:spLocks noGrp="1"/>
          </p:cNvSpPr>
          <p:nvPr/>
        </p:nvSpPr>
        <p:spPr>
          <a:xfrm>
            <a:off x="8448675" y="1752600"/>
            <a:ext cx="2990850" cy="285750"/>
          </a:xfrm>
          <a:prstGeom prst="rect">
            <a:avLst/>
          </a:prstGeom>
          <a:noFill/>
          <a:ln w="0">
            <a:noFill/>
            <a:prstDash val="solid"/>
          </a:ln>
        </p:spPr>
        <p:txBody>
          <a:bodyPr wrap="square" lIns="0" tIns="0" rIns="0" bIns="0" anchor="t"/>
          <a:lstStyle/>
          <a:p>
            <a:pPr marL="0" indent="0" algn="l">
              <a:buNone/>
              <a:defRPr sz="1400" b="1">
                <a:solidFill>
                  <a:srgbClr val="16232E"/>
                </a:solidFill>
                <a:latin typeface="Cambria"/>
                <a:ea typeface="Cambria"/>
                <a:cs typeface="Cambria"/>
              </a:defRPr>
            </a:pPr>
            <a:r>
              <a:rPr sz="1600" b="1">
                <a:solidFill>
                  <a:srgbClr val="16232E"/>
                </a:solidFill>
                <a:latin typeface="Cambria"/>
                <a:ea typeface="Cambria"/>
                <a:cs typeface="Cambria"/>
              </a:rPr>
              <a:t>Feasible movement plan</a:t>
            </a:r>
            <a:endParaRPr sz="1600"/>
          </a:p>
        </p:txBody>
      </p:sp>
      <p:sp>
        <p:nvSpPr>
          <p:cNvPr id="28" name="Shape 26">
            <a:extLst>
              <a:ext uri="{FF2B5EF4-FFF2-40B4-BE49-F238E27FC236}">
                <a16:creationId xmlns:a16="http://schemas.microsoft.com/office/drawing/2014/main" id="{C316C5CE-4477-4E37-BA8B-99E635BE10FA}"/>
              </a:ext>
            </a:extLst>
          </p:cNvPr>
          <p:cNvSpPr>
            <a:spLocks noGrp="1"/>
          </p:cNvSpPr>
          <p:nvPr/>
        </p:nvSpPr>
        <p:spPr>
          <a:xfrm>
            <a:off x="8505825" y="4171950"/>
            <a:ext cx="2857500" cy="0"/>
          </a:xfrm>
          <a:prstGeom prst="line">
            <a:avLst/>
          </a:prstGeom>
          <a:noFill/>
          <a:ln w="30480">
            <a:solidFill>
              <a:srgbClr val="268A4B"/>
            </a:solidFill>
            <a:prstDash val="solid"/>
          </a:ln>
        </p:spPr>
        <p:txBody>
          <a:bodyPr/>
          <a:lstStyle/>
          <a:p>
            <a:endParaRPr sz="2000"/>
          </a:p>
        </p:txBody>
      </p:sp>
      <p:sp>
        <p:nvSpPr>
          <p:cNvPr id="33" name="Text 31">
            <a:extLst>
              <a:ext uri="{FF2B5EF4-FFF2-40B4-BE49-F238E27FC236}">
                <a16:creationId xmlns:a16="http://schemas.microsoft.com/office/drawing/2014/main" id="{BD0C6203-17B0-4646-858A-0680B8350B8F}"/>
              </a:ext>
            </a:extLst>
          </p:cNvPr>
          <p:cNvSpPr>
            <a:spLocks noGrp="1"/>
          </p:cNvSpPr>
          <p:nvPr/>
        </p:nvSpPr>
        <p:spPr>
          <a:xfrm>
            <a:off x="8448675" y="2152650"/>
            <a:ext cx="2962275" cy="1657350"/>
          </a:xfrm>
          <a:prstGeom prst="rect">
            <a:avLst/>
          </a:prstGeom>
          <a:noFill/>
          <a:ln w="0">
            <a:noFill/>
            <a:prstDash val="solid"/>
          </a:ln>
        </p:spPr>
        <p:txBody>
          <a:bodyPr wrap="square" lIns="0" tIns="0" rIns="0" bIns="0" anchor="t"/>
          <a:lstStyle/>
          <a:p>
            <a:pPr marL="0" indent="0" algn="l">
              <a:buNone/>
              <a:defRPr sz="1013">
                <a:solidFill>
                  <a:srgbClr val="16232E"/>
                </a:solidFill>
                <a:latin typeface="Calibri"/>
                <a:ea typeface="Calibri"/>
                <a:cs typeface="Calibri"/>
              </a:defRPr>
            </a:pPr>
            <a:r>
              <a:rPr sz="1400" dirty="0">
                <a:solidFill>
                  <a:srgbClr val="16232E"/>
                </a:solidFill>
                <a:latin typeface="Calibri"/>
                <a:ea typeface="Calibri"/>
                <a:cs typeface="Calibri"/>
              </a:rPr>
              <a:t>• Physically connected origin-to-destination route</a:t>
            </a:r>
            <a:endParaRPr sz="1200" dirty="0"/>
          </a:p>
          <a:p>
            <a:pPr marL="0" indent="0" algn="l">
              <a:buNone/>
              <a:defRPr sz="1013">
                <a:solidFill>
                  <a:srgbClr val="16232E"/>
                </a:solidFill>
                <a:latin typeface="Calibri"/>
                <a:ea typeface="Calibri"/>
                <a:cs typeface="Calibri"/>
              </a:defRPr>
            </a:pPr>
            <a:r>
              <a:rPr sz="1400" dirty="0">
                <a:solidFill>
                  <a:srgbClr val="16232E"/>
                </a:solidFill>
                <a:latin typeface="Calibri"/>
                <a:ea typeface="Calibri"/>
                <a:cs typeface="Calibri"/>
              </a:rPr>
              <a:t>• One valid track/resource selected per segment</a:t>
            </a:r>
            <a:endParaRPr sz="1200" dirty="0"/>
          </a:p>
          <a:p>
            <a:pPr marL="0" indent="0" algn="l">
              <a:buNone/>
              <a:defRPr sz="1013">
                <a:solidFill>
                  <a:srgbClr val="16232E"/>
                </a:solidFill>
                <a:latin typeface="Calibri"/>
                <a:ea typeface="Calibri"/>
                <a:cs typeface="Calibri"/>
              </a:defRPr>
            </a:pPr>
            <a:r>
              <a:rPr sz="1400" dirty="0">
                <a:solidFill>
                  <a:srgbClr val="16232E"/>
                </a:solidFill>
                <a:latin typeface="Calibri"/>
                <a:ea typeface="Calibri"/>
                <a:cs typeface="Calibri"/>
              </a:rPr>
              <a:t>• Conflict-free resource occupancy</a:t>
            </a:r>
            <a:endParaRPr sz="1200" dirty="0"/>
          </a:p>
          <a:p>
            <a:pPr marL="0" indent="0" algn="l">
              <a:buNone/>
              <a:defRPr sz="1013">
                <a:solidFill>
                  <a:srgbClr val="16232E"/>
                </a:solidFill>
                <a:latin typeface="Calibri"/>
                <a:ea typeface="Calibri"/>
                <a:cs typeface="Calibri"/>
              </a:defRPr>
            </a:pPr>
            <a:r>
              <a:rPr sz="1400" dirty="0">
                <a:solidFill>
                  <a:srgbClr val="16232E"/>
                </a:solidFill>
                <a:latin typeface="Calibri"/>
                <a:ea typeface="Calibri"/>
                <a:cs typeface="Calibri"/>
              </a:rPr>
              <a:t>• Safe temporal separation</a:t>
            </a:r>
            <a:endParaRPr sz="1200" dirty="0"/>
          </a:p>
          <a:p>
            <a:pPr marL="0" indent="0" algn="l">
              <a:buNone/>
              <a:defRPr sz="1013">
                <a:solidFill>
                  <a:srgbClr val="16232E"/>
                </a:solidFill>
                <a:latin typeface="Calibri"/>
                <a:ea typeface="Calibri"/>
                <a:cs typeface="Calibri"/>
              </a:defRPr>
            </a:pPr>
            <a:r>
              <a:rPr sz="1400" dirty="0">
                <a:solidFill>
                  <a:srgbClr val="16232E"/>
                </a:solidFill>
                <a:latin typeface="Calibri"/>
                <a:ea typeface="Calibri"/>
                <a:cs typeface="Calibri"/>
              </a:rPr>
              <a:t>• Executable timetable / dispatching plan</a:t>
            </a:r>
            <a:endParaRPr sz="1200" dirty="0"/>
          </a:p>
        </p:txBody>
      </p:sp>
      <p:sp>
        <p:nvSpPr>
          <p:cNvPr id="35" name="Shape 33">
            <a:extLst>
              <a:ext uri="{FF2B5EF4-FFF2-40B4-BE49-F238E27FC236}">
                <a16:creationId xmlns:a16="http://schemas.microsoft.com/office/drawing/2014/main" id="{EBE56E20-C4E5-423D-BCF6-9D8627C6E38E}"/>
              </a:ext>
            </a:extLst>
          </p:cNvPr>
          <p:cNvSpPr>
            <a:spLocks noGrp="1"/>
          </p:cNvSpPr>
          <p:nvPr/>
        </p:nvSpPr>
        <p:spPr>
          <a:xfrm>
            <a:off x="502920" y="4591050"/>
            <a:ext cx="6903720" cy="1219200"/>
          </a:xfrm>
          <a:prstGeom prst="roundRect">
            <a:avLst>
              <a:gd name="adj" fmla="val 7813"/>
            </a:avLst>
          </a:prstGeom>
          <a:noFill/>
          <a:ln w="14288">
            <a:solidFill>
              <a:srgbClr val="7A3EB1"/>
            </a:solidFill>
            <a:prstDash val="solid"/>
          </a:ln>
        </p:spPr>
        <p:txBody>
          <a:bodyPr/>
          <a:lstStyle/>
          <a:p>
            <a:endParaRPr sz="2000"/>
          </a:p>
        </p:txBody>
      </p:sp>
      <p:sp>
        <p:nvSpPr>
          <p:cNvPr id="36" name="Text 34">
            <a:extLst>
              <a:ext uri="{FF2B5EF4-FFF2-40B4-BE49-F238E27FC236}">
                <a16:creationId xmlns:a16="http://schemas.microsoft.com/office/drawing/2014/main" id="{AA38A03D-7997-4BE1-A5CB-3CB0ACB2F68B}"/>
              </a:ext>
            </a:extLst>
          </p:cNvPr>
          <p:cNvSpPr>
            <a:spLocks noGrp="1"/>
          </p:cNvSpPr>
          <p:nvPr/>
        </p:nvSpPr>
        <p:spPr>
          <a:xfrm>
            <a:off x="731520" y="4733925"/>
            <a:ext cx="6446520" cy="238125"/>
          </a:xfrm>
          <a:prstGeom prst="rect">
            <a:avLst/>
          </a:prstGeom>
          <a:noFill/>
          <a:ln w="0">
            <a:noFill/>
            <a:prstDash val="solid"/>
          </a:ln>
        </p:spPr>
        <p:txBody>
          <a:bodyPr wrap="square" lIns="0" tIns="0" rIns="0" bIns="0" anchor="t"/>
          <a:lstStyle/>
          <a:p>
            <a:pPr marL="0" indent="0" algn="l">
              <a:buNone/>
              <a:defRPr sz="1100" b="1">
                <a:solidFill>
                  <a:srgbClr val="7A3EB1"/>
                </a:solidFill>
                <a:latin typeface="Calibri"/>
                <a:ea typeface="Calibri"/>
                <a:cs typeface="Calibri"/>
              </a:defRPr>
            </a:pPr>
            <a:r>
              <a:rPr sz="1200" b="1">
                <a:solidFill>
                  <a:srgbClr val="7A3EB1"/>
                </a:solidFill>
                <a:latin typeface="Calibri"/>
                <a:ea typeface="Calibri"/>
                <a:cs typeface="Calibri"/>
              </a:rPr>
              <a:t>OPTIMIZATION AFTER FEASIBILITY</a:t>
            </a:r>
            <a:endParaRPr sz="1600"/>
          </a:p>
        </p:txBody>
      </p:sp>
      <p:sp>
        <p:nvSpPr>
          <p:cNvPr id="37" name="Text 35">
            <a:extLst>
              <a:ext uri="{FF2B5EF4-FFF2-40B4-BE49-F238E27FC236}">
                <a16:creationId xmlns:a16="http://schemas.microsoft.com/office/drawing/2014/main" id="{337252B8-2E53-4D0A-8284-6D2756F1B6C8}"/>
              </a:ext>
            </a:extLst>
          </p:cNvPr>
          <p:cNvSpPr>
            <a:spLocks noGrp="1"/>
          </p:cNvSpPr>
          <p:nvPr/>
        </p:nvSpPr>
        <p:spPr>
          <a:xfrm>
            <a:off x="731520" y="5029200"/>
            <a:ext cx="6446520" cy="581025"/>
          </a:xfrm>
          <a:prstGeom prst="rect">
            <a:avLst/>
          </a:prstGeom>
          <a:noFill/>
          <a:ln w="0">
            <a:noFill/>
            <a:prstDash val="solid"/>
          </a:ln>
        </p:spPr>
        <p:txBody>
          <a:bodyPr wrap="square" lIns="0" tIns="0" rIns="0" bIns="0" anchor="t"/>
          <a:lstStyle/>
          <a:p>
            <a:pPr marL="0" indent="0" algn="l">
              <a:buNone/>
              <a:defRPr sz="1065">
                <a:solidFill>
                  <a:srgbClr val="16232E"/>
                </a:solidFill>
                <a:latin typeface="Calibri"/>
                <a:ea typeface="Calibri"/>
                <a:cs typeface="Calibri"/>
              </a:defRPr>
            </a:pPr>
            <a:r>
              <a:rPr sz="1100" dirty="0">
                <a:solidFill>
                  <a:srgbClr val="16232E"/>
                </a:solidFill>
                <a:latin typeface="Calibri"/>
                <a:ea typeface="Calibri"/>
                <a:cs typeface="Calibri"/>
              </a:rPr>
              <a:t>Among feasible movement plans, minimize weighted operating penalties:</a:t>
            </a:r>
            <a:endParaRPr sz="1000" dirty="0"/>
          </a:p>
          <a:p>
            <a:pPr marL="0" indent="0" algn="l">
              <a:buNone/>
              <a:defRPr sz="1065">
                <a:solidFill>
                  <a:srgbClr val="16232E"/>
                </a:solidFill>
                <a:latin typeface="Calibri"/>
                <a:ea typeface="Calibri"/>
                <a:cs typeface="Calibri"/>
              </a:defRPr>
            </a:pPr>
            <a:r>
              <a:rPr sz="1100" dirty="0">
                <a:solidFill>
                  <a:srgbClr val="16232E"/>
                </a:solidFill>
                <a:latin typeface="Calibri"/>
                <a:ea typeface="Calibri"/>
                <a:cs typeface="Calibri"/>
              </a:rPr>
              <a:t>Train delay  •  S</a:t>
            </a:r>
            <a:r>
              <a:rPr lang="en-US" sz="1100" dirty="0">
                <a:solidFill>
                  <a:srgbClr val="16232E"/>
                </a:solidFill>
                <a:latin typeface="Calibri"/>
                <a:ea typeface="Calibri"/>
                <a:cs typeface="Calibri"/>
              </a:rPr>
              <a:t>chedule</a:t>
            </a:r>
            <a:r>
              <a:rPr lang="zh-CN" altLang="en-US" sz="1100" dirty="0">
                <a:solidFill>
                  <a:srgbClr val="16232E"/>
                </a:solidFill>
                <a:latin typeface="Calibri"/>
                <a:ea typeface="Calibri"/>
                <a:cs typeface="Calibri"/>
              </a:rPr>
              <a:t> </a:t>
            </a:r>
            <a:r>
              <a:rPr sz="1100" dirty="0">
                <a:solidFill>
                  <a:srgbClr val="16232E"/>
                </a:solidFill>
                <a:latin typeface="Calibri"/>
                <a:ea typeface="Calibri"/>
                <a:cs typeface="Calibri"/>
              </a:rPr>
              <a:t>A</a:t>
            </a:r>
            <a:r>
              <a:rPr lang="en-US" altLang="zh-CN" sz="1100" dirty="0">
                <a:solidFill>
                  <a:srgbClr val="16232E"/>
                </a:solidFill>
                <a:latin typeface="Calibri"/>
                <a:ea typeface="Calibri"/>
                <a:cs typeface="Calibri"/>
              </a:rPr>
              <a:t>rrival</a:t>
            </a:r>
            <a:r>
              <a:rPr sz="1100" dirty="0">
                <a:solidFill>
                  <a:srgbClr val="16232E"/>
                </a:solidFill>
                <a:latin typeface="Calibri"/>
                <a:ea typeface="Calibri"/>
                <a:cs typeface="Calibri"/>
              </a:rPr>
              <a:t> deviation  •  T</a:t>
            </a:r>
            <a:r>
              <a:rPr lang="en-US" altLang="zh-CN" sz="1100" dirty="0">
                <a:solidFill>
                  <a:srgbClr val="16232E"/>
                </a:solidFill>
                <a:latin typeface="Calibri"/>
                <a:ea typeface="Calibri"/>
                <a:cs typeface="Calibri"/>
              </a:rPr>
              <a:t>erminal</a:t>
            </a:r>
            <a:r>
              <a:rPr lang="zh-CN" altLang="en-US" sz="1100" dirty="0">
                <a:solidFill>
                  <a:srgbClr val="16232E"/>
                </a:solidFill>
                <a:latin typeface="Calibri"/>
                <a:ea typeface="Calibri"/>
                <a:cs typeface="Calibri"/>
              </a:rPr>
              <a:t> </a:t>
            </a:r>
            <a:r>
              <a:rPr sz="1100" dirty="0">
                <a:solidFill>
                  <a:srgbClr val="16232E"/>
                </a:solidFill>
                <a:latin typeface="Calibri"/>
                <a:ea typeface="Calibri"/>
                <a:cs typeface="Calibri"/>
              </a:rPr>
              <a:t>W</a:t>
            </a:r>
            <a:r>
              <a:rPr lang="en-US" altLang="zh-CN" sz="1100" dirty="0">
                <a:solidFill>
                  <a:srgbClr val="16232E"/>
                </a:solidFill>
                <a:latin typeface="Calibri"/>
                <a:ea typeface="Calibri"/>
                <a:cs typeface="Calibri"/>
              </a:rPr>
              <a:t>anted</a:t>
            </a:r>
            <a:r>
              <a:rPr lang="zh-CN" altLang="en-US" sz="1100" dirty="0">
                <a:solidFill>
                  <a:srgbClr val="16232E"/>
                </a:solidFill>
                <a:latin typeface="Calibri"/>
                <a:ea typeface="Calibri"/>
                <a:cs typeface="Calibri"/>
              </a:rPr>
              <a:t> </a:t>
            </a:r>
            <a:r>
              <a:rPr sz="1100" dirty="0">
                <a:solidFill>
                  <a:srgbClr val="16232E"/>
                </a:solidFill>
                <a:latin typeface="Calibri"/>
                <a:ea typeface="Calibri"/>
                <a:cs typeface="Calibri"/>
              </a:rPr>
              <a:t>T</a:t>
            </a:r>
            <a:r>
              <a:rPr lang="en-US" altLang="zh-CN" sz="1100" dirty="0">
                <a:solidFill>
                  <a:srgbClr val="16232E"/>
                </a:solidFill>
                <a:latin typeface="Calibri"/>
                <a:ea typeface="Calibri"/>
                <a:cs typeface="Calibri"/>
              </a:rPr>
              <a:t>ime</a:t>
            </a:r>
            <a:r>
              <a:rPr sz="1100" dirty="0">
                <a:solidFill>
                  <a:srgbClr val="16232E"/>
                </a:solidFill>
                <a:latin typeface="Calibri"/>
                <a:ea typeface="Calibri"/>
                <a:cs typeface="Calibri"/>
              </a:rPr>
              <a:t> deviation  •  Non-preferred track usage</a:t>
            </a:r>
            <a:endParaRPr sz="1000" dirty="0"/>
          </a:p>
        </p:txBody>
      </p:sp>
      <p:sp>
        <p:nvSpPr>
          <p:cNvPr id="38" name="Shape 36">
            <a:extLst>
              <a:ext uri="{FF2B5EF4-FFF2-40B4-BE49-F238E27FC236}">
                <a16:creationId xmlns:a16="http://schemas.microsoft.com/office/drawing/2014/main" id="{400843BB-0FE3-4205-8E63-10B49D6AAB8F}"/>
              </a:ext>
            </a:extLst>
          </p:cNvPr>
          <p:cNvSpPr>
            <a:spLocks noGrp="1"/>
          </p:cNvSpPr>
          <p:nvPr/>
        </p:nvSpPr>
        <p:spPr>
          <a:xfrm>
            <a:off x="7635240" y="4591050"/>
            <a:ext cx="4023360" cy="1219200"/>
          </a:xfrm>
          <a:prstGeom prst="roundRect">
            <a:avLst>
              <a:gd name="adj" fmla="val 7813"/>
            </a:avLst>
          </a:prstGeom>
          <a:noFill/>
          <a:ln w="14288">
            <a:solidFill>
              <a:srgbClr val="268A4B"/>
            </a:solidFill>
            <a:prstDash val="solid"/>
          </a:ln>
        </p:spPr>
        <p:txBody>
          <a:bodyPr/>
          <a:lstStyle/>
          <a:p>
            <a:endParaRPr sz="2000"/>
          </a:p>
        </p:txBody>
      </p:sp>
      <p:sp>
        <p:nvSpPr>
          <p:cNvPr id="39" name="Text 37">
            <a:extLst>
              <a:ext uri="{FF2B5EF4-FFF2-40B4-BE49-F238E27FC236}">
                <a16:creationId xmlns:a16="http://schemas.microsoft.com/office/drawing/2014/main" id="{C5F03F8A-CAD1-48B4-8CA6-065F4B7FE9B1}"/>
              </a:ext>
            </a:extLst>
          </p:cNvPr>
          <p:cNvSpPr>
            <a:spLocks noGrp="1"/>
          </p:cNvSpPr>
          <p:nvPr/>
        </p:nvSpPr>
        <p:spPr>
          <a:xfrm>
            <a:off x="7829550" y="4733925"/>
            <a:ext cx="3638550" cy="276225"/>
          </a:xfrm>
          <a:prstGeom prst="rect">
            <a:avLst/>
          </a:prstGeom>
          <a:noFill/>
          <a:ln w="0">
            <a:noFill/>
            <a:prstDash val="solid"/>
          </a:ln>
        </p:spPr>
        <p:txBody>
          <a:bodyPr wrap="square" lIns="0" tIns="0" rIns="0" bIns="0" anchor="t"/>
          <a:lstStyle/>
          <a:p>
            <a:pPr marL="0" indent="0" algn="ctr">
              <a:buNone/>
              <a:defRPr sz="1140" b="1">
                <a:solidFill>
                  <a:srgbClr val="268A4B"/>
                </a:solidFill>
                <a:latin typeface="Calibri"/>
                <a:ea typeface="Calibri"/>
                <a:cs typeface="Calibri"/>
              </a:defRPr>
            </a:pPr>
            <a:r>
              <a:rPr sz="1200" b="1">
                <a:solidFill>
                  <a:srgbClr val="268A4B"/>
                </a:solidFill>
                <a:latin typeface="Calibri"/>
                <a:ea typeface="Calibri"/>
                <a:cs typeface="Calibri"/>
              </a:rPr>
              <a:t>FEASIBILITY FIRST → PERFORMANCE SECOND</a:t>
            </a:r>
            <a:endParaRPr sz="1000"/>
          </a:p>
        </p:txBody>
      </p:sp>
      <p:sp>
        <p:nvSpPr>
          <p:cNvPr id="40" name="Text 38">
            <a:extLst>
              <a:ext uri="{FF2B5EF4-FFF2-40B4-BE49-F238E27FC236}">
                <a16:creationId xmlns:a16="http://schemas.microsoft.com/office/drawing/2014/main" id="{EE634465-6BB4-4391-BEBA-8B4236EB173F}"/>
              </a:ext>
            </a:extLst>
          </p:cNvPr>
          <p:cNvSpPr>
            <a:spLocks noGrp="1"/>
          </p:cNvSpPr>
          <p:nvPr/>
        </p:nvSpPr>
        <p:spPr>
          <a:xfrm>
            <a:off x="7839075" y="5057775"/>
            <a:ext cx="3609975" cy="657225"/>
          </a:xfrm>
          <a:prstGeom prst="rect">
            <a:avLst/>
          </a:prstGeom>
          <a:noFill/>
          <a:ln w="0">
            <a:noFill/>
            <a:prstDash val="solid"/>
          </a:ln>
        </p:spPr>
        <p:txBody>
          <a:bodyPr wrap="square" lIns="0" tIns="0" rIns="0" bIns="0" anchor="t"/>
          <a:lstStyle/>
          <a:p>
            <a:pPr marL="0" indent="0" algn="ctr">
              <a:buNone/>
              <a:defRPr sz="953">
                <a:solidFill>
                  <a:srgbClr val="16232E"/>
                </a:solidFill>
                <a:latin typeface="Calibri"/>
                <a:ea typeface="Calibri"/>
                <a:cs typeface="Calibri"/>
              </a:defRPr>
            </a:pPr>
            <a:r>
              <a:rPr sz="1100" dirty="0">
                <a:solidFill>
                  <a:srgbClr val="16232E"/>
                </a:solidFill>
                <a:latin typeface="Calibri"/>
                <a:ea typeface="Calibri"/>
                <a:cs typeface="Calibri"/>
              </a:rPr>
              <a:t>FIRST construct a safe, operationally feasible timetable. THEN reduce delay and service penalties.</a:t>
            </a:r>
            <a:endParaRPr sz="1100" dirty="0"/>
          </a:p>
        </p:txBody>
      </p:sp>
      <p:sp>
        <p:nvSpPr>
          <p:cNvPr id="41" name="Text 39">
            <a:extLst>
              <a:ext uri="{FF2B5EF4-FFF2-40B4-BE49-F238E27FC236}">
                <a16:creationId xmlns:a16="http://schemas.microsoft.com/office/drawing/2014/main" id="{F2C75766-3E6B-46E8-9958-2BFD50EC7809}"/>
              </a:ext>
            </a:extLst>
          </p:cNvPr>
          <p:cNvSpPr>
            <a:spLocks noGrp="1"/>
          </p:cNvSpPr>
          <p:nvPr/>
        </p:nvSpPr>
        <p:spPr>
          <a:xfrm>
            <a:off x="518160" y="6257925"/>
            <a:ext cx="11155680" cy="228600"/>
          </a:xfrm>
          <a:prstGeom prst="rect">
            <a:avLst/>
          </a:prstGeom>
          <a:noFill/>
          <a:ln w="0">
            <a:noFill/>
            <a:prstDash val="solid"/>
          </a:ln>
        </p:spPr>
        <p:txBody>
          <a:bodyPr wrap="square" lIns="0" tIns="0" rIns="0" bIns="0" anchor="ctr"/>
          <a:lstStyle/>
          <a:p>
            <a:pPr marL="0" indent="0" algn="l">
              <a:buNone/>
              <a:defRPr sz="780" i="1">
                <a:solidFill>
                  <a:srgbClr val="5C6F82"/>
                </a:solidFill>
                <a:latin typeface="Calibri"/>
                <a:ea typeface="Calibri"/>
                <a:cs typeface="Calibri"/>
              </a:defRPr>
            </a:pPr>
            <a:r>
              <a:rPr sz="800" i="1" dirty="0">
                <a:solidFill>
                  <a:srgbClr val="5C6F82"/>
                </a:solidFill>
                <a:latin typeface="Calibri"/>
                <a:ea typeface="Calibri"/>
                <a:cs typeface="Calibri"/>
              </a:rPr>
              <a:t>Reference: INFORMS RAS 2012 competition — “Movement Planner Algorithm Design for Dispatching on Multi-Track Territories”; corrections; Yan &amp; Yang.</a:t>
            </a:r>
            <a:endParaRPr sz="1100" dirty="0"/>
          </a:p>
        </p:txBody>
      </p:sp>
    </p:spTree>
    <p:extLst>
      <p:ext uri="{BB962C8B-B14F-4D97-AF65-F5344CB8AC3E}">
        <p14:creationId xmlns:p14="http://schemas.microsoft.com/office/powerpoint/2010/main" val="1873634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C373167-B342-486E-872E-69711FE4CD8E}"/>
              </a:ext>
            </a:extLst>
          </p:cNvPr>
          <p:cNvSpPr>
            <a:spLocks noGrp="1"/>
          </p:cNvSpPr>
          <p:nvPr/>
        </p:nvSpPr>
        <p:spPr>
          <a:xfrm>
            <a:off x="502920" y="266700"/>
            <a:ext cx="11155680" cy="590550"/>
          </a:xfrm>
          <a:prstGeom prst="rect">
            <a:avLst/>
          </a:prstGeom>
          <a:noFill/>
          <a:ln w="0">
            <a:noFill/>
            <a:prstDash val="solid"/>
          </a:ln>
        </p:spPr>
        <p:txBody>
          <a:bodyPr wrap="square" lIns="0" tIns="0" rIns="0" bIns="0" anchor="ctr"/>
          <a:lstStyle/>
          <a:p>
            <a:pPr marL="0" indent="0" algn="l">
              <a:buNone/>
              <a:defRPr sz="3200" b="1">
                <a:solidFill>
                  <a:srgbClr val="16232E"/>
                </a:solidFill>
                <a:latin typeface="Cambria"/>
                <a:ea typeface="Cambria"/>
                <a:cs typeface="Cambria"/>
              </a:defRPr>
            </a:pPr>
            <a:r>
              <a:rPr sz="3200" b="1">
                <a:latin typeface="Cambria"/>
                <a:ea typeface="Cambria"/>
                <a:cs typeface="Cambria"/>
              </a:rPr>
              <a:t>Feasibility First: Rules, Validation, and Solution Methods</a:t>
            </a:r>
            <a:endParaRPr sz="3200"/>
          </a:p>
        </p:txBody>
      </p:sp>
      <p:sp>
        <p:nvSpPr>
          <p:cNvPr id="3" name="Text 1">
            <a:extLst>
              <a:ext uri="{FF2B5EF4-FFF2-40B4-BE49-F238E27FC236}">
                <a16:creationId xmlns:a16="http://schemas.microsoft.com/office/drawing/2014/main" id="{29CBF6CB-FC43-4915-8428-E42AB78C8899}"/>
              </a:ext>
            </a:extLst>
          </p:cNvPr>
          <p:cNvSpPr>
            <a:spLocks noGrp="1"/>
          </p:cNvSpPr>
          <p:nvPr/>
        </p:nvSpPr>
        <p:spPr>
          <a:xfrm>
            <a:off x="502920" y="866775"/>
            <a:ext cx="11155680" cy="323850"/>
          </a:xfrm>
          <a:prstGeom prst="rect">
            <a:avLst/>
          </a:prstGeom>
          <a:noFill/>
          <a:ln w="0">
            <a:noFill/>
            <a:prstDash val="solid"/>
          </a:ln>
        </p:spPr>
        <p:txBody>
          <a:bodyPr wrap="square" lIns="0" tIns="0" rIns="0" bIns="0" anchor="ctr"/>
          <a:lstStyle/>
          <a:p>
            <a:pPr marL="0" indent="0" algn="l">
              <a:buNone/>
              <a:defRPr sz="1400">
                <a:solidFill>
                  <a:srgbClr val="5C6F82"/>
                </a:solidFill>
                <a:latin typeface="Calibri"/>
                <a:ea typeface="Calibri"/>
                <a:cs typeface="Calibri"/>
              </a:defRPr>
            </a:pPr>
            <a:r>
              <a:rPr sz="1400">
                <a:latin typeface="Calibri"/>
                <a:ea typeface="Calibri"/>
                <a:cs typeface="Calibri"/>
              </a:rPr>
              <a:t>Safety and physical validity are pass/fail; service deviations affect cost.</a:t>
            </a:r>
            <a:endParaRPr sz="1400"/>
          </a:p>
        </p:txBody>
      </p:sp>
      <p:sp>
        <p:nvSpPr>
          <p:cNvPr id="4" name="Shape 2">
            <a:extLst>
              <a:ext uri="{FF2B5EF4-FFF2-40B4-BE49-F238E27FC236}">
                <a16:creationId xmlns:a16="http://schemas.microsoft.com/office/drawing/2014/main" id="{B98B76AD-AE8D-49CC-AA3C-8B27EAA1C98E}"/>
              </a:ext>
            </a:extLst>
          </p:cNvPr>
          <p:cNvSpPr>
            <a:spLocks noGrp="1"/>
          </p:cNvSpPr>
          <p:nvPr/>
        </p:nvSpPr>
        <p:spPr>
          <a:xfrm>
            <a:off x="502920" y="1428750"/>
            <a:ext cx="4819650" cy="666750"/>
          </a:xfrm>
          <a:prstGeom prst="roundRect">
            <a:avLst>
              <a:gd name="adj" fmla="val 14286"/>
            </a:avLst>
          </a:prstGeom>
          <a:noFill/>
          <a:ln w="12859">
            <a:solidFill>
              <a:srgbClr val="2A64C5"/>
            </a:solidFill>
            <a:prstDash val="solid"/>
          </a:ln>
        </p:spPr>
        <p:txBody>
          <a:bodyPr/>
          <a:lstStyle/>
          <a:p>
            <a:endParaRPr/>
          </a:p>
        </p:txBody>
      </p:sp>
      <p:sp>
        <p:nvSpPr>
          <p:cNvPr id="5" name="Text 3">
            <a:extLst>
              <a:ext uri="{FF2B5EF4-FFF2-40B4-BE49-F238E27FC236}">
                <a16:creationId xmlns:a16="http://schemas.microsoft.com/office/drawing/2014/main" id="{1065409D-E4BE-47B8-90C1-44D318C5B4E2}"/>
              </a:ext>
            </a:extLst>
          </p:cNvPr>
          <p:cNvSpPr>
            <a:spLocks noGrp="1"/>
          </p:cNvSpPr>
          <p:nvPr/>
        </p:nvSpPr>
        <p:spPr>
          <a:xfrm>
            <a:off x="685800" y="1495425"/>
            <a:ext cx="3267075" cy="219075"/>
          </a:xfrm>
          <a:prstGeom prst="rect">
            <a:avLst/>
          </a:prstGeom>
          <a:noFill/>
          <a:ln w="0">
            <a:noFill/>
            <a:prstDash val="solid"/>
          </a:ln>
        </p:spPr>
        <p:txBody>
          <a:bodyPr wrap="square" lIns="0" tIns="0" rIns="0" bIns="0" anchor="t"/>
          <a:lstStyle/>
          <a:p>
            <a:pPr marL="0" indent="0" algn="l">
              <a:buNone/>
              <a:defRPr sz="990" b="1">
                <a:solidFill>
                  <a:srgbClr val="2A64C5"/>
                </a:solidFill>
                <a:latin typeface="Calibri"/>
                <a:ea typeface="Calibri"/>
                <a:cs typeface="Calibri"/>
              </a:defRPr>
            </a:pPr>
            <a:r>
              <a:rPr sz="900" b="1" dirty="0">
                <a:latin typeface="Calibri"/>
                <a:ea typeface="Calibri"/>
                <a:cs typeface="Calibri"/>
              </a:rPr>
              <a:t>1  SAFETY / RESOURCE CONFLICTS</a:t>
            </a:r>
            <a:endParaRPr sz="1100" dirty="0"/>
          </a:p>
        </p:txBody>
      </p:sp>
      <p:sp>
        <p:nvSpPr>
          <p:cNvPr id="6" name="Text 4">
            <a:extLst>
              <a:ext uri="{FF2B5EF4-FFF2-40B4-BE49-F238E27FC236}">
                <a16:creationId xmlns:a16="http://schemas.microsoft.com/office/drawing/2014/main" id="{E31885F3-C560-4E18-AD53-AD731A6882F8}"/>
              </a:ext>
            </a:extLst>
          </p:cNvPr>
          <p:cNvSpPr>
            <a:spLocks noGrp="1"/>
          </p:cNvSpPr>
          <p:nvPr/>
        </p:nvSpPr>
        <p:spPr>
          <a:xfrm>
            <a:off x="685800" y="1724025"/>
            <a:ext cx="3695700" cy="323850"/>
          </a:xfrm>
          <a:prstGeom prst="rect">
            <a:avLst/>
          </a:prstGeom>
          <a:noFill/>
          <a:ln w="0">
            <a:noFill/>
            <a:prstDash val="solid"/>
          </a:ln>
        </p:spPr>
        <p:txBody>
          <a:bodyPr wrap="square" lIns="0" tIns="0" rIns="0" bIns="0" anchor="t"/>
          <a:lstStyle/>
          <a:p>
            <a:pPr>
              <a:defRPr sz="863">
                <a:solidFill>
                  <a:srgbClr val="16232E"/>
                </a:solidFill>
                <a:latin typeface="Calibri"/>
                <a:ea typeface="Calibri"/>
                <a:cs typeface="Calibri"/>
              </a:defRPr>
            </a:pPr>
            <a:r>
              <a:rPr sz="1000" dirty="0">
                <a:latin typeface="Calibri"/>
                <a:ea typeface="Calibri"/>
                <a:cs typeface="Calibri"/>
              </a:rPr>
              <a:t>No incompatible occupancy; switches/crossovers respected; </a:t>
            </a:r>
            <a:r>
              <a:rPr lang="en-US" sz="1000" dirty="0">
                <a:latin typeface="Calibri"/>
                <a:ea typeface="Calibri"/>
                <a:cs typeface="Calibri"/>
              </a:rPr>
              <a:t>300 s minimum separation for relevant conflicting movements.</a:t>
            </a:r>
            <a:endParaRPr sz="1000" dirty="0"/>
          </a:p>
        </p:txBody>
      </p:sp>
      <p:sp>
        <p:nvSpPr>
          <p:cNvPr id="7" name="Text 5">
            <a:extLst>
              <a:ext uri="{FF2B5EF4-FFF2-40B4-BE49-F238E27FC236}">
                <a16:creationId xmlns:a16="http://schemas.microsoft.com/office/drawing/2014/main" id="{47B26977-C23D-44D4-A1EB-B1AE0C88031C}"/>
              </a:ext>
            </a:extLst>
          </p:cNvPr>
          <p:cNvSpPr>
            <a:spLocks noGrp="1"/>
          </p:cNvSpPr>
          <p:nvPr/>
        </p:nvSpPr>
        <p:spPr>
          <a:xfrm>
            <a:off x="4495800" y="1619250"/>
            <a:ext cx="647700" cy="266700"/>
          </a:xfrm>
          <a:prstGeom prst="rect">
            <a:avLst/>
          </a:prstGeom>
          <a:noFill/>
          <a:ln w="0">
            <a:noFill/>
            <a:prstDash val="solid"/>
          </a:ln>
        </p:spPr>
        <p:txBody>
          <a:bodyPr wrap="square" lIns="0" tIns="0" rIns="0" bIns="0" anchor="ctr"/>
          <a:lstStyle/>
          <a:p>
            <a:pPr marL="0" indent="0" algn="ctr">
              <a:buNone/>
              <a:defRPr sz="863" b="1">
                <a:solidFill>
                  <a:srgbClr val="2A64C5"/>
                </a:solidFill>
                <a:latin typeface="Calibri"/>
                <a:ea typeface="Calibri"/>
                <a:cs typeface="Calibri"/>
              </a:defRPr>
            </a:pPr>
            <a:r>
              <a:rPr sz="800" b="1">
                <a:latin typeface="Calibri"/>
                <a:ea typeface="Calibri"/>
                <a:cs typeface="Calibri"/>
              </a:rPr>
              <a:t>HARD</a:t>
            </a:r>
            <a:endParaRPr sz="900"/>
          </a:p>
        </p:txBody>
      </p:sp>
      <p:sp>
        <p:nvSpPr>
          <p:cNvPr id="9" name="Shape 7">
            <a:extLst>
              <a:ext uri="{FF2B5EF4-FFF2-40B4-BE49-F238E27FC236}">
                <a16:creationId xmlns:a16="http://schemas.microsoft.com/office/drawing/2014/main" id="{7AD4F7C9-45EF-4E5B-954D-DBC86BB4220E}"/>
              </a:ext>
            </a:extLst>
          </p:cNvPr>
          <p:cNvSpPr>
            <a:spLocks noGrp="1"/>
          </p:cNvSpPr>
          <p:nvPr/>
        </p:nvSpPr>
        <p:spPr>
          <a:xfrm>
            <a:off x="502920" y="2209800"/>
            <a:ext cx="4819650" cy="666750"/>
          </a:xfrm>
          <a:prstGeom prst="roundRect">
            <a:avLst>
              <a:gd name="adj" fmla="val 14286"/>
            </a:avLst>
          </a:prstGeom>
          <a:noFill/>
          <a:ln w="12859">
            <a:solidFill>
              <a:srgbClr val="268A4B"/>
            </a:solidFill>
            <a:prstDash val="solid"/>
          </a:ln>
        </p:spPr>
        <p:txBody>
          <a:bodyPr/>
          <a:lstStyle/>
          <a:p>
            <a:endParaRPr sz="2400"/>
          </a:p>
        </p:txBody>
      </p:sp>
      <p:sp>
        <p:nvSpPr>
          <p:cNvPr id="10" name="Text 8">
            <a:extLst>
              <a:ext uri="{FF2B5EF4-FFF2-40B4-BE49-F238E27FC236}">
                <a16:creationId xmlns:a16="http://schemas.microsoft.com/office/drawing/2014/main" id="{1889D688-D8B9-48B1-B5E3-A6DFC0A05CEC}"/>
              </a:ext>
            </a:extLst>
          </p:cNvPr>
          <p:cNvSpPr>
            <a:spLocks noGrp="1"/>
          </p:cNvSpPr>
          <p:nvPr/>
        </p:nvSpPr>
        <p:spPr>
          <a:xfrm>
            <a:off x="685800" y="2276475"/>
            <a:ext cx="3267075" cy="219075"/>
          </a:xfrm>
          <a:prstGeom prst="rect">
            <a:avLst/>
          </a:prstGeom>
          <a:noFill/>
          <a:ln w="0">
            <a:noFill/>
            <a:prstDash val="solid"/>
          </a:ln>
        </p:spPr>
        <p:txBody>
          <a:bodyPr wrap="square" lIns="0" tIns="0" rIns="0" bIns="0" anchor="t"/>
          <a:lstStyle/>
          <a:p>
            <a:pPr marL="0" indent="0" algn="l">
              <a:buNone/>
              <a:defRPr sz="990" b="1">
                <a:solidFill>
                  <a:srgbClr val="268A4B"/>
                </a:solidFill>
                <a:latin typeface="Calibri"/>
                <a:ea typeface="Calibri"/>
                <a:cs typeface="Calibri"/>
              </a:defRPr>
            </a:pPr>
            <a:r>
              <a:rPr sz="1050" b="1">
                <a:latin typeface="Calibri"/>
                <a:ea typeface="Calibri"/>
                <a:cs typeface="Calibri"/>
              </a:rPr>
              <a:t>2  PHYSICAL CONNECTIVITY</a:t>
            </a:r>
            <a:endParaRPr sz="1400"/>
          </a:p>
        </p:txBody>
      </p:sp>
      <p:sp>
        <p:nvSpPr>
          <p:cNvPr id="11" name="Text 9">
            <a:extLst>
              <a:ext uri="{FF2B5EF4-FFF2-40B4-BE49-F238E27FC236}">
                <a16:creationId xmlns:a16="http://schemas.microsoft.com/office/drawing/2014/main" id="{777A8F32-BF17-48E3-A5EF-F73F21276EE2}"/>
              </a:ext>
            </a:extLst>
          </p:cNvPr>
          <p:cNvSpPr>
            <a:spLocks noGrp="1"/>
          </p:cNvSpPr>
          <p:nvPr/>
        </p:nvSpPr>
        <p:spPr>
          <a:xfrm>
            <a:off x="685800" y="2505075"/>
            <a:ext cx="3695700" cy="323850"/>
          </a:xfrm>
          <a:prstGeom prst="rect">
            <a:avLst/>
          </a:prstGeom>
          <a:noFill/>
          <a:ln w="0">
            <a:noFill/>
            <a:prstDash val="solid"/>
          </a:ln>
        </p:spPr>
        <p:txBody>
          <a:bodyPr wrap="square" lIns="0" tIns="0" rIns="0" bIns="0" anchor="t"/>
          <a:lstStyle/>
          <a:p>
            <a:pPr marL="0" indent="0" algn="l">
              <a:buNone/>
              <a:defRPr sz="863">
                <a:solidFill>
                  <a:srgbClr val="16232E"/>
                </a:solidFill>
                <a:latin typeface="Calibri"/>
                <a:ea typeface="Calibri"/>
                <a:cs typeface="Calibri"/>
              </a:defRPr>
            </a:pPr>
            <a:r>
              <a:rPr sz="1000" dirty="0">
                <a:latin typeface="Calibri"/>
                <a:ea typeface="Calibri"/>
                <a:cs typeface="Calibri"/>
              </a:rPr>
              <a:t>Continuous O-D movement; one valid resource per segment; train length ≤ usable siding.</a:t>
            </a:r>
            <a:endParaRPr sz="1000" dirty="0"/>
          </a:p>
        </p:txBody>
      </p:sp>
      <p:sp>
        <p:nvSpPr>
          <p:cNvPr id="12" name="Text 10">
            <a:extLst>
              <a:ext uri="{FF2B5EF4-FFF2-40B4-BE49-F238E27FC236}">
                <a16:creationId xmlns:a16="http://schemas.microsoft.com/office/drawing/2014/main" id="{347D1B5B-C231-42C7-8872-C038AF07E612}"/>
              </a:ext>
            </a:extLst>
          </p:cNvPr>
          <p:cNvSpPr>
            <a:spLocks noGrp="1"/>
          </p:cNvSpPr>
          <p:nvPr/>
        </p:nvSpPr>
        <p:spPr>
          <a:xfrm>
            <a:off x="4495800" y="2400300"/>
            <a:ext cx="647700" cy="266700"/>
          </a:xfrm>
          <a:prstGeom prst="rect">
            <a:avLst/>
          </a:prstGeom>
          <a:noFill/>
          <a:ln w="0">
            <a:noFill/>
            <a:prstDash val="solid"/>
          </a:ln>
        </p:spPr>
        <p:txBody>
          <a:bodyPr wrap="square" lIns="0" tIns="0" rIns="0" bIns="0" anchor="ctr"/>
          <a:lstStyle/>
          <a:p>
            <a:pPr marL="0" indent="0" algn="ctr">
              <a:buNone/>
              <a:defRPr sz="863" b="1">
                <a:solidFill>
                  <a:srgbClr val="268A4B"/>
                </a:solidFill>
                <a:latin typeface="Calibri"/>
                <a:ea typeface="Calibri"/>
                <a:cs typeface="Calibri"/>
              </a:defRPr>
            </a:pPr>
            <a:r>
              <a:rPr sz="800" b="1">
                <a:latin typeface="Calibri"/>
                <a:ea typeface="Calibri"/>
                <a:cs typeface="Calibri"/>
              </a:rPr>
              <a:t>HARD</a:t>
            </a:r>
            <a:endParaRPr sz="900"/>
          </a:p>
        </p:txBody>
      </p:sp>
      <p:sp>
        <p:nvSpPr>
          <p:cNvPr id="14" name="Shape 12">
            <a:extLst>
              <a:ext uri="{FF2B5EF4-FFF2-40B4-BE49-F238E27FC236}">
                <a16:creationId xmlns:a16="http://schemas.microsoft.com/office/drawing/2014/main" id="{B8F06261-28B3-4220-8434-F7006FBCCD3C}"/>
              </a:ext>
            </a:extLst>
          </p:cNvPr>
          <p:cNvSpPr>
            <a:spLocks noGrp="1"/>
          </p:cNvSpPr>
          <p:nvPr/>
        </p:nvSpPr>
        <p:spPr>
          <a:xfrm>
            <a:off x="502920" y="2990850"/>
            <a:ext cx="4819650" cy="666750"/>
          </a:xfrm>
          <a:prstGeom prst="roundRect">
            <a:avLst>
              <a:gd name="adj" fmla="val 14286"/>
            </a:avLst>
          </a:prstGeom>
          <a:noFill/>
          <a:ln w="12859">
            <a:solidFill>
              <a:srgbClr val="E97719"/>
            </a:solidFill>
            <a:prstDash val="solid"/>
          </a:ln>
        </p:spPr>
        <p:txBody>
          <a:bodyPr/>
          <a:lstStyle/>
          <a:p>
            <a:endParaRPr/>
          </a:p>
        </p:txBody>
      </p:sp>
      <p:sp>
        <p:nvSpPr>
          <p:cNvPr id="15" name="Text 13">
            <a:extLst>
              <a:ext uri="{FF2B5EF4-FFF2-40B4-BE49-F238E27FC236}">
                <a16:creationId xmlns:a16="http://schemas.microsoft.com/office/drawing/2014/main" id="{2ED08558-03C6-4F84-BB13-382CBB798F7F}"/>
              </a:ext>
            </a:extLst>
          </p:cNvPr>
          <p:cNvSpPr>
            <a:spLocks noGrp="1"/>
          </p:cNvSpPr>
          <p:nvPr/>
        </p:nvSpPr>
        <p:spPr>
          <a:xfrm>
            <a:off x="685800" y="3057525"/>
            <a:ext cx="3267075" cy="219075"/>
          </a:xfrm>
          <a:prstGeom prst="rect">
            <a:avLst/>
          </a:prstGeom>
          <a:noFill/>
          <a:ln w="0">
            <a:noFill/>
            <a:prstDash val="solid"/>
          </a:ln>
        </p:spPr>
        <p:txBody>
          <a:bodyPr wrap="square" lIns="0" tIns="0" rIns="0" bIns="0" anchor="t"/>
          <a:lstStyle/>
          <a:p>
            <a:pPr marL="0" indent="0" algn="l">
              <a:buNone/>
              <a:defRPr sz="990" b="1">
                <a:solidFill>
                  <a:srgbClr val="E97719"/>
                </a:solidFill>
                <a:latin typeface="Calibri"/>
                <a:ea typeface="Calibri"/>
                <a:cs typeface="Calibri"/>
              </a:defRPr>
            </a:pPr>
            <a:r>
              <a:rPr sz="1050" b="1">
                <a:latin typeface="Calibri"/>
                <a:ea typeface="Calibri"/>
                <a:cs typeface="Calibri"/>
              </a:rPr>
              <a:t>3  OPERATIONAL RESTRICTIONS</a:t>
            </a:r>
            <a:endParaRPr sz="1400"/>
          </a:p>
        </p:txBody>
      </p:sp>
      <p:sp>
        <p:nvSpPr>
          <p:cNvPr id="16" name="Text 14">
            <a:extLst>
              <a:ext uri="{FF2B5EF4-FFF2-40B4-BE49-F238E27FC236}">
                <a16:creationId xmlns:a16="http://schemas.microsoft.com/office/drawing/2014/main" id="{5BCB0BDF-8063-4279-BE3A-F3BD0EC1F920}"/>
              </a:ext>
            </a:extLst>
          </p:cNvPr>
          <p:cNvSpPr>
            <a:spLocks noGrp="1"/>
          </p:cNvSpPr>
          <p:nvPr/>
        </p:nvSpPr>
        <p:spPr>
          <a:xfrm>
            <a:off x="685800" y="3286125"/>
            <a:ext cx="3695700" cy="323850"/>
          </a:xfrm>
          <a:prstGeom prst="rect">
            <a:avLst/>
          </a:prstGeom>
          <a:noFill/>
          <a:ln w="0">
            <a:noFill/>
            <a:prstDash val="solid"/>
          </a:ln>
        </p:spPr>
        <p:txBody>
          <a:bodyPr wrap="square" lIns="0" tIns="0" rIns="0" bIns="0" anchor="t"/>
          <a:lstStyle/>
          <a:p>
            <a:pPr marL="0" indent="0" algn="l">
              <a:buNone/>
              <a:defRPr sz="863">
                <a:solidFill>
                  <a:srgbClr val="16232E"/>
                </a:solidFill>
                <a:latin typeface="Calibri"/>
                <a:ea typeface="Calibri"/>
                <a:cs typeface="Calibri"/>
              </a:defRPr>
            </a:pPr>
            <a:r>
              <a:rPr sz="1000" dirty="0">
                <a:latin typeface="Calibri"/>
                <a:ea typeface="Calibri"/>
                <a:cs typeface="Calibri"/>
              </a:rPr>
              <a:t>Inhalation Hazard/Hazmat siding restrictions; applicable meet/pass, overtaking and priority rules.</a:t>
            </a:r>
            <a:endParaRPr sz="1000" dirty="0"/>
          </a:p>
        </p:txBody>
      </p:sp>
      <p:sp>
        <p:nvSpPr>
          <p:cNvPr id="17" name="Text 15">
            <a:extLst>
              <a:ext uri="{FF2B5EF4-FFF2-40B4-BE49-F238E27FC236}">
                <a16:creationId xmlns:a16="http://schemas.microsoft.com/office/drawing/2014/main" id="{BC70A300-AF71-4B1F-8F0F-535F5BC90199}"/>
              </a:ext>
            </a:extLst>
          </p:cNvPr>
          <p:cNvSpPr>
            <a:spLocks noGrp="1"/>
          </p:cNvSpPr>
          <p:nvPr/>
        </p:nvSpPr>
        <p:spPr>
          <a:xfrm>
            <a:off x="4495800" y="3181350"/>
            <a:ext cx="647700" cy="266700"/>
          </a:xfrm>
          <a:prstGeom prst="rect">
            <a:avLst/>
          </a:prstGeom>
          <a:noFill/>
          <a:ln w="0">
            <a:noFill/>
            <a:prstDash val="solid"/>
          </a:ln>
        </p:spPr>
        <p:txBody>
          <a:bodyPr wrap="square" lIns="0" tIns="0" rIns="0" bIns="0" anchor="ctr"/>
          <a:lstStyle/>
          <a:p>
            <a:pPr marL="0" indent="0" algn="ctr">
              <a:buNone/>
              <a:defRPr sz="863" b="1">
                <a:solidFill>
                  <a:srgbClr val="E97719"/>
                </a:solidFill>
                <a:latin typeface="Calibri"/>
                <a:ea typeface="Calibri"/>
                <a:cs typeface="Calibri"/>
              </a:defRPr>
            </a:pPr>
            <a:r>
              <a:rPr sz="800" b="1" dirty="0">
                <a:latin typeface="Calibri"/>
                <a:ea typeface="Calibri"/>
                <a:cs typeface="Calibri"/>
              </a:rPr>
              <a:t>HARD</a:t>
            </a:r>
            <a:endParaRPr sz="900" dirty="0"/>
          </a:p>
        </p:txBody>
      </p:sp>
      <p:sp>
        <p:nvSpPr>
          <p:cNvPr id="19" name="Shape 17">
            <a:extLst>
              <a:ext uri="{FF2B5EF4-FFF2-40B4-BE49-F238E27FC236}">
                <a16:creationId xmlns:a16="http://schemas.microsoft.com/office/drawing/2014/main" id="{03D60146-B505-434A-B97F-DA4CD79E6EC7}"/>
              </a:ext>
            </a:extLst>
          </p:cNvPr>
          <p:cNvSpPr>
            <a:spLocks noGrp="1"/>
          </p:cNvSpPr>
          <p:nvPr/>
        </p:nvSpPr>
        <p:spPr>
          <a:xfrm>
            <a:off x="502920" y="3771900"/>
            <a:ext cx="4819650" cy="666750"/>
          </a:xfrm>
          <a:prstGeom prst="roundRect">
            <a:avLst>
              <a:gd name="adj" fmla="val 14286"/>
            </a:avLst>
          </a:prstGeom>
          <a:noFill/>
          <a:ln w="12859">
            <a:solidFill>
              <a:srgbClr val="7A3EB1"/>
            </a:solidFill>
            <a:prstDash val="solid"/>
          </a:ln>
        </p:spPr>
        <p:txBody>
          <a:bodyPr/>
          <a:lstStyle/>
          <a:p>
            <a:endParaRPr/>
          </a:p>
        </p:txBody>
      </p:sp>
      <p:sp>
        <p:nvSpPr>
          <p:cNvPr id="20" name="Text 18">
            <a:extLst>
              <a:ext uri="{FF2B5EF4-FFF2-40B4-BE49-F238E27FC236}">
                <a16:creationId xmlns:a16="http://schemas.microsoft.com/office/drawing/2014/main" id="{68916D74-BEEA-4C0C-A6FD-02FA93769E13}"/>
              </a:ext>
            </a:extLst>
          </p:cNvPr>
          <p:cNvSpPr>
            <a:spLocks noGrp="1"/>
          </p:cNvSpPr>
          <p:nvPr/>
        </p:nvSpPr>
        <p:spPr>
          <a:xfrm>
            <a:off x="685800" y="3838575"/>
            <a:ext cx="3267075" cy="219075"/>
          </a:xfrm>
          <a:prstGeom prst="rect">
            <a:avLst/>
          </a:prstGeom>
          <a:noFill/>
          <a:ln w="0">
            <a:noFill/>
            <a:prstDash val="solid"/>
          </a:ln>
        </p:spPr>
        <p:txBody>
          <a:bodyPr wrap="square" lIns="0" tIns="0" rIns="0" bIns="0" anchor="t"/>
          <a:lstStyle/>
          <a:p>
            <a:pPr marL="0" indent="0" algn="l">
              <a:buNone/>
              <a:defRPr sz="990" b="1">
                <a:solidFill>
                  <a:srgbClr val="7A3EB1"/>
                </a:solidFill>
                <a:latin typeface="Calibri"/>
                <a:ea typeface="Calibri"/>
                <a:cs typeface="Calibri"/>
              </a:defRPr>
            </a:pPr>
            <a:r>
              <a:rPr sz="1050" b="1">
                <a:latin typeface="Calibri"/>
                <a:ea typeface="Calibri"/>
                <a:cs typeface="Calibri"/>
              </a:rPr>
              <a:t>4  TIME / INFRASTRUCTURE AVAILABILITY</a:t>
            </a:r>
            <a:endParaRPr sz="1400"/>
          </a:p>
        </p:txBody>
      </p:sp>
      <p:sp>
        <p:nvSpPr>
          <p:cNvPr id="21" name="Text 19">
            <a:extLst>
              <a:ext uri="{FF2B5EF4-FFF2-40B4-BE49-F238E27FC236}">
                <a16:creationId xmlns:a16="http://schemas.microsoft.com/office/drawing/2014/main" id="{0DB1B859-BE26-4AA3-BD79-26BFBEC2B975}"/>
              </a:ext>
            </a:extLst>
          </p:cNvPr>
          <p:cNvSpPr>
            <a:spLocks noGrp="1"/>
          </p:cNvSpPr>
          <p:nvPr/>
        </p:nvSpPr>
        <p:spPr>
          <a:xfrm>
            <a:off x="685800" y="4067175"/>
            <a:ext cx="3695700" cy="323850"/>
          </a:xfrm>
          <a:prstGeom prst="rect">
            <a:avLst/>
          </a:prstGeom>
          <a:noFill/>
          <a:ln w="0">
            <a:noFill/>
            <a:prstDash val="solid"/>
          </a:ln>
        </p:spPr>
        <p:txBody>
          <a:bodyPr wrap="square" lIns="0" tIns="0" rIns="0" bIns="0" anchor="t"/>
          <a:lstStyle/>
          <a:p>
            <a:pPr>
              <a:defRPr sz="863">
                <a:solidFill>
                  <a:srgbClr val="16232E"/>
                </a:solidFill>
                <a:latin typeface="Calibri"/>
                <a:ea typeface="Calibri"/>
                <a:cs typeface="Calibri"/>
              </a:defRPr>
            </a:pPr>
            <a:r>
              <a:rPr sz="1000" dirty="0">
                <a:latin typeface="Calibri"/>
                <a:ea typeface="Calibri"/>
                <a:cs typeface="Calibri"/>
              </a:rPr>
              <a:t>No entry before ENTRY TIME; </a:t>
            </a:r>
            <a:r>
              <a:rPr lang="en-US" sz="1000" dirty="0">
                <a:latin typeface="Calibri"/>
                <a:ea typeface="Calibri"/>
                <a:cs typeface="Calibri"/>
              </a:rPr>
              <a:t>running/dwell minima</a:t>
            </a:r>
            <a:r>
              <a:rPr sz="1000" dirty="0">
                <a:latin typeface="Calibri"/>
                <a:ea typeface="Calibri"/>
                <a:cs typeface="Calibri"/>
              </a:rPr>
              <a:t>; MOW windows block resources.</a:t>
            </a:r>
            <a:endParaRPr sz="1000" dirty="0"/>
          </a:p>
        </p:txBody>
      </p:sp>
      <p:sp>
        <p:nvSpPr>
          <p:cNvPr id="22" name="Text 20">
            <a:extLst>
              <a:ext uri="{FF2B5EF4-FFF2-40B4-BE49-F238E27FC236}">
                <a16:creationId xmlns:a16="http://schemas.microsoft.com/office/drawing/2014/main" id="{625F0448-519E-4709-B67B-E58FFFFC23E7}"/>
              </a:ext>
            </a:extLst>
          </p:cNvPr>
          <p:cNvSpPr>
            <a:spLocks noGrp="1"/>
          </p:cNvSpPr>
          <p:nvPr/>
        </p:nvSpPr>
        <p:spPr>
          <a:xfrm>
            <a:off x="4495800" y="3962400"/>
            <a:ext cx="647700" cy="266700"/>
          </a:xfrm>
          <a:prstGeom prst="rect">
            <a:avLst/>
          </a:prstGeom>
          <a:noFill/>
          <a:ln w="0">
            <a:noFill/>
            <a:prstDash val="solid"/>
          </a:ln>
        </p:spPr>
        <p:txBody>
          <a:bodyPr wrap="square" lIns="0" tIns="0" rIns="0" bIns="0" anchor="ctr"/>
          <a:lstStyle/>
          <a:p>
            <a:pPr marL="0" indent="0" algn="ctr">
              <a:buNone/>
              <a:defRPr sz="863" b="1">
                <a:solidFill>
                  <a:srgbClr val="7A3EB1"/>
                </a:solidFill>
                <a:latin typeface="Calibri"/>
                <a:ea typeface="Calibri"/>
                <a:cs typeface="Calibri"/>
              </a:defRPr>
            </a:pPr>
            <a:r>
              <a:rPr sz="800" b="1">
                <a:latin typeface="Calibri"/>
                <a:ea typeface="Calibri"/>
                <a:cs typeface="Calibri"/>
              </a:rPr>
              <a:t>HARD</a:t>
            </a:r>
            <a:endParaRPr sz="900"/>
          </a:p>
        </p:txBody>
      </p:sp>
      <p:sp>
        <p:nvSpPr>
          <p:cNvPr id="23" name="Shape 21">
            <a:extLst>
              <a:ext uri="{FF2B5EF4-FFF2-40B4-BE49-F238E27FC236}">
                <a16:creationId xmlns:a16="http://schemas.microsoft.com/office/drawing/2014/main" id="{D559259E-180D-4E6A-9144-05779A9868B1}"/>
              </a:ext>
            </a:extLst>
          </p:cNvPr>
          <p:cNvSpPr>
            <a:spLocks noGrp="1"/>
          </p:cNvSpPr>
          <p:nvPr/>
        </p:nvSpPr>
        <p:spPr>
          <a:xfrm>
            <a:off x="502920" y="6419850"/>
            <a:ext cx="11155680" cy="228600"/>
          </a:xfrm>
          <a:prstGeom prst="line">
            <a:avLst/>
          </a:prstGeom>
          <a:noFill/>
          <a:ln w="0">
            <a:noFill/>
            <a:prstDash val="solid"/>
          </a:ln>
        </p:spPr>
        <p:txBody>
          <a:bodyPr wrap="square" lIns="0" tIns="0" rIns="0" bIns="0" anchor="ctr"/>
          <a:lstStyle/>
          <a:p>
            <a:pPr algn="l">
              <a:defRPr sz="780" i="1">
                <a:solidFill>
                  <a:srgbClr val="5C6F82"/>
                </a:solidFill>
                <a:latin typeface="Calibri"/>
                <a:ea typeface="Calibri"/>
                <a:cs typeface="Calibri"/>
              </a:defRPr>
            </a:pPr>
            <a:r>
              <a:rPr sz="700" i="1">
                <a:latin typeface="Calibri"/>
                <a:ea typeface="Calibri"/>
                <a:cs typeface="Calibri"/>
              </a:rPr>
              <a:t>Reference: INFORMS RAS 2012 competition and corrections; Yan &amp; Yang historical RAS formulation. Validator pipeline is a proposed modern framework.</a:t>
            </a:r>
            <a:endParaRPr sz="700"/>
          </a:p>
        </p:txBody>
      </p:sp>
      <p:sp>
        <p:nvSpPr>
          <p:cNvPr id="26" name="Shape 24">
            <a:extLst>
              <a:ext uri="{FF2B5EF4-FFF2-40B4-BE49-F238E27FC236}">
                <a16:creationId xmlns:a16="http://schemas.microsoft.com/office/drawing/2014/main" id="{F9AE8FCC-1ED4-4613-B9BA-3F877B85AFBB}"/>
              </a:ext>
            </a:extLst>
          </p:cNvPr>
          <p:cNvSpPr>
            <a:spLocks noGrp="1"/>
          </p:cNvSpPr>
          <p:nvPr/>
        </p:nvSpPr>
        <p:spPr>
          <a:xfrm>
            <a:off x="5619750" y="1428750"/>
            <a:ext cx="2609850" cy="2133600"/>
          </a:xfrm>
          <a:prstGeom prst="roundRect">
            <a:avLst>
              <a:gd name="adj" fmla="val 4464"/>
            </a:avLst>
          </a:prstGeom>
          <a:noFill/>
          <a:ln w="14288">
            <a:solidFill>
              <a:srgbClr val="163A70"/>
            </a:solidFill>
            <a:prstDash val="solid"/>
          </a:ln>
        </p:spPr>
        <p:txBody>
          <a:bodyPr/>
          <a:lstStyle/>
          <a:p>
            <a:endParaRPr sz="2400"/>
          </a:p>
        </p:txBody>
      </p:sp>
      <p:sp>
        <p:nvSpPr>
          <p:cNvPr id="27" name="Text 25">
            <a:extLst>
              <a:ext uri="{FF2B5EF4-FFF2-40B4-BE49-F238E27FC236}">
                <a16:creationId xmlns:a16="http://schemas.microsoft.com/office/drawing/2014/main" id="{4203E481-3CDB-4FBF-9027-71F9C9CAC0ED}"/>
              </a:ext>
            </a:extLst>
          </p:cNvPr>
          <p:cNvSpPr>
            <a:spLocks noGrp="1"/>
          </p:cNvSpPr>
          <p:nvPr/>
        </p:nvSpPr>
        <p:spPr>
          <a:xfrm>
            <a:off x="5791200" y="1562100"/>
            <a:ext cx="2266950" cy="257175"/>
          </a:xfrm>
          <a:prstGeom prst="rect">
            <a:avLst/>
          </a:prstGeom>
          <a:noFill/>
          <a:ln w="0">
            <a:noFill/>
            <a:prstDash val="solid"/>
          </a:ln>
        </p:spPr>
        <p:txBody>
          <a:bodyPr wrap="square" lIns="0" tIns="0" rIns="0" bIns="0" anchor="t"/>
          <a:lstStyle/>
          <a:p>
            <a:pPr marL="0" indent="0" algn="ctr">
              <a:buNone/>
              <a:defRPr sz="1200" b="1">
                <a:solidFill>
                  <a:srgbClr val="163A70"/>
                </a:solidFill>
                <a:latin typeface="Calibri"/>
                <a:ea typeface="Calibri"/>
                <a:cs typeface="Calibri"/>
              </a:defRPr>
            </a:pPr>
            <a:r>
              <a:rPr sz="1600" b="1">
                <a:latin typeface="Calibri"/>
                <a:ea typeface="Calibri"/>
                <a:cs typeface="Calibri"/>
              </a:rPr>
              <a:t>HARD vs. SOFT</a:t>
            </a:r>
            <a:endParaRPr sz="1100"/>
          </a:p>
        </p:txBody>
      </p:sp>
      <p:sp>
        <p:nvSpPr>
          <p:cNvPr id="28" name="Text 26">
            <a:extLst>
              <a:ext uri="{FF2B5EF4-FFF2-40B4-BE49-F238E27FC236}">
                <a16:creationId xmlns:a16="http://schemas.microsoft.com/office/drawing/2014/main" id="{16D833B6-B21E-4506-9E90-3C2F1EB2355E}"/>
              </a:ext>
            </a:extLst>
          </p:cNvPr>
          <p:cNvSpPr>
            <a:spLocks noGrp="1"/>
          </p:cNvSpPr>
          <p:nvPr/>
        </p:nvSpPr>
        <p:spPr>
          <a:xfrm>
            <a:off x="5810250" y="1905000"/>
            <a:ext cx="2228850" cy="962025"/>
          </a:xfrm>
          <a:prstGeom prst="rect">
            <a:avLst/>
          </a:prstGeom>
          <a:noFill/>
          <a:ln w="0">
            <a:noFill/>
            <a:prstDash val="solid"/>
          </a:ln>
        </p:spPr>
        <p:txBody>
          <a:bodyPr wrap="square" lIns="0" tIns="0" rIns="0" bIns="0" anchor="t"/>
          <a:lstStyle/>
          <a:p>
            <a:pPr marL="0" indent="0" algn="ctr">
              <a:buNone/>
              <a:defRPr sz="982" b="1">
                <a:solidFill>
                  <a:srgbClr val="16232E"/>
                </a:solidFill>
                <a:latin typeface="Calibri"/>
                <a:ea typeface="Calibri"/>
                <a:cs typeface="Calibri"/>
              </a:defRPr>
            </a:pPr>
            <a:r>
              <a:rPr sz="1050" b="1">
                <a:latin typeface="Calibri"/>
                <a:ea typeface="Calibri"/>
                <a:cs typeface="Calibri"/>
              </a:rPr>
              <a:t>HARD CONSTRAINT</a:t>
            </a:r>
            <a:endParaRPr/>
          </a:p>
          <a:p>
            <a:pPr marL="0" indent="0" algn="ctr">
              <a:buNone/>
              <a:defRPr sz="982" b="1">
                <a:solidFill>
                  <a:srgbClr val="16232E"/>
                </a:solidFill>
                <a:latin typeface="Calibri"/>
                <a:ea typeface="Calibri"/>
                <a:cs typeface="Calibri"/>
              </a:defRPr>
            </a:pPr>
            <a:r>
              <a:rPr sz="1050" b="1">
                <a:latin typeface="Calibri"/>
                <a:ea typeface="Calibri"/>
                <a:cs typeface="Calibri"/>
              </a:rPr>
              <a:t>Violation → INFEASIBLE</a:t>
            </a:r>
            <a:endParaRPr/>
          </a:p>
          <a:p>
            <a:pPr marL="0" indent="0" algn="ctr">
              <a:buNone/>
            </a:pPr>
            <a:endParaRPr/>
          </a:p>
          <a:p>
            <a:pPr marL="0" indent="0" algn="ctr">
              <a:buNone/>
              <a:defRPr sz="982" b="1">
                <a:solidFill>
                  <a:srgbClr val="16232E"/>
                </a:solidFill>
                <a:latin typeface="Calibri"/>
                <a:ea typeface="Calibri"/>
                <a:cs typeface="Calibri"/>
              </a:defRPr>
            </a:pPr>
            <a:r>
              <a:rPr sz="1050" b="1">
                <a:latin typeface="Calibri"/>
                <a:ea typeface="Calibri"/>
                <a:cs typeface="Calibri"/>
              </a:rPr>
              <a:t>SOFT / PERFORMANCE TERM</a:t>
            </a:r>
            <a:endParaRPr/>
          </a:p>
          <a:p>
            <a:pPr marL="0" indent="0" algn="ctr">
              <a:buNone/>
              <a:defRPr sz="982" b="1">
                <a:solidFill>
                  <a:srgbClr val="16232E"/>
                </a:solidFill>
                <a:latin typeface="Calibri"/>
                <a:ea typeface="Calibri"/>
                <a:cs typeface="Calibri"/>
              </a:defRPr>
            </a:pPr>
            <a:r>
              <a:rPr sz="1050" b="1">
                <a:latin typeface="Calibri"/>
                <a:ea typeface="Calibri"/>
                <a:cs typeface="Calibri"/>
              </a:rPr>
              <a:t>Deviation → higher objective cost</a:t>
            </a:r>
            <a:endParaRPr/>
          </a:p>
        </p:txBody>
      </p:sp>
      <p:sp>
        <p:nvSpPr>
          <p:cNvPr id="29" name="Text 27">
            <a:extLst>
              <a:ext uri="{FF2B5EF4-FFF2-40B4-BE49-F238E27FC236}">
                <a16:creationId xmlns:a16="http://schemas.microsoft.com/office/drawing/2014/main" id="{2F00C9A3-7531-4589-A6AC-15DED11D04C7}"/>
              </a:ext>
            </a:extLst>
          </p:cNvPr>
          <p:cNvSpPr>
            <a:spLocks noGrp="1"/>
          </p:cNvSpPr>
          <p:nvPr/>
        </p:nvSpPr>
        <p:spPr>
          <a:xfrm>
            <a:off x="5810250" y="2981325"/>
            <a:ext cx="2228850" cy="438150"/>
          </a:xfrm>
          <a:prstGeom prst="rect">
            <a:avLst/>
          </a:prstGeom>
          <a:noFill/>
          <a:ln w="0">
            <a:noFill/>
            <a:prstDash val="solid"/>
          </a:ln>
        </p:spPr>
        <p:txBody>
          <a:bodyPr wrap="square" lIns="0" tIns="0" rIns="0" bIns="0" anchor="t"/>
          <a:lstStyle/>
          <a:p>
            <a:pPr marL="0" indent="0" algn="ctr">
              <a:buNone/>
              <a:defRPr sz="915" b="1">
                <a:solidFill>
                  <a:srgbClr val="268A4B"/>
                </a:solidFill>
                <a:latin typeface="Calibri"/>
                <a:ea typeface="Calibri"/>
                <a:cs typeface="Calibri"/>
              </a:defRPr>
            </a:pPr>
            <a:r>
              <a:rPr sz="1050" b="1">
                <a:latin typeface="Calibri"/>
                <a:ea typeface="Calibri"/>
                <a:cs typeface="Calibri"/>
              </a:rPr>
              <a:t>A late train can still be FEASIBLE.</a:t>
            </a:r>
            <a:endParaRPr sz="1000"/>
          </a:p>
          <a:p>
            <a:pPr marL="0" indent="0" algn="ctr">
              <a:buNone/>
              <a:defRPr sz="915" b="1">
                <a:solidFill>
                  <a:srgbClr val="268A4B"/>
                </a:solidFill>
                <a:latin typeface="Calibri"/>
                <a:ea typeface="Calibri"/>
                <a:cs typeface="Calibri"/>
              </a:defRPr>
            </a:pPr>
            <a:r>
              <a:rPr sz="1050" b="1">
                <a:latin typeface="Calibri"/>
                <a:ea typeface="Calibri"/>
                <a:cs typeface="Calibri"/>
              </a:rPr>
              <a:t>A safety or physical conflict cannot.</a:t>
            </a:r>
            <a:endParaRPr sz="1000"/>
          </a:p>
        </p:txBody>
      </p:sp>
      <p:sp>
        <p:nvSpPr>
          <p:cNvPr id="31" name="Shape 29">
            <a:extLst>
              <a:ext uri="{FF2B5EF4-FFF2-40B4-BE49-F238E27FC236}">
                <a16:creationId xmlns:a16="http://schemas.microsoft.com/office/drawing/2014/main" id="{0E4A58A9-694B-4F04-9FAC-26E2F5691AD4}"/>
              </a:ext>
            </a:extLst>
          </p:cNvPr>
          <p:cNvSpPr>
            <a:spLocks noGrp="1"/>
          </p:cNvSpPr>
          <p:nvPr/>
        </p:nvSpPr>
        <p:spPr>
          <a:xfrm>
            <a:off x="8458200" y="1428750"/>
            <a:ext cx="3200400" cy="2133600"/>
          </a:xfrm>
          <a:prstGeom prst="roundRect">
            <a:avLst>
              <a:gd name="adj" fmla="val 4464"/>
            </a:avLst>
          </a:prstGeom>
          <a:noFill/>
          <a:ln w="14288">
            <a:solidFill>
              <a:srgbClr val="E97719"/>
            </a:solidFill>
            <a:prstDash val="solid"/>
          </a:ln>
        </p:spPr>
        <p:txBody>
          <a:bodyPr/>
          <a:lstStyle/>
          <a:p>
            <a:endParaRPr/>
          </a:p>
        </p:txBody>
      </p:sp>
      <p:sp>
        <p:nvSpPr>
          <p:cNvPr id="32" name="Text 30">
            <a:extLst>
              <a:ext uri="{FF2B5EF4-FFF2-40B4-BE49-F238E27FC236}">
                <a16:creationId xmlns:a16="http://schemas.microsoft.com/office/drawing/2014/main" id="{2D30E57B-DB25-46D6-83AF-8EDE02D8833B}"/>
              </a:ext>
            </a:extLst>
          </p:cNvPr>
          <p:cNvSpPr>
            <a:spLocks noGrp="1"/>
          </p:cNvSpPr>
          <p:nvPr/>
        </p:nvSpPr>
        <p:spPr>
          <a:xfrm>
            <a:off x="8629650" y="1562100"/>
            <a:ext cx="2857500" cy="266700"/>
          </a:xfrm>
          <a:prstGeom prst="rect">
            <a:avLst/>
          </a:prstGeom>
          <a:noFill/>
          <a:ln w="0">
            <a:noFill/>
            <a:prstDash val="solid"/>
          </a:ln>
        </p:spPr>
        <p:txBody>
          <a:bodyPr wrap="square" lIns="0" tIns="0" rIns="0" bIns="0" anchor="t"/>
          <a:lstStyle/>
          <a:p>
            <a:pPr marL="0" indent="0" algn="ctr">
              <a:buNone/>
              <a:defRPr sz="1088" b="1">
                <a:solidFill>
                  <a:srgbClr val="E97719"/>
                </a:solidFill>
                <a:latin typeface="Calibri"/>
                <a:ea typeface="Calibri"/>
                <a:cs typeface="Calibri"/>
              </a:defRPr>
            </a:pPr>
            <a:r>
              <a:rPr sz="1200" b="1" dirty="0">
                <a:latin typeface="Calibri"/>
                <a:ea typeface="Calibri"/>
                <a:cs typeface="Calibri"/>
              </a:rPr>
              <a:t>SOLUTION / EVALUATION FRAMEWORK</a:t>
            </a:r>
            <a:endParaRPr sz="3600" dirty="0"/>
          </a:p>
        </p:txBody>
      </p:sp>
      <p:sp>
        <p:nvSpPr>
          <p:cNvPr id="33" name="Text 31">
            <a:extLst>
              <a:ext uri="{FF2B5EF4-FFF2-40B4-BE49-F238E27FC236}">
                <a16:creationId xmlns:a16="http://schemas.microsoft.com/office/drawing/2014/main" id="{E9DA3E05-14C1-4E3E-9D67-6406748D7995}"/>
              </a:ext>
            </a:extLst>
          </p:cNvPr>
          <p:cNvSpPr>
            <a:spLocks noGrp="1"/>
          </p:cNvSpPr>
          <p:nvPr/>
        </p:nvSpPr>
        <p:spPr>
          <a:xfrm>
            <a:off x="8686800" y="1914525"/>
            <a:ext cx="2743200" cy="1095375"/>
          </a:xfrm>
          <a:prstGeom prst="rect">
            <a:avLst/>
          </a:prstGeom>
          <a:noFill/>
          <a:ln w="0">
            <a:noFill/>
            <a:prstDash val="solid"/>
          </a:ln>
        </p:spPr>
        <p:txBody>
          <a:bodyPr wrap="square" lIns="0" tIns="0" rIns="0" bIns="0" anchor="t"/>
          <a:lstStyle/>
          <a:p>
            <a:pPr marL="0" indent="0" algn="ctr">
              <a:buNone/>
              <a:defRPr sz="938" b="1">
                <a:solidFill>
                  <a:srgbClr val="16232E"/>
                </a:solidFill>
                <a:latin typeface="Calibri"/>
                <a:ea typeface="Calibri"/>
                <a:cs typeface="Calibri"/>
              </a:defRPr>
            </a:pPr>
            <a:r>
              <a:rPr sz="1050" b="1">
                <a:latin typeface="Calibri"/>
                <a:ea typeface="Calibri"/>
                <a:cs typeface="Calibri"/>
              </a:rPr>
              <a:t>Candidate schedule</a:t>
            </a:r>
            <a:endParaRPr sz="1100"/>
          </a:p>
          <a:p>
            <a:pPr marL="0" indent="0" algn="ctr">
              <a:buNone/>
              <a:defRPr sz="938" b="1">
                <a:solidFill>
                  <a:srgbClr val="16232E"/>
                </a:solidFill>
                <a:latin typeface="Calibri"/>
                <a:ea typeface="Calibri"/>
                <a:cs typeface="Calibri"/>
              </a:defRPr>
            </a:pPr>
            <a:r>
              <a:rPr sz="1050" b="1">
                <a:latin typeface="Calibri"/>
                <a:ea typeface="Calibri"/>
                <a:cs typeface="Calibri"/>
              </a:rPr>
              <a:t>↓</a:t>
            </a:r>
            <a:endParaRPr sz="1100"/>
          </a:p>
          <a:p>
            <a:pPr marL="0" indent="0" algn="ctr">
              <a:buNone/>
              <a:defRPr sz="938" b="1">
                <a:solidFill>
                  <a:srgbClr val="16232E"/>
                </a:solidFill>
                <a:latin typeface="Calibri"/>
                <a:ea typeface="Calibri"/>
                <a:cs typeface="Calibri"/>
              </a:defRPr>
            </a:pPr>
            <a:r>
              <a:rPr sz="1050" b="1">
                <a:latin typeface="Calibri"/>
                <a:ea typeface="Calibri"/>
                <a:cs typeface="Calibri"/>
              </a:rPr>
              <a:t>Independent validator</a:t>
            </a:r>
            <a:endParaRPr sz="1100"/>
          </a:p>
          <a:p>
            <a:pPr marL="0" indent="0" algn="ctr">
              <a:buNone/>
              <a:defRPr sz="938" b="1">
                <a:solidFill>
                  <a:srgbClr val="16232E"/>
                </a:solidFill>
                <a:latin typeface="Calibri"/>
                <a:ea typeface="Calibri"/>
                <a:cs typeface="Calibri"/>
              </a:defRPr>
            </a:pPr>
            <a:r>
              <a:rPr sz="1050" b="1">
                <a:latin typeface="Calibri"/>
                <a:ea typeface="Calibri"/>
                <a:cs typeface="Calibri"/>
              </a:rPr>
              <a:t>↓</a:t>
            </a:r>
            <a:endParaRPr sz="1100"/>
          </a:p>
          <a:p>
            <a:pPr marL="0" indent="0" algn="ctr">
              <a:buNone/>
              <a:defRPr sz="938" b="1">
                <a:solidFill>
                  <a:srgbClr val="16232E"/>
                </a:solidFill>
                <a:latin typeface="Calibri"/>
                <a:ea typeface="Calibri"/>
                <a:cs typeface="Calibri"/>
              </a:defRPr>
            </a:pPr>
            <a:r>
              <a:rPr sz="1050" b="1">
                <a:latin typeface="Calibri"/>
                <a:ea typeface="Calibri"/>
                <a:cs typeface="Calibri"/>
              </a:rPr>
              <a:t>Feasible?</a:t>
            </a:r>
            <a:endParaRPr sz="1100"/>
          </a:p>
          <a:p>
            <a:pPr marL="0" indent="0" algn="ctr">
              <a:buNone/>
              <a:defRPr sz="938" b="1">
                <a:solidFill>
                  <a:srgbClr val="16232E"/>
                </a:solidFill>
                <a:latin typeface="Calibri"/>
                <a:ea typeface="Calibri"/>
                <a:cs typeface="Calibri"/>
              </a:defRPr>
            </a:pPr>
            <a:r>
              <a:rPr sz="1050" b="1">
                <a:latin typeface="Calibri"/>
                <a:ea typeface="Calibri"/>
                <a:cs typeface="Calibri"/>
              </a:rPr>
              <a:t>NO → Reject      YES → Compute objective</a:t>
            </a:r>
            <a:endParaRPr sz="1100"/>
          </a:p>
        </p:txBody>
      </p:sp>
      <p:sp>
        <p:nvSpPr>
          <p:cNvPr id="34" name="Text 32">
            <a:extLst>
              <a:ext uri="{FF2B5EF4-FFF2-40B4-BE49-F238E27FC236}">
                <a16:creationId xmlns:a16="http://schemas.microsoft.com/office/drawing/2014/main" id="{9E351FE6-F123-49A3-A376-B49C00EDD131}"/>
              </a:ext>
            </a:extLst>
          </p:cNvPr>
          <p:cNvSpPr>
            <a:spLocks noGrp="1"/>
          </p:cNvSpPr>
          <p:nvPr/>
        </p:nvSpPr>
        <p:spPr>
          <a:xfrm>
            <a:off x="8667750" y="3143250"/>
            <a:ext cx="2781300" cy="266700"/>
          </a:xfrm>
          <a:prstGeom prst="rect">
            <a:avLst/>
          </a:prstGeom>
          <a:noFill/>
          <a:ln w="0">
            <a:noFill/>
            <a:prstDash val="solid"/>
          </a:ln>
        </p:spPr>
        <p:txBody>
          <a:bodyPr wrap="square" lIns="0" tIns="0" rIns="0" bIns="0" anchor="t"/>
          <a:lstStyle/>
          <a:p>
            <a:pPr marL="0" indent="0" algn="ctr">
              <a:buNone/>
              <a:defRPr sz="855" b="1">
                <a:solidFill>
                  <a:srgbClr val="E97719"/>
                </a:solidFill>
                <a:latin typeface="Calibri"/>
                <a:ea typeface="Calibri"/>
                <a:cs typeface="Calibri"/>
              </a:defRPr>
            </a:pPr>
            <a:r>
              <a:rPr sz="1000" b="1" i="1">
                <a:latin typeface="Calibri"/>
                <a:ea typeface="Calibri"/>
                <a:cs typeface="Calibri"/>
              </a:rPr>
              <a:t>PROPOSED COMPETITION FRAMEWORK</a:t>
            </a:r>
            <a:endParaRPr sz="1050"/>
          </a:p>
        </p:txBody>
      </p:sp>
      <p:sp>
        <p:nvSpPr>
          <p:cNvPr id="35" name="Text 33">
            <a:extLst>
              <a:ext uri="{FF2B5EF4-FFF2-40B4-BE49-F238E27FC236}">
                <a16:creationId xmlns:a16="http://schemas.microsoft.com/office/drawing/2014/main" id="{3495C039-0917-47C5-85A0-6BAAE5037AB7}"/>
              </a:ext>
            </a:extLst>
          </p:cNvPr>
          <p:cNvSpPr>
            <a:spLocks noGrp="1"/>
          </p:cNvSpPr>
          <p:nvPr/>
        </p:nvSpPr>
        <p:spPr>
          <a:xfrm>
            <a:off x="5619750" y="3714750"/>
            <a:ext cx="6038850" cy="676275"/>
          </a:xfrm>
          <a:prstGeom prst="rect">
            <a:avLst/>
          </a:prstGeom>
          <a:noFill/>
          <a:ln w="0">
            <a:noFill/>
            <a:prstDash val="solid"/>
          </a:ln>
        </p:spPr>
        <p:txBody>
          <a:bodyPr wrap="square" lIns="0" tIns="0" rIns="0" bIns="0" anchor="ctr"/>
          <a:lstStyle/>
          <a:p>
            <a:pPr marL="0" indent="0" algn="l">
              <a:buNone/>
              <a:defRPr sz="915">
                <a:solidFill>
                  <a:srgbClr val="16232E"/>
                </a:solidFill>
                <a:latin typeface="Calibri"/>
                <a:ea typeface="Calibri"/>
                <a:cs typeface="Calibri"/>
              </a:defRPr>
            </a:pPr>
            <a:r>
              <a:rPr sz="1050">
                <a:latin typeface="Calibri"/>
                <a:ea typeface="Calibri"/>
                <a:cs typeface="Calibri"/>
              </a:rPr>
              <a:t>Proposed modern evaluation:  1  feasibility validator — Pass/Fail     2  objective among feasible schedules     3  runtime/scalability     4  method explanation/reproducibility</a:t>
            </a:r>
            <a:endParaRPr sz="1050"/>
          </a:p>
        </p:txBody>
      </p:sp>
      <p:sp>
        <p:nvSpPr>
          <p:cNvPr id="36" name="Shape 34">
            <a:extLst>
              <a:ext uri="{FF2B5EF4-FFF2-40B4-BE49-F238E27FC236}">
                <a16:creationId xmlns:a16="http://schemas.microsoft.com/office/drawing/2014/main" id="{005DD116-C34E-4305-B1DD-FF4633C5716E}"/>
              </a:ext>
            </a:extLst>
          </p:cNvPr>
          <p:cNvSpPr>
            <a:spLocks noGrp="1"/>
          </p:cNvSpPr>
          <p:nvPr/>
        </p:nvSpPr>
        <p:spPr>
          <a:xfrm>
            <a:off x="502920" y="4629150"/>
            <a:ext cx="11155680" cy="1600200"/>
          </a:xfrm>
          <a:prstGeom prst="roundRect">
            <a:avLst>
              <a:gd name="adj" fmla="val 5952"/>
            </a:avLst>
          </a:prstGeom>
          <a:noFill/>
          <a:ln w="12859">
            <a:solidFill>
              <a:srgbClr val="163A70"/>
            </a:solidFill>
            <a:prstDash val="solid"/>
          </a:ln>
        </p:spPr>
        <p:txBody>
          <a:bodyPr/>
          <a:lstStyle/>
          <a:p>
            <a:endParaRPr/>
          </a:p>
        </p:txBody>
      </p:sp>
      <p:sp>
        <p:nvSpPr>
          <p:cNvPr id="37" name="Text 35">
            <a:extLst>
              <a:ext uri="{FF2B5EF4-FFF2-40B4-BE49-F238E27FC236}">
                <a16:creationId xmlns:a16="http://schemas.microsoft.com/office/drawing/2014/main" id="{78E9092F-B448-4B9D-BC3F-9D984BBAA474}"/>
              </a:ext>
            </a:extLst>
          </p:cNvPr>
          <p:cNvSpPr>
            <a:spLocks noGrp="1"/>
          </p:cNvSpPr>
          <p:nvPr/>
        </p:nvSpPr>
        <p:spPr>
          <a:xfrm>
            <a:off x="742950" y="4762500"/>
            <a:ext cx="3429000" cy="257175"/>
          </a:xfrm>
          <a:prstGeom prst="rect">
            <a:avLst/>
          </a:prstGeom>
          <a:noFill/>
          <a:ln w="0">
            <a:noFill/>
            <a:prstDash val="solid"/>
          </a:ln>
        </p:spPr>
        <p:txBody>
          <a:bodyPr wrap="square" lIns="0" tIns="0" rIns="0" bIns="0" anchor="t"/>
          <a:lstStyle/>
          <a:p>
            <a:pPr marL="0" indent="0" algn="l">
              <a:buNone/>
              <a:defRPr sz="1125" b="1">
                <a:solidFill>
                  <a:srgbClr val="163A70"/>
                </a:solidFill>
                <a:latin typeface="Calibri"/>
                <a:ea typeface="Calibri"/>
                <a:cs typeface="Calibri"/>
              </a:defRPr>
            </a:pPr>
            <a:r>
              <a:rPr sz="1100" b="1">
                <a:latin typeface="Calibri"/>
                <a:ea typeface="Calibri"/>
                <a:cs typeface="Calibri"/>
              </a:rPr>
              <a:t>ANY VALID SOLUTION METHOD</a:t>
            </a:r>
            <a:endParaRPr sz="1100"/>
          </a:p>
        </p:txBody>
      </p:sp>
      <p:sp>
        <p:nvSpPr>
          <p:cNvPr id="38" name="Text 36">
            <a:extLst>
              <a:ext uri="{FF2B5EF4-FFF2-40B4-BE49-F238E27FC236}">
                <a16:creationId xmlns:a16="http://schemas.microsoft.com/office/drawing/2014/main" id="{B7AF7649-64DB-4206-8C02-13253D27B4EA}"/>
              </a:ext>
            </a:extLst>
          </p:cNvPr>
          <p:cNvSpPr>
            <a:spLocks noGrp="1"/>
          </p:cNvSpPr>
          <p:nvPr/>
        </p:nvSpPr>
        <p:spPr>
          <a:xfrm>
            <a:off x="762000" y="5124450"/>
            <a:ext cx="2000250" cy="466725"/>
          </a:xfrm>
          <a:prstGeom prst="rect">
            <a:avLst/>
          </a:prstGeom>
          <a:noFill/>
          <a:ln w="0">
            <a:noFill/>
            <a:prstDash val="solid"/>
          </a:ln>
        </p:spPr>
        <p:txBody>
          <a:bodyPr wrap="square" lIns="0" tIns="0" rIns="0" bIns="0" anchor="t"/>
          <a:lstStyle/>
          <a:p>
            <a:pPr marL="0" indent="0" algn="l">
              <a:buNone/>
              <a:defRPr sz="975" b="1">
                <a:solidFill>
                  <a:srgbClr val="2A64C5"/>
                </a:solidFill>
                <a:latin typeface="Calibri"/>
                <a:ea typeface="Calibri"/>
                <a:cs typeface="Calibri"/>
              </a:defRPr>
            </a:pPr>
            <a:r>
              <a:rPr sz="1100" b="1" dirty="0">
                <a:latin typeface="Calibri"/>
                <a:ea typeface="Calibri"/>
                <a:cs typeface="Calibri"/>
              </a:rPr>
              <a:t>Priority-based</a:t>
            </a:r>
            <a:endParaRPr sz="1000" dirty="0"/>
          </a:p>
          <a:p>
            <a:pPr marL="0" indent="0" algn="l">
              <a:buNone/>
              <a:defRPr sz="975" b="1">
                <a:solidFill>
                  <a:srgbClr val="2A64C5"/>
                </a:solidFill>
                <a:latin typeface="Calibri"/>
                <a:ea typeface="Calibri"/>
                <a:cs typeface="Calibri"/>
              </a:defRPr>
            </a:pPr>
            <a:r>
              <a:rPr sz="1100" b="1" dirty="0">
                <a:latin typeface="Calibri"/>
                <a:ea typeface="Calibri"/>
                <a:cs typeface="Calibri"/>
              </a:rPr>
              <a:t>event simulation</a:t>
            </a:r>
            <a:endParaRPr sz="1000" dirty="0"/>
          </a:p>
        </p:txBody>
      </p:sp>
      <p:sp>
        <p:nvSpPr>
          <p:cNvPr id="39" name="Text 37">
            <a:extLst>
              <a:ext uri="{FF2B5EF4-FFF2-40B4-BE49-F238E27FC236}">
                <a16:creationId xmlns:a16="http://schemas.microsoft.com/office/drawing/2014/main" id="{1A3142A2-FBA7-408A-B776-85BB80C1D943}"/>
              </a:ext>
            </a:extLst>
          </p:cNvPr>
          <p:cNvSpPr>
            <a:spLocks noGrp="1"/>
          </p:cNvSpPr>
          <p:nvPr/>
        </p:nvSpPr>
        <p:spPr>
          <a:xfrm>
            <a:off x="762000" y="5743575"/>
            <a:ext cx="5305425" cy="295275"/>
          </a:xfrm>
          <a:prstGeom prst="rect">
            <a:avLst/>
          </a:prstGeom>
          <a:noFill/>
          <a:ln w="0">
            <a:noFill/>
            <a:prstDash val="solid"/>
          </a:ln>
        </p:spPr>
        <p:txBody>
          <a:bodyPr wrap="square" lIns="0" tIns="0" rIns="0" bIns="0" anchor="t"/>
          <a:lstStyle/>
          <a:p>
            <a:pPr marL="0" indent="0" algn="l">
              <a:buNone/>
              <a:defRPr sz="990" b="1">
                <a:solidFill>
                  <a:srgbClr val="16232E"/>
                </a:solidFill>
                <a:latin typeface="Calibri"/>
                <a:ea typeface="Calibri"/>
                <a:cs typeface="Calibri"/>
              </a:defRPr>
            </a:pPr>
            <a:r>
              <a:rPr sz="900" b="1" dirty="0">
                <a:latin typeface="Calibri"/>
                <a:ea typeface="Calibri"/>
                <a:cs typeface="Calibri"/>
              </a:rPr>
              <a:t>Solver choice is secondary. Producing a valid movement plan is primary.</a:t>
            </a:r>
            <a:endParaRPr sz="900" dirty="0"/>
          </a:p>
        </p:txBody>
      </p:sp>
      <p:sp>
        <p:nvSpPr>
          <p:cNvPr id="40" name="Text 38">
            <a:extLst>
              <a:ext uri="{FF2B5EF4-FFF2-40B4-BE49-F238E27FC236}">
                <a16:creationId xmlns:a16="http://schemas.microsoft.com/office/drawing/2014/main" id="{35E9F634-7632-44C2-8B4A-369C04882231}"/>
              </a:ext>
            </a:extLst>
          </p:cNvPr>
          <p:cNvSpPr>
            <a:spLocks noGrp="1"/>
          </p:cNvSpPr>
          <p:nvPr/>
        </p:nvSpPr>
        <p:spPr>
          <a:xfrm>
            <a:off x="2914650" y="5124450"/>
            <a:ext cx="2190750" cy="466725"/>
          </a:xfrm>
          <a:prstGeom prst="rect">
            <a:avLst/>
          </a:prstGeom>
          <a:noFill/>
          <a:ln w="0">
            <a:noFill/>
            <a:prstDash val="solid"/>
          </a:ln>
        </p:spPr>
        <p:txBody>
          <a:bodyPr wrap="square" lIns="0" tIns="0" rIns="0" bIns="0" anchor="t"/>
          <a:lstStyle/>
          <a:p>
            <a:pPr marL="0" indent="0" algn="l">
              <a:buNone/>
              <a:defRPr sz="975" b="1">
                <a:solidFill>
                  <a:srgbClr val="268A4B"/>
                </a:solidFill>
                <a:latin typeface="Calibri"/>
                <a:ea typeface="Calibri"/>
                <a:cs typeface="Calibri"/>
              </a:defRPr>
            </a:pPr>
            <a:r>
              <a:rPr sz="1100" b="1">
                <a:latin typeface="Calibri"/>
                <a:ea typeface="Calibri"/>
                <a:cs typeface="Calibri"/>
              </a:rPr>
              <a:t>Space-time shortest path</a:t>
            </a:r>
            <a:endParaRPr sz="1000"/>
          </a:p>
          <a:p>
            <a:pPr marL="0" indent="0" algn="l">
              <a:buNone/>
              <a:defRPr sz="975" b="1">
                <a:solidFill>
                  <a:srgbClr val="268A4B"/>
                </a:solidFill>
                <a:latin typeface="Calibri"/>
                <a:ea typeface="Calibri"/>
                <a:cs typeface="Calibri"/>
              </a:defRPr>
            </a:pPr>
            <a:r>
              <a:rPr sz="1100" b="1">
                <a:latin typeface="Calibri"/>
                <a:ea typeface="Calibri"/>
                <a:cs typeface="Calibri"/>
              </a:rPr>
              <a:t>/ dynamic programming</a:t>
            </a:r>
            <a:endParaRPr sz="1000"/>
          </a:p>
        </p:txBody>
      </p:sp>
      <p:sp>
        <p:nvSpPr>
          <p:cNvPr id="41" name="Text 39">
            <a:extLst>
              <a:ext uri="{FF2B5EF4-FFF2-40B4-BE49-F238E27FC236}">
                <a16:creationId xmlns:a16="http://schemas.microsoft.com/office/drawing/2014/main" id="{52086097-D87C-4E86-A780-045962F52803}"/>
              </a:ext>
            </a:extLst>
          </p:cNvPr>
          <p:cNvSpPr>
            <a:spLocks noGrp="1"/>
          </p:cNvSpPr>
          <p:nvPr/>
        </p:nvSpPr>
        <p:spPr>
          <a:xfrm>
            <a:off x="6305550" y="5715000"/>
            <a:ext cx="4991100" cy="323850"/>
          </a:xfrm>
          <a:prstGeom prst="rect">
            <a:avLst/>
          </a:prstGeom>
          <a:noFill/>
          <a:ln w="0">
            <a:noFill/>
            <a:prstDash val="solid"/>
          </a:ln>
        </p:spPr>
        <p:txBody>
          <a:bodyPr wrap="square" lIns="0" tIns="0" rIns="0" bIns="0" anchor="t"/>
          <a:lstStyle/>
          <a:p>
            <a:pPr marL="0" indent="0" algn="r">
              <a:buNone/>
              <a:defRPr sz="1238" b="1">
                <a:solidFill>
                  <a:srgbClr val="268A4B"/>
                </a:solidFill>
                <a:latin typeface="Calibri"/>
                <a:ea typeface="Calibri"/>
                <a:cs typeface="Calibri"/>
              </a:defRPr>
            </a:pPr>
            <a:r>
              <a:rPr sz="1200" b="1">
                <a:latin typeface="Calibri"/>
                <a:ea typeface="Calibri"/>
                <a:cs typeface="Calibri"/>
              </a:rPr>
              <a:t>FEASIBILITY FIRST  →  PERFORMANCE SECOND</a:t>
            </a:r>
            <a:endParaRPr sz="900"/>
          </a:p>
        </p:txBody>
      </p:sp>
      <p:sp>
        <p:nvSpPr>
          <p:cNvPr id="42" name="Text 40">
            <a:extLst>
              <a:ext uri="{FF2B5EF4-FFF2-40B4-BE49-F238E27FC236}">
                <a16:creationId xmlns:a16="http://schemas.microsoft.com/office/drawing/2014/main" id="{D2F6CB38-F582-4085-9B9D-D7810B57DF9A}"/>
              </a:ext>
            </a:extLst>
          </p:cNvPr>
          <p:cNvSpPr>
            <a:spLocks noGrp="1"/>
          </p:cNvSpPr>
          <p:nvPr/>
        </p:nvSpPr>
        <p:spPr>
          <a:xfrm>
            <a:off x="5276850" y="5124450"/>
            <a:ext cx="1619250" cy="466725"/>
          </a:xfrm>
          <a:prstGeom prst="rect">
            <a:avLst/>
          </a:prstGeom>
          <a:noFill/>
          <a:ln w="0">
            <a:noFill/>
            <a:prstDash val="solid"/>
          </a:ln>
        </p:spPr>
        <p:txBody>
          <a:bodyPr wrap="square" lIns="0" tIns="0" rIns="0" bIns="0" anchor="t"/>
          <a:lstStyle/>
          <a:p>
            <a:pPr marL="0" indent="0" algn="l">
              <a:buNone/>
              <a:defRPr sz="975" b="1">
                <a:solidFill>
                  <a:srgbClr val="E97719"/>
                </a:solidFill>
                <a:latin typeface="Calibri"/>
                <a:ea typeface="Calibri"/>
                <a:cs typeface="Calibri"/>
              </a:defRPr>
            </a:pPr>
            <a:r>
              <a:rPr sz="1100" b="1">
                <a:latin typeface="Calibri"/>
                <a:ea typeface="Calibri"/>
                <a:cs typeface="Calibri"/>
              </a:rPr>
              <a:t>MILP / CPLEX</a:t>
            </a:r>
            <a:endParaRPr sz="1000"/>
          </a:p>
          <a:p>
            <a:pPr marL="0" indent="0" algn="l">
              <a:buNone/>
              <a:defRPr sz="975" b="1">
                <a:solidFill>
                  <a:srgbClr val="E97719"/>
                </a:solidFill>
                <a:latin typeface="Calibri"/>
                <a:ea typeface="Calibri"/>
                <a:cs typeface="Calibri"/>
              </a:defRPr>
            </a:pPr>
            <a:r>
              <a:rPr sz="1100" b="1">
                <a:latin typeface="Calibri"/>
                <a:ea typeface="Calibri"/>
                <a:cs typeface="Calibri"/>
              </a:rPr>
              <a:t>CP-SAT</a:t>
            </a:r>
            <a:endParaRPr sz="1000"/>
          </a:p>
        </p:txBody>
      </p:sp>
      <p:sp>
        <p:nvSpPr>
          <p:cNvPr id="44" name="Text 42">
            <a:extLst>
              <a:ext uri="{FF2B5EF4-FFF2-40B4-BE49-F238E27FC236}">
                <a16:creationId xmlns:a16="http://schemas.microsoft.com/office/drawing/2014/main" id="{6DC04AC3-3B0D-4F37-9D76-0EE89182D6C7}"/>
              </a:ext>
            </a:extLst>
          </p:cNvPr>
          <p:cNvSpPr>
            <a:spLocks noGrp="1"/>
          </p:cNvSpPr>
          <p:nvPr/>
        </p:nvSpPr>
        <p:spPr>
          <a:xfrm>
            <a:off x="7124700" y="5124450"/>
            <a:ext cx="4171950" cy="466725"/>
          </a:xfrm>
          <a:prstGeom prst="rect">
            <a:avLst/>
          </a:prstGeom>
          <a:noFill/>
          <a:ln w="0">
            <a:noFill/>
            <a:prstDash val="solid"/>
          </a:ln>
        </p:spPr>
        <p:txBody>
          <a:bodyPr wrap="square" lIns="0" tIns="0" rIns="0" bIns="0" anchor="t"/>
          <a:lstStyle/>
          <a:p>
            <a:pPr marL="0" indent="0" algn="l">
              <a:buNone/>
              <a:defRPr sz="975" b="1">
                <a:solidFill>
                  <a:srgbClr val="7A3EB1"/>
                </a:solidFill>
                <a:latin typeface="Calibri"/>
                <a:ea typeface="Calibri"/>
                <a:cs typeface="Calibri"/>
              </a:defRPr>
            </a:pPr>
            <a:r>
              <a:rPr sz="1100" b="1">
                <a:latin typeface="Calibri"/>
                <a:ea typeface="Calibri"/>
                <a:cs typeface="Calibri"/>
              </a:rPr>
              <a:t>Lagrangian relaxation  •  Branch-and-price</a:t>
            </a:r>
            <a:endParaRPr sz="1000"/>
          </a:p>
          <a:p>
            <a:pPr marL="0" indent="0" algn="l">
              <a:buNone/>
              <a:defRPr sz="975" b="1">
                <a:solidFill>
                  <a:srgbClr val="7A3EB1"/>
                </a:solidFill>
                <a:latin typeface="Calibri"/>
                <a:ea typeface="Calibri"/>
                <a:cs typeface="Calibri"/>
              </a:defRPr>
            </a:pPr>
            <a:r>
              <a:rPr sz="1100" b="1">
                <a:latin typeface="Calibri"/>
                <a:ea typeface="Calibri"/>
                <a:cs typeface="Calibri"/>
              </a:rPr>
              <a:t>Large-neighborhood / hybrid search</a:t>
            </a:r>
            <a:endParaRPr sz="1000"/>
          </a:p>
        </p:txBody>
      </p:sp>
    </p:spTree>
    <p:extLst>
      <p:ext uri="{BB962C8B-B14F-4D97-AF65-F5344CB8AC3E}">
        <p14:creationId xmlns:p14="http://schemas.microsoft.com/office/powerpoint/2010/main" val="1098386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E26F89-FD51-4B61-8D35-0F5654199492}"/>
              </a:ext>
            </a:extLst>
          </p:cNvPr>
          <p:cNvSpPr>
            <a:spLocks noGrp="1"/>
          </p:cNvSpPr>
          <p:nvPr/>
        </p:nvSpPr>
        <p:spPr>
          <a:xfrm>
            <a:off x="502920" y="310896"/>
            <a:ext cx="11155680" cy="566928"/>
          </a:xfrm>
          <a:prstGeom prst="rect">
            <a:avLst/>
          </a:prstGeom>
          <a:noFill/>
        </p:spPr>
        <p:txBody>
          <a:bodyPr wrap="square" lIns="0" tIns="0" rIns="0" bIns="0" anchor="ctr"/>
          <a:lstStyle/>
          <a:p>
            <a:pPr marL="0" indent="0">
              <a:buNone/>
            </a:pPr>
            <a:r>
              <a:rPr sz="3200" b="1">
                <a:solidFill>
                  <a:srgbClr val="16232E"/>
                </a:solidFill>
                <a:latin typeface="Cambria"/>
                <a:ea typeface="Cambria"/>
                <a:cs typeface="Cambria"/>
              </a:rPr>
              <a:t>Refine 1</a:t>
            </a:r>
            <a:endParaRPr sz="3200"/>
          </a:p>
        </p:txBody>
      </p:sp>
      <p:sp>
        <p:nvSpPr>
          <p:cNvPr id="3" name="Text 1">
            <a:extLst>
              <a:ext uri="{FF2B5EF4-FFF2-40B4-BE49-F238E27FC236}">
                <a16:creationId xmlns:a16="http://schemas.microsoft.com/office/drawing/2014/main" id="{42707DCF-8FEB-4459-9759-8AF295A95CB0}"/>
              </a:ext>
            </a:extLst>
          </p:cNvPr>
          <p:cNvSpPr>
            <a:spLocks noGrp="1"/>
          </p:cNvSpPr>
          <p:nvPr/>
        </p:nvSpPr>
        <p:spPr>
          <a:xfrm>
            <a:off x="502920" y="914400"/>
            <a:ext cx="11155680" cy="310896"/>
          </a:xfrm>
          <a:prstGeom prst="rect">
            <a:avLst/>
          </a:prstGeom>
          <a:noFill/>
        </p:spPr>
        <p:txBody>
          <a:bodyPr wrap="square" lIns="0" tIns="0" rIns="0" bIns="0" anchor="ctr"/>
          <a:lstStyle/>
          <a:p>
            <a:pPr marL="0" indent="0">
              <a:buNone/>
            </a:pPr>
            <a:r>
              <a:rPr sz="1400">
                <a:solidFill>
                  <a:srgbClr val="6B7C8A"/>
                </a:solidFill>
                <a:latin typeface="Calibri"/>
                <a:ea typeface="Calibri"/>
                <a:cs typeface="Calibri"/>
              </a:rPr>
              <a:t>An 18-waypoint polyline with a match radius reaching 89.9 km tagged 17,637 miles of track for a 2,200-mile railroad</a:t>
            </a:r>
            <a:endParaRPr sz="1400"/>
          </a:p>
        </p:txBody>
      </p:sp>
      <p:sp>
        <p:nvSpPr>
          <p:cNvPr id="4" name="Text 2">
            <a:extLst>
              <a:ext uri="{FF2B5EF4-FFF2-40B4-BE49-F238E27FC236}">
                <a16:creationId xmlns:a16="http://schemas.microsoft.com/office/drawing/2014/main" id="{27BFDBE7-CA45-4F59-A963-8A0E84F194A4}"/>
              </a:ext>
            </a:extLst>
          </p:cNvPr>
          <p:cNvSpPr>
            <a:spLocks noGrp="1"/>
          </p:cNvSpPr>
          <p:nvPr/>
        </p:nvSpPr>
        <p:spPr>
          <a:xfrm>
            <a:off x="502920" y="1417320"/>
            <a:ext cx="5120640" cy="274320"/>
          </a:xfrm>
          <a:prstGeom prst="rect">
            <a:avLst/>
          </a:prstGeom>
          <a:noFill/>
        </p:spPr>
        <p:txBody>
          <a:bodyPr wrap="square" lIns="0" tIns="0" rIns="0" bIns="0" anchor="ctr"/>
          <a:lstStyle/>
          <a:p>
            <a:r>
              <a:rPr sz="1200" b="1">
                <a:solidFill>
                  <a:srgbClr val="B4552F"/>
                </a:solidFill>
                <a:latin typeface="Calibri"/>
                <a:ea typeface="Calibri"/>
                <a:cs typeface="Calibri"/>
              </a:rPr>
              <a:t>BEFORE  –  Every BNSF line within the radius </a:t>
            </a:r>
            <a:endParaRPr sz="1200"/>
          </a:p>
        </p:txBody>
      </p:sp>
      <p:sp>
        <p:nvSpPr>
          <p:cNvPr id="5" name="Shape 3">
            <a:extLst>
              <a:ext uri="{FF2B5EF4-FFF2-40B4-BE49-F238E27FC236}">
                <a16:creationId xmlns:a16="http://schemas.microsoft.com/office/drawing/2014/main" id="{D6DC24EE-C227-48DE-8F54-734F1724C061}"/>
              </a:ext>
            </a:extLst>
          </p:cNvPr>
          <p:cNvSpPr>
            <a:spLocks noGrp="1"/>
          </p:cNvSpPr>
          <p:nvPr/>
        </p:nvSpPr>
        <p:spPr>
          <a:xfrm>
            <a:off x="502920" y="1755648"/>
            <a:ext cx="5120640" cy="2788920"/>
          </a:xfrm>
          <a:prstGeom prst="roundRect">
            <a:avLst>
              <a:gd name="adj" fmla="val 1967"/>
            </a:avLst>
          </a:prstGeom>
          <a:noFill/>
          <a:ln w="12700">
            <a:solidFill>
              <a:srgbClr val="D6DEE5"/>
            </a:solidFill>
            <a:prstDash val="solid"/>
          </a:ln>
        </p:spPr>
        <p:txBody>
          <a:bodyPr/>
          <a:lstStyle/>
          <a:p>
            <a:endParaRPr/>
          </a:p>
        </p:txBody>
      </p:sp>
      <p:sp>
        <p:nvSpPr>
          <p:cNvPr id="6" name="Shape 4">
            <a:extLst>
              <a:ext uri="{FF2B5EF4-FFF2-40B4-BE49-F238E27FC236}">
                <a16:creationId xmlns:a16="http://schemas.microsoft.com/office/drawing/2014/main" id="{B9C1A0BB-38BD-45D0-A2D3-0740C55D50ED}"/>
              </a:ext>
            </a:extLst>
          </p:cNvPr>
          <p:cNvSpPr>
            <a:spLocks noGrp="1"/>
          </p:cNvSpPr>
          <p:nvPr/>
        </p:nvSpPr>
        <p:spPr>
          <a:xfrm>
            <a:off x="777240" y="2148840"/>
            <a:ext cx="4572000" cy="2011680"/>
          </a:xfrm>
          <a:prstGeom prst="roundRect">
            <a:avLst>
              <a:gd name="adj" fmla="val 15909"/>
            </a:avLst>
          </a:prstGeom>
          <a:solidFill>
            <a:srgbClr val="B4552F">
              <a:alpha val="18000"/>
            </a:srgbClr>
          </a:solidFill>
          <a:ln w="12700">
            <a:solidFill>
              <a:srgbClr val="B4552F"/>
            </a:solidFill>
            <a:prstDash val="dash"/>
          </a:ln>
        </p:spPr>
        <p:txBody>
          <a:bodyPr/>
          <a:lstStyle/>
          <a:p>
            <a:endParaRPr/>
          </a:p>
        </p:txBody>
      </p:sp>
      <p:sp>
        <p:nvSpPr>
          <p:cNvPr id="7" name="Shape 5">
            <a:extLst>
              <a:ext uri="{FF2B5EF4-FFF2-40B4-BE49-F238E27FC236}">
                <a16:creationId xmlns:a16="http://schemas.microsoft.com/office/drawing/2014/main" id="{66936A86-98AC-4A1C-97CA-D246209A2B82}"/>
              </a:ext>
            </a:extLst>
          </p:cNvPr>
          <p:cNvSpPr>
            <a:spLocks noGrp="1"/>
          </p:cNvSpPr>
          <p:nvPr/>
        </p:nvSpPr>
        <p:spPr>
          <a:xfrm>
            <a:off x="914400" y="2423160"/>
            <a:ext cx="4206240" cy="274320"/>
          </a:xfrm>
          <a:prstGeom prst="line">
            <a:avLst/>
          </a:prstGeom>
          <a:noFill/>
          <a:ln w="15875">
            <a:solidFill>
              <a:srgbClr val="31485C"/>
            </a:solidFill>
            <a:prstDash val="solid"/>
          </a:ln>
        </p:spPr>
        <p:txBody>
          <a:bodyPr/>
          <a:lstStyle/>
          <a:p>
            <a:endParaRPr/>
          </a:p>
        </p:txBody>
      </p:sp>
      <p:sp>
        <p:nvSpPr>
          <p:cNvPr id="8" name="Shape 6">
            <a:extLst>
              <a:ext uri="{FF2B5EF4-FFF2-40B4-BE49-F238E27FC236}">
                <a16:creationId xmlns:a16="http://schemas.microsoft.com/office/drawing/2014/main" id="{5C8BD21F-0D7F-4D44-BBA0-073580B98431}"/>
              </a:ext>
            </a:extLst>
          </p:cNvPr>
          <p:cNvSpPr>
            <a:spLocks noGrp="1"/>
          </p:cNvSpPr>
          <p:nvPr/>
        </p:nvSpPr>
        <p:spPr>
          <a:xfrm>
            <a:off x="1005840" y="2788920"/>
            <a:ext cx="4206240" cy="228600"/>
          </a:xfrm>
          <a:prstGeom prst="line">
            <a:avLst/>
          </a:prstGeom>
          <a:noFill/>
          <a:ln w="15875">
            <a:solidFill>
              <a:srgbClr val="31485C"/>
            </a:solidFill>
            <a:prstDash val="solid"/>
          </a:ln>
        </p:spPr>
        <p:txBody>
          <a:bodyPr/>
          <a:lstStyle/>
          <a:p>
            <a:endParaRPr/>
          </a:p>
        </p:txBody>
      </p:sp>
      <p:sp>
        <p:nvSpPr>
          <p:cNvPr id="9" name="Shape 7">
            <a:extLst>
              <a:ext uri="{FF2B5EF4-FFF2-40B4-BE49-F238E27FC236}">
                <a16:creationId xmlns:a16="http://schemas.microsoft.com/office/drawing/2014/main" id="{EB45F96D-A89E-4E5B-AF2E-CA1B90C32354}"/>
              </a:ext>
            </a:extLst>
          </p:cNvPr>
          <p:cNvSpPr>
            <a:spLocks noGrp="1"/>
          </p:cNvSpPr>
          <p:nvPr/>
        </p:nvSpPr>
        <p:spPr>
          <a:xfrm>
            <a:off x="914400" y="3154680"/>
            <a:ext cx="4343400" cy="0"/>
          </a:xfrm>
          <a:prstGeom prst="line">
            <a:avLst/>
          </a:prstGeom>
          <a:noFill/>
          <a:ln w="15875">
            <a:solidFill>
              <a:srgbClr val="31485C"/>
            </a:solidFill>
            <a:prstDash val="solid"/>
          </a:ln>
        </p:spPr>
        <p:txBody>
          <a:bodyPr/>
          <a:lstStyle/>
          <a:p>
            <a:endParaRPr/>
          </a:p>
        </p:txBody>
      </p:sp>
      <p:sp>
        <p:nvSpPr>
          <p:cNvPr id="10" name="Shape 8">
            <a:extLst>
              <a:ext uri="{FF2B5EF4-FFF2-40B4-BE49-F238E27FC236}">
                <a16:creationId xmlns:a16="http://schemas.microsoft.com/office/drawing/2014/main" id="{16D8FAEB-56DA-499C-9398-D12F7975BB99}"/>
              </a:ext>
            </a:extLst>
          </p:cNvPr>
          <p:cNvSpPr>
            <a:spLocks noGrp="1"/>
          </p:cNvSpPr>
          <p:nvPr/>
        </p:nvSpPr>
        <p:spPr>
          <a:xfrm>
            <a:off x="1097280" y="3566160"/>
            <a:ext cx="3931920" cy="0"/>
          </a:xfrm>
          <a:prstGeom prst="line">
            <a:avLst/>
          </a:prstGeom>
          <a:noFill/>
          <a:ln w="15875">
            <a:solidFill>
              <a:srgbClr val="31485C"/>
            </a:solidFill>
            <a:prstDash val="solid"/>
          </a:ln>
        </p:spPr>
        <p:txBody>
          <a:bodyPr/>
          <a:lstStyle/>
          <a:p>
            <a:endParaRPr/>
          </a:p>
        </p:txBody>
      </p:sp>
      <p:sp>
        <p:nvSpPr>
          <p:cNvPr id="11" name="Shape 9">
            <a:extLst>
              <a:ext uri="{FF2B5EF4-FFF2-40B4-BE49-F238E27FC236}">
                <a16:creationId xmlns:a16="http://schemas.microsoft.com/office/drawing/2014/main" id="{36C225D9-5B43-405E-94FE-8304FD92EB9E}"/>
              </a:ext>
            </a:extLst>
          </p:cNvPr>
          <p:cNvSpPr>
            <a:spLocks noGrp="1"/>
          </p:cNvSpPr>
          <p:nvPr/>
        </p:nvSpPr>
        <p:spPr>
          <a:xfrm>
            <a:off x="1234440" y="3913632"/>
            <a:ext cx="3611880" cy="0"/>
          </a:xfrm>
          <a:prstGeom prst="line">
            <a:avLst/>
          </a:prstGeom>
          <a:noFill/>
          <a:ln w="15875">
            <a:solidFill>
              <a:srgbClr val="31485C"/>
            </a:solidFill>
            <a:prstDash val="solid"/>
          </a:ln>
        </p:spPr>
        <p:txBody>
          <a:bodyPr/>
          <a:lstStyle/>
          <a:p>
            <a:endParaRPr/>
          </a:p>
        </p:txBody>
      </p:sp>
      <p:sp>
        <p:nvSpPr>
          <p:cNvPr id="12" name="Shape 10">
            <a:extLst>
              <a:ext uri="{FF2B5EF4-FFF2-40B4-BE49-F238E27FC236}">
                <a16:creationId xmlns:a16="http://schemas.microsoft.com/office/drawing/2014/main" id="{8EB5DF70-6C19-4D56-AC31-76A28F81E032}"/>
              </a:ext>
            </a:extLst>
          </p:cNvPr>
          <p:cNvSpPr>
            <a:spLocks noGrp="1"/>
          </p:cNvSpPr>
          <p:nvPr/>
        </p:nvSpPr>
        <p:spPr>
          <a:xfrm>
            <a:off x="1920240" y="2286000"/>
            <a:ext cx="1188720" cy="1737360"/>
          </a:xfrm>
          <a:prstGeom prst="line">
            <a:avLst/>
          </a:prstGeom>
          <a:noFill/>
          <a:ln w="15875">
            <a:solidFill>
              <a:srgbClr val="31485C"/>
            </a:solidFill>
            <a:prstDash val="solid"/>
          </a:ln>
        </p:spPr>
        <p:txBody>
          <a:bodyPr/>
          <a:lstStyle/>
          <a:p>
            <a:endParaRPr/>
          </a:p>
        </p:txBody>
      </p:sp>
      <p:sp>
        <p:nvSpPr>
          <p:cNvPr id="13" name="Shape 11">
            <a:extLst>
              <a:ext uri="{FF2B5EF4-FFF2-40B4-BE49-F238E27FC236}">
                <a16:creationId xmlns:a16="http://schemas.microsoft.com/office/drawing/2014/main" id="{B8BF160D-3DF2-4BF0-B069-3DAA8B9416A0}"/>
              </a:ext>
            </a:extLst>
          </p:cNvPr>
          <p:cNvSpPr>
            <a:spLocks noGrp="1"/>
          </p:cNvSpPr>
          <p:nvPr/>
        </p:nvSpPr>
        <p:spPr>
          <a:xfrm>
            <a:off x="3566160" y="2286000"/>
            <a:ext cx="914400" cy="1737360"/>
          </a:xfrm>
          <a:prstGeom prst="line">
            <a:avLst/>
          </a:prstGeom>
          <a:noFill/>
          <a:ln w="15875">
            <a:solidFill>
              <a:srgbClr val="31485C"/>
            </a:solidFill>
            <a:prstDash val="solid"/>
          </a:ln>
        </p:spPr>
        <p:txBody>
          <a:bodyPr/>
          <a:lstStyle/>
          <a:p>
            <a:endParaRPr/>
          </a:p>
        </p:txBody>
      </p:sp>
      <p:sp>
        <p:nvSpPr>
          <p:cNvPr id="14" name="Text 12">
            <a:extLst>
              <a:ext uri="{FF2B5EF4-FFF2-40B4-BE49-F238E27FC236}">
                <a16:creationId xmlns:a16="http://schemas.microsoft.com/office/drawing/2014/main" id="{5955C8EE-322C-434A-B38D-57FA3FE64DE8}"/>
              </a:ext>
            </a:extLst>
          </p:cNvPr>
          <p:cNvSpPr>
            <a:spLocks noGrp="1"/>
          </p:cNvSpPr>
          <p:nvPr/>
        </p:nvSpPr>
        <p:spPr>
          <a:xfrm>
            <a:off x="777240" y="4187952"/>
            <a:ext cx="4572000" cy="310896"/>
          </a:xfrm>
          <a:prstGeom prst="rect">
            <a:avLst/>
          </a:prstGeom>
          <a:noFill/>
        </p:spPr>
        <p:txBody>
          <a:bodyPr wrap="square" lIns="0" tIns="0" rIns="0" bIns="0" anchor="ctr"/>
          <a:lstStyle/>
          <a:p>
            <a:pPr marL="0" indent="0">
              <a:buNone/>
            </a:pPr>
            <a:r>
              <a:rPr sz="950">
                <a:solidFill>
                  <a:srgbClr val="6B7C8A"/>
                </a:solidFill>
                <a:latin typeface="Calibri"/>
                <a:ea typeface="Calibri"/>
                <a:cs typeface="Calibri"/>
              </a:rPr>
              <a:t>every BNSF line within the radius — branches,</a:t>
            </a:r>
            <a:r>
              <a:rPr sz="950"/>
              <a:t> </a:t>
            </a:r>
            <a:r>
              <a:rPr sz="950">
                <a:solidFill>
                  <a:srgbClr val="6B7C8A"/>
                </a:solidFill>
                <a:latin typeface="Calibri"/>
                <a:ea typeface="Calibri"/>
                <a:cs typeface="Calibri"/>
              </a:rPr>
              <a:t>yard leads, parallel routes — all labelled Transcon</a:t>
            </a:r>
            <a:endParaRPr sz="950"/>
          </a:p>
        </p:txBody>
      </p:sp>
      <p:sp>
        <p:nvSpPr>
          <p:cNvPr id="15" name="Text 13">
            <a:extLst>
              <a:ext uri="{FF2B5EF4-FFF2-40B4-BE49-F238E27FC236}">
                <a16:creationId xmlns:a16="http://schemas.microsoft.com/office/drawing/2014/main" id="{859B78D3-D1C5-4252-9131-F071A0C0BA22}"/>
              </a:ext>
            </a:extLst>
          </p:cNvPr>
          <p:cNvSpPr>
            <a:spLocks noGrp="1"/>
          </p:cNvSpPr>
          <p:nvPr/>
        </p:nvSpPr>
        <p:spPr>
          <a:xfrm>
            <a:off x="6355080" y="1417320"/>
            <a:ext cx="5303520" cy="274320"/>
          </a:xfrm>
          <a:prstGeom prst="rect">
            <a:avLst/>
          </a:prstGeom>
          <a:noFill/>
        </p:spPr>
        <p:txBody>
          <a:bodyPr wrap="square" lIns="0" tIns="0" rIns="0" bIns="0" anchor="ctr"/>
          <a:lstStyle/>
          <a:p>
            <a:pPr marL="0" indent="0">
              <a:buNone/>
            </a:pPr>
            <a:r>
              <a:rPr sz="1200" b="1">
                <a:solidFill>
                  <a:srgbClr val="1F7A54"/>
                </a:solidFill>
                <a:latin typeface="Calibri"/>
                <a:ea typeface="Calibri"/>
                <a:cs typeface="Calibri"/>
              </a:rPr>
              <a:t>AFTER  –  routed path through named BNSF facilities</a:t>
            </a:r>
            <a:endParaRPr sz="1200"/>
          </a:p>
        </p:txBody>
      </p:sp>
      <p:sp>
        <p:nvSpPr>
          <p:cNvPr id="16" name="Shape 14">
            <a:extLst>
              <a:ext uri="{FF2B5EF4-FFF2-40B4-BE49-F238E27FC236}">
                <a16:creationId xmlns:a16="http://schemas.microsoft.com/office/drawing/2014/main" id="{F64F537E-C49D-49C4-8537-DE5D9A257DBA}"/>
              </a:ext>
            </a:extLst>
          </p:cNvPr>
          <p:cNvSpPr>
            <a:spLocks noGrp="1"/>
          </p:cNvSpPr>
          <p:nvPr/>
        </p:nvSpPr>
        <p:spPr>
          <a:xfrm>
            <a:off x="6355080" y="1755648"/>
            <a:ext cx="5303520" cy="2788920"/>
          </a:xfrm>
          <a:prstGeom prst="roundRect">
            <a:avLst>
              <a:gd name="adj" fmla="val 1967"/>
            </a:avLst>
          </a:prstGeom>
          <a:noFill/>
          <a:ln w="12700">
            <a:solidFill>
              <a:srgbClr val="D6DEE5"/>
            </a:solidFill>
            <a:prstDash val="solid"/>
          </a:ln>
        </p:spPr>
        <p:txBody>
          <a:bodyPr/>
          <a:lstStyle/>
          <a:p>
            <a:endParaRPr/>
          </a:p>
        </p:txBody>
      </p:sp>
      <p:sp>
        <p:nvSpPr>
          <p:cNvPr id="17" name="Shape 15">
            <a:extLst>
              <a:ext uri="{FF2B5EF4-FFF2-40B4-BE49-F238E27FC236}">
                <a16:creationId xmlns:a16="http://schemas.microsoft.com/office/drawing/2014/main" id="{16188EE5-1FBD-4403-A004-825EBF785E18}"/>
              </a:ext>
            </a:extLst>
          </p:cNvPr>
          <p:cNvSpPr>
            <a:spLocks noGrp="1"/>
          </p:cNvSpPr>
          <p:nvPr/>
        </p:nvSpPr>
        <p:spPr>
          <a:xfrm flipV="1">
            <a:off x="6720840" y="3447288"/>
            <a:ext cx="731520" cy="347472"/>
          </a:xfrm>
          <a:prstGeom prst="line">
            <a:avLst/>
          </a:prstGeom>
          <a:noFill/>
          <a:ln w="38100">
            <a:solidFill>
              <a:srgbClr val="1F7A54"/>
            </a:solidFill>
            <a:prstDash val="solid"/>
          </a:ln>
        </p:spPr>
        <p:txBody>
          <a:bodyPr/>
          <a:lstStyle/>
          <a:p>
            <a:endParaRPr/>
          </a:p>
        </p:txBody>
      </p:sp>
      <p:sp>
        <p:nvSpPr>
          <p:cNvPr id="18" name="Shape 16">
            <a:extLst>
              <a:ext uri="{FF2B5EF4-FFF2-40B4-BE49-F238E27FC236}">
                <a16:creationId xmlns:a16="http://schemas.microsoft.com/office/drawing/2014/main" id="{27568AD6-4058-47E1-A7E3-BCDFD076398C}"/>
              </a:ext>
            </a:extLst>
          </p:cNvPr>
          <p:cNvSpPr>
            <a:spLocks noGrp="1"/>
          </p:cNvSpPr>
          <p:nvPr/>
        </p:nvSpPr>
        <p:spPr>
          <a:xfrm>
            <a:off x="7452360" y="3429000"/>
            <a:ext cx="731520" cy="91440"/>
          </a:xfrm>
          <a:prstGeom prst="line">
            <a:avLst/>
          </a:prstGeom>
          <a:noFill/>
          <a:ln w="38100">
            <a:solidFill>
              <a:srgbClr val="1F7A54"/>
            </a:solidFill>
            <a:prstDash val="solid"/>
          </a:ln>
        </p:spPr>
        <p:txBody>
          <a:bodyPr/>
          <a:lstStyle/>
          <a:p>
            <a:endParaRPr/>
          </a:p>
        </p:txBody>
      </p:sp>
      <p:sp>
        <p:nvSpPr>
          <p:cNvPr id="19" name="Shape 17">
            <a:extLst>
              <a:ext uri="{FF2B5EF4-FFF2-40B4-BE49-F238E27FC236}">
                <a16:creationId xmlns:a16="http://schemas.microsoft.com/office/drawing/2014/main" id="{AF50C6DE-7084-4BD3-BDA9-601237390659}"/>
              </a:ext>
            </a:extLst>
          </p:cNvPr>
          <p:cNvSpPr>
            <a:spLocks noGrp="1"/>
          </p:cNvSpPr>
          <p:nvPr/>
        </p:nvSpPr>
        <p:spPr>
          <a:xfrm flipV="1">
            <a:off x="8183880" y="3017520"/>
            <a:ext cx="731520" cy="502920"/>
          </a:xfrm>
          <a:prstGeom prst="line">
            <a:avLst/>
          </a:prstGeom>
          <a:noFill/>
          <a:ln w="38100">
            <a:solidFill>
              <a:srgbClr val="1F7A54"/>
            </a:solidFill>
            <a:prstDash val="solid"/>
          </a:ln>
        </p:spPr>
        <p:txBody>
          <a:bodyPr/>
          <a:lstStyle/>
          <a:p>
            <a:endParaRPr/>
          </a:p>
        </p:txBody>
      </p:sp>
      <p:sp>
        <p:nvSpPr>
          <p:cNvPr id="20" name="Shape 18">
            <a:extLst>
              <a:ext uri="{FF2B5EF4-FFF2-40B4-BE49-F238E27FC236}">
                <a16:creationId xmlns:a16="http://schemas.microsoft.com/office/drawing/2014/main" id="{E44F4B25-02D1-45B0-A4E7-0BDE980841B9}"/>
              </a:ext>
            </a:extLst>
          </p:cNvPr>
          <p:cNvSpPr>
            <a:spLocks noGrp="1"/>
          </p:cNvSpPr>
          <p:nvPr/>
        </p:nvSpPr>
        <p:spPr>
          <a:xfrm>
            <a:off x="8915400" y="2971800"/>
            <a:ext cx="685800" cy="45720"/>
          </a:xfrm>
          <a:prstGeom prst="line">
            <a:avLst/>
          </a:prstGeom>
          <a:noFill/>
          <a:ln w="38100">
            <a:solidFill>
              <a:srgbClr val="1F7A54"/>
            </a:solidFill>
            <a:prstDash val="solid"/>
          </a:ln>
        </p:spPr>
        <p:txBody>
          <a:bodyPr/>
          <a:lstStyle/>
          <a:p>
            <a:endParaRPr/>
          </a:p>
        </p:txBody>
      </p:sp>
      <p:sp>
        <p:nvSpPr>
          <p:cNvPr id="21" name="Shape 19">
            <a:extLst>
              <a:ext uri="{FF2B5EF4-FFF2-40B4-BE49-F238E27FC236}">
                <a16:creationId xmlns:a16="http://schemas.microsoft.com/office/drawing/2014/main" id="{90FC5C31-A506-4742-A2DB-8CEAE3E4861C}"/>
              </a:ext>
            </a:extLst>
          </p:cNvPr>
          <p:cNvSpPr>
            <a:spLocks noGrp="1"/>
          </p:cNvSpPr>
          <p:nvPr/>
        </p:nvSpPr>
        <p:spPr>
          <a:xfrm flipV="1">
            <a:off x="9601200" y="2487168"/>
            <a:ext cx="731520" cy="530352"/>
          </a:xfrm>
          <a:prstGeom prst="line">
            <a:avLst/>
          </a:prstGeom>
          <a:noFill/>
          <a:ln w="38100">
            <a:solidFill>
              <a:srgbClr val="1F7A54"/>
            </a:solidFill>
            <a:prstDash val="solid"/>
          </a:ln>
        </p:spPr>
        <p:txBody>
          <a:bodyPr/>
          <a:lstStyle/>
          <a:p>
            <a:endParaRPr/>
          </a:p>
        </p:txBody>
      </p:sp>
      <p:sp>
        <p:nvSpPr>
          <p:cNvPr id="22" name="Shape 20">
            <a:extLst>
              <a:ext uri="{FF2B5EF4-FFF2-40B4-BE49-F238E27FC236}">
                <a16:creationId xmlns:a16="http://schemas.microsoft.com/office/drawing/2014/main" id="{53FA128C-C7E0-4769-954C-027EC23103FE}"/>
              </a:ext>
            </a:extLst>
          </p:cNvPr>
          <p:cNvSpPr>
            <a:spLocks noGrp="1"/>
          </p:cNvSpPr>
          <p:nvPr/>
        </p:nvSpPr>
        <p:spPr>
          <a:xfrm flipV="1">
            <a:off x="10332720" y="2286000"/>
            <a:ext cx="731520" cy="201168"/>
          </a:xfrm>
          <a:prstGeom prst="line">
            <a:avLst/>
          </a:prstGeom>
          <a:noFill/>
          <a:ln w="38100">
            <a:solidFill>
              <a:srgbClr val="1F7A54"/>
            </a:solidFill>
            <a:prstDash val="solid"/>
          </a:ln>
        </p:spPr>
        <p:txBody>
          <a:bodyPr/>
          <a:lstStyle/>
          <a:p>
            <a:endParaRPr/>
          </a:p>
        </p:txBody>
      </p:sp>
      <p:sp>
        <p:nvSpPr>
          <p:cNvPr id="23" name="Shape 21">
            <a:extLst>
              <a:ext uri="{FF2B5EF4-FFF2-40B4-BE49-F238E27FC236}">
                <a16:creationId xmlns:a16="http://schemas.microsoft.com/office/drawing/2014/main" id="{7E1254AF-8863-40AB-95EC-1FB98C91442A}"/>
              </a:ext>
            </a:extLst>
          </p:cNvPr>
          <p:cNvSpPr>
            <a:spLocks noGrp="1"/>
          </p:cNvSpPr>
          <p:nvPr/>
        </p:nvSpPr>
        <p:spPr>
          <a:xfrm>
            <a:off x="6652260" y="3726180"/>
            <a:ext cx="137160" cy="137160"/>
          </a:xfrm>
          <a:prstGeom prst="ellipse">
            <a:avLst/>
          </a:prstGeom>
          <a:solidFill>
            <a:srgbClr val="16232E"/>
          </a:solidFill>
          <a:ln w="12700">
            <a:solidFill>
              <a:srgbClr val="FFFFFF"/>
            </a:solidFill>
            <a:prstDash val="solid"/>
          </a:ln>
        </p:spPr>
        <p:txBody>
          <a:bodyPr/>
          <a:lstStyle/>
          <a:p>
            <a:endParaRPr/>
          </a:p>
        </p:txBody>
      </p:sp>
      <p:sp>
        <p:nvSpPr>
          <p:cNvPr id="24" name="Text 22">
            <a:extLst>
              <a:ext uri="{FF2B5EF4-FFF2-40B4-BE49-F238E27FC236}">
                <a16:creationId xmlns:a16="http://schemas.microsoft.com/office/drawing/2014/main" id="{54117A07-5549-4467-BB8D-35B6FE0B2FB0}"/>
              </a:ext>
            </a:extLst>
          </p:cNvPr>
          <p:cNvSpPr>
            <a:spLocks noGrp="1"/>
          </p:cNvSpPr>
          <p:nvPr/>
        </p:nvSpPr>
        <p:spPr>
          <a:xfrm>
            <a:off x="6327648" y="3904488"/>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LA</a:t>
            </a:r>
            <a:endParaRPr sz="800"/>
          </a:p>
        </p:txBody>
      </p:sp>
      <p:sp>
        <p:nvSpPr>
          <p:cNvPr id="25" name="Shape 23">
            <a:extLst>
              <a:ext uri="{FF2B5EF4-FFF2-40B4-BE49-F238E27FC236}">
                <a16:creationId xmlns:a16="http://schemas.microsoft.com/office/drawing/2014/main" id="{5DBF8BBC-E0FB-484D-ACED-710CC713B55F}"/>
              </a:ext>
            </a:extLst>
          </p:cNvPr>
          <p:cNvSpPr>
            <a:spLocks noGrp="1"/>
          </p:cNvSpPr>
          <p:nvPr/>
        </p:nvSpPr>
        <p:spPr>
          <a:xfrm>
            <a:off x="7383780" y="3360420"/>
            <a:ext cx="137160" cy="137160"/>
          </a:xfrm>
          <a:prstGeom prst="ellipse">
            <a:avLst/>
          </a:prstGeom>
          <a:solidFill>
            <a:srgbClr val="16232E"/>
          </a:solidFill>
          <a:ln w="12700">
            <a:solidFill>
              <a:srgbClr val="FFFFFF"/>
            </a:solidFill>
            <a:prstDash val="solid"/>
          </a:ln>
        </p:spPr>
        <p:txBody>
          <a:bodyPr/>
          <a:lstStyle/>
          <a:p>
            <a:endParaRPr/>
          </a:p>
        </p:txBody>
      </p:sp>
      <p:sp>
        <p:nvSpPr>
          <p:cNvPr id="26" name="Text 24">
            <a:extLst>
              <a:ext uri="{FF2B5EF4-FFF2-40B4-BE49-F238E27FC236}">
                <a16:creationId xmlns:a16="http://schemas.microsoft.com/office/drawing/2014/main" id="{7D87630E-2510-4207-ACBB-43C3DC4AA5DF}"/>
              </a:ext>
            </a:extLst>
          </p:cNvPr>
          <p:cNvSpPr>
            <a:spLocks noGrp="1"/>
          </p:cNvSpPr>
          <p:nvPr/>
        </p:nvSpPr>
        <p:spPr>
          <a:xfrm>
            <a:off x="7059168" y="3136392"/>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Barstow</a:t>
            </a:r>
            <a:endParaRPr sz="800"/>
          </a:p>
        </p:txBody>
      </p:sp>
      <p:sp>
        <p:nvSpPr>
          <p:cNvPr id="27" name="Shape 25">
            <a:extLst>
              <a:ext uri="{FF2B5EF4-FFF2-40B4-BE49-F238E27FC236}">
                <a16:creationId xmlns:a16="http://schemas.microsoft.com/office/drawing/2014/main" id="{5CC53043-FE6A-4BA3-8102-D0CF2E5DF2A9}"/>
              </a:ext>
            </a:extLst>
          </p:cNvPr>
          <p:cNvSpPr>
            <a:spLocks noGrp="1"/>
          </p:cNvSpPr>
          <p:nvPr/>
        </p:nvSpPr>
        <p:spPr>
          <a:xfrm>
            <a:off x="8115300" y="3451860"/>
            <a:ext cx="137160" cy="137160"/>
          </a:xfrm>
          <a:prstGeom prst="ellipse">
            <a:avLst/>
          </a:prstGeom>
          <a:solidFill>
            <a:srgbClr val="16232E"/>
          </a:solidFill>
          <a:ln w="1270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C22DF4AF-CCCE-42AD-9E69-6300E1117BA6}"/>
              </a:ext>
            </a:extLst>
          </p:cNvPr>
          <p:cNvSpPr>
            <a:spLocks noGrp="1"/>
          </p:cNvSpPr>
          <p:nvPr/>
        </p:nvSpPr>
        <p:spPr>
          <a:xfrm>
            <a:off x="7790688" y="3630168"/>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Winslow</a:t>
            </a:r>
            <a:endParaRPr sz="800"/>
          </a:p>
        </p:txBody>
      </p:sp>
      <p:sp>
        <p:nvSpPr>
          <p:cNvPr id="29" name="Shape 27">
            <a:extLst>
              <a:ext uri="{FF2B5EF4-FFF2-40B4-BE49-F238E27FC236}">
                <a16:creationId xmlns:a16="http://schemas.microsoft.com/office/drawing/2014/main" id="{F7EEA8B6-12C3-4682-8E80-406BBB739A4B}"/>
              </a:ext>
            </a:extLst>
          </p:cNvPr>
          <p:cNvSpPr>
            <a:spLocks noGrp="1"/>
          </p:cNvSpPr>
          <p:nvPr/>
        </p:nvSpPr>
        <p:spPr>
          <a:xfrm>
            <a:off x="8846820" y="2903220"/>
            <a:ext cx="137160" cy="137160"/>
          </a:xfrm>
          <a:prstGeom prst="ellipse">
            <a:avLst/>
          </a:prstGeom>
          <a:solidFill>
            <a:srgbClr val="16232E"/>
          </a:solidFill>
          <a:ln w="1270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99A62616-9BCB-48DC-A7B3-5CCD38F6B192}"/>
              </a:ext>
            </a:extLst>
          </p:cNvPr>
          <p:cNvSpPr>
            <a:spLocks noGrp="1"/>
          </p:cNvSpPr>
          <p:nvPr/>
        </p:nvSpPr>
        <p:spPr>
          <a:xfrm>
            <a:off x="8522208" y="2679192"/>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Belen</a:t>
            </a:r>
            <a:endParaRPr sz="800"/>
          </a:p>
        </p:txBody>
      </p:sp>
      <p:sp>
        <p:nvSpPr>
          <p:cNvPr id="31" name="Shape 29">
            <a:extLst>
              <a:ext uri="{FF2B5EF4-FFF2-40B4-BE49-F238E27FC236}">
                <a16:creationId xmlns:a16="http://schemas.microsoft.com/office/drawing/2014/main" id="{3A4823DE-CDA5-4F8C-B458-B565C593586A}"/>
              </a:ext>
            </a:extLst>
          </p:cNvPr>
          <p:cNvSpPr>
            <a:spLocks noGrp="1"/>
          </p:cNvSpPr>
          <p:nvPr/>
        </p:nvSpPr>
        <p:spPr>
          <a:xfrm>
            <a:off x="9532620" y="2948940"/>
            <a:ext cx="137160" cy="137160"/>
          </a:xfrm>
          <a:prstGeom prst="ellipse">
            <a:avLst/>
          </a:prstGeom>
          <a:solidFill>
            <a:srgbClr val="16232E"/>
          </a:solidFill>
          <a:ln w="12700">
            <a:solidFill>
              <a:srgbClr val="FFFFFF"/>
            </a:solidFill>
            <a:prstDash val="solid"/>
          </a:ln>
        </p:spPr>
        <p:txBody>
          <a:bodyPr/>
          <a:lstStyle/>
          <a:p>
            <a:endParaRPr/>
          </a:p>
        </p:txBody>
      </p:sp>
      <p:sp>
        <p:nvSpPr>
          <p:cNvPr id="32" name="Text 30">
            <a:extLst>
              <a:ext uri="{FF2B5EF4-FFF2-40B4-BE49-F238E27FC236}">
                <a16:creationId xmlns:a16="http://schemas.microsoft.com/office/drawing/2014/main" id="{98FB87C5-F138-4CC7-8A88-0913D6F71F21}"/>
              </a:ext>
            </a:extLst>
          </p:cNvPr>
          <p:cNvSpPr>
            <a:spLocks noGrp="1"/>
          </p:cNvSpPr>
          <p:nvPr/>
        </p:nvSpPr>
        <p:spPr>
          <a:xfrm>
            <a:off x="9208008" y="3127248"/>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Amarillo</a:t>
            </a:r>
            <a:endParaRPr sz="800"/>
          </a:p>
        </p:txBody>
      </p:sp>
      <p:sp>
        <p:nvSpPr>
          <p:cNvPr id="33" name="Shape 31">
            <a:extLst>
              <a:ext uri="{FF2B5EF4-FFF2-40B4-BE49-F238E27FC236}">
                <a16:creationId xmlns:a16="http://schemas.microsoft.com/office/drawing/2014/main" id="{9ADF6520-5428-4720-B845-8CED9367E33F}"/>
              </a:ext>
            </a:extLst>
          </p:cNvPr>
          <p:cNvSpPr>
            <a:spLocks noGrp="1"/>
          </p:cNvSpPr>
          <p:nvPr/>
        </p:nvSpPr>
        <p:spPr>
          <a:xfrm>
            <a:off x="10264140" y="2418588"/>
            <a:ext cx="137160" cy="137160"/>
          </a:xfrm>
          <a:prstGeom prst="ellipse">
            <a:avLst/>
          </a:prstGeom>
          <a:solidFill>
            <a:srgbClr val="16232E"/>
          </a:solidFill>
          <a:ln w="12700">
            <a:solidFill>
              <a:srgbClr val="FFFFFF"/>
            </a:solidFill>
            <a:prstDash val="solid"/>
          </a:ln>
        </p:spPr>
        <p:txBody>
          <a:bodyPr/>
          <a:lstStyle/>
          <a:p>
            <a:endParaRPr/>
          </a:p>
        </p:txBody>
      </p:sp>
      <p:sp>
        <p:nvSpPr>
          <p:cNvPr id="34" name="Text 32">
            <a:extLst>
              <a:ext uri="{FF2B5EF4-FFF2-40B4-BE49-F238E27FC236}">
                <a16:creationId xmlns:a16="http://schemas.microsoft.com/office/drawing/2014/main" id="{F1A97A6E-8D51-47BF-BA02-943D2930AD1D}"/>
              </a:ext>
            </a:extLst>
          </p:cNvPr>
          <p:cNvSpPr>
            <a:spLocks noGrp="1"/>
          </p:cNvSpPr>
          <p:nvPr/>
        </p:nvSpPr>
        <p:spPr>
          <a:xfrm>
            <a:off x="9939528" y="2194560"/>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Newton</a:t>
            </a:r>
            <a:endParaRPr sz="800"/>
          </a:p>
        </p:txBody>
      </p:sp>
      <p:sp>
        <p:nvSpPr>
          <p:cNvPr id="35" name="Shape 33">
            <a:extLst>
              <a:ext uri="{FF2B5EF4-FFF2-40B4-BE49-F238E27FC236}">
                <a16:creationId xmlns:a16="http://schemas.microsoft.com/office/drawing/2014/main" id="{41486B52-9A8C-4443-9667-E821DCAF1FE4}"/>
              </a:ext>
            </a:extLst>
          </p:cNvPr>
          <p:cNvSpPr>
            <a:spLocks noGrp="1"/>
          </p:cNvSpPr>
          <p:nvPr/>
        </p:nvSpPr>
        <p:spPr>
          <a:xfrm>
            <a:off x="11041380" y="2217420"/>
            <a:ext cx="137160" cy="137160"/>
          </a:xfrm>
          <a:prstGeom prst="ellipse">
            <a:avLst/>
          </a:prstGeom>
          <a:solidFill>
            <a:srgbClr val="16232E"/>
          </a:solidFill>
          <a:ln w="12700">
            <a:solidFill>
              <a:srgbClr val="FFFFFF"/>
            </a:solidFill>
            <a:prstDash val="solid"/>
          </a:ln>
        </p:spPr>
        <p:txBody>
          <a:bodyPr/>
          <a:lstStyle/>
          <a:p>
            <a:endParaRPr/>
          </a:p>
        </p:txBody>
      </p:sp>
      <p:sp>
        <p:nvSpPr>
          <p:cNvPr id="36" name="Text 34">
            <a:extLst>
              <a:ext uri="{FF2B5EF4-FFF2-40B4-BE49-F238E27FC236}">
                <a16:creationId xmlns:a16="http://schemas.microsoft.com/office/drawing/2014/main" id="{CC16637D-F855-4311-BB5B-D47BD4784A41}"/>
              </a:ext>
            </a:extLst>
          </p:cNvPr>
          <p:cNvSpPr>
            <a:spLocks noGrp="1"/>
          </p:cNvSpPr>
          <p:nvPr/>
        </p:nvSpPr>
        <p:spPr>
          <a:xfrm>
            <a:off x="10716768" y="2395728"/>
            <a:ext cx="786384" cy="182880"/>
          </a:xfrm>
          <a:prstGeom prst="rect">
            <a:avLst/>
          </a:prstGeom>
          <a:noFill/>
        </p:spPr>
        <p:txBody>
          <a:bodyPr wrap="square" lIns="0" tIns="0" rIns="0" bIns="0" anchor="ctr"/>
          <a:lstStyle/>
          <a:p>
            <a:pPr marL="0" indent="0" algn="ctr">
              <a:buNone/>
            </a:pPr>
            <a:r>
              <a:rPr sz="800">
                <a:solidFill>
                  <a:srgbClr val="31485C"/>
                </a:solidFill>
                <a:latin typeface="Calibri"/>
                <a:ea typeface="Calibri"/>
                <a:cs typeface="Calibri"/>
              </a:rPr>
              <a:t>Chicago</a:t>
            </a:r>
            <a:endParaRPr sz="800"/>
          </a:p>
        </p:txBody>
      </p:sp>
      <p:sp>
        <p:nvSpPr>
          <p:cNvPr id="37" name="Text 35">
            <a:extLst>
              <a:ext uri="{FF2B5EF4-FFF2-40B4-BE49-F238E27FC236}">
                <a16:creationId xmlns:a16="http://schemas.microsoft.com/office/drawing/2014/main" id="{1A0E3519-3677-4646-AC50-30DB817911C0}"/>
              </a:ext>
            </a:extLst>
          </p:cNvPr>
          <p:cNvSpPr>
            <a:spLocks noGrp="1"/>
          </p:cNvSpPr>
          <p:nvPr/>
        </p:nvSpPr>
        <p:spPr>
          <a:xfrm>
            <a:off x="6583680" y="4187952"/>
            <a:ext cx="4846320" cy="310896"/>
          </a:xfrm>
          <a:prstGeom prst="rect">
            <a:avLst/>
          </a:prstGeom>
          <a:noFill/>
        </p:spPr>
        <p:txBody>
          <a:bodyPr wrap="square" lIns="0" tIns="0" rIns="0" bIns="0" anchor="ctr"/>
          <a:lstStyle/>
          <a:p>
            <a:pPr marL="0" indent="0">
              <a:buNone/>
            </a:pPr>
            <a:r>
              <a:rPr sz="950">
                <a:solidFill>
                  <a:srgbClr val="6B7C8A"/>
                </a:solidFill>
                <a:latin typeface="Calibri"/>
                <a:ea typeface="Calibri"/>
                <a:cs typeface="Calibri"/>
              </a:rPr>
              <a:t>13 of 13 anchor-to-anchor legs routed;</a:t>
            </a:r>
            <a:endParaRPr sz="950"/>
          </a:p>
          <a:p>
            <a:pPr marL="0" indent="0">
              <a:buNone/>
            </a:pPr>
            <a:r>
              <a:rPr sz="950">
                <a:solidFill>
                  <a:srgbClr val="6B7C8A"/>
                </a:solidFill>
                <a:latin typeface="Calibri"/>
                <a:ea typeface="Calibri"/>
                <a:cs typeface="Calibri"/>
              </a:rPr>
              <a:t>edges weighted by the official network's main-track count</a:t>
            </a:r>
            <a:endParaRPr sz="950"/>
          </a:p>
        </p:txBody>
      </p:sp>
      <p:sp>
        <p:nvSpPr>
          <p:cNvPr id="38" name="Shape 36">
            <a:extLst>
              <a:ext uri="{FF2B5EF4-FFF2-40B4-BE49-F238E27FC236}">
                <a16:creationId xmlns:a16="http://schemas.microsoft.com/office/drawing/2014/main" id="{12DBCEF0-9AE0-42B2-8C44-C3F16BA62169}"/>
              </a:ext>
            </a:extLst>
          </p:cNvPr>
          <p:cNvSpPr>
            <a:spLocks noGrp="1"/>
          </p:cNvSpPr>
          <p:nvPr/>
        </p:nvSpPr>
        <p:spPr>
          <a:xfrm>
            <a:off x="502920" y="5053725"/>
            <a:ext cx="2606040" cy="1051560"/>
          </a:xfrm>
          <a:prstGeom prst="roundRect">
            <a:avLst>
              <a:gd name="adj" fmla="val 5217"/>
            </a:avLst>
          </a:prstGeom>
          <a:noFill/>
          <a:ln w="12700">
            <a:solidFill>
              <a:srgbClr val="FFFFFF"/>
            </a:solidFill>
            <a:prstDash val="solid"/>
          </a:ln>
        </p:spPr>
        <p:txBody>
          <a:bodyPr/>
          <a:lstStyle/>
          <a:p>
            <a:endParaRPr/>
          </a:p>
        </p:txBody>
      </p:sp>
      <p:sp>
        <p:nvSpPr>
          <p:cNvPr id="39" name="Text 37">
            <a:extLst>
              <a:ext uri="{FF2B5EF4-FFF2-40B4-BE49-F238E27FC236}">
                <a16:creationId xmlns:a16="http://schemas.microsoft.com/office/drawing/2014/main" id="{071410E5-0CAE-4EDD-8936-CA77A5D4AA84}"/>
              </a:ext>
            </a:extLst>
          </p:cNvPr>
          <p:cNvSpPr>
            <a:spLocks noGrp="1"/>
          </p:cNvSpPr>
          <p:nvPr/>
        </p:nvSpPr>
        <p:spPr>
          <a:xfrm>
            <a:off x="649224" y="5126877"/>
            <a:ext cx="2313432" cy="457200"/>
          </a:xfrm>
          <a:prstGeom prst="rect">
            <a:avLst/>
          </a:prstGeom>
          <a:noFill/>
        </p:spPr>
        <p:txBody>
          <a:bodyPr wrap="square" lIns="0" tIns="0" rIns="0" bIns="0" anchor="ctr"/>
          <a:lstStyle/>
          <a:p>
            <a:pPr marL="0" indent="0">
              <a:buNone/>
            </a:pPr>
            <a:r>
              <a:rPr sz="2500" b="1">
                <a:latin typeface="Cambria"/>
                <a:ea typeface="Cambria"/>
                <a:cs typeface="Cambria"/>
              </a:rPr>
              <a:t>2,213.97</a:t>
            </a:r>
            <a:endParaRPr sz="2500"/>
          </a:p>
        </p:txBody>
      </p:sp>
      <p:sp>
        <p:nvSpPr>
          <p:cNvPr id="40" name="Text 38">
            <a:extLst>
              <a:ext uri="{FF2B5EF4-FFF2-40B4-BE49-F238E27FC236}">
                <a16:creationId xmlns:a16="http://schemas.microsoft.com/office/drawing/2014/main" id="{035DC1AD-D682-467F-8995-7FFED02906F0}"/>
              </a:ext>
            </a:extLst>
          </p:cNvPr>
          <p:cNvSpPr>
            <a:spLocks noGrp="1"/>
          </p:cNvSpPr>
          <p:nvPr/>
        </p:nvSpPr>
        <p:spPr>
          <a:xfrm>
            <a:off x="649224" y="5602365"/>
            <a:ext cx="2313432" cy="438912"/>
          </a:xfrm>
          <a:prstGeom prst="rect">
            <a:avLst/>
          </a:prstGeom>
          <a:noFill/>
        </p:spPr>
        <p:txBody>
          <a:bodyPr wrap="square" lIns="0" tIns="0" rIns="0" bIns="0" anchor="t"/>
          <a:lstStyle/>
          <a:p>
            <a:pPr marL="0" indent="0">
              <a:buNone/>
            </a:pPr>
            <a:r>
              <a:rPr sz="1050">
                <a:latin typeface="Calibri"/>
                <a:ea typeface="Calibri"/>
                <a:cs typeface="Calibri"/>
              </a:rPr>
              <a:t>route-miles extracted</a:t>
            </a:r>
            <a:endParaRPr sz="1050"/>
          </a:p>
          <a:p>
            <a:pPr marL="0" indent="0">
              <a:buNone/>
            </a:pPr>
            <a:r>
              <a:rPr sz="1050">
                <a:latin typeface="Calibri"/>
                <a:ea typeface="Calibri"/>
                <a:cs typeface="Calibri"/>
              </a:rPr>
              <a:t>(BNSF states ~2,200)</a:t>
            </a:r>
            <a:endParaRPr sz="1050"/>
          </a:p>
        </p:txBody>
      </p:sp>
      <p:sp>
        <p:nvSpPr>
          <p:cNvPr id="41" name="Shape 39">
            <a:extLst>
              <a:ext uri="{FF2B5EF4-FFF2-40B4-BE49-F238E27FC236}">
                <a16:creationId xmlns:a16="http://schemas.microsoft.com/office/drawing/2014/main" id="{4F8A9B08-0910-43DE-9E5A-7A9248B2BCC6}"/>
              </a:ext>
            </a:extLst>
          </p:cNvPr>
          <p:cNvSpPr>
            <a:spLocks noGrp="1"/>
          </p:cNvSpPr>
          <p:nvPr/>
        </p:nvSpPr>
        <p:spPr>
          <a:xfrm>
            <a:off x="3291840" y="5053725"/>
            <a:ext cx="2606040" cy="1051560"/>
          </a:xfrm>
          <a:prstGeom prst="roundRect">
            <a:avLst>
              <a:gd name="adj" fmla="val 5217"/>
            </a:avLst>
          </a:prstGeom>
          <a:noFill/>
          <a:ln w="12700">
            <a:solidFill>
              <a:srgbClr val="FFFFFF"/>
            </a:solidFill>
            <a:prstDash val="solid"/>
          </a:ln>
        </p:spPr>
        <p:txBody>
          <a:bodyPr/>
          <a:lstStyle/>
          <a:p>
            <a:endParaRPr/>
          </a:p>
        </p:txBody>
      </p:sp>
      <p:sp>
        <p:nvSpPr>
          <p:cNvPr id="42" name="Text 40">
            <a:extLst>
              <a:ext uri="{FF2B5EF4-FFF2-40B4-BE49-F238E27FC236}">
                <a16:creationId xmlns:a16="http://schemas.microsoft.com/office/drawing/2014/main" id="{D0A9C13C-2B3A-4B2D-96F9-087A83EE3BBF}"/>
              </a:ext>
            </a:extLst>
          </p:cNvPr>
          <p:cNvSpPr>
            <a:spLocks noGrp="1"/>
          </p:cNvSpPr>
          <p:nvPr/>
        </p:nvSpPr>
        <p:spPr>
          <a:xfrm>
            <a:off x="3438144" y="5126877"/>
            <a:ext cx="2313432" cy="457200"/>
          </a:xfrm>
          <a:prstGeom prst="rect">
            <a:avLst/>
          </a:prstGeom>
          <a:noFill/>
        </p:spPr>
        <p:txBody>
          <a:bodyPr wrap="square" lIns="0" tIns="0" rIns="0" bIns="0" anchor="ctr"/>
          <a:lstStyle/>
          <a:p>
            <a:pPr marL="0" indent="0">
              <a:buNone/>
            </a:pPr>
            <a:r>
              <a:rPr sz="2500" b="1">
                <a:latin typeface="Cambria"/>
                <a:ea typeface="Cambria"/>
                <a:cs typeface="Cambria"/>
              </a:rPr>
              <a:t>718</a:t>
            </a:r>
            <a:endParaRPr sz="2500"/>
          </a:p>
        </p:txBody>
      </p:sp>
      <p:sp>
        <p:nvSpPr>
          <p:cNvPr id="43" name="Text 41">
            <a:extLst>
              <a:ext uri="{FF2B5EF4-FFF2-40B4-BE49-F238E27FC236}">
                <a16:creationId xmlns:a16="http://schemas.microsoft.com/office/drawing/2014/main" id="{10A17B5F-C2DB-4317-B182-79481D87F577}"/>
              </a:ext>
            </a:extLst>
          </p:cNvPr>
          <p:cNvSpPr>
            <a:spLocks noGrp="1"/>
          </p:cNvSpPr>
          <p:nvPr/>
        </p:nvSpPr>
        <p:spPr>
          <a:xfrm>
            <a:off x="3438144" y="5602365"/>
            <a:ext cx="2313432" cy="438912"/>
          </a:xfrm>
          <a:prstGeom prst="rect">
            <a:avLst/>
          </a:prstGeom>
          <a:noFill/>
        </p:spPr>
        <p:txBody>
          <a:bodyPr wrap="square" lIns="0" tIns="0" rIns="0" bIns="0" anchor="t"/>
          <a:lstStyle/>
          <a:p>
            <a:pPr marL="0" indent="0">
              <a:buNone/>
            </a:pPr>
            <a:r>
              <a:rPr sz="1050">
                <a:latin typeface="Calibri"/>
                <a:ea typeface="Calibri"/>
                <a:cs typeface="Calibri"/>
              </a:rPr>
              <a:t>route segments,</a:t>
            </a:r>
            <a:endParaRPr sz="1050"/>
          </a:p>
          <a:p>
            <a:pPr marL="0" indent="0">
              <a:buNone/>
            </a:pPr>
            <a:r>
              <a:rPr sz="1050">
                <a:latin typeface="Calibri"/>
                <a:ea typeface="Calibri"/>
                <a:cs typeface="Calibri"/>
              </a:rPr>
              <a:t>ordered with mileposts</a:t>
            </a:r>
            <a:endParaRPr sz="1050"/>
          </a:p>
        </p:txBody>
      </p:sp>
      <p:sp>
        <p:nvSpPr>
          <p:cNvPr id="44" name="Shape 42">
            <a:extLst>
              <a:ext uri="{FF2B5EF4-FFF2-40B4-BE49-F238E27FC236}">
                <a16:creationId xmlns:a16="http://schemas.microsoft.com/office/drawing/2014/main" id="{95715A42-5F13-4B37-BA4E-2ED525CD0A25}"/>
              </a:ext>
            </a:extLst>
          </p:cNvPr>
          <p:cNvSpPr>
            <a:spLocks noGrp="1"/>
          </p:cNvSpPr>
          <p:nvPr/>
        </p:nvSpPr>
        <p:spPr>
          <a:xfrm>
            <a:off x="6080760" y="5053725"/>
            <a:ext cx="2606040" cy="1051560"/>
          </a:xfrm>
          <a:prstGeom prst="roundRect">
            <a:avLst>
              <a:gd name="adj" fmla="val 5217"/>
            </a:avLst>
          </a:prstGeom>
          <a:noFill/>
          <a:ln w="12700">
            <a:solidFill>
              <a:srgbClr val="FFFFFF"/>
            </a:solidFill>
            <a:prstDash val="solid"/>
          </a:ln>
        </p:spPr>
        <p:txBody>
          <a:bodyPr/>
          <a:lstStyle/>
          <a:p>
            <a:endParaRPr/>
          </a:p>
        </p:txBody>
      </p:sp>
      <p:sp>
        <p:nvSpPr>
          <p:cNvPr id="45" name="Text 43">
            <a:extLst>
              <a:ext uri="{FF2B5EF4-FFF2-40B4-BE49-F238E27FC236}">
                <a16:creationId xmlns:a16="http://schemas.microsoft.com/office/drawing/2014/main" id="{14938E1D-95B4-43BF-8530-1437287F145B}"/>
              </a:ext>
            </a:extLst>
          </p:cNvPr>
          <p:cNvSpPr>
            <a:spLocks noGrp="1"/>
          </p:cNvSpPr>
          <p:nvPr/>
        </p:nvSpPr>
        <p:spPr>
          <a:xfrm>
            <a:off x="6227064" y="5126877"/>
            <a:ext cx="2313432" cy="457200"/>
          </a:xfrm>
          <a:prstGeom prst="rect">
            <a:avLst/>
          </a:prstGeom>
          <a:noFill/>
        </p:spPr>
        <p:txBody>
          <a:bodyPr wrap="square" lIns="0" tIns="0" rIns="0" bIns="0" anchor="ctr"/>
          <a:lstStyle/>
          <a:p>
            <a:pPr marL="0" indent="0">
              <a:buNone/>
            </a:pPr>
            <a:r>
              <a:rPr sz="2500" b="1">
                <a:latin typeface="Cambria"/>
                <a:ea typeface="Cambria"/>
                <a:cs typeface="Cambria"/>
              </a:rPr>
              <a:t>14.6</a:t>
            </a:r>
            <a:endParaRPr sz="2500"/>
          </a:p>
        </p:txBody>
      </p:sp>
      <p:sp>
        <p:nvSpPr>
          <p:cNvPr id="46" name="Text 44">
            <a:extLst>
              <a:ext uri="{FF2B5EF4-FFF2-40B4-BE49-F238E27FC236}">
                <a16:creationId xmlns:a16="http://schemas.microsoft.com/office/drawing/2014/main" id="{5E14C307-C035-410F-B431-4D9E3902A8F6}"/>
              </a:ext>
            </a:extLst>
          </p:cNvPr>
          <p:cNvSpPr>
            <a:spLocks noGrp="1"/>
          </p:cNvSpPr>
          <p:nvPr/>
        </p:nvSpPr>
        <p:spPr>
          <a:xfrm>
            <a:off x="6227064" y="5602365"/>
            <a:ext cx="2313432" cy="438912"/>
          </a:xfrm>
          <a:prstGeom prst="rect">
            <a:avLst/>
          </a:prstGeom>
          <a:noFill/>
        </p:spPr>
        <p:txBody>
          <a:bodyPr wrap="square" lIns="0" tIns="0" rIns="0" bIns="0" anchor="t"/>
          <a:lstStyle/>
          <a:p>
            <a:pPr marL="0" indent="0">
              <a:buNone/>
            </a:pPr>
            <a:r>
              <a:rPr sz="1050">
                <a:latin typeface="Calibri"/>
                <a:ea typeface="Calibri"/>
                <a:cs typeface="Calibri"/>
              </a:rPr>
              <a:t>miles of foreign track</a:t>
            </a:r>
            <a:endParaRPr sz="1050"/>
          </a:p>
          <a:p>
            <a:pPr marL="0" indent="0">
              <a:buNone/>
            </a:pPr>
            <a:r>
              <a:rPr sz="1050">
                <a:latin typeface="Calibri"/>
                <a:ea typeface="Calibri"/>
                <a:cs typeface="Calibri"/>
              </a:rPr>
              <a:t>needed to connect legs</a:t>
            </a:r>
            <a:endParaRPr sz="1050"/>
          </a:p>
        </p:txBody>
      </p:sp>
      <p:sp>
        <p:nvSpPr>
          <p:cNvPr id="47" name="Shape 45">
            <a:extLst>
              <a:ext uri="{FF2B5EF4-FFF2-40B4-BE49-F238E27FC236}">
                <a16:creationId xmlns:a16="http://schemas.microsoft.com/office/drawing/2014/main" id="{8CD78B3C-6557-4BAB-9387-DEC95011B9E1}"/>
              </a:ext>
            </a:extLst>
          </p:cNvPr>
          <p:cNvSpPr>
            <a:spLocks noGrp="1"/>
          </p:cNvSpPr>
          <p:nvPr/>
        </p:nvSpPr>
        <p:spPr>
          <a:xfrm>
            <a:off x="8869680" y="5053725"/>
            <a:ext cx="2788920" cy="1051560"/>
          </a:xfrm>
          <a:prstGeom prst="roundRect">
            <a:avLst>
              <a:gd name="adj" fmla="val 5217"/>
            </a:avLst>
          </a:prstGeom>
          <a:noFill/>
          <a:ln w="12700">
            <a:solidFill>
              <a:srgbClr val="FFFFFF"/>
            </a:solidFill>
            <a:prstDash val="solid"/>
          </a:ln>
        </p:spPr>
        <p:txBody>
          <a:bodyPr/>
          <a:lstStyle/>
          <a:p>
            <a:endParaRPr/>
          </a:p>
        </p:txBody>
      </p:sp>
      <p:sp>
        <p:nvSpPr>
          <p:cNvPr id="48" name="Text 46">
            <a:extLst>
              <a:ext uri="{FF2B5EF4-FFF2-40B4-BE49-F238E27FC236}">
                <a16:creationId xmlns:a16="http://schemas.microsoft.com/office/drawing/2014/main" id="{68CB586D-9824-47EA-8029-5DEFBA267028}"/>
              </a:ext>
            </a:extLst>
          </p:cNvPr>
          <p:cNvSpPr>
            <a:spLocks noGrp="1"/>
          </p:cNvSpPr>
          <p:nvPr/>
        </p:nvSpPr>
        <p:spPr>
          <a:xfrm>
            <a:off x="9015984" y="5126877"/>
            <a:ext cx="2496312" cy="457200"/>
          </a:xfrm>
          <a:prstGeom prst="rect">
            <a:avLst/>
          </a:prstGeom>
          <a:noFill/>
        </p:spPr>
        <p:txBody>
          <a:bodyPr wrap="square" lIns="0" tIns="0" rIns="0" bIns="0" anchor="ctr"/>
          <a:lstStyle/>
          <a:p>
            <a:pPr marL="0" indent="0">
              <a:buNone/>
            </a:pPr>
            <a:r>
              <a:rPr sz="2500" b="1">
                <a:latin typeface="Cambria"/>
                <a:ea typeface="Cambria"/>
                <a:cs typeface="Cambria"/>
              </a:rPr>
              <a:t>−15,423</a:t>
            </a:r>
            <a:endParaRPr sz="2500"/>
          </a:p>
        </p:txBody>
      </p:sp>
      <p:sp>
        <p:nvSpPr>
          <p:cNvPr id="49" name="Text 47">
            <a:extLst>
              <a:ext uri="{FF2B5EF4-FFF2-40B4-BE49-F238E27FC236}">
                <a16:creationId xmlns:a16="http://schemas.microsoft.com/office/drawing/2014/main" id="{5D5678CD-7AD1-46FB-910B-2D9871B4BC10}"/>
              </a:ext>
            </a:extLst>
          </p:cNvPr>
          <p:cNvSpPr>
            <a:spLocks noGrp="1"/>
          </p:cNvSpPr>
          <p:nvPr/>
        </p:nvSpPr>
        <p:spPr>
          <a:xfrm>
            <a:off x="9015984" y="5602365"/>
            <a:ext cx="2496312" cy="438912"/>
          </a:xfrm>
          <a:prstGeom prst="rect">
            <a:avLst/>
          </a:prstGeom>
          <a:noFill/>
        </p:spPr>
        <p:txBody>
          <a:bodyPr wrap="square" lIns="0" tIns="0" rIns="0" bIns="0" anchor="t"/>
          <a:lstStyle/>
          <a:p>
            <a:pPr marL="0" indent="0">
              <a:buNone/>
            </a:pPr>
            <a:r>
              <a:rPr sz="1050">
                <a:latin typeface="Calibri"/>
                <a:ea typeface="Calibri"/>
                <a:cs typeface="Calibri"/>
              </a:rPr>
              <a:t>miles removed from the</a:t>
            </a:r>
            <a:endParaRPr sz="1050"/>
          </a:p>
          <a:p>
            <a:pPr marL="0" indent="0">
              <a:buNone/>
            </a:pPr>
            <a:r>
              <a:rPr sz="1050">
                <a:latin typeface="Calibri"/>
                <a:ea typeface="Calibri"/>
                <a:cs typeface="Calibri"/>
              </a:rPr>
              <a:t>corridor label</a:t>
            </a:r>
            <a:endParaRPr sz="1050"/>
          </a:p>
        </p:txBody>
      </p:sp>
      <p:sp>
        <p:nvSpPr>
          <p:cNvPr id="52" name="Shape 25">
            <a:extLst>
              <a:ext uri="{FF2B5EF4-FFF2-40B4-BE49-F238E27FC236}">
                <a16:creationId xmlns:a16="http://schemas.microsoft.com/office/drawing/2014/main" id="{A062946B-4E82-7FFA-BB58-BFF6BFBEA15F}"/>
              </a:ext>
            </a:extLst>
          </p:cNvPr>
          <p:cNvSpPr>
            <a:spLocks noGrp="1"/>
          </p:cNvSpPr>
          <p:nvPr/>
        </p:nvSpPr>
        <p:spPr>
          <a:xfrm>
            <a:off x="8509437" y="3204871"/>
            <a:ext cx="137160" cy="137160"/>
          </a:xfrm>
          <a:prstGeom prst="ellipse">
            <a:avLst/>
          </a:prstGeom>
          <a:solidFill>
            <a:srgbClr val="16232E"/>
          </a:solidFill>
          <a:ln w="12700">
            <a:solidFill>
              <a:srgbClr val="FFFFFF"/>
            </a:solidFill>
            <a:prstDash val="solid"/>
          </a:ln>
        </p:spPr>
        <p:txBody>
          <a:bodyPr/>
          <a:lstStyle/>
          <a:p>
            <a:endParaRPr/>
          </a:p>
        </p:txBody>
      </p:sp>
      <p:sp>
        <p:nvSpPr>
          <p:cNvPr id="53" name="Shape 25">
            <a:extLst>
              <a:ext uri="{FF2B5EF4-FFF2-40B4-BE49-F238E27FC236}">
                <a16:creationId xmlns:a16="http://schemas.microsoft.com/office/drawing/2014/main" id="{9B3CE748-C4F1-0278-D745-9D01E654C198}"/>
              </a:ext>
            </a:extLst>
          </p:cNvPr>
          <p:cNvSpPr>
            <a:spLocks noGrp="1"/>
          </p:cNvSpPr>
          <p:nvPr/>
        </p:nvSpPr>
        <p:spPr>
          <a:xfrm>
            <a:off x="9928331" y="2668843"/>
            <a:ext cx="137160" cy="137160"/>
          </a:xfrm>
          <a:prstGeom prst="ellipse">
            <a:avLst/>
          </a:prstGeom>
          <a:solidFill>
            <a:srgbClr val="16232E"/>
          </a:solidFill>
          <a:ln w="12700">
            <a:solidFill>
              <a:srgbClr val="FFFFFF"/>
            </a:solidFill>
            <a:prstDash val="solid"/>
          </a:ln>
        </p:spPr>
        <p:txBody>
          <a:bodyPr/>
          <a:lstStyle/>
          <a:p>
            <a:endParaRPr/>
          </a:p>
        </p:txBody>
      </p:sp>
      <p:sp>
        <p:nvSpPr>
          <p:cNvPr id="54" name="Shape 25">
            <a:extLst>
              <a:ext uri="{FF2B5EF4-FFF2-40B4-BE49-F238E27FC236}">
                <a16:creationId xmlns:a16="http://schemas.microsoft.com/office/drawing/2014/main" id="{0A22F6E0-03CD-F720-6874-0404C1F0B519}"/>
              </a:ext>
            </a:extLst>
          </p:cNvPr>
          <p:cNvSpPr>
            <a:spLocks noGrp="1"/>
          </p:cNvSpPr>
          <p:nvPr/>
        </p:nvSpPr>
        <p:spPr>
          <a:xfrm>
            <a:off x="10674564" y="2311490"/>
            <a:ext cx="137160" cy="137160"/>
          </a:xfrm>
          <a:prstGeom prst="ellipse">
            <a:avLst/>
          </a:prstGeom>
          <a:solidFill>
            <a:srgbClr val="16232E"/>
          </a:solidFill>
          <a:ln w="12700">
            <a:solidFill>
              <a:srgbClr val="FFFFFF"/>
            </a:solidFill>
            <a:prstDash val="solid"/>
          </a:ln>
        </p:spPr>
        <p:txBody>
          <a:bodyPr/>
          <a:lstStyle/>
          <a:p>
            <a:endParaRPr/>
          </a:p>
        </p:txBody>
      </p:sp>
    </p:spTree>
    <p:extLst>
      <p:ext uri="{BB962C8B-B14F-4D97-AF65-F5344CB8AC3E}">
        <p14:creationId xmlns:p14="http://schemas.microsoft.com/office/powerpoint/2010/main" val="2051520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6C46189-EE9A-4A86-8370-52489035CBF0}"/>
              </a:ext>
            </a:extLst>
          </p:cNvPr>
          <p:cNvSpPr>
            <a:spLocks noGrp="1"/>
          </p:cNvSpPr>
          <p:nvPr/>
        </p:nvSpPr>
        <p:spPr>
          <a:xfrm>
            <a:off x="502920" y="310896"/>
            <a:ext cx="11155680" cy="566928"/>
          </a:xfrm>
          <a:prstGeom prst="rect">
            <a:avLst/>
          </a:prstGeom>
          <a:noFill/>
        </p:spPr>
        <p:txBody>
          <a:bodyPr wrap="square" lIns="0" tIns="0" rIns="0" bIns="0" anchor="ctr"/>
          <a:lstStyle/>
          <a:p>
            <a:r>
              <a:rPr sz="3200" b="1">
                <a:latin typeface="Cambria"/>
                <a:ea typeface="Cambria"/>
                <a:cs typeface="Cambria"/>
              </a:rPr>
              <a:t>Refine 2</a:t>
            </a:r>
            <a:endParaRPr sz="3200"/>
          </a:p>
        </p:txBody>
      </p:sp>
      <p:sp>
        <p:nvSpPr>
          <p:cNvPr id="3" name="Text 1">
            <a:extLst>
              <a:ext uri="{FF2B5EF4-FFF2-40B4-BE49-F238E27FC236}">
                <a16:creationId xmlns:a16="http://schemas.microsoft.com/office/drawing/2014/main" id="{D18B7BC4-FA45-4E90-8CD7-9146CB88F446}"/>
              </a:ext>
            </a:extLst>
          </p:cNvPr>
          <p:cNvSpPr>
            <a:spLocks noGrp="1"/>
          </p:cNvSpPr>
          <p:nvPr/>
        </p:nvSpPr>
        <p:spPr>
          <a:xfrm>
            <a:off x="502920" y="914400"/>
            <a:ext cx="11155680" cy="310896"/>
          </a:xfrm>
          <a:prstGeom prst="rect">
            <a:avLst/>
          </a:prstGeom>
          <a:noFill/>
        </p:spPr>
        <p:txBody>
          <a:bodyPr wrap="square" lIns="0" tIns="0" rIns="0" bIns="0" anchor="ctr"/>
          <a:lstStyle/>
          <a:p>
            <a:pPr marL="0" indent="0">
              <a:buNone/>
            </a:pPr>
            <a:r>
              <a:rPr sz="1400">
                <a:latin typeface="Calibri"/>
                <a:ea typeface="Calibri"/>
                <a:cs typeface="Calibri"/>
              </a:rPr>
              <a:t>The network stores the same railroad more than once. Counting records would invent track; the fix is to cluster by lateral offset.</a:t>
            </a:r>
            <a:endParaRPr sz="1400"/>
          </a:p>
        </p:txBody>
      </p:sp>
      <p:sp>
        <p:nvSpPr>
          <p:cNvPr id="4" name="Shape 2">
            <a:extLst>
              <a:ext uri="{FF2B5EF4-FFF2-40B4-BE49-F238E27FC236}">
                <a16:creationId xmlns:a16="http://schemas.microsoft.com/office/drawing/2014/main" id="{788829B0-437C-407F-A43C-62E4B72F7C7B}"/>
              </a:ext>
            </a:extLst>
          </p:cNvPr>
          <p:cNvSpPr>
            <a:spLocks noGrp="1"/>
          </p:cNvSpPr>
          <p:nvPr/>
        </p:nvSpPr>
        <p:spPr>
          <a:xfrm>
            <a:off x="502920" y="1481328"/>
            <a:ext cx="3602736" cy="3054096"/>
          </a:xfrm>
          <a:prstGeom prst="roundRect">
            <a:avLst>
              <a:gd name="adj" fmla="val 1796"/>
            </a:avLst>
          </a:prstGeom>
          <a:noFill/>
          <a:ln w="15875">
            <a:solidFill>
              <a:srgbClr val="D6DEE5"/>
            </a:solidFill>
            <a:prstDash val="solid"/>
          </a:ln>
        </p:spPr>
        <p:txBody>
          <a:bodyPr/>
          <a:lstStyle/>
          <a:p>
            <a:endParaRPr/>
          </a:p>
        </p:txBody>
      </p:sp>
      <p:sp>
        <p:nvSpPr>
          <p:cNvPr id="5" name="Text 3">
            <a:extLst>
              <a:ext uri="{FF2B5EF4-FFF2-40B4-BE49-F238E27FC236}">
                <a16:creationId xmlns:a16="http://schemas.microsoft.com/office/drawing/2014/main" id="{EB353A97-8555-4C82-AA2B-FD9A5DC9D757}"/>
              </a:ext>
            </a:extLst>
          </p:cNvPr>
          <p:cNvSpPr>
            <a:spLocks noGrp="1"/>
          </p:cNvSpPr>
          <p:nvPr/>
        </p:nvSpPr>
        <p:spPr>
          <a:xfrm>
            <a:off x="704088" y="1627632"/>
            <a:ext cx="1097280" cy="219456"/>
          </a:xfrm>
          <a:prstGeom prst="rect">
            <a:avLst/>
          </a:prstGeom>
          <a:noFill/>
        </p:spPr>
        <p:txBody>
          <a:bodyPr wrap="square" lIns="0" tIns="0" rIns="0" bIns="0" anchor="ctr"/>
          <a:lstStyle/>
          <a:p>
            <a:pPr marL="0" indent="0">
              <a:buNone/>
            </a:pPr>
            <a:r>
              <a:rPr sz="900" b="1">
                <a:latin typeface="Calibri"/>
                <a:ea typeface="Calibri"/>
                <a:cs typeface="Calibri"/>
              </a:rPr>
              <a:t>CASE A</a:t>
            </a:r>
            <a:endParaRPr sz="900"/>
          </a:p>
        </p:txBody>
      </p:sp>
      <p:sp>
        <p:nvSpPr>
          <p:cNvPr id="6" name="Text 4">
            <a:extLst>
              <a:ext uri="{FF2B5EF4-FFF2-40B4-BE49-F238E27FC236}">
                <a16:creationId xmlns:a16="http://schemas.microsoft.com/office/drawing/2014/main" id="{C5C6D89E-B512-46C2-826A-94EF86E16F15}"/>
              </a:ext>
            </a:extLst>
          </p:cNvPr>
          <p:cNvSpPr>
            <a:spLocks noGrp="1"/>
          </p:cNvSpPr>
          <p:nvPr/>
        </p:nvSpPr>
        <p:spPr>
          <a:xfrm>
            <a:off x="704088" y="1865376"/>
            <a:ext cx="3200400" cy="274320"/>
          </a:xfrm>
          <a:prstGeom prst="rect">
            <a:avLst/>
          </a:prstGeom>
          <a:noFill/>
        </p:spPr>
        <p:txBody>
          <a:bodyPr wrap="square" lIns="0" tIns="0" rIns="0" bIns="0" anchor="ctr"/>
          <a:lstStyle/>
          <a:p>
            <a:pPr marL="0" indent="0">
              <a:buNone/>
            </a:pPr>
            <a:r>
              <a:rPr sz="1400" b="1">
                <a:latin typeface="Cambria"/>
                <a:ea typeface="Cambria"/>
                <a:cs typeface="Cambria"/>
              </a:rPr>
              <a:t>Duplicate records</a:t>
            </a:r>
            <a:endParaRPr sz="1400"/>
          </a:p>
        </p:txBody>
      </p:sp>
      <p:sp>
        <p:nvSpPr>
          <p:cNvPr id="7" name="Shape 5">
            <a:extLst>
              <a:ext uri="{FF2B5EF4-FFF2-40B4-BE49-F238E27FC236}">
                <a16:creationId xmlns:a16="http://schemas.microsoft.com/office/drawing/2014/main" id="{184BBDC4-CADF-46A7-91EC-E3D73305E03E}"/>
              </a:ext>
            </a:extLst>
          </p:cNvPr>
          <p:cNvSpPr>
            <a:spLocks noGrp="1"/>
          </p:cNvSpPr>
          <p:nvPr/>
        </p:nvSpPr>
        <p:spPr>
          <a:xfrm>
            <a:off x="960120" y="2651760"/>
            <a:ext cx="2688336" cy="0"/>
          </a:xfrm>
          <a:prstGeom prst="line">
            <a:avLst/>
          </a:prstGeom>
          <a:noFill/>
          <a:ln w="31750">
            <a:solidFill>
              <a:srgbClr val="16232E"/>
            </a:solidFill>
            <a:prstDash val="solid"/>
          </a:ln>
        </p:spPr>
        <p:txBody>
          <a:bodyPr/>
          <a:lstStyle/>
          <a:p>
            <a:endParaRPr/>
          </a:p>
        </p:txBody>
      </p:sp>
      <p:sp>
        <p:nvSpPr>
          <p:cNvPr id="8" name="Shape 6">
            <a:extLst>
              <a:ext uri="{FF2B5EF4-FFF2-40B4-BE49-F238E27FC236}">
                <a16:creationId xmlns:a16="http://schemas.microsoft.com/office/drawing/2014/main" id="{9DC3D64B-79D8-42C7-A555-DCD4C3EA4EB0}"/>
              </a:ext>
            </a:extLst>
          </p:cNvPr>
          <p:cNvSpPr>
            <a:spLocks noGrp="1"/>
          </p:cNvSpPr>
          <p:nvPr/>
        </p:nvSpPr>
        <p:spPr>
          <a:xfrm>
            <a:off x="960120" y="2688336"/>
            <a:ext cx="2688336" cy="0"/>
          </a:xfrm>
          <a:prstGeom prst="line">
            <a:avLst/>
          </a:prstGeom>
          <a:noFill/>
          <a:ln w="31750">
            <a:solidFill>
              <a:srgbClr val="16232E"/>
            </a:solidFill>
            <a:prstDash val="solid"/>
          </a:ln>
        </p:spPr>
        <p:txBody>
          <a:bodyPr/>
          <a:lstStyle/>
          <a:p>
            <a:endParaRPr/>
          </a:p>
        </p:txBody>
      </p:sp>
      <p:sp>
        <p:nvSpPr>
          <p:cNvPr id="9" name="Text 7">
            <a:extLst>
              <a:ext uri="{FF2B5EF4-FFF2-40B4-BE49-F238E27FC236}">
                <a16:creationId xmlns:a16="http://schemas.microsoft.com/office/drawing/2014/main" id="{94F1711C-825A-4A2E-9AF1-7906BBDA87BB}"/>
              </a:ext>
            </a:extLst>
          </p:cNvPr>
          <p:cNvSpPr>
            <a:spLocks noGrp="1"/>
          </p:cNvSpPr>
          <p:nvPr/>
        </p:nvSpPr>
        <p:spPr>
          <a:xfrm>
            <a:off x="960120" y="2761488"/>
            <a:ext cx="1463040" cy="201168"/>
          </a:xfrm>
          <a:prstGeom prst="rect">
            <a:avLst/>
          </a:prstGeom>
          <a:noFill/>
        </p:spPr>
        <p:txBody>
          <a:bodyPr wrap="square" lIns="0" tIns="0" rIns="0" bIns="0" anchor="ctr"/>
          <a:lstStyle/>
          <a:p>
            <a:pPr marL="0" indent="0">
              <a:buNone/>
            </a:pPr>
            <a:r>
              <a:rPr sz="850" i="1">
                <a:latin typeface="Calibri"/>
                <a:ea typeface="Calibri"/>
                <a:cs typeface="Calibri"/>
              </a:rPr>
              <a:t>&lt; 10 m apart</a:t>
            </a:r>
            <a:endParaRPr sz="850"/>
          </a:p>
        </p:txBody>
      </p:sp>
      <p:sp>
        <p:nvSpPr>
          <p:cNvPr id="10" name="Text 8">
            <a:extLst>
              <a:ext uri="{FF2B5EF4-FFF2-40B4-BE49-F238E27FC236}">
                <a16:creationId xmlns:a16="http://schemas.microsoft.com/office/drawing/2014/main" id="{0E98D453-84C1-4075-BBDE-734C91E15242}"/>
              </a:ext>
            </a:extLst>
          </p:cNvPr>
          <p:cNvSpPr>
            <a:spLocks noGrp="1"/>
          </p:cNvSpPr>
          <p:nvPr/>
        </p:nvSpPr>
        <p:spPr>
          <a:xfrm>
            <a:off x="960120" y="2267712"/>
            <a:ext cx="2688336" cy="182880"/>
          </a:xfrm>
          <a:prstGeom prst="rect">
            <a:avLst/>
          </a:prstGeom>
          <a:noFill/>
        </p:spPr>
        <p:txBody>
          <a:bodyPr wrap="square" lIns="0" tIns="0" rIns="0" bIns="0" anchor="ctr"/>
          <a:lstStyle/>
          <a:p>
            <a:pPr marL="0" indent="0">
              <a:buNone/>
            </a:pPr>
            <a:r>
              <a:rPr sz="800">
                <a:latin typeface="Calibri"/>
                <a:ea typeface="Calibri"/>
                <a:cs typeface="Calibri"/>
              </a:rPr>
              <a:t>lateral offset from centerline</a:t>
            </a:r>
            <a:endParaRPr sz="800"/>
          </a:p>
        </p:txBody>
      </p:sp>
      <p:sp>
        <p:nvSpPr>
          <p:cNvPr id="11" name="Text 9">
            <a:extLst>
              <a:ext uri="{FF2B5EF4-FFF2-40B4-BE49-F238E27FC236}">
                <a16:creationId xmlns:a16="http://schemas.microsoft.com/office/drawing/2014/main" id="{1B2916B7-065F-425A-A579-66EB182395F4}"/>
              </a:ext>
            </a:extLst>
          </p:cNvPr>
          <p:cNvSpPr>
            <a:spLocks noGrp="1"/>
          </p:cNvSpPr>
          <p:nvPr/>
        </p:nvSpPr>
        <p:spPr>
          <a:xfrm>
            <a:off x="704088" y="3419856"/>
            <a:ext cx="3200400" cy="274320"/>
          </a:xfrm>
          <a:prstGeom prst="rect">
            <a:avLst/>
          </a:prstGeom>
          <a:noFill/>
        </p:spPr>
        <p:txBody>
          <a:bodyPr wrap="square" lIns="0" tIns="0" rIns="0" bIns="0" anchor="ctr"/>
          <a:lstStyle/>
          <a:p>
            <a:pPr marL="0" indent="0">
              <a:buNone/>
            </a:pPr>
            <a:r>
              <a:rPr sz="1500" b="1">
                <a:latin typeface="Cambria"/>
                <a:ea typeface="Cambria"/>
                <a:cs typeface="Cambria"/>
              </a:rPr>
              <a:t>1 alignment</a:t>
            </a:r>
            <a:endParaRPr sz="1500"/>
          </a:p>
        </p:txBody>
      </p:sp>
      <p:sp>
        <p:nvSpPr>
          <p:cNvPr id="12" name="Text 10">
            <a:extLst>
              <a:ext uri="{FF2B5EF4-FFF2-40B4-BE49-F238E27FC236}">
                <a16:creationId xmlns:a16="http://schemas.microsoft.com/office/drawing/2014/main" id="{C3CDC7AD-D24E-4508-A834-C7F016667E61}"/>
              </a:ext>
            </a:extLst>
          </p:cNvPr>
          <p:cNvSpPr>
            <a:spLocks noGrp="1"/>
          </p:cNvSpPr>
          <p:nvPr/>
        </p:nvSpPr>
        <p:spPr>
          <a:xfrm>
            <a:off x="704088" y="3730752"/>
            <a:ext cx="3200400" cy="420624"/>
          </a:xfrm>
          <a:prstGeom prst="rect">
            <a:avLst/>
          </a:prstGeom>
          <a:noFill/>
        </p:spPr>
        <p:txBody>
          <a:bodyPr wrap="square" lIns="0" tIns="0" rIns="0" bIns="0" anchor="ctr"/>
          <a:lstStyle/>
          <a:p>
            <a:pPr marL="0" indent="0">
              <a:buNone/>
            </a:pPr>
            <a:r>
              <a:rPr sz="950">
                <a:latin typeface="Calibri"/>
                <a:ea typeface="Calibri"/>
                <a:cs typeface="Calibri"/>
              </a:rPr>
              <a:t>Same track digitised twice with different node ids. Offsets differ by &lt; 10 m.</a:t>
            </a:r>
            <a:endParaRPr sz="950"/>
          </a:p>
        </p:txBody>
      </p:sp>
      <p:sp>
        <p:nvSpPr>
          <p:cNvPr id="13" name="Text 11">
            <a:extLst>
              <a:ext uri="{FF2B5EF4-FFF2-40B4-BE49-F238E27FC236}">
                <a16:creationId xmlns:a16="http://schemas.microsoft.com/office/drawing/2014/main" id="{A67B57AC-E999-4836-9B88-9DDE3433E797}"/>
              </a:ext>
            </a:extLst>
          </p:cNvPr>
          <p:cNvSpPr>
            <a:spLocks noGrp="1"/>
          </p:cNvSpPr>
          <p:nvPr/>
        </p:nvSpPr>
        <p:spPr>
          <a:xfrm>
            <a:off x="704088" y="4187952"/>
            <a:ext cx="3200400" cy="256032"/>
          </a:xfrm>
          <a:prstGeom prst="rect">
            <a:avLst/>
          </a:prstGeom>
          <a:noFill/>
        </p:spPr>
        <p:txBody>
          <a:bodyPr wrap="square" lIns="0" tIns="0" rIns="0" bIns="0" anchor="ctr"/>
          <a:lstStyle/>
          <a:p>
            <a:pPr marL="0" indent="0">
              <a:buNone/>
            </a:pPr>
            <a:r>
              <a:rPr sz="850" i="1">
                <a:latin typeface="Calibri"/>
                <a:ea typeface="Calibri"/>
                <a:cs typeface="Calibri"/>
              </a:rPr>
              <a:t>counting records would read 2–6 tracks</a:t>
            </a:r>
            <a:endParaRPr sz="850"/>
          </a:p>
        </p:txBody>
      </p:sp>
      <p:sp>
        <p:nvSpPr>
          <p:cNvPr id="14" name="Shape 12">
            <a:extLst>
              <a:ext uri="{FF2B5EF4-FFF2-40B4-BE49-F238E27FC236}">
                <a16:creationId xmlns:a16="http://schemas.microsoft.com/office/drawing/2014/main" id="{3F08DBAB-20C3-452A-A28E-84E688FB3932}"/>
              </a:ext>
            </a:extLst>
          </p:cNvPr>
          <p:cNvSpPr>
            <a:spLocks noGrp="1"/>
          </p:cNvSpPr>
          <p:nvPr/>
        </p:nvSpPr>
        <p:spPr>
          <a:xfrm>
            <a:off x="4279392" y="1481328"/>
            <a:ext cx="3602736" cy="3054096"/>
          </a:xfrm>
          <a:prstGeom prst="roundRect">
            <a:avLst>
              <a:gd name="adj" fmla="val 1796"/>
            </a:avLst>
          </a:prstGeom>
          <a:noFill/>
          <a:ln w="15875">
            <a:solidFill>
              <a:srgbClr val="D6DEE5"/>
            </a:solidFill>
            <a:prstDash val="solid"/>
          </a:ln>
        </p:spPr>
        <p:txBody>
          <a:bodyPr/>
          <a:lstStyle/>
          <a:p>
            <a:endParaRPr/>
          </a:p>
        </p:txBody>
      </p:sp>
      <p:sp>
        <p:nvSpPr>
          <p:cNvPr id="15" name="Text 13">
            <a:extLst>
              <a:ext uri="{FF2B5EF4-FFF2-40B4-BE49-F238E27FC236}">
                <a16:creationId xmlns:a16="http://schemas.microsoft.com/office/drawing/2014/main" id="{2AD8E344-FA4F-4B72-AD4D-878DE6BFC4AA}"/>
              </a:ext>
            </a:extLst>
          </p:cNvPr>
          <p:cNvSpPr>
            <a:spLocks noGrp="1"/>
          </p:cNvSpPr>
          <p:nvPr/>
        </p:nvSpPr>
        <p:spPr>
          <a:xfrm>
            <a:off x="4480560" y="1627632"/>
            <a:ext cx="1097280" cy="219456"/>
          </a:xfrm>
          <a:prstGeom prst="rect">
            <a:avLst/>
          </a:prstGeom>
          <a:noFill/>
        </p:spPr>
        <p:txBody>
          <a:bodyPr wrap="square" lIns="0" tIns="0" rIns="0" bIns="0" anchor="ctr"/>
          <a:lstStyle/>
          <a:p>
            <a:pPr marL="0" indent="0">
              <a:buNone/>
            </a:pPr>
            <a:r>
              <a:rPr sz="900" b="1">
                <a:latin typeface="Calibri"/>
                <a:ea typeface="Calibri"/>
                <a:cs typeface="Calibri"/>
              </a:rPr>
              <a:t>CASE B</a:t>
            </a:r>
            <a:endParaRPr sz="900"/>
          </a:p>
        </p:txBody>
      </p:sp>
      <p:sp>
        <p:nvSpPr>
          <p:cNvPr id="16" name="Text 14">
            <a:extLst>
              <a:ext uri="{FF2B5EF4-FFF2-40B4-BE49-F238E27FC236}">
                <a16:creationId xmlns:a16="http://schemas.microsoft.com/office/drawing/2014/main" id="{E2764062-7DCA-4854-AA8E-21CF9FA11747}"/>
              </a:ext>
            </a:extLst>
          </p:cNvPr>
          <p:cNvSpPr>
            <a:spLocks noGrp="1"/>
          </p:cNvSpPr>
          <p:nvPr/>
        </p:nvSpPr>
        <p:spPr>
          <a:xfrm>
            <a:off x="4480560" y="1865376"/>
            <a:ext cx="3200400" cy="274320"/>
          </a:xfrm>
          <a:prstGeom prst="rect">
            <a:avLst/>
          </a:prstGeom>
          <a:noFill/>
        </p:spPr>
        <p:txBody>
          <a:bodyPr wrap="square" lIns="0" tIns="0" rIns="0" bIns="0" anchor="ctr"/>
          <a:lstStyle/>
          <a:p>
            <a:pPr marL="0" indent="0">
              <a:buNone/>
            </a:pPr>
            <a:r>
              <a:rPr sz="1400" b="1">
                <a:latin typeface="Cambria"/>
                <a:ea typeface="Cambria"/>
                <a:cs typeface="Cambria"/>
              </a:rPr>
              <a:t>Genuine parallel mains</a:t>
            </a:r>
            <a:endParaRPr sz="1400"/>
          </a:p>
        </p:txBody>
      </p:sp>
      <p:sp>
        <p:nvSpPr>
          <p:cNvPr id="17" name="Shape 15">
            <a:extLst>
              <a:ext uri="{FF2B5EF4-FFF2-40B4-BE49-F238E27FC236}">
                <a16:creationId xmlns:a16="http://schemas.microsoft.com/office/drawing/2014/main" id="{DC9CD139-5631-4A66-BFB8-DD0E367F5C23}"/>
              </a:ext>
            </a:extLst>
          </p:cNvPr>
          <p:cNvSpPr>
            <a:spLocks noGrp="1"/>
          </p:cNvSpPr>
          <p:nvPr/>
        </p:nvSpPr>
        <p:spPr>
          <a:xfrm>
            <a:off x="4736592" y="2651760"/>
            <a:ext cx="2688336" cy="0"/>
          </a:xfrm>
          <a:prstGeom prst="line">
            <a:avLst/>
          </a:prstGeom>
          <a:noFill/>
          <a:ln w="31750">
            <a:solidFill>
              <a:srgbClr val="16232E"/>
            </a:solidFill>
            <a:prstDash val="solid"/>
          </a:ln>
        </p:spPr>
        <p:txBody>
          <a:bodyPr/>
          <a:lstStyle/>
          <a:p>
            <a:endParaRPr/>
          </a:p>
        </p:txBody>
      </p:sp>
      <p:sp>
        <p:nvSpPr>
          <p:cNvPr id="18" name="Shape 16">
            <a:extLst>
              <a:ext uri="{FF2B5EF4-FFF2-40B4-BE49-F238E27FC236}">
                <a16:creationId xmlns:a16="http://schemas.microsoft.com/office/drawing/2014/main" id="{EACFF7FB-D234-446E-A916-A6EDD270CC77}"/>
              </a:ext>
            </a:extLst>
          </p:cNvPr>
          <p:cNvSpPr>
            <a:spLocks noGrp="1"/>
          </p:cNvSpPr>
          <p:nvPr/>
        </p:nvSpPr>
        <p:spPr>
          <a:xfrm>
            <a:off x="4736592" y="2926080"/>
            <a:ext cx="2688336" cy="0"/>
          </a:xfrm>
          <a:prstGeom prst="line">
            <a:avLst/>
          </a:prstGeom>
          <a:noFill/>
          <a:ln w="31750">
            <a:solidFill>
              <a:srgbClr val="16232E"/>
            </a:solidFill>
            <a:prstDash val="solid"/>
          </a:ln>
        </p:spPr>
        <p:txBody>
          <a:bodyPr/>
          <a:lstStyle/>
          <a:p>
            <a:endParaRPr/>
          </a:p>
        </p:txBody>
      </p:sp>
      <p:sp>
        <p:nvSpPr>
          <p:cNvPr id="19" name="Shape 17">
            <a:extLst>
              <a:ext uri="{FF2B5EF4-FFF2-40B4-BE49-F238E27FC236}">
                <a16:creationId xmlns:a16="http://schemas.microsoft.com/office/drawing/2014/main" id="{6FFE6EFE-E64C-4E58-9DC4-C8E08508680F}"/>
              </a:ext>
            </a:extLst>
          </p:cNvPr>
          <p:cNvSpPr>
            <a:spLocks noGrp="1"/>
          </p:cNvSpPr>
          <p:nvPr/>
        </p:nvSpPr>
        <p:spPr>
          <a:xfrm>
            <a:off x="4736592" y="3200400"/>
            <a:ext cx="2688336" cy="0"/>
          </a:xfrm>
          <a:prstGeom prst="line">
            <a:avLst/>
          </a:prstGeom>
          <a:noFill/>
          <a:ln w="31750">
            <a:solidFill>
              <a:srgbClr val="16232E"/>
            </a:solidFill>
            <a:prstDash val="solid"/>
          </a:ln>
        </p:spPr>
        <p:txBody>
          <a:bodyPr/>
          <a:lstStyle/>
          <a:p>
            <a:endParaRPr/>
          </a:p>
        </p:txBody>
      </p:sp>
      <p:sp>
        <p:nvSpPr>
          <p:cNvPr id="20" name="Text 18">
            <a:extLst>
              <a:ext uri="{FF2B5EF4-FFF2-40B4-BE49-F238E27FC236}">
                <a16:creationId xmlns:a16="http://schemas.microsoft.com/office/drawing/2014/main" id="{2BB0EF03-5B26-44B2-8B31-EB4C6CDEA7E6}"/>
              </a:ext>
            </a:extLst>
          </p:cNvPr>
          <p:cNvSpPr>
            <a:spLocks noGrp="1"/>
          </p:cNvSpPr>
          <p:nvPr/>
        </p:nvSpPr>
        <p:spPr>
          <a:xfrm>
            <a:off x="4736592" y="3232877"/>
            <a:ext cx="1463040" cy="201168"/>
          </a:xfrm>
          <a:prstGeom prst="rect">
            <a:avLst/>
          </a:prstGeom>
          <a:noFill/>
        </p:spPr>
        <p:txBody>
          <a:bodyPr wrap="square" lIns="0" tIns="0" rIns="0" bIns="0" anchor="ctr"/>
          <a:lstStyle/>
          <a:p>
            <a:pPr marL="0" indent="0">
              <a:buNone/>
            </a:pPr>
            <a:r>
              <a:rPr sz="850" i="1">
                <a:latin typeface="Calibri"/>
                <a:ea typeface="Calibri"/>
                <a:cs typeface="Calibri"/>
              </a:rPr>
              <a:t>&gt; 10 m apart</a:t>
            </a:r>
            <a:endParaRPr sz="850"/>
          </a:p>
        </p:txBody>
      </p:sp>
      <p:sp>
        <p:nvSpPr>
          <p:cNvPr id="21" name="Text 19">
            <a:extLst>
              <a:ext uri="{FF2B5EF4-FFF2-40B4-BE49-F238E27FC236}">
                <a16:creationId xmlns:a16="http://schemas.microsoft.com/office/drawing/2014/main" id="{01BB27C4-3A61-4D60-B920-3CD4E501FFF9}"/>
              </a:ext>
            </a:extLst>
          </p:cNvPr>
          <p:cNvSpPr>
            <a:spLocks noGrp="1"/>
          </p:cNvSpPr>
          <p:nvPr/>
        </p:nvSpPr>
        <p:spPr>
          <a:xfrm>
            <a:off x="4736592" y="2267712"/>
            <a:ext cx="2688336" cy="182880"/>
          </a:xfrm>
          <a:prstGeom prst="rect">
            <a:avLst/>
          </a:prstGeom>
          <a:noFill/>
        </p:spPr>
        <p:txBody>
          <a:bodyPr wrap="square" lIns="0" tIns="0" rIns="0" bIns="0" anchor="ctr"/>
          <a:lstStyle/>
          <a:p>
            <a:pPr marL="0" indent="0">
              <a:buNone/>
            </a:pPr>
            <a:r>
              <a:rPr sz="800">
                <a:latin typeface="Calibri"/>
                <a:ea typeface="Calibri"/>
                <a:cs typeface="Calibri"/>
              </a:rPr>
              <a:t>lateral offset from centerline</a:t>
            </a:r>
            <a:endParaRPr sz="800"/>
          </a:p>
        </p:txBody>
      </p:sp>
      <p:sp>
        <p:nvSpPr>
          <p:cNvPr id="22" name="Text 20">
            <a:extLst>
              <a:ext uri="{FF2B5EF4-FFF2-40B4-BE49-F238E27FC236}">
                <a16:creationId xmlns:a16="http://schemas.microsoft.com/office/drawing/2014/main" id="{9707EF2A-6FF3-44E0-93ED-D41A36624E7F}"/>
              </a:ext>
            </a:extLst>
          </p:cNvPr>
          <p:cNvSpPr>
            <a:spLocks noGrp="1"/>
          </p:cNvSpPr>
          <p:nvPr/>
        </p:nvSpPr>
        <p:spPr>
          <a:xfrm>
            <a:off x="4480560" y="3419856"/>
            <a:ext cx="3200400" cy="274320"/>
          </a:xfrm>
          <a:prstGeom prst="rect">
            <a:avLst/>
          </a:prstGeom>
          <a:noFill/>
        </p:spPr>
        <p:txBody>
          <a:bodyPr wrap="square" lIns="0" tIns="0" rIns="0" bIns="0" anchor="ctr"/>
          <a:lstStyle/>
          <a:p>
            <a:pPr marL="0" indent="0">
              <a:buNone/>
            </a:pPr>
            <a:r>
              <a:rPr sz="1500" b="1">
                <a:latin typeface="Cambria"/>
                <a:ea typeface="Cambria"/>
                <a:cs typeface="Cambria"/>
              </a:rPr>
              <a:t>3 alignments</a:t>
            </a:r>
            <a:endParaRPr sz="1500"/>
          </a:p>
        </p:txBody>
      </p:sp>
      <p:sp>
        <p:nvSpPr>
          <p:cNvPr id="23" name="Text 21">
            <a:extLst>
              <a:ext uri="{FF2B5EF4-FFF2-40B4-BE49-F238E27FC236}">
                <a16:creationId xmlns:a16="http://schemas.microsoft.com/office/drawing/2014/main" id="{C61B33F4-DE8A-4BFE-A017-7A224AD4B3F2}"/>
              </a:ext>
            </a:extLst>
          </p:cNvPr>
          <p:cNvSpPr>
            <a:spLocks noGrp="1"/>
          </p:cNvSpPr>
          <p:nvPr/>
        </p:nvSpPr>
        <p:spPr>
          <a:xfrm>
            <a:off x="4480560" y="3730752"/>
            <a:ext cx="3200400" cy="420624"/>
          </a:xfrm>
          <a:prstGeom prst="rect">
            <a:avLst/>
          </a:prstGeom>
          <a:noFill/>
        </p:spPr>
        <p:txBody>
          <a:bodyPr wrap="square" lIns="0" tIns="0" rIns="0" bIns="0" anchor="ctr"/>
          <a:lstStyle/>
          <a:p>
            <a:pPr marL="0" indent="0">
              <a:buNone/>
            </a:pPr>
            <a:r>
              <a:rPr sz="950">
                <a:latin typeface="Calibri"/>
                <a:ea typeface="Calibri"/>
                <a:cs typeface="Calibri"/>
              </a:rPr>
              <a:t>Separate alignments &gt; 10 m apart that persist for more than ±1.5 mi.</a:t>
            </a:r>
            <a:endParaRPr sz="950"/>
          </a:p>
        </p:txBody>
      </p:sp>
      <p:sp>
        <p:nvSpPr>
          <p:cNvPr id="24" name="Text 22">
            <a:extLst>
              <a:ext uri="{FF2B5EF4-FFF2-40B4-BE49-F238E27FC236}">
                <a16:creationId xmlns:a16="http://schemas.microsoft.com/office/drawing/2014/main" id="{BE6FF454-F4AF-4F81-BA59-325E7331CDCA}"/>
              </a:ext>
            </a:extLst>
          </p:cNvPr>
          <p:cNvSpPr>
            <a:spLocks noGrp="1"/>
          </p:cNvSpPr>
          <p:nvPr/>
        </p:nvSpPr>
        <p:spPr>
          <a:xfrm>
            <a:off x="4480560" y="4187952"/>
            <a:ext cx="3200400" cy="256032"/>
          </a:xfrm>
          <a:prstGeom prst="rect">
            <a:avLst/>
          </a:prstGeom>
          <a:noFill/>
        </p:spPr>
        <p:txBody>
          <a:bodyPr wrap="square" lIns="0" tIns="0" rIns="0" bIns="0" anchor="ctr"/>
          <a:lstStyle/>
          <a:p>
            <a:pPr marL="0" indent="0">
              <a:buNone/>
            </a:pPr>
            <a:r>
              <a:rPr sz="850" i="1">
                <a:latin typeface="Calibri"/>
                <a:ea typeface="Calibri"/>
                <a:cs typeface="Calibri"/>
              </a:rPr>
              <a:t>this is a real triple track</a:t>
            </a:r>
            <a:endParaRPr sz="850"/>
          </a:p>
        </p:txBody>
      </p:sp>
      <p:sp>
        <p:nvSpPr>
          <p:cNvPr id="25" name="Shape 23">
            <a:extLst>
              <a:ext uri="{FF2B5EF4-FFF2-40B4-BE49-F238E27FC236}">
                <a16:creationId xmlns:a16="http://schemas.microsoft.com/office/drawing/2014/main" id="{521BD3BC-DBBC-44FB-9C6B-465C512515EB}"/>
              </a:ext>
            </a:extLst>
          </p:cNvPr>
          <p:cNvSpPr>
            <a:spLocks noGrp="1"/>
          </p:cNvSpPr>
          <p:nvPr/>
        </p:nvSpPr>
        <p:spPr>
          <a:xfrm>
            <a:off x="8055864" y="1481328"/>
            <a:ext cx="3602736" cy="3054096"/>
          </a:xfrm>
          <a:prstGeom prst="roundRect">
            <a:avLst>
              <a:gd name="adj" fmla="val 1796"/>
            </a:avLst>
          </a:prstGeom>
          <a:noFill/>
          <a:ln w="15875">
            <a:solidFill>
              <a:srgbClr val="D6DEE5"/>
            </a:solidFill>
            <a:prstDash val="solid"/>
          </a:ln>
        </p:spPr>
        <p:txBody>
          <a:bodyPr/>
          <a:lstStyle/>
          <a:p>
            <a:endParaRPr/>
          </a:p>
        </p:txBody>
      </p:sp>
      <p:sp>
        <p:nvSpPr>
          <p:cNvPr id="26" name="Text 24">
            <a:extLst>
              <a:ext uri="{FF2B5EF4-FFF2-40B4-BE49-F238E27FC236}">
                <a16:creationId xmlns:a16="http://schemas.microsoft.com/office/drawing/2014/main" id="{C34CCCFA-9968-4D60-B40B-8BEB526D2A88}"/>
              </a:ext>
            </a:extLst>
          </p:cNvPr>
          <p:cNvSpPr>
            <a:spLocks noGrp="1"/>
          </p:cNvSpPr>
          <p:nvPr/>
        </p:nvSpPr>
        <p:spPr>
          <a:xfrm>
            <a:off x="8257032" y="1627632"/>
            <a:ext cx="1097280" cy="219456"/>
          </a:xfrm>
          <a:prstGeom prst="rect">
            <a:avLst/>
          </a:prstGeom>
          <a:noFill/>
        </p:spPr>
        <p:txBody>
          <a:bodyPr wrap="square" lIns="0" tIns="0" rIns="0" bIns="0" anchor="ctr"/>
          <a:lstStyle/>
          <a:p>
            <a:pPr marL="0" indent="0">
              <a:buNone/>
            </a:pPr>
            <a:r>
              <a:rPr sz="900" b="1">
                <a:latin typeface="Calibri"/>
                <a:ea typeface="Calibri"/>
                <a:cs typeface="Calibri"/>
              </a:rPr>
              <a:t>CASE C</a:t>
            </a:r>
            <a:endParaRPr sz="900"/>
          </a:p>
        </p:txBody>
      </p:sp>
      <p:sp>
        <p:nvSpPr>
          <p:cNvPr id="27" name="Text 25">
            <a:extLst>
              <a:ext uri="{FF2B5EF4-FFF2-40B4-BE49-F238E27FC236}">
                <a16:creationId xmlns:a16="http://schemas.microsoft.com/office/drawing/2014/main" id="{84D3847E-4B90-45FD-BCD8-7A99ABAF8126}"/>
              </a:ext>
            </a:extLst>
          </p:cNvPr>
          <p:cNvSpPr>
            <a:spLocks noGrp="1"/>
          </p:cNvSpPr>
          <p:nvPr/>
        </p:nvSpPr>
        <p:spPr>
          <a:xfrm>
            <a:off x="8257032" y="1865376"/>
            <a:ext cx="3200400" cy="274320"/>
          </a:xfrm>
          <a:prstGeom prst="rect">
            <a:avLst/>
          </a:prstGeom>
          <a:noFill/>
        </p:spPr>
        <p:txBody>
          <a:bodyPr wrap="square" lIns="0" tIns="0" rIns="0" bIns="0" anchor="ctr"/>
          <a:lstStyle/>
          <a:p>
            <a:pPr marL="0" indent="0">
              <a:buNone/>
            </a:pPr>
            <a:r>
              <a:rPr sz="1400" b="1">
                <a:latin typeface="Cambria"/>
                <a:ea typeface="Cambria"/>
                <a:cs typeface="Cambria"/>
              </a:rPr>
              <a:t>A siding inside the envelope</a:t>
            </a:r>
            <a:endParaRPr sz="1400"/>
          </a:p>
        </p:txBody>
      </p:sp>
      <p:sp>
        <p:nvSpPr>
          <p:cNvPr id="28" name="Shape 26">
            <a:extLst>
              <a:ext uri="{FF2B5EF4-FFF2-40B4-BE49-F238E27FC236}">
                <a16:creationId xmlns:a16="http://schemas.microsoft.com/office/drawing/2014/main" id="{C316C5CE-4477-4E37-BA8B-99E635BE10FA}"/>
              </a:ext>
            </a:extLst>
          </p:cNvPr>
          <p:cNvSpPr>
            <a:spLocks noGrp="1"/>
          </p:cNvSpPr>
          <p:nvPr/>
        </p:nvSpPr>
        <p:spPr>
          <a:xfrm>
            <a:off x="8513064" y="2651760"/>
            <a:ext cx="2688336" cy="0"/>
          </a:xfrm>
          <a:prstGeom prst="line">
            <a:avLst/>
          </a:prstGeom>
          <a:noFill/>
          <a:ln w="31750">
            <a:solidFill>
              <a:srgbClr val="16232E"/>
            </a:solidFill>
            <a:prstDash val="solid"/>
          </a:ln>
        </p:spPr>
        <p:txBody>
          <a:bodyPr/>
          <a:lstStyle/>
          <a:p>
            <a:endParaRPr/>
          </a:p>
        </p:txBody>
      </p:sp>
      <p:sp>
        <p:nvSpPr>
          <p:cNvPr id="29" name="Shape 27">
            <a:extLst>
              <a:ext uri="{FF2B5EF4-FFF2-40B4-BE49-F238E27FC236}">
                <a16:creationId xmlns:a16="http://schemas.microsoft.com/office/drawing/2014/main" id="{13113E40-E60A-41AA-8594-8F6C5DBE98C1}"/>
              </a:ext>
            </a:extLst>
          </p:cNvPr>
          <p:cNvSpPr>
            <a:spLocks noGrp="1"/>
          </p:cNvSpPr>
          <p:nvPr/>
        </p:nvSpPr>
        <p:spPr>
          <a:xfrm>
            <a:off x="9319565" y="2944368"/>
            <a:ext cx="1129101" cy="0"/>
          </a:xfrm>
          <a:prstGeom prst="line">
            <a:avLst/>
          </a:prstGeom>
          <a:noFill/>
          <a:ln w="31750">
            <a:solidFill>
              <a:srgbClr val="C8912B"/>
            </a:solidFill>
            <a:prstDash val="dash"/>
          </a:ln>
        </p:spPr>
        <p:txBody>
          <a:bodyPr/>
          <a:lstStyle/>
          <a:p>
            <a:endParaRPr/>
          </a:p>
        </p:txBody>
      </p:sp>
      <p:sp>
        <p:nvSpPr>
          <p:cNvPr id="30" name="Text 28">
            <a:extLst>
              <a:ext uri="{FF2B5EF4-FFF2-40B4-BE49-F238E27FC236}">
                <a16:creationId xmlns:a16="http://schemas.microsoft.com/office/drawing/2014/main" id="{8F33DA29-CB74-46C3-9E88-2EEDC40D9407}"/>
              </a:ext>
            </a:extLst>
          </p:cNvPr>
          <p:cNvSpPr>
            <a:spLocks noGrp="1"/>
          </p:cNvSpPr>
          <p:nvPr/>
        </p:nvSpPr>
        <p:spPr>
          <a:xfrm>
            <a:off x="8513064" y="2779776"/>
            <a:ext cx="1463040" cy="201168"/>
          </a:xfrm>
          <a:prstGeom prst="rect">
            <a:avLst/>
          </a:prstGeom>
          <a:noFill/>
        </p:spPr>
        <p:txBody>
          <a:bodyPr wrap="square" lIns="0" tIns="0" rIns="0" bIns="0" anchor="ctr"/>
          <a:lstStyle/>
          <a:p>
            <a:pPr marL="0" indent="0">
              <a:buNone/>
            </a:pPr>
            <a:r>
              <a:rPr sz="850" i="1">
                <a:latin typeface="Calibri"/>
                <a:ea typeface="Calibri"/>
                <a:cs typeface="Calibri"/>
              </a:rPr>
              <a:t>&gt; 10 m apart</a:t>
            </a:r>
            <a:endParaRPr sz="850"/>
          </a:p>
        </p:txBody>
      </p:sp>
      <p:sp>
        <p:nvSpPr>
          <p:cNvPr id="31" name="Text 29">
            <a:extLst>
              <a:ext uri="{FF2B5EF4-FFF2-40B4-BE49-F238E27FC236}">
                <a16:creationId xmlns:a16="http://schemas.microsoft.com/office/drawing/2014/main" id="{42F4BF99-3800-40FD-8912-B5AEB7EF3272}"/>
              </a:ext>
            </a:extLst>
          </p:cNvPr>
          <p:cNvSpPr>
            <a:spLocks noGrp="1"/>
          </p:cNvSpPr>
          <p:nvPr/>
        </p:nvSpPr>
        <p:spPr>
          <a:xfrm>
            <a:off x="8513064" y="2267712"/>
            <a:ext cx="2688336" cy="182880"/>
          </a:xfrm>
          <a:prstGeom prst="rect">
            <a:avLst/>
          </a:prstGeom>
          <a:noFill/>
        </p:spPr>
        <p:txBody>
          <a:bodyPr wrap="square" lIns="0" tIns="0" rIns="0" bIns="0" anchor="ctr"/>
          <a:lstStyle/>
          <a:p>
            <a:pPr marL="0" indent="0">
              <a:buNone/>
            </a:pPr>
            <a:r>
              <a:rPr sz="800">
                <a:latin typeface="Calibri"/>
                <a:ea typeface="Calibri"/>
                <a:cs typeface="Calibri"/>
              </a:rPr>
              <a:t>lateral offset from centerline</a:t>
            </a:r>
            <a:endParaRPr sz="800"/>
          </a:p>
        </p:txBody>
      </p:sp>
      <p:sp>
        <p:nvSpPr>
          <p:cNvPr id="32" name="Text 30">
            <a:extLst>
              <a:ext uri="{FF2B5EF4-FFF2-40B4-BE49-F238E27FC236}">
                <a16:creationId xmlns:a16="http://schemas.microsoft.com/office/drawing/2014/main" id="{8EB4CE0B-0D3D-4285-90E6-32A7A148A14F}"/>
              </a:ext>
            </a:extLst>
          </p:cNvPr>
          <p:cNvSpPr>
            <a:spLocks noGrp="1"/>
          </p:cNvSpPr>
          <p:nvPr/>
        </p:nvSpPr>
        <p:spPr>
          <a:xfrm>
            <a:off x="8257032" y="3419856"/>
            <a:ext cx="3200400" cy="274320"/>
          </a:xfrm>
          <a:prstGeom prst="rect">
            <a:avLst/>
          </a:prstGeom>
          <a:noFill/>
        </p:spPr>
        <p:txBody>
          <a:bodyPr wrap="square" lIns="0" tIns="0" rIns="0" bIns="0" anchor="ctr"/>
          <a:lstStyle/>
          <a:p>
            <a:pPr marL="0" indent="0">
              <a:buNone/>
            </a:pPr>
            <a:r>
              <a:rPr sz="1500" b="1">
                <a:latin typeface="Cambria"/>
                <a:ea typeface="Cambria"/>
                <a:cs typeface="Cambria"/>
              </a:rPr>
              <a:t>1 alignment</a:t>
            </a:r>
            <a:endParaRPr sz="1500"/>
          </a:p>
        </p:txBody>
      </p:sp>
      <p:sp>
        <p:nvSpPr>
          <p:cNvPr id="33" name="Text 31">
            <a:extLst>
              <a:ext uri="{FF2B5EF4-FFF2-40B4-BE49-F238E27FC236}">
                <a16:creationId xmlns:a16="http://schemas.microsoft.com/office/drawing/2014/main" id="{BD0C6203-17B0-4646-858A-0680B8350B8F}"/>
              </a:ext>
            </a:extLst>
          </p:cNvPr>
          <p:cNvSpPr>
            <a:spLocks noGrp="1"/>
          </p:cNvSpPr>
          <p:nvPr/>
        </p:nvSpPr>
        <p:spPr>
          <a:xfrm>
            <a:off x="8257032" y="3730752"/>
            <a:ext cx="3200400" cy="420624"/>
          </a:xfrm>
          <a:prstGeom prst="rect">
            <a:avLst/>
          </a:prstGeom>
          <a:noFill/>
        </p:spPr>
        <p:txBody>
          <a:bodyPr wrap="square" lIns="0" tIns="0" rIns="0" bIns="0" anchor="ctr"/>
          <a:lstStyle/>
          <a:p>
            <a:pPr marL="0" indent="0">
              <a:buNone/>
            </a:pPr>
            <a:r>
              <a:rPr sz="950">
                <a:latin typeface="Calibri"/>
                <a:ea typeface="Calibri"/>
                <a:cs typeface="Calibri"/>
              </a:rPr>
              <a:t>Second alignment lasts only 1–3 mi, so the persistence filter rejects it.</a:t>
            </a:r>
            <a:endParaRPr sz="950"/>
          </a:p>
        </p:txBody>
      </p:sp>
      <p:sp>
        <p:nvSpPr>
          <p:cNvPr id="34" name="Text 32">
            <a:extLst>
              <a:ext uri="{FF2B5EF4-FFF2-40B4-BE49-F238E27FC236}">
                <a16:creationId xmlns:a16="http://schemas.microsoft.com/office/drawing/2014/main" id="{06443A55-B61A-4203-BC57-97284DF01F10}"/>
              </a:ext>
            </a:extLst>
          </p:cNvPr>
          <p:cNvSpPr>
            <a:spLocks noGrp="1"/>
          </p:cNvSpPr>
          <p:nvPr/>
        </p:nvSpPr>
        <p:spPr>
          <a:xfrm>
            <a:off x="8257032" y="4187952"/>
            <a:ext cx="3200400" cy="256032"/>
          </a:xfrm>
          <a:prstGeom prst="rect">
            <a:avLst/>
          </a:prstGeom>
          <a:noFill/>
        </p:spPr>
        <p:txBody>
          <a:bodyPr wrap="square" lIns="0" tIns="0" rIns="0" bIns="0" anchor="ctr"/>
          <a:lstStyle/>
          <a:p>
            <a:pPr marL="0" indent="0">
              <a:buNone/>
            </a:pPr>
            <a:r>
              <a:rPr sz="850" i="1">
                <a:latin typeface="Calibri"/>
                <a:ea typeface="Calibri"/>
                <a:cs typeface="Calibri"/>
              </a:rPr>
              <a:t>handed to the siding layer, not counted as main</a:t>
            </a:r>
            <a:endParaRPr sz="850"/>
          </a:p>
        </p:txBody>
      </p:sp>
      <p:sp>
        <p:nvSpPr>
          <p:cNvPr id="35" name="Shape 33">
            <a:extLst>
              <a:ext uri="{FF2B5EF4-FFF2-40B4-BE49-F238E27FC236}">
                <a16:creationId xmlns:a16="http://schemas.microsoft.com/office/drawing/2014/main" id="{EBE56E20-C4E5-423D-BCF6-9D8627C6E38E}"/>
              </a:ext>
            </a:extLst>
          </p:cNvPr>
          <p:cNvSpPr>
            <a:spLocks noGrp="1"/>
          </p:cNvSpPr>
          <p:nvPr/>
        </p:nvSpPr>
        <p:spPr>
          <a:xfrm>
            <a:off x="502920" y="4754880"/>
            <a:ext cx="6903720" cy="914400"/>
          </a:xfrm>
          <a:prstGeom prst="roundRect">
            <a:avLst>
              <a:gd name="adj" fmla="val 6000"/>
            </a:avLst>
          </a:prstGeom>
          <a:noFill/>
          <a:ln w="12700">
            <a:solidFill>
              <a:srgbClr val="16232E"/>
            </a:solidFill>
            <a:prstDash val="solid"/>
          </a:ln>
        </p:spPr>
        <p:txBody>
          <a:bodyPr/>
          <a:lstStyle/>
          <a:p>
            <a:endParaRPr/>
          </a:p>
        </p:txBody>
      </p:sp>
      <p:sp>
        <p:nvSpPr>
          <p:cNvPr id="36" name="Text 34">
            <a:extLst>
              <a:ext uri="{FF2B5EF4-FFF2-40B4-BE49-F238E27FC236}">
                <a16:creationId xmlns:a16="http://schemas.microsoft.com/office/drawing/2014/main" id="{AA38A03D-7997-4BE1-A5CB-3CB0ACB2F68B}"/>
              </a:ext>
            </a:extLst>
          </p:cNvPr>
          <p:cNvSpPr>
            <a:spLocks noGrp="1"/>
          </p:cNvSpPr>
          <p:nvPr/>
        </p:nvSpPr>
        <p:spPr>
          <a:xfrm>
            <a:off x="731520" y="4882896"/>
            <a:ext cx="6446520" cy="310896"/>
          </a:xfrm>
          <a:prstGeom prst="rect">
            <a:avLst/>
          </a:prstGeom>
          <a:noFill/>
        </p:spPr>
        <p:txBody>
          <a:bodyPr wrap="square" lIns="0" tIns="0" rIns="0" bIns="0" anchor="ctr"/>
          <a:lstStyle/>
          <a:p>
            <a:pPr marL="0" indent="0">
              <a:buNone/>
            </a:pPr>
            <a:r>
              <a:rPr sz="1400" b="1">
                <a:latin typeface="Courier New"/>
                <a:ea typeface="Courier New"/>
                <a:cs typeface="Courier New"/>
              </a:rPr>
              <a:t>track_count  =  max( persistent_alignments ,  declared_track_count )</a:t>
            </a:r>
            <a:endParaRPr sz="1400"/>
          </a:p>
        </p:txBody>
      </p:sp>
      <p:sp>
        <p:nvSpPr>
          <p:cNvPr id="37" name="Text 35">
            <a:extLst>
              <a:ext uri="{FF2B5EF4-FFF2-40B4-BE49-F238E27FC236}">
                <a16:creationId xmlns:a16="http://schemas.microsoft.com/office/drawing/2014/main" id="{337252B8-2E53-4D0A-8284-6D2756F1B6C8}"/>
              </a:ext>
            </a:extLst>
          </p:cNvPr>
          <p:cNvSpPr>
            <a:spLocks noGrp="1"/>
          </p:cNvSpPr>
          <p:nvPr/>
        </p:nvSpPr>
        <p:spPr>
          <a:xfrm>
            <a:off x="731520" y="5212080"/>
            <a:ext cx="6446520" cy="384048"/>
          </a:xfrm>
          <a:prstGeom prst="rect">
            <a:avLst/>
          </a:prstGeom>
          <a:noFill/>
        </p:spPr>
        <p:txBody>
          <a:bodyPr wrap="square" lIns="0" tIns="0" rIns="0" bIns="0" anchor="ctr"/>
          <a:lstStyle/>
          <a:p>
            <a:pPr marL="0" indent="0">
              <a:buNone/>
            </a:pPr>
            <a:r>
              <a:rPr sz="950">
                <a:latin typeface="Calibri"/>
                <a:ea typeface="Calibri"/>
                <a:cs typeface="Calibri"/>
              </a:rPr>
              <a:t>Max, never sum. A double track appears either as two alignments of tracks=1 or one alignment of tracks=2 — sometimes both. Summing multiplies the encodings together.</a:t>
            </a:r>
            <a:endParaRPr sz="950"/>
          </a:p>
        </p:txBody>
      </p:sp>
      <p:sp>
        <p:nvSpPr>
          <p:cNvPr id="38" name="Shape 36">
            <a:extLst>
              <a:ext uri="{FF2B5EF4-FFF2-40B4-BE49-F238E27FC236}">
                <a16:creationId xmlns:a16="http://schemas.microsoft.com/office/drawing/2014/main" id="{400843BB-0FE3-4205-8E63-10B49D6AAB8F}"/>
              </a:ext>
            </a:extLst>
          </p:cNvPr>
          <p:cNvSpPr>
            <a:spLocks noGrp="1"/>
          </p:cNvSpPr>
          <p:nvPr/>
        </p:nvSpPr>
        <p:spPr>
          <a:xfrm>
            <a:off x="7635240" y="4754880"/>
            <a:ext cx="4023360" cy="914400"/>
          </a:xfrm>
          <a:prstGeom prst="roundRect">
            <a:avLst>
              <a:gd name="adj" fmla="val 6000"/>
            </a:avLst>
          </a:prstGeom>
          <a:noFill/>
          <a:ln w="12700">
            <a:solidFill>
              <a:srgbClr val="D6DEE5"/>
            </a:solidFill>
            <a:prstDash val="solid"/>
          </a:ln>
        </p:spPr>
        <p:txBody>
          <a:bodyPr/>
          <a:lstStyle/>
          <a:p>
            <a:endParaRPr/>
          </a:p>
        </p:txBody>
      </p:sp>
      <p:sp>
        <p:nvSpPr>
          <p:cNvPr id="39" name="Text 37">
            <a:extLst>
              <a:ext uri="{FF2B5EF4-FFF2-40B4-BE49-F238E27FC236}">
                <a16:creationId xmlns:a16="http://schemas.microsoft.com/office/drawing/2014/main" id="{C5F03F8A-CAD1-48B4-8CA6-065F4B7FE9B1}"/>
              </a:ext>
            </a:extLst>
          </p:cNvPr>
          <p:cNvSpPr>
            <a:spLocks noGrp="1"/>
          </p:cNvSpPr>
          <p:nvPr/>
        </p:nvSpPr>
        <p:spPr>
          <a:xfrm>
            <a:off x="7845552" y="4846320"/>
            <a:ext cx="3611880" cy="219456"/>
          </a:xfrm>
          <a:prstGeom prst="rect">
            <a:avLst/>
          </a:prstGeom>
          <a:noFill/>
        </p:spPr>
        <p:txBody>
          <a:bodyPr wrap="square" lIns="0" tIns="0" rIns="0" bIns="0" anchor="ctr"/>
          <a:lstStyle/>
          <a:p>
            <a:pPr marL="0" indent="0">
              <a:buNone/>
            </a:pPr>
            <a:r>
              <a:rPr sz="950" b="1">
                <a:latin typeface="Calibri"/>
                <a:ea typeface="Calibri"/>
                <a:cs typeface="Calibri"/>
              </a:rPr>
              <a:t>Real example — Cajon Pass</a:t>
            </a:r>
            <a:endParaRPr sz="950"/>
          </a:p>
        </p:txBody>
      </p:sp>
      <p:sp>
        <p:nvSpPr>
          <p:cNvPr id="40" name="Text 38">
            <a:extLst>
              <a:ext uri="{FF2B5EF4-FFF2-40B4-BE49-F238E27FC236}">
                <a16:creationId xmlns:a16="http://schemas.microsoft.com/office/drawing/2014/main" id="{EE634465-6BB4-4391-BEBA-8B4236EB173F}"/>
              </a:ext>
            </a:extLst>
          </p:cNvPr>
          <p:cNvSpPr>
            <a:spLocks noGrp="1"/>
          </p:cNvSpPr>
          <p:nvPr/>
        </p:nvSpPr>
        <p:spPr>
          <a:xfrm>
            <a:off x="7845552" y="5084064"/>
            <a:ext cx="3611880" cy="512064"/>
          </a:xfrm>
          <a:prstGeom prst="rect">
            <a:avLst/>
          </a:prstGeom>
          <a:noFill/>
        </p:spPr>
        <p:txBody>
          <a:bodyPr wrap="square" lIns="0" tIns="0" rIns="0" bIns="0" anchor="ctr"/>
          <a:lstStyle/>
          <a:p>
            <a:pPr marL="0" indent="0">
              <a:buNone/>
            </a:pPr>
            <a:r>
              <a:rPr sz="900">
                <a:latin typeface="Calibri"/>
                <a:ea typeface="Calibri"/>
                <a:cs typeface="Calibri"/>
              </a:rPr>
              <a:t>S085708 and S091393: two separate records, both tracks=3, both ~0 m from the centerline. One three-track railroad, not six tracks.</a:t>
            </a:r>
            <a:endParaRPr sz="900"/>
          </a:p>
        </p:txBody>
      </p:sp>
      <p:sp>
        <p:nvSpPr>
          <p:cNvPr id="41" name="Text 39">
            <a:extLst>
              <a:ext uri="{FF2B5EF4-FFF2-40B4-BE49-F238E27FC236}">
                <a16:creationId xmlns:a16="http://schemas.microsoft.com/office/drawing/2014/main" id="{F2C75766-3E6B-46E8-9958-2BFD50EC7809}"/>
              </a:ext>
            </a:extLst>
          </p:cNvPr>
          <p:cNvSpPr>
            <a:spLocks noGrp="1"/>
          </p:cNvSpPr>
          <p:nvPr/>
        </p:nvSpPr>
        <p:spPr>
          <a:xfrm>
            <a:off x="502920" y="5870448"/>
            <a:ext cx="11155680" cy="320040"/>
          </a:xfrm>
          <a:prstGeom prst="rect">
            <a:avLst/>
          </a:prstGeom>
          <a:noFill/>
        </p:spPr>
        <p:txBody>
          <a:bodyPr wrap="square" lIns="0" tIns="0" rIns="0" bIns="0" anchor="ctr"/>
          <a:lstStyle/>
          <a:p>
            <a:pPr marL="0" indent="0">
              <a:buNone/>
            </a:pPr>
            <a:r>
              <a:rPr sz="1050" i="1">
                <a:latin typeface="Calibri"/>
                <a:ea typeface="Calibri"/>
                <a:cs typeface="Calibri"/>
              </a:rPr>
              <a:t>1,643 parallel records (1,209 mi) folded into the route — 30 of them share a node pair with a route segment outright, i.e. verbatim duplicates.</a:t>
            </a:r>
            <a:endParaRPr sz="1050"/>
          </a:p>
        </p:txBody>
      </p:sp>
    </p:spTree>
    <p:extLst>
      <p:ext uri="{BB962C8B-B14F-4D97-AF65-F5344CB8AC3E}">
        <p14:creationId xmlns:p14="http://schemas.microsoft.com/office/powerpoint/2010/main" val="187363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 5">
            <a:extLst>
              <a:ext uri="{FF2B5EF4-FFF2-40B4-BE49-F238E27FC236}">
                <a16:creationId xmlns:a16="http://schemas.microsoft.com/office/drawing/2014/main" id="{621B336D-3D85-40DC-980B-EAF216301E07}"/>
              </a:ext>
            </a:extLst>
          </p:cNvPr>
          <p:cNvSpPr>
            <a:spLocks noGrp="1"/>
          </p:cNvSpPr>
          <p:nvPr/>
        </p:nvSpPr>
        <p:spPr>
          <a:xfrm>
            <a:off x="1599157" y="1581494"/>
            <a:ext cx="1829286" cy="342536"/>
          </a:xfrm>
          <a:prstGeom prst="rect">
            <a:avLst/>
          </a:prstGeom>
          <a:noFill/>
          <a:ln w="15240">
            <a:solidFill>
              <a:srgbClr val="1558B0"/>
            </a:solidFill>
          </a:ln>
        </p:spPr>
        <p:txBody>
          <a:bodyPr/>
          <a:lstStyle/>
          <a:p>
            <a:endParaRPr/>
          </a:p>
        </p:txBody>
      </p:sp>
      <p:sp>
        <p:nvSpPr>
          <p:cNvPr id="6" name="Rect 6">
            <a:extLst>
              <a:ext uri="{FF2B5EF4-FFF2-40B4-BE49-F238E27FC236}">
                <a16:creationId xmlns:a16="http://schemas.microsoft.com/office/drawing/2014/main" id="{96DCF4E5-FFB4-449D-9E64-C350360ED92A}"/>
              </a:ext>
            </a:extLst>
          </p:cNvPr>
          <p:cNvSpPr>
            <a:spLocks noGrp="1"/>
          </p:cNvSpPr>
          <p:nvPr/>
        </p:nvSpPr>
        <p:spPr>
          <a:xfrm>
            <a:off x="3428443" y="1581494"/>
            <a:ext cx="2200973" cy="342536"/>
          </a:xfrm>
          <a:prstGeom prst="rect">
            <a:avLst/>
          </a:prstGeom>
          <a:noFill/>
          <a:ln w="15240">
            <a:solidFill>
              <a:srgbClr val="2D9447"/>
            </a:solidFill>
          </a:ln>
        </p:spPr>
        <p:txBody>
          <a:bodyPr/>
          <a:lstStyle/>
          <a:p>
            <a:endParaRPr/>
          </a:p>
        </p:txBody>
      </p:sp>
      <p:sp>
        <p:nvSpPr>
          <p:cNvPr id="7" name="Rect 7">
            <a:extLst>
              <a:ext uri="{FF2B5EF4-FFF2-40B4-BE49-F238E27FC236}">
                <a16:creationId xmlns:a16="http://schemas.microsoft.com/office/drawing/2014/main" id="{358ADE3A-EFA5-4AED-A8E0-369E83FDA188}"/>
              </a:ext>
            </a:extLst>
          </p:cNvPr>
          <p:cNvSpPr>
            <a:spLocks noGrp="1"/>
          </p:cNvSpPr>
          <p:nvPr/>
        </p:nvSpPr>
        <p:spPr>
          <a:xfrm>
            <a:off x="5629416" y="1581494"/>
            <a:ext cx="2084366" cy="342536"/>
          </a:xfrm>
          <a:prstGeom prst="rect">
            <a:avLst/>
          </a:prstGeom>
          <a:noFill/>
          <a:ln w="15240">
            <a:solidFill>
              <a:srgbClr val="F2A300"/>
            </a:solidFill>
          </a:ln>
        </p:spPr>
        <p:txBody>
          <a:bodyPr/>
          <a:lstStyle/>
          <a:p>
            <a:endParaRPr/>
          </a:p>
        </p:txBody>
      </p:sp>
      <p:sp>
        <p:nvSpPr>
          <p:cNvPr id="8" name="Rect 8">
            <a:extLst>
              <a:ext uri="{FF2B5EF4-FFF2-40B4-BE49-F238E27FC236}">
                <a16:creationId xmlns:a16="http://schemas.microsoft.com/office/drawing/2014/main" id="{41DC7F75-9188-4A6D-9B0E-DA2FE5AD3B58}"/>
              </a:ext>
            </a:extLst>
          </p:cNvPr>
          <p:cNvSpPr>
            <a:spLocks noGrp="1"/>
          </p:cNvSpPr>
          <p:nvPr/>
        </p:nvSpPr>
        <p:spPr>
          <a:xfrm>
            <a:off x="7713782" y="1581494"/>
            <a:ext cx="1311838" cy="342536"/>
          </a:xfrm>
          <a:prstGeom prst="rect">
            <a:avLst/>
          </a:prstGeom>
          <a:noFill/>
          <a:ln w="15240">
            <a:solidFill>
              <a:srgbClr val="7543B5"/>
            </a:solidFill>
          </a:ln>
        </p:spPr>
        <p:txBody>
          <a:bodyPr/>
          <a:lstStyle/>
          <a:p>
            <a:endParaRPr/>
          </a:p>
        </p:txBody>
      </p:sp>
      <p:sp>
        <p:nvSpPr>
          <p:cNvPr id="9" name="Roundrect 9">
            <a:extLst>
              <a:ext uri="{FF2B5EF4-FFF2-40B4-BE49-F238E27FC236}">
                <a16:creationId xmlns:a16="http://schemas.microsoft.com/office/drawing/2014/main" id="{2FFC9420-AB89-4B19-B4A0-8BA578A13ACC}"/>
              </a:ext>
            </a:extLst>
          </p:cNvPr>
          <p:cNvSpPr>
            <a:spLocks noGrp="1"/>
          </p:cNvSpPr>
          <p:nvPr/>
        </p:nvSpPr>
        <p:spPr>
          <a:xfrm>
            <a:off x="666294" y="2601813"/>
            <a:ext cx="1661662" cy="306096"/>
          </a:xfrm>
          <a:prstGeom prst="roundRect">
            <a:avLst>
              <a:gd name="adj" fmla="val 11905"/>
            </a:avLst>
          </a:prstGeom>
          <a:noFill/>
          <a:ln w="15240">
            <a:solidFill>
              <a:srgbClr val="87AEE5"/>
            </a:solidFill>
          </a:ln>
        </p:spPr>
        <p:txBody>
          <a:bodyPr/>
          <a:lstStyle/>
          <a:p>
            <a:endParaRPr/>
          </a:p>
        </p:txBody>
      </p:sp>
      <p:sp>
        <p:nvSpPr>
          <p:cNvPr id="10" name="Roundrect 10">
            <a:extLst>
              <a:ext uri="{FF2B5EF4-FFF2-40B4-BE49-F238E27FC236}">
                <a16:creationId xmlns:a16="http://schemas.microsoft.com/office/drawing/2014/main" id="{F1AF9C22-4AB6-4052-9D64-2516346EEA9B}"/>
              </a:ext>
            </a:extLst>
          </p:cNvPr>
          <p:cNvSpPr>
            <a:spLocks noGrp="1"/>
          </p:cNvSpPr>
          <p:nvPr/>
        </p:nvSpPr>
        <p:spPr>
          <a:xfrm>
            <a:off x="666294" y="2966213"/>
            <a:ext cx="1661662" cy="306096"/>
          </a:xfrm>
          <a:prstGeom prst="roundRect">
            <a:avLst>
              <a:gd name="adj" fmla="val 11905"/>
            </a:avLst>
          </a:prstGeom>
          <a:noFill/>
          <a:ln w="15240">
            <a:solidFill>
              <a:srgbClr val="87AEE5"/>
            </a:solidFill>
          </a:ln>
        </p:spPr>
        <p:txBody>
          <a:bodyPr/>
          <a:lstStyle/>
          <a:p>
            <a:endParaRPr/>
          </a:p>
        </p:txBody>
      </p:sp>
      <p:sp>
        <p:nvSpPr>
          <p:cNvPr id="11" name="Roundrect 11">
            <a:extLst>
              <a:ext uri="{FF2B5EF4-FFF2-40B4-BE49-F238E27FC236}">
                <a16:creationId xmlns:a16="http://schemas.microsoft.com/office/drawing/2014/main" id="{64CD8247-0B4F-4877-9978-6EB085E72A96}"/>
              </a:ext>
            </a:extLst>
          </p:cNvPr>
          <p:cNvSpPr>
            <a:spLocks noGrp="1"/>
          </p:cNvSpPr>
          <p:nvPr/>
        </p:nvSpPr>
        <p:spPr>
          <a:xfrm>
            <a:off x="666294" y="3330612"/>
            <a:ext cx="1661662" cy="306096"/>
          </a:xfrm>
          <a:prstGeom prst="roundRect">
            <a:avLst>
              <a:gd name="adj" fmla="val 11905"/>
            </a:avLst>
          </a:prstGeom>
          <a:noFill/>
          <a:ln w="15240">
            <a:solidFill>
              <a:srgbClr val="87AEE5"/>
            </a:solidFill>
          </a:ln>
        </p:spPr>
        <p:txBody>
          <a:bodyPr/>
          <a:lstStyle/>
          <a:p>
            <a:endParaRPr/>
          </a:p>
        </p:txBody>
      </p:sp>
      <p:sp>
        <p:nvSpPr>
          <p:cNvPr id="12" name="Roundrect 12">
            <a:extLst>
              <a:ext uri="{FF2B5EF4-FFF2-40B4-BE49-F238E27FC236}">
                <a16:creationId xmlns:a16="http://schemas.microsoft.com/office/drawing/2014/main" id="{1DF2B8FF-6AC7-43E6-BE15-A0D367A195BA}"/>
              </a:ext>
            </a:extLst>
          </p:cNvPr>
          <p:cNvSpPr>
            <a:spLocks noGrp="1"/>
          </p:cNvSpPr>
          <p:nvPr/>
        </p:nvSpPr>
        <p:spPr>
          <a:xfrm>
            <a:off x="666294" y="3695012"/>
            <a:ext cx="1661662" cy="306096"/>
          </a:xfrm>
          <a:prstGeom prst="roundRect">
            <a:avLst>
              <a:gd name="adj" fmla="val 11905"/>
            </a:avLst>
          </a:prstGeom>
          <a:noFill/>
          <a:ln w="15240">
            <a:solidFill>
              <a:srgbClr val="87AEE5"/>
            </a:solidFill>
          </a:ln>
        </p:spPr>
        <p:txBody>
          <a:bodyPr/>
          <a:lstStyle/>
          <a:p>
            <a:endParaRPr/>
          </a:p>
        </p:txBody>
      </p:sp>
      <p:sp>
        <p:nvSpPr>
          <p:cNvPr id="13" name="Roundrect 13">
            <a:extLst>
              <a:ext uri="{FF2B5EF4-FFF2-40B4-BE49-F238E27FC236}">
                <a16:creationId xmlns:a16="http://schemas.microsoft.com/office/drawing/2014/main" id="{F42962FA-A473-4AD4-9485-5406D3329BF3}"/>
              </a:ext>
            </a:extLst>
          </p:cNvPr>
          <p:cNvSpPr>
            <a:spLocks noGrp="1"/>
          </p:cNvSpPr>
          <p:nvPr/>
        </p:nvSpPr>
        <p:spPr>
          <a:xfrm>
            <a:off x="3202515" y="2900621"/>
            <a:ext cx="1676238" cy="765239"/>
          </a:xfrm>
          <a:prstGeom prst="roundRect">
            <a:avLst>
              <a:gd name="adj" fmla="val 9524"/>
            </a:avLst>
          </a:prstGeom>
          <a:noFill/>
          <a:ln w="12700">
            <a:solidFill>
              <a:srgbClr val="102845"/>
            </a:solidFill>
          </a:ln>
        </p:spPr>
        <p:txBody>
          <a:bodyPr/>
          <a:lstStyle/>
          <a:p>
            <a:endParaRPr/>
          </a:p>
        </p:txBody>
      </p:sp>
      <p:sp>
        <p:nvSpPr>
          <p:cNvPr id="14" name="Roundrect 14">
            <a:extLst>
              <a:ext uri="{FF2B5EF4-FFF2-40B4-BE49-F238E27FC236}">
                <a16:creationId xmlns:a16="http://schemas.microsoft.com/office/drawing/2014/main" id="{919B0621-3E1D-4B5B-A1C5-BB33C2EEE522}"/>
              </a:ext>
            </a:extLst>
          </p:cNvPr>
          <p:cNvSpPr>
            <a:spLocks noGrp="1"/>
          </p:cNvSpPr>
          <p:nvPr/>
        </p:nvSpPr>
        <p:spPr>
          <a:xfrm>
            <a:off x="5600264" y="2434189"/>
            <a:ext cx="1311838" cy="1443022"/>
          </a:xfrm>
          <a:prstGeom prst="roundRect">
            <a:avLst>
              <a:gd name="adj" fmla="val 2778"/>
            </a:avLst>
          </a:prstGeom>
          <a:noFill/>
          <a:ln w="15240">
            <a:solidFill>
              <a:srgbClr val="1558B0"/>
            </a:solidFill>
          </a:ln>
        </p:spPr>
        <p:txBody>
          <a:bodyPr/>
          <a:lstStyle/>
          <a:p>
            <a:endParaRPr/>
          </a:p>
        </p:txBody>
      </p:sp>
      <p:sp>
        <p:nvSpPr>
          <p:cNvPr id="15" name="Roundrect 15">
            <a:extLst>
              <a:ext uri="{FF2B5EF4-FFF2-40B4-BE49-F238E27FC236}">
                <a16:creationId xmlns:a16="http://schemas.microsoft.com/office/drawing/2014/main" id="{F8CD4498-19FA-48E8-8143-12F1A2F3B1CB}"/>
              </a:ext>
            </a:extLst>
          </p:cNvPr>
          <p:cNvSpPr>
            <a:spLocks noGrp="1"/>
          </p:cNvSpPr>
          <p:nvPr/>
        </p:nvSpPr>
        <p:spPr>
          <a:xfrm>
            <a:off x="6955831" y="2434189"/>
            <a:ext cx="1282687" cy="1443022"/>
          </a:xfrm>
          <a:prstGeom prst="roundRect">
            <a:avLst>
              <a:gd name="adj" fmla="val 2841"/>
            </a:avLst>
          </a:prstGeom>
          <a:noFill/>
          <a:ln w="15240">
            <a:solidFill>
              <a:srgbClr val="2D9447"/>
            </a:solidFill>
          </a:ln>
        </p:spPr>
        <p:txBody>
          <a:bodyPr/>
          <a:lstStyle/>
          <a:p>
            <a:endParaRPr/>
          </a:p>
        </p:txBody>
      </p:sp>
      <p:sp>
        <p:nvSpPr>
          <p:cNvPr id="16" name="Roundrect 16">
            <a:extLst>
              <a:ext uri="{FF2B5EF4-FFF2-40B4-BE49-F238E27FC236}">
                <a16:creationId xmlns:a16="http://schemas.microsoft.com/office/drawing/2014/main" id="{BFE95923-83B8-4A7A-BEEA-A6B29288F0FC}"/>
              </a:ext>
            </a:extLst>
          </p:cNvPr>
          <p:cNvSpPr>
            <a:spLocks noGrp="1"/>
          </p:cNvSpPr>
          <p:nvPr/>
        </p:nvSpPr>
        <p:spPr>
          <a:xfrm>
            <a:off x="8282245" y="2434189"/>
            <a:ext cx="1770982" cy="1443022"/>
          </a:xfrm>
          <a:prstGeom prst="roundRect">
            <a:avLst>
              <a:gd name="adj" fmla="val 2525"/>
            </a:avLst>
          </a:prstGeom>
          <a:noFill/>
          <a:ln w="15240">
            <a:solidFill>
              <a:srgbClr val="F2A300"/>
            </a:solidFill>
          </a:ln>
        </p:spPr>
        <p:txBody>
          <a:bodyPr/>
          <a:lstStyle/>
          <a:p>
            <a:endParaRPr/>
          </a:p>
        </p:txBody>
      </p:sp>
      <p:sp>
        <p:nvSpPr>
          <p:cNvPr id="17" name="Roundrect 17">
            <a:extLst>
              <a:ext uri="{FF2B5EF4-FFF2-40B4-BE49-F238E27FC236}">
                <a16:creationId xmlns:a16="http://schemas.microsoft.com/office/drawing/2014/main" id="{E6C00C73-A2D3-445A-8D0F-E9F016DB6842}"/>
              </a:ext>
            </a:extLst>
          </p:cNvPr>
          <p:cNvSpPr>
            <a:spLocks noGrp="1"/>
          </p:cNvSpPr>
          <p:nvPr/>
        </p:nvSpPr>
        <p:spPr>
          <a:xfrm>
            <a:off x="10096955" y="2434189"/>
            <a:ext cx="1399294" cy="1443022"/>
          </a:xfrm>
          <a:prstGeom prst="roundRect">
            <a:avLst>
              <a:gd name="adj" fmla="val 2604"/>
            </a:avLst>
          </a:prstGeom>
          <a:noFill/>
          <a:ln w="15240">
            <a:solidFill>
              <a:srgbClr val="7543B5"/>
            </a:solidFill>
          </a:ln>
        </p:spPr>
        <p:txBody>
          <a:bodyPr/>
          <a:lstStyle/>
          <a:p>
            <a:endParaRPr/>
          </a:p>
        </p:txBody>
      </p:sp>
      <p:sp>
        <p:nvSpPr>
          <p:cNvPr id="21" name="Rect 21">
            <a:extLst>
              <a:ext uri="{FF2B5EF4-FFF2-40B4-BE49-F238E27FC236}">
                <a16:creationId xmlns:a16="http://schemas.microsoft.com/office/drawing/2014/main" id="{03C0ABA2-B84B-4CFE-9949-2882D3103FBA}"/>
              </a:ext>
            </a:extLst>
          </p:cNvPr>
          <p:cNvSpPr>
            <a:spLocks noGrp="1"/>
          </p:cNvSpPr>
          <p:nvPr/>
        </p:nvSpPr>
        <p:spPr>
          <a:xfrm>
            <a:off x="5607552" y="2441477"/>
            <a:ext cx="1297262" cy="247792"/>
          </a:xfrm>
          <a:prstGeom prst="rect">
            <a:avLst/>
          </a:prstGeom>
          <a:noFill/>
          <a:ln>
            <a:noFill/>
          </a:ln>
        </p:spPr>
        <p:txBody>
          <a:bodyPr/>
          <a:lstStyle/>
          <a:p>
            <a:endParaRPr/>
          </a:p>
        </p:txBody>
      </p:sp>
      <p:sp>
        <p:nvSpPr>
          <p:cNvPr id="22" name="Rect 22">
            <a:extLst>
              <a:ext uri="{FF2B5EF4-FFF2-40B4-BE49-F238E27FC236}">
                <a16:creationId xmlns:a16="http://schemas.microsoft.com/office/drawing/2014/main" id="{C5711F25-CC42-4AD8-90F5-7766753D6B97}"/>
              </a:ext>
            </a:extLst>
          </p:cNvPr>
          <p:cNvSpPr>
            <a:spLocks noGrp="1"/>
          </p:cNvSpPr>
          <p:nvPr/>
        </p:nvSpPr>
        <p:spPr>
          <a:xfrm>
            <a:off x="6963119" y="2441477"/>
            <a:ext cx="1268111" cy="247792"/>
          </a:xfrm>
          <a:prstGeom prst="rect">
            <a:avLst/>
          </a:prstGeom>
          <a:noFill/>
          <a:ln>
            <a:noFill/>
          </a:ln>
        </p:spPr>
        <p:txBody>
          <a:bodyPr/>
          <a:lstStyle/>
          <a:p>
            <a:endParaRPr/>
          </a:p>
        </p:txBody>
      </p:sp>
      <p:sp>
        <p:nvSpPr>
          <p:cNvPr id="23" name="Rect 23">
            <a:extLst>
              <a:ext uri="{FF2B5EF4-FFF2-40B4-BE49-F238E27FC236}">
                <a16:creationId xmlns:a16="http://schemas.microsoft.com/office/drawing/2014/main" id="{58247B11-94FC-4D3B-9CE2-EED25AD4F6AE}"/>
              </a:ext>
            </a:extLst>
          </p:cNvPr>
          <p:cNvSpPr>
            <a:spLocks noGrp="1"/>
          </p:cNvSpPr>
          <p:nvPr/>
        </p:nvSpPr>
        <p:spPr>
          <a:xfrm>
            <a:off x="8289533" y="2441477"/>
            <a:ext cx="1756406" cy="247792"/>
          </a:xfrm>
          <a:prstGeom prst="rect">
            <a:avLst/>
          </a:prstGeom>
          <a:noFill/>
          <a:ln>
            <a:noFill/>
          </a:ln>
        </p:spPr>
        <p:txBody>
          <a:bodyPr/>
          <a:lstStyle/>
          <a:p>
            <a:endParaRPr/>
          </a:p>
        </p:txBody>
      </p:sp>
      <p:sp>
        <p:nvSpPr>
          <p:cNvPr id="24" name="Rect 24">
            <a:extLst>
              <a:ext uri="{FF2B5EF4-FFF2-40B4-BE49-F238E27FC236}">
                <a16:creationId xmlns:a16="http://schemas.microsoft.com/office/drawing/2014/main" id="{F091A191-CEDF-471F-B280-93AF580C3F4E}"/>
              </a:ext>
            </a:extLst>
          </p:cNvPr>
          <p:cNvSpPr>
            <a:spLocks noGrp="1"/>
          </p:cNvSpPr>
          <p:nvPr/>
        </p:nvSpPr>
        <p:spPr>
          <a:xfrm>
            <a:off x="10104243" y="2441477"/>
            <a:ext cx="1384718" cy="247792"/>
          </a:xfrm>
          <a:prstGeom prst="rect">
            <a:avLst/>
          </a:prstGeom>
          <a:noFill/>
          <a:ln>
            <a:noFill/>
          </a:ln>
        </p:spPr>
        <p:txBody>
          <a:bodyPr/>
          <a:lstStyle/>
          <a:p>
            <a:endParaRPr/>
          </a:p>
        </p:txBody>
      </p:sp>
      <p:sp>
        <p:nvSpPr>
          <p:cNvPr id="34" name="Line 34">
            <a:extLst>
              <a:ext uri="{FF2B5EF4-FFF2-40B4-BE49-F238E27FC236}">
                <a16:creationId xmlns:a16="http://schemas.microsoft.com/office/drawing/2014/main" id="{373E727B-CD7D-4370-8167-0A4D4EA3EE93}"/>
              </a:ext>
            </a:extLst>
          </p:cNvPr>
          <p:cNvSpPr>
            <a:spLocks noGrp="1"/>
          </p:cNvSpPr>
          <p:nvPr/>
        </p:nvSpPr>
        <p:spPr>
          <a:xfrm>
            <a:off x="2327956" y="2754861"/>
            <a:ext cx="488295" cy="0"/>
          </a:xfrm>
          <a:prstGeom prst="line">
            <a:avLst/>
          </a:prstGeom>
          <a:noFill/>
          <a:ln w="25400">
            <a:solidFill>
              <a:srgbClr val="1558B0"/>
            </a:solidFill>
          </a:ln>
        </p:spPr>
        <p:txBody>
          <a:bodyPr/>
          <a:lstStyle/>
          <a:p>
            <a:endParaRPr/>
          </a:p>
        </p:txBody>
      </p:sp>
      <p:sp>
        <p:nvSpPr>
          <p:cNvPr id="35" name="Line 35">
            <a:extLst>
              <a:ext uri="{FF2B5EF4-FFF2-40B4-BE49-F238E27FC236}">
                <a16:creationId xmlns:a16="http://schemas.microsoft.com/office/drawing/2014/main" id="{5D09BEAE-5247-430B-8644-22026D7AB240}"/>
              </a:ext>
            </a:extLst>
          </p:cNvPr>
          <p:cNvSpPr>
            <a:spLocks noGrp="1"/>
          </p:cNvSpPr>
          <p:nvPr/>
        </p:nvSpPr>
        <p:spPr>
          <a:xfrm>
            <a:off x="2327956" y="3119260"/>
            <a:ext cx="488295" cy="0"/>
          </a:xfrm>
          <a:prstGeom prst="line">
            <a:avLst/>
          </a:prstGeom>
          <a:noFill/>
          <a:ln w="25400">
            <a:solidFill>
              <a:srgbClr val="1558B0"/>
            </a:solidFill>
          </a:ln>
        </p:spPr>
        <p:txBody>
          <a:bodyPr/>
          <a:lstStyle/>
          <a:p>
            <a:endParaRPr/>
          </a:p>
        </p:txBody>
      </p:sp>
      <p:sp>
        <p:nvSpPr>
          <p:cNvPr id="36" name="Line 36">
            <a:extLst>
              <a:ext uri="{FF2B5EF4-FFF2-40B4-BE49-F238E27FC236}">
                <a16:creationId xmlns:a16="http://schemas.microsoft.com/office/drawing/2014/main" id="{4FA0548E-63AA-4EF1-9788-CBCBF7710821}"/>
              </a:ext>
            </a:extLst>
          </p:cNvPr>
          <p:cNvSpPr>
            <a:spLocks noGrp="1"/>
          </p:cNvSpPr>
          <p:nvPr/>
        </p:nvSpPr>
        <p:spPr>
          <a:xfrm>
            <a:off x="2327956" y="3483660"/>
            <a:ext cx="488295" cy="0"/>
          </a:xfrm>
          <a:prstGeom prst="line">
            <a:avLst/>
          </a:prstGeom>
          <a:noFill/>
          <a:ln w="25400">
            <a:solidFill>
              <a:srgbClr val="1558B0"/>
            </a:solidFill>
          </a:ln>
        </p:spPr>
        <p:txBody>
          <a:bodyPr/>
          <a:lstStyle/>
          <a:p>
            <a:endParaRPr/>
          </a:p>
        </p:txBody>
      </p:sp>
      <p:sp>
        <p:nvSpPr>
          <p:cNvPr id="37" name="Line 37">
            <a:extLst>
              <a:ext uri="{FF2B5EF4-FFF2-40B4-BE49-F238E27FC236}">
                <a16:creationId xmlns:a16="http://schemas.microsoft.com/office/drawing/2014/main" id="{A2D38225-B2D1-4132-8F12-724282CAF10F}"/>
              </a:ext>
            </a:extLst>
          </p:cNvPr>
          <p:cNvSpPr>
            <a:spLocks noGrp="1"/>
          </p:cNvSpPr>
          <p:nvPr/>
        </p:nvSpPr>
        <p:spPr>
          <a:xfrm>
            <a:off x="2327956" y="3848060"/>
            <a:ext cx="488295" cy="0"/>
          </a:xfrm>
          <a:prstGeom prst="line">
            <a:avLst/>
          </a:prstGeom>
          <a:noFill/>
          <a:ln w="25400">
            <a:solidFill>
              <a:srgbClr val="1558B0"/>
            </a:solidFill>
          </a:ln>
        </p:spPr>
        <p:txBody>
          <a:bodyPr/>
          <a:lstStyle/>
          <a:p>
            <a:endParaRPr/>
          </a:p>
        </p:txBody>
      </p:sp>
      <p:sp>
        <p:nvSpPr>
          <p:cNvPr id="38" name="Line 38">
            <a:extLst>
              <a:ext uri="{FF2B5EF4-FFF2-40B4-BE49-F238E27FC236}">
                <a16:creationId xmlns:a16="http://schemas.microsoft.com/office/drawing/2014/main" id="{582390C8-D216-43C0-BBC6-F8E1E2AD0589}"/>
              </a:ext>
            </a:extLst>
          </p:cNvPr>
          <p:cNvSpPr>
            <a:spLocks noGrp="1"/>
          </p:cNvSpPr>
          <p:nvPr/>
        </p:nvSpPr>
        <p:spPr>
          <a:xfrm>
            <a:off x="2816251" y="2754861"/>
            <a:ext cx="0" cy="1093199"/>
          </a:xfrm>
          <a:prstGeom prst="line">
            <a:avLst/>
          </a:prstGeom>
          <a:noFill/>
          <a:ln w="25400">
            <a:solidFill>
              <a:srgbClr val="1558B0"/>
            </a:solidFill>
          </a:ln>
        </p:spPr>
        <p:txBody>
          <a:bodyPr/>
          <a:lstStyle/>
          <a:p>
            <a:endParaRPr/>
          </a:p>
        </p:txBody>
      </p:sp>
      <p:sp>
        <p:nvSpPr>
          <p:cNvPr id="39" name="Line 39">
            <a:extLst>
              <a:ext uri="{FF2B5EF4-FFF2-40B4-BE49-F238E27FC236}">
                <a16:creationId xmlns:a16="http://schemas.microsoft.com/office/drawing/2014/main" id="{273BDF11-6BEC-4B21-BEC9-0B8AE7728EA9}"/>
              </a:ext>
            </a:extLst>
          </p:cNvPr>
          <p:cNvSpPr>
            <a:spLocks noGrp="1"/>
          </p:cNvSpPr>
          <p:nvPr/>
        </p:nvSpPr>
        <p:spPr>
          <a:xfrm>
            <a:off x="5687720" y="2929773"/>
            <a:ext cx="1136927" cy="0"/>
          </a:xfrm>
          <a:prstGeom prst="line">
            <a:avLst/>
          </a:prstGeom>
          <a:noFill/>
          <a:ln w="38100">
            <a:solidFill>
              <a:srgbClr val="111111"/>
            </a:solidFill>
          </a:ln>
        </p:spPr>
        <p:txBody>
          <a:bodyPr/>
          <a:lstStyle/>
          <a:p>
            <a:endParaRPr/>
          </a:p>
        </p:txBody>
      </p:sp>
      <p:sp>
        <p:nvSpPr>
          <p:cNvPr id="40" name="Line 40">
            <a:extLst>
              <a:ext uri="{FF2B5EF4-FFF2-40B4-BE49-F238E27FC236}">
                <a16:creationId xmlns:a16="http://schemas.microsoft.com/office/drawing/2014/main" id="{6575C8BC-F97A-4F33-8493-B708CF7818DE}"/>
              </a:ext>
            </a:extLst>
          </p:cNvPr>
          <p:cNvSpPr>
            <a:spLocks noGrp="1"/>
          </p:cNvSpPr>
          <p:nvPr/>
        </p:nvSpPr>
        <p:spPr>
          <a:xfrm>
            <a:off x="5687720" y="3075532"/>
            <a:ext cx="1136927" cy="0"/>
          </a:xfrm>
          <a:prstGeom prst="line">
            <a:avLst/>
          </a:prstGeom>
          <a:noFill/>
          <a:ln w="38100">
            <a:solidFill>
              <a:srgbClr val="111111"/>
            </a:solidFill>
          </a:ln>
        </p:spPr>
        <p:txBody>
          <a:bodyPr/>
          <a:lstStyle/>
          <a:p>
            <a:endParaRPr/>
          </a:p>
        </p:txBody>
      </p:sp>
      <p:sp>
        <p:nvSpPr>
          <p:cNvPr id="41" name="Line 41">
            <a:extLst>
              <a:ext uri="{FF2B5EF4-FFF2-40B4-BE49-F238E27FC236}">
                <a16:creationId xmlns:a16="http://schemas.microsoft.com/office/drawing/2014/main" id="{A939C116-800E-42B1-B79C-F9D249014947}"/>
              </a:ext>
            </a:extLst>
          </p:cNvPr>
          <p:cNvSpPr>
            <a:spLocks noGrp="1"/>
          </p:cNvSpPr>
          <p:nvPr/>
        </p:nvSpPr>
        <p:spPr>
          <a:xfrm>
            <a:off x="7043286" y="2929773"/>
            <a:ext cx="1107775" cy="0"/>
          </a:xfrm>
          <a:prstGeom prst="line">
            <a:avLst/>
          </a:prstGeom>
          <a:noFill/>
          <a:ln w="38100">
            <a:solidFill>
              <a:srgbClr val="111111"/>
            </a:solidFill>
          </a:ln>
        </p:spPr>
        <p:txBody>
          <a:bodyPr/>
          <a:lstStyle/>
          <a:p>
            <a:endParaRPr/>
          </a:p>
        </p:txBody>
      </p:sp>
      <p:sp>
        <p:nvSpPr>
          <p:cNvPr id="42" name="Line 42">
            <a:extLst>
              <a:ext uri="{FF2B5EF4-FFF2-40B4-BE49-F238E27FC236}">
                <a16:creationId xmlns:a16="http://schemas.microsoft.com/office/drawing/2014/main" id="{5F28B17F-BE21-408A-88C0-633C971AD281}"/>
              </a:ext>
            </a:extLst>
          </p:cNvPr>
          <p:cNvSpPr>
            <a:spLocks noGrp="1"/>
          </p:cNvSpPr>
          <p:nvPr/>
        </p:nvSpPr>
        <p:spPr>
          <a:xfrm>
            <a:off x="7043286" y="3075532"/>
            <a:ext cx="1107775" cy="0"/>
          </a:xfrm>
          <a:prstGeom prst="line">
            <a:avLst/>
          </a:prstGeom>
          <a:noFill/>
          <a:ln w="38100">
            <a:solidFill>
              <a:srgbClr val="111111"/>
            </a:solidFill>
          </a:ln>
        </p:spPr>
        <p:txBody>
          <a:bodyPr/>
          <a:lstStyle/>
          <a:p>
            <a:endParaRPr/>
          </a:p>
        </p:txBody>
      </p:sp>
      <p:sp>
        <p:nvSpPr>
          <p:cNvPr id="43" name="Line 43">
            <a:extLst>
              <a:ext uri="{FF2B5EF4-FFF2-40B4-BE49-F238E27FC236}">
                <a16:creationId xmlns:a16="http://schemas.microsoft.com/office/drawing/2014/main" id="{BA5B3E8E-BEFE-4B4F-840B-F780B9497F2E}"/>
              </a:ext>
            </a:extLst>
          </p:cNvPr>
          <p:cNvSpPr>
            <a:spLocks noGrp="1"/>
          </p:cNvSpPr>
          <p:nvPr/>
        </p:nvSpPr>
        <p:spPr>
          <a:xfrm>
            <a:off x="8369701" y="2929773"/>
            <a:ext cx="1596070" cy="0"/>
          </a:xfrm>
          <a:prstGeom prst="line">
            <a:avLst/>
          </a:prstGeom>
          <a:noFill/>
          <a:ln w="38100">
            <a:solidFill>
              <a:srgbClr val="111111"/>
            </a:solidFill>
          </a:ln>
        </p:spPr>
        <p:txBody>
          <a:bodyPr/>
          <a:lstStyle/>
          <a:p>
            <a:endParaRPr/>
          </a:p>
        </p:txBody>
      </p:sp>
      <p:sp>
        <p:nvSpPr>
          <p:cNvPr id="45" name="Line 45">
            <a:extLst>
              <a:ext uri="{FF2B5EF4-FFF2-40B4-BE49-F238E27FC236}">
                <a16:creationId xmlns:a16="http://schemas.microsoft.com/office/drawing/2014/main" id="{039BD983-7E75-4943-9E67-00F11DDCF876}"/>
              </a:ext>
            </a:extLst>
          </p:cNvPr>
          <p:cNvSpPr>
            <a:spLocks noGrp="1"/>
          </p:cNvSpPr>
          <p:nvPr/>
        </p:nvSpPr>
        <p:spPr>
          <a:xfrm>
            <a:off x="9120363" y="2929772"/>
            <a:ext cx="131185" cy="258072"/>
          </a:xfrm>
          <a:prstGeom prst="line">
            <a:avLst/>
          </a:prstGeom>
          <a:noFill/>
          <a:ln w="25400">
            <a:solidFill>
              <a:srgbClr val="077700"/>
            </a:solidFill>
            <a:prstDash val="dash"/>
          </a:ln>
        </p:spPr>
        <p:txBody>
          <a:bodyPr/>
          <a:lstStyle/>
          <a:p>
            <a:endParaRPr/>
          </a:p>
        </p:txBody>
      </p:sp>
      <p:sp>
        <p:nvSpPr>
          <p:cNvPr id="46" name="Line 46">
            <a:extLst>
              <a:ext uri="{FF2B5EF4-FFF2-40B4-BE49-F238E27FC236}">
                <a16:creationId xmlns:a16="http://schemas.microsoft.com/office/drawing/2014/main" id="{F6024C87-B0AB-4CE8-A19A-E226E66755DA}"/>
              </a:ext>
            </a:extLst>
          </p:cNvPr>
          <p:cNvSpPr>
            <a:spLocks noGrp="1"/>
          </p:cNvSpPr>
          <p:nvPr/>
        </p:nvSpPr>
        <p:spPr>
          <a:xfrm flipV="1">
            <a:off x="9251548" y="3156605"/>
            <a:ext cx="743375" cy="4295"/>
          </a:xfrm>
          <a:prstGeom prst="line">
            <a:avLst/>
          </a:prstGeom>
          <a:noFill/>
          <a:ln w="25400">
            <a:solidFill>
              <a:srgbClr val="077700"/>
            </a:solidFill>
          </a:ln>
        </p:spPr>
        <p:txBody>
          <a:bodyPr/>
          <a:lstStyle/>
          <a:p>
            <a:endParaRPr/>
          </a:p>
        </p:txBody>
      </p:sp>
      <p:sp>
        <p:nvSpPr>
          <p:cNvPr id="47" name="Line 47">
            <a:extLst>
              <a:ext uri="{FF2B5EF4-FFF2-40B4-BE49-F238E27FC236}">
                <a16:creationId xmlns:a16="http://schemas.microsoft.com/office/drawing/2014/main" id="{B1323765-FEAA-423D-8394-7EAF9E8B9D2C}"/>
              </a:ext>
            </a:extLst>
          </p:cNvPr>
          <p:cNvSpPr>
            <a:spLocks noGrp="1"/>
          </p:cNvSpPr>
          <p:nvPr/>
        </p:nvSpPr>
        <p:spPr>
          <a:xfrm>
            <a:off x="10184411" y="2929773"/>
            <a:ext cx="1224383" cy="0"/>
          </a:xfrm>
          <a:prstGeom prst="line">
            <a:avLst/>
          </a:prstGeom>
          <a:noFill/>
          <a:ln w="38100">
            <a:solidFill>
              <a:srgbClr val="111111"/>
            </a:solidFill>
          </a:ln>
        </p:spPr>
        <p:txBody>
          <a:bodyPr/>
          <a:lstStyle/>
          <a:p>
            <a:endParaRPr/>
          </a:p>
        </p:txBody>
      </p:sp>
      <p:sp>
        <p:nvSpPr>
          <p:cNvPr id="48" name="Line 48">
            <a:extLst>
              <a:ext uri="{FF2B5EF4-FFF2-40B4-BE49-F238E27FC236}">
                <a16:creationId xmlns:a16="http://schemas.microsoft.com/office/drawing/2014/main" id="{AE2E4FC5-5BE8-4DA2-A0B6-41B4309335C8}"/>
              </a:ext>
            </a:extLst>
          </p:cNvPr>
          <p:cNvSpPr>
            <a:spLocks noGrp="1"/>
          </p:cNvSpPr>
          <p:nvPr/>
        </p:nvSpPr>
        <p:spPr>
          <a:xfrm>
            <a:off x="10184411" y="3075532"/>
            <a:ext cx="1224383" cy="0"/>
          </a:xfrm>
          <a:prstGeom prst="line">
            <a:avLst/>
          </a:prstGeom>
          <a:noFill/>
          <a:ln w="38100">
            <a:solidFill>
              <a:srgbClr val="111111"/>
            </a:solidFill>
          </a:ln>
        </p:spPr>
        <p:txBody>
          <a:bodyPr/>
          <a:lstStyle/>
          <a:p>
            <a:endParaRPr/>
          </a:p>
        </p:txBody>
      </p:sp>
      <p:sp>
        <p:nvSpPr>
          <p:cNvPr id="49" name="Line 49">
            <a:extLst>
              <a:ext uri="{FF2B5EF4-FFF2-40B4-BE49-F238E27FC236}">
                <a16:creationId xmlns:a16="http://schemas.microsoft.com/office/drawing/2014/main" id="{2E8FE869-C525-4D96-8DC2-ACC18C165134}"/>
              </a:ext>
            </a:extLst>
          </p:cNvPr>
          <p:cNvSpPr>
            <a:spLocks noGrp="1"/>
          </p:cNvSpPr>
          <p:nvPr/>
        </p:nvSpPr>
        <p:spPr>
          <a:xfrm>
            <a:off x="1212893" y="1931318"/>
            <a:ext cx="8133399" cy="0"/>
          </a:xfrm>
          <a:prstGeom prst="line">
            <a:avLst/>
          </a:prstGeom>
          <a:noFill/>
          <a:ln w="31750">
            <a:solidFill>
              <a:srgbClr val="111111"/>
            </a:solidFill>
          </a:ln>
        </p:spPr>
        <p:txBody>
          <a:bodyPr/>
          <a:lstStyle/>
          <a:p>
            <a:endParaRPr/>
          </a:p>
        </p:txBody>
      </p:sp>
      <p:sp>
        <p:nvSpPr>
          <p:cNvPr id="50" name="Line 50">
            <a:extLst>
              <a:ext uri="{FF2B5EF4-FFF2-40B4-BE49-F238E27FC236}">
                <a16:creationId xmlns:a16="http://schemas.microsoft.com/office/drawing/2014/main" id="{CA355023-50AE-4993-B7FF-FBFD90E08031}"/>
              </a:ext>
            </a:extLst>
          </p:cNvPr>
          <p:cNvSpPr>
            <a:spLocks noGrp="1"/>
          </p:cNvSpPr>
          <p:nvPr/>
        </p:nvSpPr>
        <p:spPr>
          <a:xfrm>
            <a:off x="1599157" y="1508614"/>
            <a:ext cx="0" cy="422704"/>
          </a:xfrm>
          <a:prstGeom prst="line">
            <a:avLst/>
          </a:prstGeom>
          <a:noFill/>
          <a:ln w="20320">
            <a:solidFill>
              <a:srgbClr val="111111"/>
            </a:solidFill>
          </a:ln>
        </p:spPr>
        <p:txBody>
          <a:bodyPr/>
          <a:lstStyle/>
          <a:p>
            <a:endParaRPr/>
          </a:p>
        </p:txBody>
      </p:sp>
      <p:sp>
        <p:nvSpPr>
          <p:cNvPr id="51" name="Line 51">
            <a:extLst>
              <a:ext uri="{FF2B5EF4-FFF2-40B4-BE49-F238E27FC236}">
                <a16:creationId xmlns:a16="http://schemas.microsoft.com/office/drawing/2014/main" id="{C3EF9525-B49F-4CDA-B416-3A16F782504C}"/>
              </a:ext>
            </a:extLst>
          </p:cNvPr>
          <p:cNvSpPr>
            <a:spLocks noGrp="1"/>
          </p:cNvSpPr>
          <p:nvPr/>
        </p:nvSpPr>
        <p:spPr>
          <a:xfrm>
            <a:off x="3428443" y="1508614"/>
            <a:ext cx="0" cy="422704"/>
          </a:xfrm>
          <a:prstGeom prst="line">
            <a:avLst/>
          </a:prstGeom>
          <a:noFill/>
          <a:ln w="20320">
            <a:solidFill>
              <a:srgbClr val="111111"/>
            </a:solidFill>
          </a:ln>
        </p:spPr>
        <p:txBody>
          <a:bodyPr/>
          <a:lstStyle/>
          <a:p>
            <a:endParaRPr/>
          </a:p>
        </p:txBody>
      </p:sp>
      <p:sp>
        <p:nvSpPr>
          <p:cNvPr id="52" name="Line 52">
            <a:extLst>
              <a:ext uri="{FF2B5EF4-FFF2-40B4-BE49-F238E27FC236}">
                <a16:creationId xmlns:a16="http://schemas.microsoft.com/office/drawing/2014/main" id="{8DC0221E-4332-4ECD-A660-F20C8E7CD29A}"/>
              </a:ext>
            </a:extLst>
          </p:cNvPr>
          <p:cNvSpPr>
            <a:spLocks noGrp="1"/>
          </p:cNvSpPr>
          <p:nvPr/>
        </p:nvSpPr>
        <p:spPr>
          <a:xfrm>
            <a:off x="5629416" y="1508614"/>
            <a:ext cx="0" cy="422704"/>
          </a:xfrm>
          <a:prstGeom prst="line">
            <a:avLst/>
          </a:prstGeom>
          <a:noFill/>
          <a:ln w="20320">
            <a:solidFill>
              <a:srgbClr val="111111"/>
            </a:solidFill>
          </a:ln>
        </p:spPr>
        <p:txBody>
          <a:bodyPr/>
          <a:lstStyle/>
          <a:p>
            <a:endParaRPr/>
          </a:p>
        </p:txBody>
      </p:sp>
      <p:sp>
        <p:nvSpPr>
          <p:cNvPr id="53" name="Line 53">
            <a:extLst>
              <a:ext uri="{FF2B5EF4-FFF2-40B4-BE49-F238E27FC236}">
                <a16:creationId xmlns:a16="http://schemas.microsoft.com/office/drawing/2014/main" id="{B9E3AFE9-2905-45BD-B6B7-05C835BA2EEA}"/>
              </a:ext>
            </a:extLst>
          </p:cNvPr>
          <p:cNvSpPr>
            <a:spLocks noGrp="1"/>
          </p:cNvSpPr>
          <p:nvPr/>
        </p:nvSpPr>
        <p:spPr>
          <a:xfrm>
            <a:off x="7713782" y="1508614"/>
            <a:ext cx="0" cy="422704"/>
          </a:xfrm>
          <a:prstGeom prst="line">
            <a:avLst/>
          </a:prstGeom>
          <a:noFill/>
          <a:ln w="20320">
            <a:solidFill>
              <a:srgbClr val="111111"/>
            </a:solidFill>
          </a:ln>
        </p:spPr>
        <p:txBody>
          <a:bodyPr/>
          <a:lstStyle/>
          <a:p>
            <a:endParaRPr/>
          </a:p>
        </p:txBody>
      </p:sp>
      <p:sp>
        <p:nvSpPr>
          <p:cNvPr id="54" name="Line 54">
            <a:extLst>
              <a:ext uri="{FF2B5EF4-FFF2-40B4-BE49-F238E27FC236}">
                <a16:creationId xmlns:a16="http://schemas.microsoft.com/office/drawing/2014/main" id="{136357B2-66DA-45F9-AA65-D8AC232E7EC7}"/>
              </a:ext>
            </a:extLst>
          </p:cNvPr>
          <p:cNvSpPr>
            <a:spLocks noGrp="1"/>
          </p:cNvSpPr>
          <p:nvPr/>
        </p:nvSpPr>
        <p:spPr>
          <a:xfrm>
            <a:off x="9025620" y="1508614"/>
            <a:ext cx="0" cy="422704"/>
          </a:xfrm>
          <a:prstGeom prst="line">
            <a:avLst/>
          </a:prstGeom>
          <a:noFill/>
          <a:ln w="20320">
            <a:solidFill>
              <a:srgbClr val="111111"/>
            </a:solidFill>
          </a:ln>
        </p:spPr>
        <p:txBody>
          <a:bodyPr/>
          <a:lstStyle/>
          <a:p>
            <a:endParaRPr/>
          </a:p>
        </p:txBody>
      </p:sp>
      <p:sp>
        <p:nvSpPr>
          <p:cNvPr id="55" name="Line 55">
            <a:extLst>
              <a:ext uri="{FF2B5EF4-FFF2-40B4-BE49-F238E27FC236}">
                <a16:creationId xmlns:a16="http://schemas.microsoft.com/office/drawing/2014/main" id="{AE279A44-E1F7-4404-A2AC-14CE0E294B61}"/>
              </a:ext>
            </a:extLst>
          </p:cNvPr>
          <p:cNvSpPr>
            <a:spLocks noGrp="1"/>
          </p:cNvSpPr>
          <p:nvPr/>
        </p:nvSpPr>
        <p:spPr>
          <a:xfrm>
            <a:off x="1205605" y="1931318"/>
            <a:ext cx="8126111" cy="0"/>
          </a:xfrm>
          <a:prstGeom prst="line">
            <a:avLst/>
          </a:prstGeom>
          <a:noFill/>
          <a:ln w="31750">
            <a:solidFill>
              <a:srgbClr val="111111"/>
            </a:solidFill>
          </a:ln>
        </p:spPr>
        <p:txBody>
          <a:bodyPr/>
          <a:lstStyle/>
          <a:p>
            <a:endParaRPr/>
          </a:p>
        </p:txBody>
      </p:sp>
      <p:sp>
        <p:nvSpPr>
          <p:cNvPr id="56" name="Line 56">
            <a:extLst>
              <a:ext uri="{FF2B5EF4-FFF2-40B4-BE49-F238E27FC236}">
                <a16:creationId xmlns:a16="http://schemas.microsoft.com/office/drawing/2014/main" id="{2B0C2523-C118-4AC7-9390-094BDA630BC2}"/>
              </a:ext>
            </a:extLst>
          </p:cNvPr>
          <p:cNvSpPr>
            <a:spLocks noGrp="1"/>
          </p:cNvSpPr>
          <p:nvPr/>
        </p:nvSpPr>
        <p:spPr>
          <a:xfrm>
            <a:off x="2816251" y="3301460"/>
            <a:ext cx="386264" cy="0"/>
          </a:xfrm>
          <a:prstGeom prst="line">
            <a:avLst/>
          </a:prstGeom>
          <a:noFill/>
          <a:ln w="31750">
            <a:solidFill>
              <a:srgbClr val="1558B0"/>
            </a:solidFill>
          </a:ln>
        </p:spPr>
        <p:txBody>
          <a:bodyPr/>
          <a:lstStyle/>
          <a:p>
            <a:endParaRPr/>
          </a:p>
        </p:txBody>
      </p:sp>
      <p:sp>
        <p:nvSpPr>
          <p:cNvPr id="57" name="Line 57">
            <a:extLst>
              <a:ext uri="{FF2B5EF4-FFF2-40B4-BE49-F238E27FC236}">
                <a16:creationId xmlns:a16="http://schemas.microsoft.com/office/drawing/2014/main" id="{3BA575DB-291D-4DCA-8829-113BF2F521C3}"/>
              </a:ext>
            </a:extLst>
          </p:cNvPr>
          <p:cNvSpPr>
            <a:spLocks noGrp="1"/>
          </p:cNvSpPr>
          <p:nvPr/>
        </p:nvSpPr>
        <p:spPr>
          <a:xfrm>
            <a:off x="4886041" y="3286884"/>
            <a:ext cx="641343" cy="0"/>
          </a:xfrm>
          <a:prstGeom prst="line">
            <a:avLst/>
          </a:prstGeom>
          <a:noFill/>
          <a:ln w="31750">
            <a:solidFill>
              <a:srgbClr val="1558B0"/>
            </a:solidFill>
          </a:ln>
        </p:spPr>
        <p:txBody>
          <a:bodyPr/>
          <a:lstStyle/>
          <a:p>
            <a:endParaRPr/>
          </a:p>
        </p:txBody>
      </p:sp>
      <p:sp>
        <p:nvSpPr>
          <p:cNvPr id="58" name="Polygon 58">
            <a:extLst>
              <a:ext uri="{FF2B5EF4-FFF2-40B4-BE49-F238E27FC236}">
                <a16:creationId xmlns:a16="http://schemas.microsoft.com/office/drawing/2014/main" id="{83774497-3712-4866-BF8F-B14FBAB7D3A1}"/>
              </a:ext>
            </a:extLst>
          </p:cNvPr>
          <p:cNvSpPr>
            <a:spLocks noGrp="1"/>
          </p:cNvSpPr>
          <p:nvPr/>
        </p:nvSpPr>
        <p:spPr>
          <a:xfrm>
            <a:off x="9222396" y="1880302"/>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sp>
        <p:nvSpPr>
          <p:cNvPr id="59" name="Polygon 59">
            <a:extLst>
              <a:ext uri="{FF2B5EF4-FFF2-40B4-BE49-F238E27FC236}">
                <a16:creationId xmlns:a16="http://schemas.microsoft.com/office/drawing/2014/main" id="{E06C090E-AA03-4DD1-B806-680DB6497A60}"/>
              </a:ext>
            </a:extLst>
          </p:cNvPr>
          <p:cNvSpPr>
            <a:spLocks noGrp="1"/>
          </p:cNvSpPr>
          <p:nvPr/>
        </p:nvSpPr>
        <p:spPr>
          <a:xfrm>
            <a:off x="3103586" y="3250444"/>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sp>
        <p:nvSpPr>
          <p:cNvPr id="60" name="Polygon 60">
            <a:extLst>
              <a:ext uri="{FF2B5EF4-FFF2-40B4-BE49-F238E27FC236}">
                <a16:creationId xmlns:a16="http://schemas.microsoft.com/office/drawing/2014/main" id="{39E87EF9-256C-4E88-B40A-65154DE449F5}"/>
              </a:ext>
            </a:extLst>
          </p:cNvPr>
          <p:cNvSpPr>
            <a:spLocks noGrp="1"/>
          </p:cNvSpPr>
          <p:nvPr/>
        </p:nvSpPr>
        <p:spPr>
          <a:xfrm>
            <a:off x="5490801" y="3235868"/>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pic>
        <p:nvPicPr>
          <p:cNvPr id="169" name="Asset-sheet separated NTAD icon"/>
          <p:cNvPicPr>
            <a:picLocks noChangeAspect="1"/>
          </p:cNvPicPr>
          <p:nvPr/>
        </p:nvPicPr>
        <p:blipFill>
          <a:blip r:embed="rId3"/>
          <a:stretch>
            <a:fillRect/>
          </a:stretch>
        </p:blipFill>
        <p:spPr>
          <a:xfrm>
            <a:off x="768326" y="2638253"/>
            <a:ext cx="225928" cy="225928"/>
          </a:xfrm>
          <a:prstGeom prst="rect">
            <a:avLst/>
          </a:prstGeom>
        </p:spPr>
      </p:pic>
      <p:pic>
        <p:nvPicPr>
          <p:cNvPr id="170" name="Asset-sheet separated FRA crossing icon"/>
          <p:cNvPicPr>
            <a:picLocks noChangeAspect="1"/>
          </p:cNvPicPr>
          <p:nvPr/>
        </p:nvPicPr>
        <p:blipFill>
          <a:blip r:embed="rId4"/>
          <a:stretch>
            <a:fillRect/>
          </a:stretch>
        </p:blipFill>
        <p:spPr>
          <a:xfrm>
            <a:off x="768326" y="3002652"/>
            <a:ext cx="225928" cy="225928"/>
          </a:xfrm>
          <a:prstGeom prst="rect">
            <a:avLst/>
          </a:prstGeom>
        </p:spPr>
      </p:pic>
      <p:pic>
        <p:nvPicPr>
          <p:cNvPr id="171" name="Asset-sheet separated Stage 2 topology icon"/>
          <p:cNvPicPr>
            <a:picLocks noChangeAspect="1"/>
          </p:cNvPicPr>
          <p:nvPr/>
        </p:nvPicPr>
        <p:blipFill>
          <a:blip r:embed="rId5"/>
          <a:stretch>
            <a:fillRect/>
          </a:stretch>
        </p:blipFill>
        <p:spPr>
          <a:xfrm>
            <a:off x="768326" y="3367052"/>
            <a:ext cx="225928" cy="225928"/>
          </a:xfrm>
          <a:prstGeom prst="rect">
            <a:avLst/>
          </a:prstGeom>
        </p:spPr>
      </p:pic>
      <p:pic>
        <p:nvPicPr>
          <p:cNvPr id="172" name="Asset-sheet separated OSM icon"/>
          <p:cNvPicPr>
            <a:picLocks noChangeAspect="1"/>
          </p:cNvPicPr>
          <p:nvPr/>
        </p:nvPicPr>
        <p:blipFill>
          <a:blip r:embed="rId6"/>
          <a:stretch>
            <a:fillRect/>
          </a:stretch>
        </p:blipFill>
        <p:spPr>
          <a:xfrm>
            <a:off x="768326" y="3731452"/>
            <a:ext cx="225928" cy="225928"/>
          </a:xfrm>
          <a:prstGeom prst="rect">
            <a:avLst/>
          </a:prstGeom>
        </p:spPr>
      </p:pic>
      <p:sp>
        <p:nvSpPr>
          <p:cNvPr id="18" name="Roundrect 18">
            <a:extLst>
              <a:ext uri="{FF2B5EF4-FFF2-40B4-BE49-F238E27FC236}">
                <a16:creationId xmlns:a16="http://schemas.microsoft.com/office/drawing/2014/main" id="{F732BC4A-EA37-48EC-8F3F-74692215E872}"/>
              </a:ext>
            </a:extLst>
          </p:cNvPr>
          <p:cNvSpPr>
            <a:spLocks noGrp="1"/>
          </p:cNvSpPr>
          <p:nvPr/>
        </p:nvSpPr>
        <p:spPr>
          <a:xfrm>
            <a:off x="683973" y="4788211"/>
            <a:ext cx="2528933" cy="429991"/>
          </a:xfrm>
          <a:prstGeom prst="roundRect">
            <a:avLst>
              <a:gd name="adj" fmla="val 11864"/>
            </a:avLst>
          </a:prstGeom>
          <a:noFill/>
          <a:ln w="15240">
            <a:solidFill>
              <a:srgbClr val="8AADE5"/>
            </a:solidFill>
          </a:ln>
        </p:spPr>
        <p:txBody>
          <a:bodyPr/>
          <a:lstStyle/>
          <a:p>
            <a:endParaRPr/>
          </a:p>
        </p:txBody>
      </p:sp>
      <p:pic>
        <p:nvPicPr>
          <p:cNvPr id="174" name="LaTeX-rendered track-miles formula"/>
          <p:cNvPicPr>
            <a:picLocks noChangeAspect="1"/>
          </p:cNvPicPr>
          <p:nvPr/>
        </p:nvPicPr>
        <p:blipFill>
          <a:blip r:embed="rId7"/>
          <a:stretch>
            <a:fillRect/>
          </a:stretch>
        </p:blipFill>
        <p:spPr>
          <a:xfrm>
            <a:off x="793293" y="4861091"/>
            <a:ext cx="2310293" cy="291520"/>
          </a:xfrm>
          <a:prstGeom prst="rect">
            <a:avLst/>
          </a:prstGeom>
        </p:spPr>
      </p:pic>
      <p:sp>
        <p:nvSpPr>
          <p:cNvPr id="74" name="TextBox 74">
            <a:extLst>
              <a:ext uri="{FF2B5EF4-FFF2-40B4-BE49-F238E27FC236}">
                <a16:creationId xmlns:a16="http://schemas.microsoft.com/office/drawing/2014/main" id="{C44A19AB-F1F3-4CA4-A7F6-8E6E75F6F343}"/>
              </a:ext>
            </a:extLst>
          </p:cNvPr>
          <p:cNvSpPr>
            <a:spLocks noGrp="1"/>
          </p:cNvSpPr>
          <p:nvPr/>
        </p:nvSpPr>
        <p:spPr>
          <a:xfrm>
            <a:off x="280030" y="266132"/>
            <a:ext cx="5976153" cy="364400"/>
          </a:xfrm>
          <a:prstGeom prst="rect">
            <a:avLst/>
          </a:prstGeom>
          <a:noFill/>
          <a:ln>
            <a:noFill/>
          </a:ln>
        </p:spPr>
        <p:txBody>
          <a:bodyPr wrap="none" lIns="0" tIns="0" rIns="0" bIns="0" anchor="t">
            <a:noAutofit/>
          </a:bodyPr>
          <a:lstStyle/>
          <a:p>
            <a:pPr algn="l">
              <a:buNone/>
            </a:pPr>
            <a:r>
              <a:rPr sz="2350" b="1">
                <a:latin typeface="Arial"/>
                <a:ea typeface="Arial"/>
                <a:cs typeface="Arial"/>
              </a:rPr>
              <a:t>0.25-Mile Bin - (swicth + siding)</a:t>
            </a:r>
            <a:endParaRPr sz="2350"/>
          </a:p>
        </p:txBody>
      </p:sp>
      <p:sp>
        <p:nvSpPr>
          <p:cNvPr id="76" name="TextBox 76">
            <a:extLst>
              <a:ext uri="{FF2B5EF4-FFF2-40B4-BE49-F238E27FC236}">
                <a16:creationId xmlns:a16="http://schemas.microsoft.com/office/drawing/2014/main" id="{6C969293-B9CE-4F11-8ADD-4D02586D54E0}"/>
              </a:ext>
            </a:extLst>
          </p:cNvPr>
          <p:cNvSpPr>
            <a:spLocks noGrp="1"/>
          </p:cNvSpPr>
          <p:nvPr/>
        </p:nvSpPr>
        <p:spPr>
          <a:xfrm>
            <a:off x="280030" y="706936"/>
            <a:ext cx="4737194" cy="218640"/>
          </a:xfrm>
          <a:prstGeom prst="rect">
            <a:avLst/>
          </a:prstGeom>
          <a:noFill/>
          <a:ln>
            <a:noFill/>
          </a:ln>
        </p:spPr>
        <p:txBody>
          <a:bodyPr wrap="none" lIns="0" tIns="0" rIns="0" bIns="0" anchor="t">
            <a:noAutofit/>
          </a:bodyPr>
          <a:lstStyle/>
          <a:p>
            <a:r>
              <a:rPr sz="1370" b="1">
                <a:latin typeface="Arial"/>
                <a:ea typeface="Arial"/>
                <a:cs typeface="Arial"/>
              </a:rPr>
              <a:t>Refine track count by split the corridor by milepost into 0.25-mile bins</a:t>
            </a:r>
            <a:endParaRPr sz="1370"/>
          </a:p>
        </p:txBody>
      </p:sp>
      <p:sp>
        <p:nvSpPr>
          <p:cNvPr id="77" name="TextBox 77">
            <a:extLst>
              <a:ext uri="{FF2B5EF4-FFF2-40B4-BE49-F238E27FC236}">
                <a16:creationId xmlns:a16="http://schemas.microsoft.com/office/drawing/2014/main" id="{77D6B367-B350-4DCC-952C-861F1344FCD9}"/>
              </a:ext>
            </a:extLst>
          </p:cNvPr>
          <p:cNvSpPr>
            <a:spLocks noGrp="1"/>
          </p:cNvSpPr>
          <p:nvPr/>
        </p:nvSpPr>
        <p:spPr>
          <a:xfrm>
            <a:off x="593414" y="1690814"/>
            <a:ext cx="801679" cy="160336"/>
          </a:xfrm>
          <a:prstGeom prst="rect">
            <a:avLst/>
          </a:prstGeom>
          <a:noFill/>
          <a:ln>
            <a:noFill/>
          </a:ln>
        </p:spPr>
        <p:txBody>
          <a:bodyPr wrap="none" lIns="0" tIns="0" rIns="0" bIns="0" anchor="t">
            <a:noAutofit/>
          </a:bodyPr>
          <a:lstStyle/>
          <a:p>
            <a:pPr algn="l">
              <a:buNone/>
            </a:pPr>
            <a:r>
              <a:rPr sz="1000" b="1">
                <a:latin typeface="Arial"/>
                <a:ea typeface="Arial"/>
                <a:cs typeface="Arial"/>
              </a:rPr>
              <a:t>Milepost</a:t>
            </a:r>
            <a:endParaRPr sz="1000"/>
          </a:p>
        </p:txBody>
      </p:sp>
      <p:sp>
        <p:nvSpPr>
          <p:cNvPr id="78" name="TextBox 78">
            <a:extLst>
              <a:ext uri="{FF2B5EF4-FFF2-40B4-BE49-F238E27FC236}">
                <a16:creationId xmlns:a16="http://schemas.microsoft.com/office/drawing/2014/main" id="{399C0210-22CB-4091-B0F5-7E4F2E0ECE51}"/>
              </a:ext>
            </a:extLst>
          </p:cNvPr>
          <p:cNvSpPr>
            <a:spLocks noGrp="1"/>
          </p:cNvSpPr>
          <p:nvPr/>
        </p:nvSpPr>
        <p:spPr>
          <a:xfrm>
            <a:off x="1344077"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0.00</a:t>
            </a:r>
            <a:endParaRPr sz="1000"/>
          </a:p>
        </p:txBody>
      </p:sp>
      <p:sp>
        <p:nvSpPr>
          <p:cNvPr id="79" name="TextBox 79">
            <a:extLst>
              <a:ext uri="{FF2B5EF4-FFF2-40B4-BE49-F238E27FC236}">
                <a16:creationId xmlns:a16="http://schemas.microsoft.com/office/drawing/2014/main" id="{2606E677-CFEA-4F3A-A05A-E1ECAF7AA4F3}"/>
              </a:ext>
            </a:extLst>
          </p:cNvPr>
          <p:cNvSpPr>
            <a:spLocks noGrp="1"/>
          </p:cNvSpPr>
          <p:nvPr/>
        </p:nvSpPr>
        <p:spPr>
          <a:xfrm>
            <a:off x="3173363"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0.25</a:t>
            </a:r>
            <a:endParaRPr sz="1000"/>
          </a:p>
        </p:txBody>
      </p:sp>
      <p:sp>
        <p:nvSpPr>
          <p:cNvPr id="80" name="TextBox 80">
            <a:extLst>
              <a:ext uri="{FF2B5EF4-FFF2-40B4-BE49-F238E27FC236}">
                <a16:creationId xmlns:a16="http://schemas.microsoft.com/office/drawing/2014/main" id="{275BB5D3-6EBA-4B70-8347-031A1F9A4D5C}"/>
              </a:ext>
            </a:extLst>
          </p:cNvPr>
          <p:cNvSpPr>
            <a:spLocks noGrp="1"/>
          </p:cNvSpPr>
          <p:nvPr/>
        </p:nvSpPr>
        <p:spPr>
          <a:xfrm>
            <a:off x="5374336"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0.50</a:t>
            </a:r>
            <a:endParaRPr sz="1000"/>
          </a:p>
        </p:txBody>
      </p:sp>
      <p:sp>
        <p:nvSpPr>
          <p:cNvPr id="81" name="TextBox 81">
            <a:extLst>
              <a:ext uri="{FF2B5EF4-FFF2-40B4-BE49-F238E27FC236}">
                <a16:creationId xmlns:a16="http://schemas.microsoft.com/office/drawing/2014/main" id="{9F954C27-2B05-426F-8912-675B7C9BBDDC}"/>
              </a:ext>
            </a:extLst>
          </p:cNvPr>
          <p:cNvSpPr>
            <a:spLocks noGrp="1"/>
          </p:cNvSpPr>
          <p:nvPr/>
        </p:nvSpPr>
        <p:spPr>
          <a:xfrm>
            <a:off x="7458702"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0.75</a:t>
            </a:r>
            <a:endParaRPr sz="1000"/>
          </a:p>
        </p:txBody>
      </p:sp>
      <p:sp>
        <p:nvSpPr>
          <p:cNvPr id="82" name="TextBox 82">
            <a:extLst>
              <a:ext uri="{FF2B5EF4-FFF2-40B4-BE49-F238E27FC236}">
                <a16:creationId xmlns:a16="http://schemas.microsoft.com/office/drawing/2014/main" id="{42A1D40F-6855-48AB-9EBC-FC8ACF018956}"/>
              </a:ext>
            </a:extLst>
          </p:cNvPr>
          <p:cNvSpPr>
            <a:spLocks noGrp="1"/>
          </p:cNvSpPr>
          <p:nvPr/>
        </p:nvSpPr>
        <p:spPr>
          <a:xfrm>
            <a:off x="8770540"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1.00</a:t>
            </a:r>
            <a:endParaRPr sz="1000"/>
          </a:p>
        </p:txBody>
      </p:sp>
      <p:sp>
        <p:nvSpPr>
          <p:cNvPr id="83" name="TextBox 83">
            <a:extLst>
              <a:ext uri="{FF2B5EF4-FFF2-40B4-BE49-F238E27FC236}">
                <a16:creationId xmlns:a16="http://schemas.microsoft.com/office/drawing/2014/main" id="{9A84AFC7-F772-4AA3-A4B2-82196009C731}"/>
              </a:ext>
            </a:extLst>
          </p:cNvPr>
          <p:cNvSpPr>
            <a:spLocks noGrp="1"/>
          </p:cNvSpPr>
          <p:nvPr/>
        </p:nvSpPr>
        <p:spPr>
          <a:xfrm>
            <a:off x="1599157" y="1639798"/>
            <a:ext cx="1829286"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1</a:t>
            </a:r>
            <a:endParaRPr sz="1100"/>
          </a:p>
        </p:txBody>
      </p:sp>
      <p:sp>
        <p:nvSpPr>
          <p:cNvPr id="84" name="TextBox 84">
            <a:extLst>
              <a:ext uri="{FF2B5EF4-FFF2-40B4-BE49-F238E27FC236}">
                <a16:creationId xmlns:a16="http://schemas.microsoft.com/office/drawing/2014/main" id="{161ED613-AF3F-476F-8B2B-BE1596AA6815}"/>
              </a:ext>
            </a:extLst>
          </p:cNvPr>
          <p:cNvSpPr>
            <a:spLocks noGrp="1"/>
          </p:cNvSpPr>
          <p:nvPr/>
        </p:nvSpPr>
        <p:spPr>
          <a:xfrm>
            <a:off x="3428443" y="1639798"/>
            <a:ext cx="2200973"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2</a:t>
            </a:r>
            <a:endParaRPr sz="1100"/>
          </a:p>
        </p:txBody>
      </p:sp>
      <p:sp>
        <p:nvSpPr>
          <p:cNvPr id="85" name="TextBox 85">
            <a:extLst>
              <a:ext uri="{FF2B5EF4-FFF2-40B4-BE49-F238E27FC236}">
                <a16:creationId xmlns:a16="http://schemas.microsoft.com/office/drawing/2014/main" id="{8EB8542E-1E68-48A1-966C-E09E57D1CFDA}"/>
              </a:ext>
            </a:extLst>
          </p:cNvPr>
          <p:cNvSpPr>
            <a:spLocks noGrp="1"/>
          </p:cNvSpPr>
          <p:nvPr/>
        </p:nvSpPr>
        <p:spPr>
          <a:xfrm>
            <a:off x="5629416" y="1639798"/>
            <a:ext cx="2084366"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3</a:t>
            </a:r>
            <a:endParaRPr sz="1100"/>
          </a:p>
        </p:txBody>
      </p:sp>
      <p:sp>
        <p:nvSpPr>
          <p:cNvPr id="86" name="TextBox 86">
            <a:extLst>
              <a:ext uri="{FF2B5EF4-FFF2-40B4-BE49-F238E27FC236}">
                <a16:creationId xmlns:a16="http://schemas.microsoft.com/office/drawing/2014/main" id="{77872595-DEC7-4AC1-99E1-C7AD92494E51}"/>
              </a:ext>
            </a:extLst>
          </p:cNvPr>
          <p:cNvSpPr>
            <a:spLocks noGrp="1"/>
          </p:cNvSpPr>
          <p:nvPr/>
        </p:nvSpPr>
        <p:spPr>
          <a:xfrm>
            <a:off x="7713782" y="1639798"/>
            <a:ext cx="1311838"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4</a:t>
            </a:r>
            <a:endParaRPr sz="1100"/>
          </a:p>
        </p:txBody>
      </p:sp>
      <p:sp>
        <p:nvSpPr>
          <p:cNvPr id="87" name="TextBox 87">
            <a:extLst>
              <a:ext uri="{FF2B5EF4-FFF2-40B4-BE49-F238E27FC236}">
                <a16:creationId xmlns:a16="http://schemas.microsoft.com/office/drawing/2014/main" id="{48DDBD1A-EFCD-4001-B3EC-DF04A8355CA1}"/>
              </a:ext>
            </a:extLst>
          </p:cNvPr>
          <p:cNvSpPr>
            <a:spLocks noGrp="1"/>
          </p:cNvSpPr>
          <p:nvPr/>
        </p:nvSpPr>
        <p:spPr>
          <a:xfrm>
            <a:off x="9805436" y="1370143"/>
            <a:ext cx="1603358" cy="320671"/>
          </a:xfrm>
          <a:prstGeom prst="rect">
            <a:avLst/>
          </a:prstGeom>
          <a:noFill/>
          <a:ln>
            <a:noFill/>
          </a:ln>
        </p:spPr>
        <p:txBody>
          <a:bodyPr wrap="none" lIns="0" tIns="0" rIns="0" bIns="0" anchor="t">
            <a:noAutofit/>
          </a:bodyPr>
          <a:lstStyle/>
          <a:p>
            <a:r>
              <a:rPr sz="1000" b="1">
                <a:latin typeface="Arial"/>
                <a:ea typeface="Arial"/>
                <a:cs typeface="Arial"/>
              </a:rPr>
              <a:t>Bin = spatial aggregation unit</a:t>
            </a:r>
          </a:p>
          <a:p>
            <a:r>
              <a:rPr sz="1000" b="1">
                <a:latin typeface="Arial"/>
                <a:ea typeface="Arial"/>
                <a:cs typeface="Arial"/>
              </a:rPr>
              <a:t>Not a signaling block</a:t>
            </a:r>
            <a:endParaRPr sz="1000"/>
          </a:p>
          <a:p>
            <a:pPr algn="l">
              <a:buNone/>
            </a:pPr>
            <a:endParaRPr sz="1000"/>
          </a:p>
        </p:txBody>
      </p:sp>
      <p:sp>
        <p:nvSpPr>
          <p:cNvPr id="89" name="TextBox 89">
            <a:extLst>
              <a:ext uri="{FF2B5EF4-FFF2-40B4-BE49-F238E27FC236}">
                <a16:creationId xmlns:a16="http://schemas.microsoft.com/office/drawing/2014/main" id="{FFD76580-F80A-4F82-BA99-C3ECF248A120}"/>
              </a:ext>
            </a:extLst>
          </p:cNvPr>
          <p:cNvSpPr>
            <a:spLocks noGrp="1"/>
          </p:cNvSpPr>
          <p:nvPr/>
        </p:nvSpPr>
        <p:spPr>
          <a:xfrm>
            <a:off x="331046" y="2251988"/>
            <a:ext cx="5684633" cy="218640"/>
          </a:xfrm>
          <a:prstGeom prst="rect">
            <a:avLst/>
          </a:prstGeom>
          <a:noFill/>
          <a:ln>
            <a:noFill/>
          </a:ln>
        </p:spPr>
        <p:txBody>
          <a:bodyPr wrap="none" lIns="0" tIns="0" rIns="0" bIns="0" anchor="t">
            <a:noAutofit/>
          </a:bodyPr>
          <a:lstStyle/>
          <a:p>
            <a:pPr algn="l">
              <a:buNone/>
            </a:pPr>
            <a:r>
              <a:rPr sz="1220" b="1">
                <a:latin typeface="Arial"/>
                <a:ea typeface="Arial"/>
                <a:cs typeface="Arial"/>
              </a:rPr>
              <a:t>Reconcile multiple sources in each bin to determine main-track count</a:t>
            </a:r>
            <a:endParaRPr sz="1220"/>
          </a:p>
        </p:txBody>
      </p:sp>
      <p:sp>
        <p:nvSpPr>
          <p:cNvPr id="90" name="TextBox 90">
            <a:extLst>
              <a:ext uri="{FF2B5EF4-FFF2-40B4-BE49-F238E27FC236}">
                <a16:creationId xmlns:a16="http://schemas.microsoft.com/office/drawing/2014/main" id="{5FEDF5CA-11E8-45EA-B895-17D7638634A2}"/>
              </a:ext>
            </a:extLst>
          </p:cNvPr>
          <p:cNvSpPr>
            <a:spLocks noGrp="1"/>
          </p:cNvSpPr>
          <p:nvPr/>
        </p:nvSpPr>
        <p:spPr>
          <a:xfrm>
            <a:off x="1103573" y="2660117"/>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NTAD</a:t>
            </a:r>
            <a:endParaRPr sz="1000"/>
          </a:p>
        </p:txBody>
      </p:sp>
      <p:sp>
        <p:nvSpPr>
          <p:cNvPr id="91" name="TextBox 91">
            <a:extLst>
              <a:ext uri="{FF2B5EF4-FFF2-40B4-BE49-F238E27FC236}">
                <a16:creationId xmlns:a16="http://schemas.microsoft.com/office/drawing/2014/main" id="{033C3763-72BE-4EC2-8C25-1D3F0F5D405A}"/>
              </a:ext>
            </a:extLst>
          </p:cNvPr>
          <p:cNvSpPr>
            <a:spLocks noGrp="1"/>
          </p:cNvSpPr>
          <p:nvPr/>
        </p:nvSpPr>
        <p:spPr>
          <a:xfrm>
            <a:off x="1103573" y="30245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FRA crossing</a:t>
            </a:r>
            <a:endParaRPr sz="1000"/>
          </a:p>
        </p:txBody>
      </p:sp>
      <p:sp>
        <p:nvSpPr>
          <p:cNvPr id="92" name="TextBox 92">
            <a:extLst>
              <a:ext uri="{FF2B5EF4-FFF2-40B4-BE49-F238E27FC236}">
                <a16:creationId xmlns:a16="http://schemas.microsoft.com/office/drawing/2014/main" id="{AD2277FB-C947-4438-AB38-EC8C789158CF}"/>
              </a:ext>
            </a:extLst>
          </p:cNvPr>
          <p:cNvSpPr>
            <a:spLocks noGrp="1"/>
          </p:cNvSpPr>
          <p:nvPr/>
        </p:nvSpPr>
        <p:spPr>
          <a:xfrm>
            <a:off x="1103573" y="33889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Topology</a:t>
            </a:r>
            <a:endParaRPr sz="1000"/>
          </a:p>
        </p:txBody>
      </p:sp>
      <p:sp>
        <p:nvSpPr>
          <p:cNvPr id="93" name="TextBox 93">
            <a:extLst>
              <a:ext uri="{FF2B5EF4-FFF2-40B4-BE49-F238E27FC236}">
                <a16:creationId xmlns:a16="http://schemas.microsoft.com/office/drawing/2014/main" id="{6C7F773A-563A-434B-B776-F2A715D7028D}"/>
              </a:ext>
            </a:extLst>
          </p:cNvPr>
          <p:cNvSpPr>
            <a:spLocks noGrp="1"/>
          </p:cNvSpPr>
          <p:nvPr/>
        </p:nvSpPr>
        <p:spPr>
          <a:xfrm>
            <a:off x="1103573" y="37533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OSM</a:t>
            </a:r>
            <a:endParaRPr sz="1000"/>
          </a:p>
        </p:txBody>
      </p:sp>
      <p:sp>
        <p:nvSpPr>
          <p:cNvPr id="94" name="TextBox 94">
            <a:extLst>
              <a:ext uri="{FF2B5EF4-FFF2-40B4-BE49-F238E27FC236}">
                <a16:creationId xmlns:a16="http://schemas.microsoft.com/office/drawing/2014/main" id="{DE9653BF-B524-4FFF-AA98-81245BE88BD5}"/>
              </a:ext>
            </a:extLst>
          </p:cNvPr>
          <p:cNvSpPr>
            <a:spLocks noGrp="1"/>
          </p:cNvSpPr>
          <p:nvPr/>
        </p:nvSpPr>
        <p:spPr>
          <a:xfrm>
            <a:off x="3297259" y="3046380"/>
            <a:ext cx="1486750" cy="510159"/>
          </a:xfrm>
          <a:prstGeom prst="rect">
            <a:avLst/>
          </a:prstGeom>
          <a:noFill/>
          <a:ln>
            <a:noFill/>
          </a:ln>
        </p:spPr>
        <p:txBody>
          <a:bodyPr wrap="none" lIns="0" tIns="0" rIns="0" bIns="0" anchor="ctr">
            <a:noAutofit/>
          </a:bodyPr>
          <a:lstStyle/>
          <a:p>
            <a:pPr algn="ctr">
              <a:buNone/>
            </a:pPr>
            <a:r>
              <a:rPr sz="940" b="1">
                <a:latin typeface="Arial"/>
                <a:ea typeface="Arial"/>
                <a:cs typeface="Arial"/>
              </a:rPr>
              <a:t>Reconcile</a:t>
            </a:r>
            <a:endParaRPr sz="940"/>
          </a:p>
          <a:p>
            <a:pPr algn="ctr">
              <a:buNone/>
            </a:pPr>
            <a:r>
              <a:rPr sz="940" b="1">
                <a:latin typeface="Arial"/>
                <a:ea typeface="Arial"/>
                <a:cs typeface="Arial"/>
              </a:rPr>
              <a:t>select the maximum value</a:t>
            </a:r>
            <a:endParaRPr sz="940"/>
          </a:p>
        </p:txBody>
      </p:sp>
      <p:sp>
        <p:nvSpPr>
          <p:cNvPr id="95" name="TextBox 95">
            <a:extLst>
              <a:ext uri="{FF2B5EF4-FFF2-40B4-BE49-F238E27FC236}">
                <a16:creationId xmlns:a16="http://schemas.microsoft.com/office/drawing/2014/main" id="{24DB4585-7820-484A-B9C7-33D740AA7E6C}"/>
              </a:ext>
            </a:extLst>
          </p:cNvPr>
          <p:cNvSpPr>
            <a:spLocks noGrp="1"/>
          </p:cNvSpPr>
          <p:nvPr/>
        </p:nvSpPr>
        <p:spPr>
          <a:xfrm>
            <a:off x="5600264" y="2485205"/>
            <a:ext cx="1311838"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1</a:t>
            </a:r>
            <a:endParaRPr sz="1030"/>
          </a:p>
        </p:txBody>
      </p:sp>
      <p:sp>
        <p:nvSpPr>
          <p:cNvPr id="96" name="TextBox 96">
            <a:extLst>
              <a:ext uri="{FF2B5EF4-FFF2-40B4-BE49-F238E27FC236}">
                <a16:creationId xmlns:a16="http://schemas.microsoft.com/office/drawing/2014/main" id="{C1E28667-E9B3-4F8D-B80E-EA9EBF4BB7F1}"/>
              </a:ext>
            </a:extLst>
          </p:cNvPr>
          <p:cNvSpPr>
            <a:spLocks noGrp="1"/>
          </p:cNvSpPr>
          <p:nvPr/>
        </p:nvSpPr>
        <p:spPr>
          <a:xfrm>
            <a:off x="5658568" y="3367052"/>
            <a:ext cx="1195231"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97" name="TextBox 97">
            <a:extLst>
              <a:ext uri="{FF2B5EF4-FFF2-40B4-BE49-F238E27FC236}">
                <a16:creationId xmlns:a16="http://schemas.microsoft.com/office/drawing/2014/main" id="{31CBC095-AC01-403F-BD94-90BC84E2E32F}"/>
              </a:ext>
            </a:extLst>
          </p:cNvPr>
          <p:cNvSpPr>
            <a:spLocks noGrp="1"/>
          </p:cNvSpPr>
          <p:nvPr/>
        </p:nvSpPr>
        <p:spPr>
          <a:xfrm>
            <a:off x="6955831" y="2485205"/>
            <a:ext cx="1282687"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2</a:t>
            </a:r>
            <a:endParaRPr sz="1030"/>
          </a:p>
        </p:txBody>
      </p:sp>
      <p:sp>
        <p:nvSpPr>
          <p:cNvPr id="98" name="TextBox 98">
            <a:extLst>
              <a:ext uri="{FF2B5EF4-FFF2-40B4-BE49-F238E27FC236}">
                <a16:creationId xmlns:a16="http://schemas.microsoft.com/office/drawing/2014/main" id="{E68FFB04-8005-49E8-B798-3553A4F048FA}"/>
              </a:ext>
            </a:extLst>
          </p:cNvPr>
          <p:cNvSpPr>
            <a:spLocks noGrp="1"/>
          </p:cNvSpPr>
          <p:nvPr/>
        </p:nvSpPr>
        <p:spPr>
          <a:xfrm>
            <a:off x="7014135" y="3367052"/>
            <a:ext cx="1166079"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99" name="TextBox 99">
            <a:extLst>
              <a:ext uri="{FF2B5EF4-FFF2-40B4-BE49-F238E27FC236}">
                <a16:creationId xmlns:a16="http://schemas.microsoft.com/office/drawing/2014/main" id="{AB394B44-03F7-409A-99D9-6BF03DCE358B}"/>
              </a:ext>
            </a:extLst>
          </p:cNvPr>
          <p:cNvSpPr>
            <a:spLocks noGrp="1"/>
          </p:cNvSpPr>
          <p:nvPr/>
        </p:nvSpPr>
        <p:spPr>
          <a:xfrm>
            <a:off x="8282245" y="2485205"/>
            <a:ext cx="1770982"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3</a:t>
            </a:r>
            <a:endParaRPr sz="1030"/>
          </a:p>
        </p:txBody>
      </p:sp>
      <p:sp>
        <p:nvSpPr>
          <p:cNvPr id="100" name="TextBox 100">
            <a:extLst>
              <a:ext uri="{FF2B5EF4-FFF2-40B4-BE49-F238E27FC236}">
                <a16:creationId xmlns:a16="http://schemas.microsoft.com/office/drawing/2014/main" id="{CFAEAD12-6FB1-4E4D-8069-BAB8EB3E0383}"/>
              </a:ext>
            </a:extLst>
          </p:cNvPr>
          <p:cNvSpPr>
            <a:spLocks noGrp="1"/>
          </p:cNvSpPr>
          <p:nvPr/>
        </p:nvSpPr>
        <p:spPr>
          <a:xfrm>
            <a:off x="8340549" y="3367052"/>
            <a:ext cx="1654374" cy="422704"/>
          </a:xfrm>
          <a:prstGeom prst="rect">
            <a:avLst/>
          </a:prstGeom>
          <a:noFill/>
          <a:ln>
            <a:noFill/>
          </a:ln>
        </p:spPr>
        <p:txBody>
          <a:bodyPr wrap="none" lIns="0" tIns="0" rIns="0" bIns="0" anchor="ctr">
            <a:noAutofit/>
          </a:bodyPr>
          <a:lstStyle/>
          <a:p>
            <a:pPr algn="ctr">
              <a:buNone/>
            </a:pPr>
            <a:r>
              <a:rPr sz="800">
                <a:latin typeface="Arial"/>
                <a:ea typeface="Arial"/>
                <a:cs typeface="Arial"/>
              </a:rPr>
              <a:t>1 main track</a:t>
            </a:r>
            <a:endParaRPr sz="800"/>
          </a:p>
          <a:p>
            <a:pPr algn="ctr">
              <a:buNone/>
            </a:pPr>
            <a:r>
              <a:rPr sz="800">
                <a:latin typeface="Arial"/>
                <a:ea typeface="Arial"/>
                <a:cs typeface="Arial"/>
              </a:rPr>
              <a:t>+ 1 siding (range from 0.3–4 miles)</a:t>
            </a:r>
            <a:endParaRPr sz="800"/>
          </a:p>
          <a:p>
            <a:pPr algn="ctr">
              <a:buNone/>
            </a:pPr>
            <a:r>
              <a:rPr sz="800">
                <a:latin typeface="Arial"/>
                <a:ea typeface="Arial"/>
                <a:cs typeface="Arial"/>
              </a:rPr>
              <a:t> (excluded from main-track count)</a:t>
            </a:r>
            <a:endParaRPr sz="800"/>
          </a:p>
        </p:txBody>
      </p:sp>
      <p:sp>
        <p:nvSpPr>
          <p:cNvPr id="101" name="TextBox 101">
            <a:extLst>
              <a:ext uri="{FF2B5EF4-FFF2-40B4-BE49-F238E27FC236}">
                <a16:creationId xmlns:a16="http://schemas.microsoft.com/office/drawing/2014/main" id="{4A5971E7-9353-47E3-A194-BBB24942F8C1}"/>
              </a:ext>
            </a:extLst>
          </p:cNvPr>
          <p:cNvSpPr>
            <a:spLocks noGrp="1"/>
          </p:cNvSpPr>
          <p:nvPr/>
        </p:nvSpPr>
        <p:spPr>
          <a:xfrm>
            <a:off x="10096955" y="2485205"/>
            <a:ext cx="1399294"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4</a:t>
            </a:r>
            <a:endParaRPr sz="1030"/>
          </a:p>
        </p:txBody>
      </p:sp>
      <p:sp>
        <p:nvSpPr>
          <p:cNvPr id="102" name="TextBox 102">
            <a:extLst>
              <a:ext uri="{FF2B5EF4-FFF2-40B4-BE49-F238E27FC236}">
                <a16:creationId xmlns:a16="http://schemas.microsoft.com/office/drawing/2014/main" id="{932DF7AF-E14F-4704-96C7-75B0E5BB37D3}"/>
              </a:ext>
            </a:extLst>
          </p:cNvPr>
          <p:cNvSpPr>
            <a:spLocks noGrp="1"/>
          </p:cNvSpPr>
          <p:nvPr/>
        </p:nvSpPr>
        <p:spPr>
          <a:xfrm>
            <a:off x="10155259" y="3367052"/>
            <a:ext cx="1282687"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103" name="TextBox 103">
            <a:extLst>
              <a:ext uri="{FF2B5EF4-FFF2-40B4-BE49-F238E27FC236}">
                <a16:creationId xmlns:a16="http://schemas.microsoft.com/office/drawing/2014/main" id="{5F5EB9C5-44B5-4602-BDDA-43D973994BE8}"/>
              </a:ext>
            </a:extLst>
          </p:cNvPr>
          <p:cNvSpPr>
            <a:spLocks noGrp="1"/>
          </p:cNvSpPr>
          <p:nvPr/>
        </p:nvSpPr>
        <p:spPr>
          <a:xfrm>
            <a:off x="6890239" y="3993819"/>
            <a:ext cx="2769437" cy="174912"/>
          </a:xfrm>
          <a:prstGeom prst="rect">
            <a:avLst/>
          </a:prstGeom>
          <a:noFill/>
          <a:ln>
            <a:noFill/>
          </a:ln>
        </p:spPr>
        <p:txBody>
          <a:bodyPr wrap="none" lIns="0" tIns="0" rIns="0" bIns="0" anchor="t">
            <a:noAutofit/>
          </a:bodyPr>
          <a:lstStyle/>
          <a:p>
            <a:pPr algn="ctr">
              <a:buNone/>
            </a:pPr>
            <a:r>
              <a:rPr sz="1130" b="1">
                <a:latin typeface="Arial"/>
                <a:ea typeface="Arial"/>
                <a:cs typeface="Arial"/>
              </a:rPr>
              <a:t>track count  n_b = [2, 2, 1, 2]</a:t>
            </a:r>
            <a:endParaRPr sz="1130"/>
          </a:p>
        </p:txBody>
      </p:sp>
      <p:sp>
        <p:nvSpPr>
          <p:cNvPr id="25" name="Rect 25">
            <a:extLst>
              <a:ext uri="{FF2B5EF4-FFF2-40B4-BE49-F238E27FC236}">
                <a16:creationId xmlns:a16="http://schemas.microsoft.com/office/drawing/2014/main" id="{FFE82C1D-98C9-4D9E-94EF-A08A7ED516BA}"/>
              </a:ext>
            </a:extLst>
          </p:cNvPr>
          <p:cNvSpPr>
            <a:spLocks noGrp="1"/>
          </p:cNvSpPr>
          <p:nvPr/>
        </p:nvSpPr>
        <p:spPr>
          <a:xfrm>
            <a:off x="3512254" y="4467538"/>
            <a:ext cx="4030260" cy="1715542"/>
          </a:xfrm>
          <a:prstGeom prst="rect">
            <a:avLst/>
          </a:prstGeom>
          <a:noFill/>
          <a:ln w="12700">
            <a:solidFill>
              <a:srgbClr val="055500"/>
            </a:solidFill>
          </a:ln>
        </p:spPr>
        <p:txBody>
          <a:bodyPr/>
          <a:lstStyle/>
          <a:p>
            <a:endParaRPr/>
          </a:p>
        </p:txBody>
      </p:sp>
      <p:sp>
        <p:nvSpPr>
          <p:cNvPr id="26" name="Rect 26">
            <a:extLst>
              <a:ext uri="{FF2B5EF4-FFF2-40B4-BE49-F238E27FC236}">
                <a16:creationId xmlns:a16="http://schemas.microsoft.com/office/drawing/2014/main" id="{441D6C7B-3A2F-4E2F-B524-2C8393156FCB}"/>
              </a:ext>
            </a:extLst>
          </p:cNvPr>
          <p:cNvSpPr>
            <a:spLocks noGrp="1"/>
          </p:cNvSpPr>
          <p:nvPr/>
        </p:nvSpPr>
        <p:spPr>
          <a:xfrm>
            <a:off x="3512254" y="4467538"/>
            <a:ext cx="4030260" cy="343108"/>
          </a:xfrm>
          <a:prstGeom prst="rect">
            <a:avLst/>
          </a:prstGeom>
          <a:noFill/>
          <a:ln w="12700">
            <a:solidFill>
              <a:srgbClr val="102845"/>
            </a:solidFill>
          </a:ln>
        </p:spPr>
        <p:txBody>
          <a:bodyPr/>
          <a:lstStyle/>
          <a:p>
            <a:endParaRPr/>
          </a:p>
        </p:txBody>
      </p:sp>
      <p:sp>
        <p:nvSpPr>
          <p:cNvPr id="27" name="Rect 27">
            <a:extLst>
              <a:ext uri="{FF2B5EF4-FFF2-40B4-BE49-F238E27FC236}">
                <a16:creationId xmlns:a16="http://schemas.microsoft.com/office/drawing/2014/main" id="{94F56DEA-AC4D-445E-B786-7225A650E477}"/>
              </a:ext>
            </a:extLst>
          </p:cNvPr>
          <p:cNvSpPr>
            <a:spLocks noGrp="1"/>
          </p:cNvSpPr>
          <p:nvPr/>
        </p:nvSpPr>
        <p:spPr>
          <a:xfrm>
            <a:off x="3512254" y="6183080"/>
            <a:ext cx="4030260" cy="332386"/>
          </a:xfrm>
          <a:prstGeom prst="rect">
            <a:avLst/>
          </a:prstGeom>
          <a:noFill/>
          <a:ln w="12700">
            <a:solidFill>
              <a:srgbClr val="7D9ED0"/>
            </a:solidFill>
          </a:ln>
        </p:spPr>
        <p:txBody>
          <a:bodyPr/>
          <a:lstStyle/>
          <a:p>
            <a:endParaRPr/>
          </a:p>
        </p:txBody>
      </p:sp>
      <p:sp>
        <p:nvSpPr>
          <p:cNvPr id="28" name="Line 28">
            <a:extLst>
              <a:ext uri="{FF2B5EF4-FFF2-40B4-BE49-F238E27FC236}">
                <a16:creationId xmlns:a16="http://schemas.microsoft.com/office/drawing/2014/main" id="{CDC46AC2-D404-44CF-AF76-A0569D60B051}"/>
              </a:ext>
            </a:extLst>
          </p:cNvPr>
          <p:cNvSpPr>
            <a:spLocks noGrp="1"/>
          </p:cNvSpPr>
          <p:nvPr/>
        </p:nvSpPr>
        <p:spPr>
          <a:xfrm>
            <a:off x="4508498" y="4467538"/>
            <a:ext cx="0" cy="1715542"/>
          </a:xfrm>
          <a:prstGeom prst="line">
            <a:avLst/>
          </a:prstGeom>
          <a:noFill/>
          <a:ln w="10160">
            <a:solidFill>
              <a:srgbClr val="066600"/>
            </a:solidFill>
          </a:ln>
        </p:spPr>
        <p:txBody>
          <a:bodyPr/>
          <a:lstStyle/>
          <a:p>
            <a:endParaRPr/>
          </a:p>
        </p:txBody>
      </p:sp>
      <p:sp>
        <p:nvSpPr>
          <p:cNvPr id="29" name="Line 29">
            <a:extLst>
              <a:ext uri="{FF2B5EF4-FFF2-40B4-BE49-F238E27FC236}">
                <a16:creationId xmlns:a16="http://schemas.microsoft.com/office/drawing/2014/main" id="{3E823A4F-FEC8-4214-A245-86639C591F68}"/>
              </a:ext>
            </a:extLst>
          </p:cNvPr>
          <p:cNvSpPr>
            <a:spLocks noGrp="1"/>
          </p:cNvSpPr>
          <p:nvPr/>
        </p:nvSpPr>
        <p:spPr>
          <a:xfrm>
            <a:off x="5984750" y="4467538"/>
            <a:ext cx="0" cy="1715542"/>
          </a:xfrm>
          <a:prstGeom prst="line">
            <a:avLst/>
          </a:prstGeom>
          <a:noFill/>
          <a:ln w="10160">
            <a:solidFill>
              <a:srgbClr val="066600"/>
            </a:solidFill>
          </a:ln>
        </p:spPr>
        <p:txBody>
          <a:bodyPr/>
          <a:lstStyle/>
          <a:p>
            <a:endParaRPr/>
          </a:p>
        </p:txBody>
      </p:sp>
      <p:sp>
        <p:nvSpPr>
          <p:cNvPr id="30" name="Line 30">
            <a:extLst>
              <a:ext uri="{FF2B5EF4-FFF2-40B4-BE49-F238E27FC236}">
                <a16:creationId xmlns:a16="http://schemas.microsoft.com/office/drawing/2014/main" id="{1E6B259E-B25C-4119-8C0D-CC5DA21C3E83}"/>
              </a:ext>
            </a:extLst>
          </p:cNvPr>
          <p:cNvSpPr>
            <a:spLocks noGrp="1"/>
          </p:cNvSpPr>
          <p:nvPr/>
        </p:nvSpPr>
        <p:spPr>
          <a:xfrm>
            <a:off x="3512254" y="4810646"/>
            <a:ext cx="4030260" cy="0"/>
          </a:xfrm>
          <a:prstGeom prst="line">
            <a:avLst/>
          </a:prstGeom>
          <a:noFill/>
          <a:ln w="10160">
            <a:solidFill>
              <a:srgbClr val="077700"/>
            </a:solidFill>
          </a:ln>
        </p:spPr>
        <p:txBody>
          <a:bodyPr/>
          <a:lstStyle/>
          <a:p>
            <a:endParaRPr/>
          </a:p>
        </p:txBody>
      </p:sp>
      <p:sp>
        <p:nvSpPr>
          <p:cNvPr id="31" name="Line 31">
            <a:extLst>
              <a:ext uri="{FF2B5EF4-FFF2-40B4-BE49-F238E27FC236}">
                <a16:creationId xmlns:a16="http://schemas.microsoft.com/office/drawing/2014/main" id="{3692EDF3-293C-43E2-B731-317B1D1E14E4}"/>
              </a:ext>
            </a:extLst>
          </p:cNvPr>
          <p:cNvSpPr>
            <a:spLocks noGrp="1"/>
          </p:cNvSpPr>
          <p:nvPr/>
        </p:nvSpPr>
        <p:spPr>
          <a:xfrm>
            <a:off x="3512254" y="5153755"/>
            <a:ext cx="4030260" cy="0"/>
          </a:xfrm>
          <a:prstGeom prst="line">
            <a:avLst/>
          </a:prstGeom>
          <a:noFill/>
          <a:ln w="10160">
            <a:solidFill>
              <a:srgbClr val="077700"/>
            </a:solidFill>
          </a:ln>
        </p:spPr>
        <p:txBody>
          <a:bodyPr/>
          <a:lstStyle/>
          <a:p>
            <a:endParaRPr/>
          </a:p>
        </p:txBody>
      </p:sp>
      <p:sp>
        <p:nvSpPr>
          <p:cNvPr id="32" name="Line 32">
            <a:extLst>
              <a:ext uri="{FF2B5EF4-FFF2-40B4-BE49-F238E27FC236}">
                <a16:creationId xmlns:a16="http://schemas.microsoft.com/office/drawing/2014/main" id="{20669F93-F747-4A07-A000-0DD8D8AFED08}"/>
              </a:ext>
            </a:extLst>
          </p:cNvPr>
          <p:cNvSpPr>
            <a:spLocks noGrp="1"/>
          </p:cNvSpPr>
          <p:nvPr/>
        </p:nvSpPr>
        <p:spPr>
          <a:xfrm>
            <a:off x="3512254" y="5496863"/>
            <a:ext cx="4030260" cy="0"/>
          </a:xfrm>
          <a:prstGeom prst="line">
            <a:avLst/>
          </a:prstGeom>
          <a:noFill/>
          <a:ln w="10160">
            <a:solidFill>
              <a:srgbClr val="077700"/>
            </a:solidFill>
          </a:ln>
        </p:spPr>
        <p:txBody>
          <a:bodyPr/>
          <a:lstStyle/>
          <a:p>
            <a:endParaRPr/>
          </a:p>
        </p:txBody>
      </p:sp>
      <p:sp>
        <p:nvSpPr>
          <p:cNvPr id="33" name="Line 33">
            <a:extLst>
              <a:ext uri="{FF2B5EF4-FFF2-40B4-BE49-F238E27FC236}">
                <a16:creationId xmlns:a16="http://schemas.microsoft.com/office/drawing/2014/main" id="{B54D8C4E-0589-4C79-8521-F258874E6AD3}"/>
              </a:ext>
            </a:extLst>
          </p:cNvPr>
          <p:cNvSpPr>
            <a:spLocks noGrp="1"/>
          </p:cNvSpPr>
          <p:nvPr/>
        </p:nvSpPr>
        <p:spPr>
          <a:xfrm>
            <a:off x="3512254" y="5839971"/>
            <a:ext cx="4030260" cy="0"/>
          </a:xfrm>
          <a:prstGeom prst="line">
            <a:avLst/>
          </a:prstGeom>
          <a:noFill/>
          <a:ln w="10160">
            <a:solidFill>
              <a:srgbClr val="077700"/>
            </a:solidFill>
          </a:ln>
        </p:spPr>
        <p:txBody>
          <a:bodyPr/>
          <a:lstStyle/>
          <a:p>
            <a:endParaRPr/>
          </a:p>
        </p:txBody>
      </p:sp>
      <p:sp>
        <p:nvSpPr>
          <p:cNvPr id="105" name="TextBox 105">
            <a:extLst>
              <a:ext uri="{FF2B5EF4-FFF2-40B4-BE49-F238E27FC236}">
                <a16:creationId xmlns:a16="http://schemas.microsoft.com/office/drawing/2014/main" id="{9B846DF0-75D5-4A00-BDAD-40DE0BFBA9A9}"/>
              </a:ext>
            </a:extLst>
          </p:cNvPr>
          <p:cNvSpPr>
            <a:spLocks noGrp="1"/>
          </p:cNvSpPr>
          <p:nvPr/>
        </p:nvSpPr>
        <p:spPr>
          <a:xfrm>
            <a:off x="3530367" y="4488983"/>
            <a:ext cx="96001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Bin</a:t>
            </a:r>
            <a:endParaRPr sz="800" b="1"/>
          </a:p>
        </p:txBody>
      </p:sp>
      <p:sp>
        <p:nvSpPr>
          <p:cNvPr id="106" name="TextBox 106">
            <a:extLst>
              <a:ext uri="{FF2B5EF4-FFF2-40B4-BE49-F238E27FC236}">
                <a16:creationId xmlns:a16="http://schemas.microsoft.com/office/drawing/2014/main" id="{6AE851FC-F680-4821-8B1D-EB6940019B18}"/>
              </a:ext>
            </a:extLst>
          </p:cNvPr>
          <p:cNvSpPr>
            <a:spLocks noGrp="1"/>
          </p:cNvSpPr>
          <p:nvPr/>
        </p:nvSpPr>
        <p:spPr>
          <a:xfrm>
            <a:off x="4526611" y="4488983"/>
            <a:ext cx="144002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main track count</a:t>
            </a:r>
            <a:endParaRPr sz="800" b="1"/>
          </a:p>
          <a:p>
            <a:pPr algn="ctr">
              <a:buNone/>
            </a:pPr>
            <a:r>
              <a:rPr sz="800" b="1">
                <a:latin typeface="Arial"/>
                <a:ea typeface="Arial"/>
                <a:cs typeface="Arial"/>
              </a:rPr>
              <a:t>(n_b)</a:t>
            </a:r>
            <a:endParaRPr sz="800" b="1"/>
          </a:p>
        </p:txBody>
      </p:sp>
      <p:sp>
        <p:nvSpPr>
          <p:cNvPr id="107" name="TextBox 107">
            <a:extLst>
              <a:ext uri="{FF2B5EF4-FFF2-40B4-BE49-F238E27FC236}">
                <a16:creationId xmlns:a16="http://schemas.microsoft.com/office/drawing/2014/main" id="{023EA0A5-99BF-45BE-A4BB-AEE641531D91}"/>
              </a:ext>
            </a:extLst>
          </p:cNvPr>
          <p:cNvSpPr>
            <a:spLocks noGrp="1"/>
          </p:cNvSpPr>
          <p:nvPr/>
        </p:nvSpPr>
        <p:spPr>
          <a:xfrm>
            <a:off x="6002863" y="4488983"/>
            <a:ext cx="152153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track-miles</a:t>
            </a:r>
            <a:endParaRPr sz="800" b="1"/>
          </a:p>
          <a:p>
            <a:pPr algn="ctr">
              <a:buNone/>
            </a:pPr>
            <a:r>
              <a:rPr sz="800" b="1">
                <a:latin typeface="Arial"/>
                <a:ea typeface="Arial"/>
                <a:cs typeface="Arial"/>
              </a:rPr>
              <a:t>(n_b × 0.25 mile)</a:t>
            </a:r>
            <a:endParaRPr sz="800" b="1"/>
          </a:p>
        </p:txBody>
      </p:sp>
      <p:sp>
        <p:nvSpPr>
          <p:cNvPr id="108" name="TextBox 108">
            <a:extLst>
              <a:ext uri="{FF2B5EF4-FFF2-40B4-BE49-F238E27FC236}">
                <a16:creationId xmlns:a16="http://schemas.microsoft.com/office/drawing/2014/main" id="{B505CF8C-2E85-46FC-A108-D2AB5431E2AF}"/>
              </a:ext>
            </a:extLst>
          </p:cNvPr>
          <p:cNvSpPr>
            <a:spLocks noGrp="1"/>
          </p:cNvSpPr>
          <p:nvPr/>
        </p:nvSpPr>
        <p:spPr>
          <a:xfrm>
            <a:off x="3530367" y="4832090"/>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1</a:t>
            </a:r>
            <a:endParaRPr sz="900"/>
          </a:p>
        </p:txBody>
      </p:sp>
      <p:sp>
        <p:nvSpPr>
          <p:cNvPr id="109" name="TextBox 109">
            <a:extLst>
              <a:ext uri="{FF2B5EF4-FFF2-40B4-BE49-F238E27FC236}">
                <a16:creationId xmlns:a16="http://schemas.microsoft.com/office/drawing/2014/main" id="{02C79E86-05C3-4637-910F-2C0E51EB391A}"/>
              </a:ext>
            </a:extLst>
          </p:cNvPr>
          <p:cNvSpPr>
            <a:spLocks noGrp="1"/>
          </p:cNvSpPr>
          <p:nvPr/>
        </p:nvSpPr>
        <p:spPr>
          <a:xfrm>
            <a:off x="4526611" y="4832090"/>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0" name="TextBox 110">
            <a:extLst>
              <a:ext uri="{FF2B5EF4-FFF2-40B4-BE49-F238E27FC236}">
                <a16:creationId xmlns:a16="http://schemas.microsoft.com/office/drawing/2014/main" id="{9DEC62A8-B038-4758-9E4E-2DC09BBEF059}"/>
              </a:ext>
            </a:extLst>
          </p:cNvPr>
          <p:cNvSpPr>
            <a:spLocks noGrp="1"/>
          </p:cNvSpPr>
          <p:nvPr/>
        </p:nvSpPr>
        <p:spPr>
          <a:xfrm>
            <a:off x="6002863" y="4832090"/>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11" name="TextBox 111">
            <a:extLst>
              <a:ext uri="{FF2B5EF4-FFF2-40B4-BE49-F238E27FC236}">
                <a16:creationId xmlns:a16="http://schemas.microsoft.com/office/drawing/2014/main" id="{1F927AA8-01D5-4830-B488-D01F2B56C4D8}"/>
              </a:ext>
            </a:extLst>
          </p:cNvPr>
          <p:cNvSpPr>
            <a:spLocks noGrp="1"/>
          </p:cNvSpPr>
          <p:nvPr/>
        </p:nvSpPr>
        <p:spPr>
          <a:xfrm>
            <a:off x="3530367" y="5175199"/>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2</a:t>
            </a:r>
            <a:endParaRPr sz="900"/>
          </a:p>
        </p:txBody>
      </p:sp>
      <p:sp>
        <p:nvSpPr>
          <p:cNvPr id="112" name="TextBox 112">
            <a:extLst>
              <a:ext uri="{FF2B5EF4-FFF2-40B4-BE49-F238E27FC236}">
                <a16:creationId xmlns:a16="http://schemas.microsoft.com/office/drawing/2014/main" id="{CEFDA052-00F6-4966-8103-D55B4CD33C30}"/>
              </a:ext>
            </a:extLst>
          </p:cNvPr>
          <p:cNvSpPr>
            <a:spLocks noGrp="1"/>
          </p:cNvSpPr>
          <p:nvPr/>
        </p:nvSpPr>
        <p:spPr>
          <a:xfrm>
            <a:off x="4526611" y="5175199"/>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3" name="TextBox 113">
            <a:extLst>
              <a:ext uri="{FF2B5EF4-FFF2-40B4-BE49-F238E27FC236}">
                <a16:creationId xmlns:a16="http://schemas.microsoft.com/office/drawing/2014/main" id="{6A43389F-EE34-4DC3-A23E-38C3701E7416}"/>
              </a:ext>
            </a:extLst>
          </p:cNvPr>
          <p:cNvSpPr>
            <a:spLocks noGrp="1"/>
          </p:cNvSpPr>
          <p:nvPr/>
        </p:nvSpPr>
        <p:spPr>
          <a:xfrm>
            <a:off x="6002863" y="5175199"/>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14" name="TextBox 114">
            <a:extLst>
              <a:ext uri="{FF2B5EF4-FFF2-40B4-BE49-F238E27FC236}">
                <a16:creationId xmlns:a16="http://schemas.microsoft.com/office/drawing/2014/main" id="{47DED480-62EB-4971-80B8-90A7353315D5}"/>
              </a:ext>
            </a:extLst>
          </p:cNvPr>
          <p:cNvSpPr>
            <a:spLocks noGrp="1"/>
          </p:cNvSpPr>
          <p:nvPr/>
        </p:nvSpPr>
        <p:spPr>
          <a:xfrm>
            <a:off x="3530367" y="5518308"/>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3</a:t>
            </a:r>
            <a:endParaRPr sz="900"/>
          </a:p>
        </p:txBody>
      </p:sp>
      <p:sp>
        <p:nvSpPr>
          <p:cNvPr id="115" name="TextBox 115">
            <a:extLst>
              <a:ext uri="{FF2B5EF4-FFF2-40B4-BE49-F238E27FC236}">
                <a16:creationId xmlns:a16="http://schemas.microsoft.com/office/drawing/2014/main" id="{1E07C58D-18B7-474A-ADF6-54C72D17042C}"/>
              </a:ext>
            </a:extLst>
          </p:cNvPr>
          <p:cNvSpPr>
            <a:spLocks noGrp="1"/>
          </p:cNvSpPr>
          <p:nvPr/>
        </p:nvSpPr>
        <p:spPr>
          <a:xfrm>
            <a:off x="4526611" y="5518308"/>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1</a:t>
            </a:r>
            <a:endParaRPr sz="1050"/>
          </a:p>
        </p:txBody>
      </p:sp>
      <p:sp>
        <p:nvSpPr>
          <p:cNvPr id="116" name="TextBox 116">
            <a:extLst>
              <a:ext uri="{FF2B5EF4-FFF2-40B4-BE49-F238E27FC236}">
                <a16:creationId xmlns:a16="http://schemas.microsoft.com/office/drawing/2014/main" id="{BDF921B4-B8A4-4DB1-9F92-6049601F55E0}"/>
              </a:ext>
            </a:extLst>
          </p:cNvPr>
          <p:cNvSpPr>
            <a:spLocks noGrp="1"/>
          </p:cNvSpPr>
          <p:nvPr/>
        </p:nvSpPr>
        <p:spPr>
          <a:xfrm>
            <a:off x="6002863" y="5518308"/>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0.25</a:t>
            </a:r>
            <a:endParaRPr sz="1050"/>
          </a:p>
        </p:txBody>
      </p:sp>
      <p:sp>
        <p:nvSpPr>
          <p:cNvPr id="117" name="TextBox 117">
            <a:extLst>
              <a:ext uri="{FF2B5EF4-FFF2-40B4-BE49-F238E27FC236}">
                <a16:creationId xmlns:a16="http://schemas.microsoft.com/office/drawing/2014/main" id="{2276ED87-B178-475B-8727-007671E34EE3}"/>
              </a:ext>
            </a:extLst>
          </p:cNvPr>
          <p:cNvSpPr>
            <a:spLocks noGrp="1"/>
          </p:cNvSpPr>
          <p:nvPr/>
        </p:nvSpPr>
        <p:spPr>
          <a:xfrm>
            <a:off x="3530367" y="5861415"/>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4</a:t>
            </a:r>
            <a:endParaRPr sz="900"/>
          </a:p>
        </p:txBody>
      </p:sp>
      <p:sp>
        <p:nvSpPr>
          <p:cNvPr id="118" name="TextBox 118">
            <a:extLst>
              <a:ext uri="{FF2B5EF4-FFF2-40B4-BE49-F238E27FC236}">
                <a16:creationId xmlns:a16="http://schemas.microsoft.com/office/drawing/2014/main" id="{C083F567-DBDF-4FB5-BB0C-8BD160133175}"/>
              </a:ext>
            </a:extLst>
          </p:cNvPr>
          <p:cNvSpPr>
            <a:spLocks noGrp="1"/>
          </p:cNvSpPr>
          <p:nvPr/>
        </p:nvSpPr>
        <p:spPr>
          <a:xfrm>
            <a:off x="4526611" y="5861415"/>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9" name="TextBox 119">
            <a:extLst>
              <a:ext uri="{FF2B5EF4-FFF2-40B4-BE49-F238E27FC236}">
                <a16:creationId xmlns:a16="http://schemas.microsoft.com/office/drawing/2014/main" id="{9650EBE2-0E77-4C1E-912C-07BE5F4CAFEC}"/>
              </a:ext>
            </a:extLst>
          </p:cNvPr>
          <p:cNvSpPr>
            <a:spLocks noGrp="1"/>
          </p:cNvSpPr>
          <p:nvPr/>
        </p:nvSpPr>
        <p:spPr>
          <a:xfrm>
            <a:off x="6002863" y="5861415"/>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20" name="TextBox 120">
            <a:extLst>
              <a:ext uri="{FF2B5EF4-FFF2-40B4-BE49-F238E27FC236}">
                <a16:creationId xmlns:a16="http://schemas.microsoft.com/office/drawing/2014/main" id="{C016E59A-8D40-423A-B9E7-376CBD19BB58}"/>
              </a:ext>
            </a:extLst>
          </p:cNvPr>
          <p:cNvSpPr>
            <a:spLocks noGrp="1"/>
          </p:cNvSpPr>
          <p:nvPr/>
        </p:nvSpPr>
        <p:spPr>
          <a:xfrm>
            <a:off x="3512254" y="6204524"/>
            <a:ext cx="4030260" cy="268053"/>
          </a:xfrm>
          <a:prstGeom prst="rect">
            <a:avLst/>
          </a:prstGeom>
          <a:noFill/>
          <a:ln>
            <a:noFill/>
          </a:ln>
        </p:spPr>
        <p:txBody>
          <a:bodyPr wrap="none" lIns="0" tIns="0" rIns="0" bIns="0" anchor="ctr">
            <a:noAutofit/>
          </a:bodyPr>
          <a:lstStyle/>
          <a:p>
            <a:pPr algn="ctr">
              <a:buNone/>
            </a:pPr>
            <a:r>
              <a:rPr sz="1150" b="1">
                <a:latin typeface="Arial"/>
                <a:ea typeface="Arial"/>
                <a:cs typeface="Arial"/>
              </a:rPr>
              <a:t>Total = 1.75 track-miles</a:t>
            </a:r>
            <a:endParaRPr sz="1150"/>
          </a:p>
        </p:txBody>
      </p:sp>
    </p:spTree>
    <p:extLst>
      <p:ext uri="{BB962C8B-B14F-4D97-AF65-F5344CB8AC3E}">
        <p14:creationId xmlns:p14="http://schemas.microsoft.com/office/powerpoint/2010/main" val="1332431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 5">
            <a:extLst>
              <a:ext uri="{FF2B5EF4-FFF2-40B4-BE49-F238E27FC236}">
                <a16:creationId xmlns:a16="http://schemas.microsoft.com/office/drawing/2014/main" id="{99FD27FD-8E29-7E9D-979A-DD251631CA64}"/>
              </a:ext>
            </a:extLst>
          </p:cNvPr>
          <p:cNvSpPr>
            <a:spLocks noGrp="1"/>
          </p:cNvSpPr>
          <p:nvPr/>
        </p:nvSpPr>
        <p:spPr>
          <a:xfrm>
            <a:off x="1599157" y="1581494"/>
            <a:ext cx="1829286" cy="342536"/>
          </a:xfrm>
          <a:prstGeom prst="rect">
            <a:avLst/>
          </a:prstGeom>
          <a:noFill/>
          <a:ln w="15240">
            <a:solidFill>
              <a:srgbClr val="1558B0"/>
            </a:solidFill>
          </a:ln>
        </p:spPr>
        <p:txBody>
          <a:bodyPr/>
          <a:lstStyle/>
          <a:p>
            <a:endParaRPr/>
          </a:p>
        </p:txBody>
      </p:sp>
      <p:sp>
        <p:nvSpPr>
          <p:cNvPr id="6" name="Rect 6">
            <a:extLst>
              <a:ext uri="{FF2B5EF4-FFF2-40B4-BE49-F238E27FC236}">
                <a16:creationId xmlns:a16="http://schemas.microsoft.com/office/drawing/2014/main" id="{A2DFB7A8-B9FC-BD7C-7846-1C35DDAA8653}"/>
              </a:ext>
            </a:extLst>
          </p:cNvPr>
          <p:cNvSpPr>
            <a:spLocks noGrp="1"/>
          </p:cNvSpPr>
          <p:nvPr/>
        </p:nvSpPr>
        <p:spPr>
          <a:xfrm>
            <a:off x="3428443" y="1581494"/>
            <a:ext cx="2200973" cy="342536"/>
          </a:xfrm>
          <a:prstGeom prst="rect">
            <a:avLst/>
          </a:prstGeom>
          <a:noFill/>
          <a:ln w="15240">
            <a:solidFill>
              <a:srgbClr val="2D9447"/>
            </a:solidFill>
          </a:ln>
        </p:spPr>
        <p:txBody>
          <a:bodyPr/>
          <a:lstStyle/>
          <a:p>
            <a:endParaRPr/>
          </a:p>
        </p:txBody>
      </p:sp>
      <p:sp>
        <p:nvSpPr>
          <p:cNvPr id="7" name="Rect 7">
            <a:extLst>
              <a:ext uri="{FF2B5EF4-FFF2-40B4-BE49-F238E27FC236}">
                <a16:creationId xmlns:a16="http://schemas.microsoft.com/office/drawing/2014/main" id="{613290C8-94DF-145D-1D64-D02AB316A568}"/>
              </a:ext>
            </a:extLst>
          </p:cNvPr>
          <p:cNvSpPr>
            <a:spLocks noGrp="1"/>
          </p:cNvSpPr>
          <p:nvPr/>
        </p:nvSpPr>
        <p:spPr>
          <a:xfrm>
            <a:off x="5629416" y="1581494"/>
            <a:ext cx="2084366" cy="342536"/>
          </a:xfrm>
          <a:prstGeom prst="rect">
            <a:avLst/>
          </a:prstGeom>
          <a:noFill/>
          <a:ln w="15240">
            <a:solidFill>
              <a:srgbClr val="F2A300"/>
            </a:solidFill>
          </a:ln>
        </p:spPr>
        <p:txBody>
          <a:bodyPr/>
          <a:lstStyle/>
          <a:p>
            <a:endParaRPr/>
          </a:p>
        </p:txBody>
      </p:sp>
      <p:sp>
        <p:nvSpPr>
          <p:cNvPr id="8" name="Rect 8">
            <a:extLst>
              <a:ext uri="{FF2B5EF4-FFF2-40B4-BE49-F238E27FC236}">
                <a16:creationId xmlns:a16="http://schemas.microsoft.com/office/drawing/2014/main" id="{A9B5C58E-5203-F0DA-25C5-AC445BC599D3}"/>
              </a:ext>
            </a:extLst>
          </p:cNvPr>
          <p:cNvSpPr>
            <a:spLocks noGrp="1"/>
          </p:cNvSpPr>
          <p:nvPr/>
        </p:nvSpPr>
        <p:spPr>
          <a:xfrm>
            <a:off x="7713782" y="1581494"/>
            <a:ext cx="1311838" cy="342536"/>
          </a:xfrm>
          <a:prstGeom prst="rect">
            <a:avLst/>
          </a:prstGeom>
          <a:noFill/>
          <a:ln w="15240">
            <a:solidFill>
              <a:srgbClr val="7543B5"/>
            </a:solidFill>
          </a:ln>
        </p:spPr>
        <p:txBody>
          <a:bodyPr/>
          <a:lstStyle/>
          <a:p>
            <a:endParaRPr/>
          </a:p>
        </p:txBody>
      </p:sp>
      <p:sp>
        <p:nvSpPr>
          <p:cNvPr id="9" name="Roundrect 9">
            <a:extLst>
              <a:ext uri="{FF2B5EF4-FFF2-40B4-BE49-F238E27FC236}">
                <a16:creationId xmlns:a16="http://schemas.microsoft.com/office/drawing/2014/main" id="{0B97CC06-5BA6-636B-D7B1-1F1BE6E10542}"/>
              </a:ext>
            </a:extLst>
          </p:cNvPr>
          <p:cNvSpPr>
            <a:spLocks noGrp="1"/>
          </p:cNvSpPr>
          <p:nvPr/>
        </p:nvSpPr>
        <p:spPr>
          <a:xfrm>
            <a:off x="666294" y="2601813"/>
            <a:ext cx="1661662" cy="306096"/>
          </a:xfrm>
          <a:prstGeom prst="roundRect">
            <a:avLst>
              <a:gd name="adj" fmla="val 11905"/>
            </a:avLst>
          </a:prstGeom>
          <a:noFill/>
          <a:ln w="15240">
            <a:solidFill>
              <a:srgbClr val="87AEE5"/>
            </a:solidFill>
          </a:ln>
        </p:spPr>
        <p:txBody>
          <a:bodyPr/>
          <a:lstStyle/>
          <a:p>
            <a:endParaRPr/>
          </a:p>
        </p:txBody>
      </p:sp>
      <p:sp>
        <p:nvSpPr>
          <p:cNvPr id="10" name="Roundrect 10">
            <a:extLst>
              <a:ext uri="{FF2B5EF4-FFF2-40B4-BE49-F238E27FC236}">
                <a16:creationId xmlns:a16="http://schemas.microsoft.com/office/drawing/2014/main" id="{F74F99FB-6E84-C235-739A-6D9C835B647A}"/>
              </a:ext>
            </a:extLst>
          </p:cNvPr>
          <p:cNvSpPr>
            <a:spLocks noGrp="1"/>
          </p:cNvSpPr>
          <p:nvPr/>
        </p:nvSpPr>
        <p:spPr>
          <a:xfrm>
            <a:off x="666294" y="2966213"/>
            <a:ext cx="1661662" cy="306096"/>
          </a:xfrm>
          <a:prstGeom prst="roundRect">
            <a:avLst>
              <a:gd name="adj" fmla="val 11905"/>
            </a:avLst>
          </a:prstGeom>
          <a:noFill/>
          <a:ln w="15240">
            <a:solidFill>
              <a:srgbClr val="87AEE5"/>
            </a:solidFill>
          </a:ln>
        </p:spPr>
        <p:txBody>
          <a:bodyPr/>
          <a:lstStyle/>
          <a:p>
            <a:endParaRPr/>
          </a:p>
        </p:txBody>
      </p:sp>
      <p:sp>
        <p:nvSpPr>
          <p:cNvPr id="11" name="Roundrect 11">
            <a:extLst>
              <a:ext uri="{FF2B5EF4-FFF2-40B4-BE49-F238E27FC236}">
                <a16:creationId xmlns:a16="http://schemas.microsoft.com/office/drawing/2014/main" id="{95DA6DB3-3BAA-6E59-2327-7720103BD589}"/>
              </a:ext>
            </a:extLst>
          </p:cNvPr>
          <p:cNvSpPr>
            <a:spLocks noGrp="1"/>
          </p:cNvSpPr>
          <p:nvPr/>
        </p:nvSpPr>
        <p:spPr>
          <a:xfrm>
            <a:off x="666294" y="3330612"/>
            <a:ext cx="1661662" cy="306096"/>
          </a:xfrm>
          <a:prstGeom prst="roundRect">
            <a:avLst>
              <a:gd name="adj" fmla="val 11905"/>
            </a:avLst>
          </a:prstGeom>
          <a:noFill/>
          <a:ln w="15240">
            <a:solidFill>
              <a:srgbClr val="87AEE5"/>
            </a:solidFill>
          </a:ln>
        </p:spPr>
        <p:txBody>
          <a:bodyPr/>
          <a:lstStyle/>
          <a:p>
            <a:endParaRPr/>
          </a:p>
        </p:txBody>
      </p:sp>
      <p:sp>
        <p:nvSpPr>
          <p:cNvPr id="12" name="Roundrect 12">
            <a:extLst>
              <a:ext uri="{FF2B5EF4-FFF2-40B4-BE49-F238E27FC236}">
                <a16:creationId xmlns:a16="http://schemas.microsoft.com/office/drawing/2014/main" id="{D1542471-D281-8FF9-6CB3-6B494BF69038}"/>
              </a:ext>
            </a:extLst>
          </p:cNvPr>
          <p:cNvSpPr>
            <a:spLocks noGrp="1"/>
          </p:cNvSpPr>
          <p:nvPr/>
        </p:nvSpPr>
        <p:spPr>
          <a:xfrm>
            <a:off x="666294" y="3695012"/>
            <a:ext cx="1661662" cy="306096"/>
          </a:xfrm>
          <a:prstGeom prst="roundRect">
            <a:avLst>
              <a:gd name="adj" fmla="val 11905"/>
            </a:avLst>
          </a:prstGeom>
          <a:noFill/>
          <a:ln w="15240">
            <a:solidFill>
              <a:srgbClr val="87AEE5"/>
            </a:solidFill>
          </a:ln>
        </p:spPr>
        <p:txBody>
          <a:bodyPr/>
          <a:lstStyle/>
          <a:p>
            <a:endParaRPr/>
          </a:p>
        </p:txBody>
      </p:sp>
      <p:sp>
        <p:nvSpPr>
          <p:cNvPr id="13" name="Roundrect 13">
            <a:extLst>
              <a:ext uri="{FF2B5EF4-FFF2-40B4-BE49-F238E27FC236}">
                <a16:creationId xmlns:a16="http://schemas.microsoft.com/office/drawing/2014/main" id="{A336FCF2-4642-DF14-DC98-40EFB2F3E300}"/>
              </a:ext>
            </a:extLst>
          </p:cNvPr>
          <p:cNvSpPr>
            <a:spLocks noGrp="1"/>
          </p:cNvSpPr>
          <p:nvPr/>
        </p:nvSpPr>
        <p:spPr>
          <a:xfrm>
            <a:off x="3202515" y="2900621"/>
            <a:ext cx="1676238" cy="765239"/>
          </a:xfrm>
          <a:prstGeom prst="roundRect">
            <a:avLst>
              <a:gd name="adj" fmla="val 9524"/>
            </a:avLst>
          </a:prstGeom>
          <a:noFill/>
          <a:ln w="12700">
            <a:solidFill>
              <a:srgbClr val="102845"/>
            </a:solidFill>
          </a:ln>
        </p:spPr>
        <p:txBody>
          <a:bodyPr/>
          <a:lstStyle/>
          <a:p>
            <a:endParaRPr/>
          </a:p>
        </p:txBody>
      </p:sp>
      <p:sp>
        <p:nvSpPr>
          <p:cNvPr id="14" name="Roundrect 14">
            <a:extLst>
              <a:ext uri="{FF2B5EF4-FFF2-40B4-BE49-F238E27FC236}">
                <a16:creationId xmlns:a16="http://schemas.microsoft.com/office/drawing/2014/main" id="{77498960-8659-517F-D025-845D64AE721F}"/>
              </a:ext>
            </a:extLst>
          </p:cNvPr>
          <p:cNvSpPr>
            <a:spLocks noGrp="1"/>
          </p:cNvSpPr>
          <p:nvPr/>
        </p:nvSpPr>
        <p:spPr>
          <a:xfrm>
            <a:off x="5600264" y="2434189"/>
            <a:ext cx="1311838" cy="1443022"/>
          </a:xfrm>
          <a:prstGeom prst="roundRect">
            <a:avLst>
              <a:gd name="adj" fmla="val 2778"/>
            </a:avLst>
          </a:prstGeom>
          <a:noFill/>
          <a:ln w="15240">
            <a:solidFill>
              <a:srgbClr val="1558B0"/>
            </a:solidFill>
          </a:ln>
        </p:spPr>
        <p:txBody>
          <a:bodyPr/>
          <a:lstStyle/>
          <a:p>
            <a:endParaRPr/>
          </a:p>
        </p:txBody>
      </p:sp>
      <p:sp>
        <p:nvSpPr>
          <p:cNvPr id="15" name="Roundrect 15">
            <a:extLst>
              <a:ext uri="{FF2B5EF4-FFF2-40B4-BE49-F238E27FC236}">
                <a16:creationId xmlns:a16="http://schemas.microsoft.com/office/drawing/2014/main" id="{9D31AB71-3980-2FB0-F76B-3554F7FA5F53}"/>
              </a:ext>
            </a:extLst>
          </p:cNvPr>
          <p:cNvSpPr>
            <a:spLocks noGrp="1"/>
          </p:cNvSpPr>
          <p:nvPr/>
        </p:nvSpPr>
        <p:spPr>
          <a:xfrm>
            <a:off x="6955831" y="2434189"/>
            <a:ext cx="1282687" cy="1443022"/>
          </a:xfrm>
          <a:prstGeom prst="roundRect">
            <a:avLst>
              <a:gd name="adj" fmla="val 2841"/>
            </a:avLst>
          </a:prstGeom>
          <a:noFill/>
          <a:ln w="15240">
            <a:solidFill>
              <a:srgbClr val="2D9447"/>
            </a:solidFill>
          </a:ln>
        </p:spPr>
        <p:txBody>
          <a:bodyPr/>
          <a:lstStyle/>
          <a:p>
            <a:endParaRPr/>
          </a:p>
        </p:txBody>
      </p:sp>
      <p:sp>
        <p:nvSpPr>
          <p:cNvPr id="16" name="Roundrect 16">
            <a:extLst>
              <a:ext uri="{FF2B5EF4-FFF2-40B4-BE49-F238E27FC236}">
                <a16:creationId xmlns:a16="http://schemas.microsoft.com/office/drawing/2014/main" id="{DABFEB3F-49B3-A8A3-E168-9B7B8E7D9940}"/>
              </a:ext>
            </a:extLst>
          </p:cNvPr>
          <p:cNvSpPr>
            <a:spLocks noGrp="1"/>
          </p:cNvSpPr>
          <p:nvPr/>
        </p:nvSpPr>
        <p:spPr>
          <a:xfrm>
            <a:off x="8282245" y="2434189"/>
            <a:ext cx="1770982" cy="1443022"/>
          </a:xfrm>
          <a:prstGeom prst="roundRect">
            <a:avLst>
              <a:gd name="adj" fmla="val 2525"/>
            </a:avLst>
          </a:prstGeom>
          <a:noFill/>
          <a:ln w="15240">
            <a:solidFill>
              <a:srgbClr val="F2A300"/>
            </a:solidFill>
          </a:ln>
        </p:spPr>
        <p:txBody>
          <a:bodyPr/>
          <a:lstStyle/>
          <a:p>
            <a:endParaRPr/>
          </a:p>
        </p:txBody>
      </p:sp>
      <p:sp>
        <p:nvSpPr>
          <p:cNvPr id="17" name="Roundrect 17">
            <a:extLst>
              <a:ext uri="{FF2B5EF4-FFF2-40B4-BE49-F238E27FC236}">
                <a16:creationId xmlns:a16="http://schemas.microsoft.com/office/drawing/2014/main" id="{2E1BE02A-CE8A-EFEE-4803-CF7FAEC7413E}"/>
              </a:ext>
            </a:extLst>
          </p:cNvPr>
          <p:cNvSpPr>
            <a:spLocks noGrp="1"/>
          </p:cNvSpPr>
          <p:nvPr/>
        </p:nvSpPr>
        <p:spPr>
          <a:xfrm>
            <a:off x="10096955" y="2434189"/>
            <a:ext cx="1399294" cy="1443022"/>
          </a:xfrm>
          <a:prstGeom prst="roundRect">
            <a:avLst>
              <a:gd name="adj" fmla="val 2604"/>
            </a:avLst>
          </a:prstGeom>
          <a:noFill/>
          <a:ln w="15240">
            <a:solidFill>
              <a:srgbClr val="7543B5"/>
            </a:solidFill>
          </a:ln>
        </p:spPr>
        <p:txBody>
          <a:bodyPr/>
          <a:lstStyle/>
          <a:p>
            <a:endParaRPr/>
          </a:p>
        </p:txBody>
      </p:sp>
      <p:sp>
        <p:nvSpPr>
          <p:cNvPr id="21" name="Rect 21">
            <a:extLst>
              <a:ext uri="{FF2B5EF4-FFF2-40B4-BE49-F238E27FC236}">
                <a16:creationId xmlns:a16="http://schemas.microsoft.com/office/drawing/2014/main" id="{FDC64248-3A59-E389-72CC-9C4E1D146C08}"/>
              </a:ext>
            </a:extLst>
          </p:cNvPr>
          <p:cNvSpPr>
            <a:spLocks noGrp="1"/>
          </p:cNvSpPr>
          <p:nvPr/>
        </p:nvSpPr>
        <p:spPr>
          <a:xfrm>
            <a:off x="5607552" y="2441477"/>
            <a:ext cx="1297262" cy="247792"/>
          </a:xfrm>
          <a:prstGeom prst="rect">
            <a:avLst/>
          </a:prstGeom>
          <a:noFill/>
          <a:ln>
            <a:noFill/>
          </a:ln>
        </p:spPr>
        <p:txBody>
          <a:bodyPr/>
          <a:lstStyle/>
          <a:p>
            <a:endParaRPr/>
          </a:p>
        </p:txBody>
      </p:sp>
      <p:sp>
        <p:nvSpPr>
          <p:cNvPr id="22" name="Rect 22">
            <a:extLst>
              <a:ext uri="{FF2B5EF4-FFF2-40B4-BE49-F238E27FC236}">
                <a16:creationId xmlns:a16="http://schemas.microsoft.com/office/drawing/2014/main" id="{B7C0659D-B86B-80E6-394F-68B94B8B0496}"/>
              </a:ext>
            </a:extLst>
          </p:cNvPr>
          <p:cNvSpPr>
            <a:spLocks noGrp="1"/>
          </p:cNvSpPr>
          <p:nvPr/>
        </p:nvSpPr>
        <p:spPr>
          <a:xfrm>
            <a:off x="6963119" y="2441477"/>
            <a:ext cx="1268111" cy="247792"/>
          </a:xfrm>
          <a:prstGeom prst="rect">
            <a:avLst/>
          </a:prstGeom>
          <a:noFill/>
          <a:ln>
            <a:noFill/>
          </a:ln>
        </p:spPr>
        <p:txBody>
          <a:bodyPr/>
          <a:lstStyle/>
          <a:p>
            <a:endParaRPr/>
          </a:p>
        </p:txBody>
      </p:sp>
      <p:sp>
        <p:nvSpPr>
          <p:cNvPr id="23" name="Rect 23">
            <a:extLst>
              <a:ext uri="{FF2B5EF4-FFF2-40B4-BE49-F238E27FC236}">
                <a16:creationId xmlns:a16="http://schemas.microsoft.com/office/drawing/2014/main" id="{0BE5C810-0A51-1089-A23D-138FFF0686EE}"/>
              </a:ext>
            </a:extLst>
          </p:cNvPr>
          <p:cNvSpPr>
            <a:spLocks noGrp="1"/>
          </p:cNvSpPr>
          <p:nvPr/>
        </p:nvSpPr>
        <p:spPr>
          <a:xfrm>
            <a:off x="8289533" y="2441477"/>
            <a:ext cx="1756406" cy="247792"/>
          </a:xfrm>
          <a:prstGeom prst="rect">
            <a:avLst/>
          </a:prstGeom>
          <a:noFill/>
          <a:ln>
            <a:noFill/>
          </a:ln>
        </p:spPr>
        <p:txBody>
          <a:bodyPr/>
          <a:lstStyle/>
          <a:p>
            <a:endParaRPr/>
          </a:p>
        </p:txBody>
      </p:sp>
      <p:sp>
        <p:nvSpPr>
          <p:cNvPr id="24" name="Rect 24">
            <a:extLst>
              <a:ext uri="{FF2B5EF4-FFF2-40B4-BE49-F238E27FC236}">
                <a16:creationId xmlns:a16="http://schemas.microsoft.com/office/drawing/2014/main" id="{47FA052D-BFB4-679B-820B-36ECAF835A9B}"/>
              </a:ext>
            </a:extLst>
          </p:cNvPr>
          <p:cNvSpPr>
            <a:spLocks noGrp="1"/>
          </p:cNvSpPr>
          <p:nvPr/>
        </p:nvSpPr>
        <p:spPr>
          <a:xfrm>
            <a:off x="10104243" y="2441477"/>
            <a:ext cx="1384718" cy="247792"/>
          </a:xfrm>
          <a:prstGeom prst="rect">
            <a:avLst/>
          </a:prstGeom>
          <a:noFill/>
          <a:ln>
            <a:noFill/>
          </a:ln>
        </p:spPr>
        <p:txBody>
          <a:bodyPr/>
          <a:lstStyle/>
          <a:p>
            <a:endParaRPr/>
          </a:p>
        </p:txBody>
      </p:sp>
      <p:sp>
        <p:nvSpPr>
          <p:cNvPr id="34" name="Line 34">
            <a:extLst>
              <a:ext uri="{FF2B5EF4-FFF2-40B4-BE49-F238E27FC236}">
                <a16:creationId xmlns:a16="http://schemas.microsoft.com/office/drawing/2014/main" id="{9B823601-46E5-70D2-6DCD-9C4AF684F398}"/>
              </a:ext>
            </a:extLst>
          </p:cNvPr>
          <p:cNvSpPr>
            <a:spLocks noGrp="1"/>
          </p:cNvSpPr>
          <p:nvPr/>
        </p:nvSpPr>
        <p:spPr>
          <a:xfrm>
            <a:off x="2327956" y="2754861"/>
            <a:ext cx="488295" cy="0"/>
          </a:xfrm>
          <a:prstGeom prst="line">
            <a:avLst/>
          </a:prstGeom>
          <a:noFill/>
          <a:ln w="25400">
            <a:solidFill>
              <a:srgbClr val="1558B0"/>
            </a:solidFill>
          </a:ln>
        </p:spPr>
        <p:txBody>
          <a:bodyPr/>
          <a:lstStyle/>
          <a:p>
            <a:endParaRPr/>
          </a:p>
        </p:txBody>
      </p:sp>
      <p:sp>
        <p:nvSpPr>
          <p:cNvPr id="35" name="Line 35">
            <a:extLst>
              <a:ext uri="{FF2B5EF4-FFF2-40B4-BE49-F238E27FC236}">
                <a16:creationId xmlns:a16="http://schemas.microsoft.com/office/drawing/2014/main" id="{155DE3B5-B7D5-0B56-3091-C876D255C7C6}"/>
              </a:ext>
            </a:extLst>
          </p:cNvPr>
          <p:cNvSpPr>
            <a:spLocks noGrp="1"/>
          </p:cNvSpPr>
          <p:nvPr/>
        </p:nvSpPr>
        <p:spPr>
          <a:xfrm>
            <a:off x="2327956" y="3119260"/>
            <a:ext cx="488295" cy="0"/>
          </a:xfrm>
          <a:prstGeom prst="line">
            <a:avLst/>
          </a:prstGeom>
          <a:noFill/>
          <a:ln w="25400">
            <a:solidFill>
              <a:srgbClr val="1558B0"/>
            </a:solidFill>
          </a:ln>
        </p:spPr>
        <p:txBody>
          <a:bodyPr/>
          <a:lstStyle/>
          <a:p>
            <a:endParaRPr/>
          </a:p>
        </p:txBody>
      </p:sp>
      <p:sp>
        <p:nvSpPr>
          <p:cNvPr id="36" name="Line 36">
            <a:extLst>
              <a:ext uri="{FF2B5EF4-FFF2-40B4-BE49-F238E27FC236}">
                <a16:creationId xmlns:a16="http://schemas.microsoft.com/office/drawing/2014/main" id="{EF209708-D953-E612-730A-4554A4601FF2}"/>
              </a:ext>
            </a:extLst>
          </p:cNvPr>
          <p:cNvSpPr>
            <a:spLocks noGrp="1"/>
          </p:cNvSpPr>
          <p:nvPr/>
        </p:nvSpPr>
        <p:spPr>
          <a:xfrm>
            <a:off x="2327956" y="3483660"/>
            <a:ext cx="488295" cy="0"/>
          </a:xfrm>
          <a:prstGeom prst="line">
            <a:avLst/>
          </a:prstGeom>
          <a:noFill/>
          <a:ln w="25400">
            <a:solidFill>
              <a:srgbClr val="1558B0"/>
            </a:solidFill>
          </a:ln>
        </p:spPr>
        <p:txBody>
          <a:bodyPr/>
          <a:lstStyle/>
          <a:p>
            <a:endParaRPr/>
          </a:p>
        </p:txBody>
      </p:sp>
      <p:sp>
        <p:nvSpPr>
          <p:cNvPr id="37" name="Line 37">
            <a:extLst>
              <a:ext uri="{FF2B5EF4-FFF2-40B4-BE49-F238E27FC236}">
                <a16:creationId xmlns:a16="http://schemas.microsoft.com/office/drawing/2014/main" id="{68300617-EE02-F29D-ABF5-D42323E9B237}"/>
              </a:ext>
            </a:extLst>
          </p:cNvPr>
          <p:cNvSpPr>
            <a:spLocks noGrp="1"/>
          </p:cNvSpPr>
          <p:nvPr/>
        </p:nvSpPr>
        <p:spPr>
          <a:xfrm>
            <a:off x="2327956" y="3848060"/>
            <a:ext cx="488295" cy="0"/>
          </a:xfrm>
          <a:prstGeom prst="line">
            <a:avLst/>
          </a:prstGeom>
          <a:noFill/>
          <a:ln w="25400">
            <a:solidFill>
              <a:srgbClr val="1558B0"/>
            </a:solidFill>
          </a:ln>
        </p:spPr>
        <p:txBody>
          <a:bodyPr/>
          <a:lstStyle/>
          <a:p>
            <a:endParaRPr/>
          </a:p>
        </p:txBody>
      </p:sp>
      <p:sp>
        <p:nvSpPr>
          <p:cNvPr id="38" name="Line 38">
            <a:extLst>
              <a:ext uri="{FF2B5EF4-FFF2-40B4-BE49-F238E27FC236}">
                <a16:creationId xmlns:a16="http://schemas.microsoft.com/office/drawing/2014/main" id="{73CAAAAD-21B7-5131-1039-F1241693DD2F}"/>
              </a:ext>
            </a:extLst>
          </p:cNvPr>
          <p:cNvSpPr>
            <a:spLocks noGrp="1"/>
          </p:cNvSpPr>
          <p:nvPr/>
        </p:nvSpPr>
        <p:spPr>
          <a:xfrm>
            <a:off x="2816251" y="2754861"/>
            <a:ext cx="0" cy="1093199"/>
          </a:xfrm>
          <a:prstGeom prst="line">
            <a:avLst/>
          </a:prstGeom>
          <a:noFill/>
          <a:ln w="25400">
            <a:solidFill>
              <a:srgbClr val="1558B0"/>
            </a:solidFill>
          </a:ln>
        </p:spPr>
        <p:txBody>
          <a:bodyPr/>
          <a:lstStyle/>
          <a:p>
            <a:endParaRPr/>
          </a:p>
        </p:txBody>
      </p:sp>
      <p:sp>
        <p:nvSpPr>
          <p:cNvPr id="39" name="Line 39">
            <a:extLst>
              <a:ext uri="{FF2B5EF4-FFF2-40B4-BE49-F238E27FC236}">
                <a16:creationId xmlns:a16="http://schemas.microsoft.com/office/drawing/2014/main" id="{26000D89-26C4-C74D-41FF-ED8F2EDCA8AA}"/>
              </a:ext>
            </a:extLst>
          </p:cNvPr>
          <p:cNvSpPr>
            <a:spLocks noGrp="1"/>
          </p:cNvSpPr>
          <p:nvPr/>
        </p:nvSpPr>
        <p:spPr>
          <a:xfrm>
            <a:off x="5687720" y="2929773"/>
            <a:ext cx="1136927" cy="0"/>
          </a:xfrm>
          <a:prstGeom prst="line">
            <a:avLst/>
          </a:prstGeom>
          <a:noFill/>
          <a:ln w="38100">
            <a:solidFill>
              <a:srgbClr val="111111"/>
            </a:solidFill>
          </a:ln>
        </p:spPr>
        <p:txBody>
          <a:bodyPr/>
          <a:lstStyle/>
          <a:p>
            <a:endParaRPr/>
          </a:p>
        </p:txBody>
      </p:sp>
      <p:sp>
        <p:nvSpPr>
          <p:cNvPr id="40" name="Line 40">
            <a:extLst>
              <a:ext uri="{FF2B5EF4-FFF2-40B4-BE49-F238E27FC236}">
                <a16:creationId xmlns:a16="http://schemas.microsoft.com/office/drawing/2014/main" id="{D19A69CC-F034-0714-0A50-98D8564D50DC}"/>
              </a:ext>
            </a:extLst>
          </p:cNvPr>
          <p:cNvSpPr>
            <a:spLocks noGrp="1"/>
          </p:cNvSpPr>
          <p:nvPr/>
        </p:nvSpPr>
        <p:spPr>
          <a:xfrm>
            <a:off x="5687720" y="3075532"/>
            <a:ext cx="1136927" cy="0"/>
          </a:xfrm>
          <a:prstGeom prst="line">
            <a:avLst/>
          </a:prstGeom>
          <a:noFill/>
          <a:ln w="38100">
            <a:solidFill>
              <a:srgbClr val="111111"/>
            </a:solidFill>
          </a:ln>
        </p:spPr>
        <p:txBody>
          <a:bodyPr/>
          <a:lstStyle/>
          <a:p>
            <a:endParaRPr/>
          </a:p>
        </p:txBody>
      </p:sp>
      <p:sp>
        <p:nvSpPr>
          <p:cNvPr id="41" name="Line 41">
            <a:extLst>
              <a:ext uri="{FF2B5EF4-FFF2-40B4-BE49-F238E27FC236}">
                <a16:creationId xmlns:a16="http://schemas.microsoft.com/office/drawing/2014/main" id="{7BA5ACE0-7B9F-F40D-82B4-A6881FCEA8BC}"/>
              </a:ext>
            </a:extLst>
          </p:cNvPr>
          <p:cNvSpPr>
            <a:spLocks noGrp="1"/>
          </p:cNvSpPr>
          <p:nvPr/>
        </p:nvSpPr>
        <p:spPr>
          <a:xfrm>
            <a:off x="7043286" y="2929773"/>
            <a:ext cx="1107775" cy="0"/>
          </a:xfrm>
          <a:prstGeom prst="line">
            <a:avLst/>
          </a:prstGeom>
          <a:noFill/>
          <a:ln w="38100">
            <a:solidFill>
              <a:srgbClr val="111111"/>
            </a:solidFill>
          </a:ln>
        </p:spPr>
        <p:txBody>
          <a:bodyPr/>
          <a:lstStyle/>
          <a:p>
            <a:endParaRPr/>
          </a:p>
        </p:txBody>
      </p:sp>
      <p:sp>
        <p:nvSpPr>
          <p:cNvPr id="42" name="Line 42">
            <a:extLst>
              <a:ext uri="{FF2B5EF4-FFF2-40B4-BE49-F238E27FC236}">
                <a16:creationId xmlns:a16="http://schemas.microsoft.com/office/drawing/2014/main" id="{D1588203-8D74-9AE1-6CC6-1B7FBF5756C3}"/>
              </a:ext>
            </a:extLst>
          </p:cNvPr>
          <p:cNvSpPr>
            <a:spLocks noGrp="1"/>
          </p:cNvSpPr>
          <p:nvPr/>
        </p:nvSpPr>
        <p:spPr>
          <a:xfrm>
            <a:off x="7043286" y="3075532"/>
            <a:ext cx="1107775" cy="0"/>
          </a:xfrm>
          <a:prstGeom prst="line">
            <a:avLst/>
          </a:prstGeom>
          <a:noFill/>
          <a:ln w="38100">
            <a:solidFill>
              <a:srgbClr val="111111"/>
            </a:solidFill>
          </a:ln>
        </p:spPr>
        <p:txBody>
          <a:bodyPr/>
          <a:lstStyle/>
          <a:p>
            <a:endParaRPr/>
          </a:p>
        </p:txBody>
      </p:sp>
      <p:sp>
        <p:nvSpPr>
          <p:cNvPr id="43" name="Line 43">
            <a:extLst>
              <a:ext uri="{FF2B5EF4-FFF2-40B4-BE49-F238E27FC236}">
                <a16:creationId xmlns:a16="http://schemas.microsoft.com/office/drawing/2014/main" id="{508A07C6-1DEF-C409-6D99-92044CD36522}"/>
              </a:ext>
            </a:extLst>
          </p:cNvPr>
          <p:cNvSpPr>
            <a:spLocks noGrp="1"/>
          </p:cNvSpPr>
          <p:nvPr/>
        </p:nvSpPr>
        <p:spPr>
          <a:xfrm>
            <a:off x="8369701" y="2929773"/>
            <a:ext cx="1596070" cy="0"/>
          </a:xfrm>
          <a:prstGeom prst="line">
            <a:avLst/>
          </a:prstGeom>
          <a:noFill/>
          <a:ln w="38100">
            <a:solidFill>
              <a:srgbClr val="111111"/>
            </a:solidFill>
          </a:ln>
        </p:spPr>
        <p:txBody>
          <a:bodyPr/>
          <a:lstStyle/>
          <a:p>
            <a:endParaRPr/>
          </a:p>
        </p:txBody>
      </p:sp>
      <p:sp>
        <p:nvSpPr>
          <p:cNvPr id="45" name="Line 45">
            <a:extLst>
              <a:ext uri="{FF2B5EF4-FFF2-40B4-BE49-F238E27FC236}">
                <a16:creationId xmlns:a16="http://schemas.microsoft.com/office/drawing/2014/main" id="{B5A852D3-5A2D-D24F-BFBF-A5AE61D3F406}"/>
              </a:ext>
            </a:extLst>
          </p:cNvPr>
          <p:cNvSpPr>
            <a:spLocks noGrp="1"/>
          </p:cNvSpPr>
          <p:nvPr/>
        </p:nvSpPr>
        <p:spPr>
          <a:xfrm>
            <a:off x="9025619" y="2948644"/>
            <a:ext cx="327960" cy="330952"/>
          </a:xfrm>
          <a:prstGeom prst="line">
            <a:avLst/>
          </a:prstGeom>
          <a:noFill/>
          <a:ln w="25400">
            <a:solidFill>
              <a:srgbClr val="077700"/>
            </a:solidFill>
            <a:prstDash val="dash"/>
          </a:ln>
        </p:spPr>
        <p:txBody>
          <a:bodyPr/>
          <a:lstStyle/>
          <a:p>
            <a:endParaRPr/>
          </a:p>
        </p:txBody>
      </p:sp>
      <p:sp>
        <p:nvSpPr>
          <p:cNvPr id="47" name="Line 47">
            <a:extLst>
              <a:ext uri="{FF2B5EF4-FFF2-40B4-BE49-F238E27FC236}">
                <a16:creationId xmlns:a16="http://schemas.microsoft.com/office/drawing/2014/main" id="{EE16EFF7-9903-7891-4C95-D566C0767BE7}"/>
              </a:ext>
            </a:extLst>
          </p:cNvPr>
          <p:cNvSpPr>
            <a:spLocks noGrp="1"/>
          </p:cNvSpPr>
          <p:nvPr/>
        </p:nvSpPr>
        <p:spPr>
          <a:xfrm>
            <a:off x="10184411" y="2929773"/>
            <a:ext cx="1224383" cy="0"/>
          </a:xfrm>
          <a:prstGeom prst="line">
            <a:avLst/>
          </a:prstGeom>
          <a:noFill/>
          <a:ln w="38100">
            <a:solidFill>
              <a:srgbClr val="111111"/>
            </a:solidFill>
          </a:ln>
        </p:spPr>
        <p:txBody>
          <a:bodyPr/>
          <a:lstStyle/>
          <a:p>
            <a:endParaRPr/>
          </a:p>
        </p:txBody>
      </p:sp>
      <p:sp>
        <p:nvSpPr>
          <p:cNvPr id="48" name="Line 48">
            <a:extLst>
              <a:ext uri="{FF2B5EF4-FFF2-40B4-BE49-F238E27FC236}">
                <a16:creationId xmlns:a16="http://schemas.microsoft.com/office/drawing/2014/main" id="{F30C50AC-09CB-83CC-E351-9443B8B3B464}"/>
              </a:ext>
            </a:extLst>
          </p:cNvPr>
          <p:cNvSpPr>
            <a:spLocks noGrp="1"/>
          </p:cNvSpPr>
          <p:nvPr/>
        </p:nvSpPr>
        <p:spPr>
          <a:xfrm>
            <a:off x="10184411" y="3075532"/>
            <a:ext cx="1224383" cy="0"/>
          </a:xfrm>
          <a:prstGeom prst="line">
            <a:avLst/>
          </a:prstGeom>
          <a:noFill/>
          <a:ln w="38100">
            <a:solidFill>
              <a:srgbClr val="111111"/>
            </a:solidFill>
          </a:ln>
        </p:spPr>
        <p:txBody>
          <a:bodyPr/>
          <a:lstStyle/>
          <a:p>
            <a:endParaRPr/>
          </a:p>
        </p:txBody>
      </p:sp>
      <p:sp>
        <p:nvSpPr>
          <p:cNvPr id="49" name="Line 49">
            <a:extLst>
              <a:ext uri="{FF2B5EF4-FFF2-40B4-BE49-F238E27FC236}">
                <a16:creationId xmlns:a16="http://schemas.microsoft.com/office/drawing/2014/main" id="{8FD6A6FB-D798-8782-B328-B51F12A7C60D}"/>
              </a:ext>
            </a:extLst>
          </p:cNvPr>
          <p:cNvSpPr>
            <a:spLocks noGrp="1"/>
          </p:cNvSpPr>
          <p:nvPr/>
        </p:nvSpPr>
        <p:spPr>
          <a:xfrm>
            <a:off x="1212893" y="1931318"/>
            <a:ext cx="8133399" cy="0"/>
          </a:xfrm>
          <a:prstGeom prst="line">
            <a:avLst/>
          </a:prstGeom>
          <a:noFill/>
          <a:ln w="31750">
            <a:solidFill>
              <a:srgbClr val="111111"/>
            </a:solidFill>
          </a:ln>
        </p:spPr>
        <p:txBody>
          <a:bodyPr/>
          <a:lstStyle/>
          <a:p>
            <a:endParaRPr/>
          </a:p>
        </p:txBody>
      </p:sp>
      <p:sp>
        <p:nvSpPr>
          <p:cNvPr id="50" name="Line 50">
            <a:extLst>
              <a:ext uri="{FF2B5EF4-FFF2-40B4-BE49-F238E27FC236}">
                <a16:creationId xmlns:a16="http://schemas.microsoft.com/office/drawing/2014/main" id="{D28FC646-A02E-1EA6-90F3-1891D60A30FA}"/>
              </a:ext>
            </a:extLst>
          </p:cNvPr>
          <p:cNvSpPr>
            <a:spLocks noGrp="1"/>
          </p:cNvSpPr>
          <p:nvPr/>
        </p:nvSpPr>
        <p:spPr>
          <a:xfrm>
            <a:off x="1599157" y="1508614"/>
            <a:ext cx="0" cy="422704"/>
          </a:xfrm>
          <a:prstGeom prst="line">
            <a:avLst/>
          </a:prstGeom>
          <a:noFill/>
          <a:ln w="20320">
            <a:solidFill>
              <a:srgbClr val="111111"/>
            </a:solidFill>
          </a:ln>
        </p:spPr>
        <p:txBody>
          <a:bodyPr/>
          <a:lstStyle/>
          <a:p>
            <a:endParaRPr/>
          </a:p>
        </p:txBody>
      </p:sp>
      <p:sp>
        <p:nvSpPr>
          <p:cNvPr id="51" name="Line 51">
            <a:extLst>
              <a:ext uri="{FF2B5EF4-FFF2-40B4-BE49-F238E27FC236}">
                <a16:creationId xmlns:a16="http://schemas.microsoft.com/office/drawing/2014/main" id="{E32C92AC-740E-B8FC-0ED7-130F8C76616F}"/>
              </a:ext>
            </a:extLst>
          </p:cNvPr>
          <p:cNvSpPr>
            <a:spLocks noGrp="1"/>
          </p:cNvSpPr>
          <p:nvPr/>
        </p:nvSpPr>
        <p:spPr>
          <a:xfrm>
            <a:off x="3428443" y="1508614"/>
            <a:ext cx="0" cy="422704"/>
          </a:xfrm>
          <a:prstGeom prst="line">
            <a:avLst/>
          </a:prstGeom>
          <a:noFill/>
          <a:ln w="20320">
            <a:solidFill>
              <a:srgbClr val="111111"/>
            </a:solidFill>
          </a:ln>
        </p:spPr>
        <p:txBody>
          <a:bodyPr/>
          <a:lstStyle/>
          <a:p>
            <a:endParaRPr/>
          </a:p>
        </p:txBody>
      </p:sp>
      <p:sp>
        <p:nvSpPr>
          <p:cNvPr id="52" name="Line 52">
            <a:extLst>
              <a:ext uri="{FF2B5EF4-FFF2-40B4-BE49-F238E27FC236}">
                <a16:creationId xmlns:a16="http://schemas.microsoft.com/office/drawing/2014/main" id="{E4B82B06-2D63-DB0D-7F40-6DAFC519626F}"/>
              </a:ext>
            </a:extLst>
          </p:cNvPr>
          <p:cNvSpPr>
            <a:spLocks noGrp="1"/>
          </p:cNvSpPr>
          <p:nvPr/>
        </p:nvSpPr>
        <p:spPr>
          <a:xfrm>
            <a:off x="5629416" y="1508614"/>
            <a:ext cx="0" cy="422704"/>
          </a:xfrm>
          <a:prstGeom prst="line">
            <a:avLst/>
          </a:prstGeom>
          <a:noFill/>
          <a:ln w="20320">
            <a:solidFill>
              <a:srgbClr val="111111"/>
            </a:solidFill>
          </a:ln>
        </p:spPr>
        <p:txBody>
          <a:bodyPr/>
          <a:lstStyle/>
          <a:p>
            <a:endParaRPr/>
          </a:p>
        </p:txBody>
      </p:sp>
      <p:sp>
        <p:nvSpPr>
          <p:cNvPr id="53" name="Line 53">
            <a:extLst>
              <a:ext uri="{FF2B5EF4-FFF2-40B4-BE49-F238E27FC236}">
                <a16:creationId xmlns:a16="http://schemas.microsoft.com/office/drawing/2014/main" id="{73670FF0-76C8-E425-807E-816CB30E7F47}"/>
              </a:ext>
            </a:extLst>
          </p:cNvPr>
          <p:cNvSpPr>
            <a:spLocks noGrp="1"/>
          </p:cNvSpPr>
          <p:nvPr/>
        </p:nvSpPr>
        <p:spPr>
          <a:xfrm>
            <a:off x="7713782" y="1508614"/>
            <a:ext cx="0" cy="422704"/>
          </a:xfrm>
          <a:prstGeom prst="line">
            <a:avLst/>
          </a:prstGeom>
          <a:noFill/>
          <a:ln w="20320">
            <a:solidFill>
              <a:srgbClr val="111111"/>
            </a:solidFill>
          </a:ln>
        </p:spPr>
        <p:txBody>
          <a:bodyPr/>
          <a:lstStyle/>
          <a:p>
            <a:endParaRPr/>
          </a:p>
        </p:txBody>
      </p:sp>
      <p:sp>
        <p:nvSpPr>
          <p:cNvPr id="54" name="Line 54">
            <a:extLst>
              <a:ext uri="{FF2B5EF4-FFF2-40B4-BE49-F238E27FC236}">
                <a16:creationId xmlns:a16="http://schemas.microsoft.com/office/drawing/2014/main" id="{9BC90534-A93D-EE5E-A349-8DA7AAB4F6E7}"/>
              </a:ext>
            </a:extLst>
          </p:cNvPr>
          <p:cNvSpPr>
            <a:spLocks noGrp="1"/>
          </p:cNvSpPr>
          <p:nvPr/>
        </p:nvSpPr>
        <p:spPr>
          <a:xfrm>
            <a:off x="9025620" y="1508614"/>
            <a:ext cx="0" cy="422704"/>
          </a:xfrm>
          <a:prstGeom prst="line">
            <a:avLst/>
          </a:prstGeom>
          <a:noFill/>
          <a:ln w="20320">
            <a:solidFill>
              <a:srgbClr val="111111"/>
            </a:solidFill>
          </a:ln>
        </p:spPr>
        <p:txBody>
          <a:bodyPr/>
          <a:lstStyle/>
          <a:p>
            <a:endParaRPr/>
          </a:p>
        </p:txBody>
      </p:sp>
      <p:sp>
        <p:nvSpPr>
          <p:cNvPr id="55" name="Line 55">
            <a:extLst>
              <a:ext uri="{FF2B5EF4-FFF2-40B4-BE49-F238E27FC236}">
                <a16:creationId xmlns:a16="http://schemas.microsoft.com/office/drawing/2014/main" id="{D2694D39-C729-E3D1-F987-55C714D43383}"/>
              </a:ext>
            </a:extLst>
          </p:cNvPr>
          <p:cNvSpPr>
            <a:spLocks noGrp="1"/>
          </p:cNvSpPr>
          <p:nvPr/>
        </p:nvSpPr>
        <p:spPr>
          <a:xfrm>
            <a:off x="1205605" y="1931318"/>
            <a:ext cx="8126111" cy="0"/>
          </a:xfrm>
          <a:prstGeom prst="line">
            <a:avLst/>
          </a:prstGeom>
          <a:noFill/>
          <a:ln w="31750">
            <a:solidFill>
              <a:srgbClr val="111111"/>
            </a:solidFill>
          </a:ln>
        </p:spPr>
        <p:txBody>
          <a:bodyPr/>
          <a:lstStyle/>
          <a:p>
            <a:endParaRPr/>
          </a:p>
        </p:txBody>
      </p:sp>
      <p:sp>
        <p:nvSpPr>
          <p:cNvPr id="56" name="Line 56">
            <a:extLst>
              <a:ext uri="{FF2B5EF4-FFF2-40B4-BE49-F238E27FC236}">
                <a16:creationId xmlns:a16="http://schemas.microsoft.com/office/drawing/2014/main" id="{B4AAE682-9ACD-56B5-AD5F-89FC7D39D2FF}"/>
              </a:ext>
            </a:extLst>
          </p:cNvPr>
          <p:cNvSpPr>
            <a:spLocks noGrp="1"/>
          </p:cNvSpPr>
          <p:nvPr/>
        </p:nvSpPr>
        <p:spPr>
          <a:xfrm>
            <a:off x="2816251" y="3301460"/>
            <a:ext cx="386264" cy="0"/>
          </a:xfrm>
          <a:prstGeom prst="line">
            <a:avLst/>
          </a:prstGeom>
          <a:noFill/>
          <a:ln w="31750">
            <a:solidFill>
              <a:srgbClr val="1558B0"/>
            </a:solidFill>
          </a:ln>
        </p:spPr>
        <p:txBody>
          <a:bodyPr/>
          <a:lstStyle/>
          <a:p>
            <a:endParaRPr/>
          </a:p>
        </p:txBody>
      </p:sp>
      <p:sp>
        <p:nvSpPr>
          <p:cNvPr id="57" name="Line 57">
            <a:extLst>
              <a:ext uri="{FF2B5EF4-FFF2-40B4-BE49-F238E27FC236}">
                <a16:creationId xmlns:a16="http://schemas.microsoft.com/office/drawing/2014/main" id="{1C72F19E-9F29-E6A1-C073-C387D794F82B}"/>
              </a:ext>
            </a:extLst>
          </p:cNvPr>
          <p:cNvSpPr>
            <a:spLocks noGrp="1"/>
          </p:cNvSpPr>
          <p:nvPr/>
        </p:nvSpPr>
        <p:spPr>
          <a:xfrm>
            <a:off x="4886041" y="3286884"/>
            <a:ext cx="641343" cy="0"/>
          </a:xfrm>
          <a:prstGeom prst="line">
            <a:avLst/>
          </a:prstGeom>
          <a:noFill/>
          <a:ln w="31750">
            <a:solidFill>
              <a:srgbClr val="1558B0"/>
            </a:solidFill>
          </a:ln>
        </p:spPr>
        <p:txBody>
          <a:bodyPr/>
          <a:lstStyle/>
          <a:p>
            <a:endParaRPr/>
          </a:p>
        </p:txBody>
      </p:sp>
      <p:sp>
        <p:nvSpPr>
          <p:cNvPr id="58" name="Polygon 58">
            <a:extLst>
              <a:ext uri="{FF2B5EF4-FFF2-40B4-BE49-F238E27FC236}">
                <a16:creationId xmlns:a16="http://schemas.microsoft.com/office/drawing/2014/main" id="{47A1078E-A7BF-7FDA-CF47-5BCBED4E7EE5}"/>
              </a:ext>
            </a:extLst>
          </p:cNvPr>
          <p:cNvSpPr>
            <a:spLocks noGrp="1"/>
          </p:cNvSpPr>
          <p:nvPr/>
        </p:nvSpPr>
        <p:spPr>
          <a:xfrm>
            <a:off x="9222396" y="1880302"/>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sp>
        <p:nvSpPr>
          <p:cNvPr id="59" name="Polygon 59">
            <a:extLst>
              <a:ext uri="{FF2B5EF4-FFF2-40B4-BE49-F238E27FC236}">
                <a16:creationId xmlns:a16="http://schemas.microsoft.com/office/drawing/2014/main" id="{420134DF-F6DB-9091-DC66-279334F44783}"/>
              </a:ext>
            </a:extLst>
          </p:cNvPr>
          <p:cNvSpPr>
            <a:spLocks noGrp="1"/>
          </p:cNvSpPr>
          <p:nvPr/>
        </p:nvSpPr>
        <p:spPr>
          <a:xfrm>
            <a:off x="3103586" y="3250444"/>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sp>
        <p:nvSpPr>
          <p:cNvPr id="60" name="Polygon 60">
            <a:extLst>
              <a:ext uri="{FF2B5EF4-FFF2-40B4-BE49-F238E27FC236}">
                <a16:creationId xmlns:a16="http://schemas.microsoft.com/office/drawing/2014/main" id="{D10900FC-849F-6E14-4CF0-5F91C0CA1447}"/>
              </a:ext>
            </a:extLst>
          </p:cNvPr>
          <p:cNvSpPr>
            <a:spLocks noGrp="1"/>
          </p:cNvSpPr>
          <p:nvPr/>
        </p:nvSpPr>
        <p:spPr>
          <a:xfrm>
            <a:off x="5490801" y="3235868"/>
            <a:ext cx="109320" cy="102032"/>
          </a:xfrm>
          <a:custGeom>
            <a:avLst/>
            <a:gdLst/>
            <a:ahLst/>
            <a:cxnLst/>
            <a:rect l="l" t="t" r="r" b="b"/>
            <a:pathLst>
              <a:path w="21600" h="21600">
                <a:moveTo>
                  <a:pt x="21600" y="10800"/>
                </a:moveTo>
                <a:lnTo>
                  <a:pt x="0" y="21600"/>
                </a:lnTo>
                <a:lnTo>
                  <a:pt x="0" y="0"/>
                </a:lnTo>
                <a:close/>
              </a:path>
            </a:pathLst>
          </a:custGeom>
          <a:noFill/>
          <a:ln>
            <a:noFill/>
          </a:ln>
        </p:spPr>
        <p:txBody>
          <a:bodyPr/>
          <a:lstStyle/>
          <a:p>
            <a:endParaRPr/>
          </a:p>
        </p:txBody>
      </p:sp>
      <p:pic>
        <p:nvPicPr>
          <p:cNvPr id="168" name="Asset-sheet separated NTAD icon"/>
          <p:cNvPicPr>
            <a:picLocks noChangeAspect="1"/>
          </p:cNvPicPr>
          <p:nvPr/>
        </p:nvPicPr>
        <p:blipFill>
          <a:blip r:embed="rId3"/>
          <a:stretch>
            <a:fillRect/>
          </a:stretch>
        </p:blipFill>
        <p:spPr>
          <a:xfrm>
            <a:off x="768326" y="2638253"/>
            <a:ext cx="225928" cy="225928"/>
          </a:xfrm>
          <a:prstGeom prst="rect">
            <a:avLst/>
          </a:prstGeom>
        </p:spPr>
      </p:pic>
      <p:pic>
        <p:nvPicPr>
          <p:cNvPr id="169" name="Asset-sheet separated FRA crossing icon"/>
          <p:cNvPicPr>
            <a:picLocks noChangeAspect="1"/>
          </p:cNvPicPr>
          <p:nvPr/>
        </p:nvPicPr>
        <p:blipFill>
          <a:blip r:embed="rId4"/>
          <a:stretch>
            <a:fillRect/>
          </a:stretch>
        </p:blipFill>
        <p:spPr>
          <a:xfrm>
            <a:off x="768326" y="3002652"/>
            <a:ext cx="225928" cy="225928"/>
          </a:xfrm>
          <a:prstGeom prst="rect">
            <a:avLst/>
          </a:prstGeom>
        </p:spPr>
      </p:pic>
      <p:pic>
        <p:nvPicPr>
          <p:cNvPr id="170" name="Asset-sheet separated Stage 2 topology icon"/>
          <p:cNvPicPr>
            <a:picLocks noChangeAspect="1"/>
          </p:cNvPicPr>
          <p:nvPr/>
        </p:nvPicPr>
        <p:blipFill>
          <a:blip r:embed="rId5"/>
          <a:stretch>
            <a:fillRect/>
          </a:stretch>
        </p:blipFill>
        <p:spPr>
          <a:xfrm>
            <a:off x="768326" y="3367052"/>
            <a:ext cx="225928" cy="225928"/>
          </a:xfrm>
          <a:prstGeom prst="rect">
            <a:avLst/>
          </a:prstGeom>
        </p:spPr>
      </p:pic>
      <p:pic>
        <p:nvPicPr>
          <p:cNvPr id="171" name="Asset-sheet separated OSM icon"/>
          <p:cNvPicPr>
            <a:picLocks noChangeAspect="1"/>
          </p:cNvPicPr>
          <p:nvPr/>
        </p:nvPicPr>
        <p:blipFill>
          <a:blip r:embed="rId6"/>
          <a:stretch>
            <a:fillRect/>
          </a:stretch>
        </p:blipFill>
        <p:spPr>
          <a:xfrm>
            <a:off x="768326" y="3731452"/>
            <a:ext cx="225928" cy="225928"/>
          </a:xfrm>
          <a:prstGeom prst="rect">
            <a:avLst/>
          </a:prstGeom>
        </p:spPr>
      </p:pic>
      <p:sp>
        <p:nvSpPr>
          <p:cNvPr id="18" name="Roundrect 18">
            <a:extLst>
              <a:ext uri="{FF2B5EF4-FFF2-40B4-BE49-F238E27FC236}">
                <a16:creationId xmlns:a16="http://schemas.microsoft.com/office/drawing/2014/main" id="{64C5FA03-1297-CA7C-2003-F3854B47C3D8}"/>
              </a:ext>
            </a:extLst>
          </p:cNvPr>
          <p:cNvSpPr>
            <a:spLocks noGrp="1"/>
          </p:cNvSpPr>
          <p:nvPr/>
        </p:nvSpPr>
        <p:spPr>
          <a:xfrm>
            <a:off x="683973" y="4788211"/>
            <a:ext cx="2528933" cy="429991"/>
          </a:xfrm>
          <a:prstGeom prst="roundRect">
            <a:avLst>
              <a:gd name="adj" fmla="val 11864"/>
            </a:avLst>
          </a:prstGeom>
          <a:noFill/>
          <a:ln w="15240">
            <a:solidFill>
              <a:srgbClr val="8AADE5"/>
            </a:solidFill>
          </a:ln>
        </p:spPr>
        <p:txBody>
          <a:bodyPr/>
          <a:lstStyle/>
          <a:p>
            <a:endParaRPr/>
          </a:p>
        </p:txBody>
      </p:sp>
      <p:pic>
        <p:nvPicPr>
          <p:cNvPr id="173" name="LaTeX-rendered track-miles formula"/>
          <p:cNvPicPr>
            <a:picLocks noChangeAspect="1"/>
          </p:cNvPicPr>
          <p:nvPr/>
        </p:nvPicPr>
        <p:blipFill>
          <a:blip r:embed="rId7"/>
          <a:stretch>
            <a:fillRect/>
          </a:stretch>
        </p:blipFill>
        <p:spPr>
          <a:xfrm>
            <a:off x="793293" y="4861091"/>
            <a:ext cx="2310293" cy="291520"/>
          </a:xfrm>
          <a:prstGeom prst="rect">
            <a:avLst/>
          </a:prstGeom>
        </p:spPr>
      </p:pic>
      <p:sp>
        <p:nvSpPr>
          <p:cNvPr id="74" name="TextBox 74">
            <a:extLst>
              <a:ext uri="{FF2B5EF4-FFF2-40B4-BE49-F238E27FC236}">
                <a16:creationId xmlns:a16="http://schemas.microsoft.com/office/drawing/2014/main" id="{7DC70057-756E-88BD-E90A-52B1E8C60EE5}"/>
              </a:ext>
            </a:extLst>
          </p:cNvPr>
          <p:cNvSpPr>
            <a:spLocks noGrp="1"/>
          </p:cNvSpPr>
          <p:nvPr/>
        </p:nvSpPr>
        <p:spPr>
          <a:xfrm>
            <a:off x="280030" y="211352"/>
            <a:ext cx="5976153" cy="364400"/>
          </a:xfrm>
          <a:prstGeom prst="rect">
            <a:avLst/>
          </a:prstGeom>
          <a:noFill/>
          <a:ln>
            <a:noFill/>
          </a:ln>
        </p:spPr>
        <p:txBody>
          <a:bodyPr wrap="none" lIns="0" tIns="0" rIns="0" bIns="0" anchor="t">
            <a:noAutofit/>
          </a:bodyPr>
          <a:lstStyle/>
          <a:p>
            <a:pPr algn="l">
              <a:buNone/>
            </a:pPr>
            <a:r>
              <a:rPr sz="2350" b="1">
                <a:latin typeface="Arial"/>
                <a:ea typeface="Arial"/>
                <a:cs typeface="Arial"/>
              </a:rPr>
              <a:t>0.25-Mile Bin (crossover)</a:t>
            </a:r>
            <a:endParaRPr sz="2350"/>
          </a:p>
        </p:txBody>
      </p:sp>
      <p:sp>
        <p:nvSpPr>
          <p:cNvPr id="76" name="TextBox 76">
            <a:extLst>
              <a:ext uri="{FF2B5EF4-FFF2-40B4-BE49-F238E27FC236}">
                <a16:creationId xmlns:a16="http://schemas.microsoft.com/office/drawing/2014/main" id="{30A02698-BA9F-28E2-BD20-5A63E1B7D2D0}"/>
              </a:ext>
            </a:extLst>
          </p:cNvPr>
          <p:cNvSpPr>
            <a:spLocks noGrp="1"/>
          </p:cNvSpPr>
          <p:nvPr/>
        </p:nvSpPr>
        <p:spPr>
          <a:xfrm>
            <a:off x="280030" y="706936"/>
            <a:ext cx="4737194" cy="218640"/>
          </a:xfrm>
          <a:prstGeom prst="rect">
            <a:avLst/>
          </a:prstGeom>
          <a:noFill/>
          <a:ln>
            <a:noFill/>
          </a:ln>
        </p:spPr>
        <p:txBody>
          <a:bodyPr wrap="none" lIns="0" tIns="0" rIns="0" bIns="0" anchor="t">
            <a:noAutofit/>
          </a:bodyPr>
          <a:lstStyle/>
          <a:p>
            <a:r>
              <a:rPr sz="1370" b="1">
                <a:latin typeface="Arial"/>
                <a:ea typeface="Arial"/>
                <a:cs typeface="Arial"/>
              </a:rPr>
              <a:t>Refine track count by split the corridor by milepost into 0.25-mile bins</a:t>
            </a:r>
            <a:endParaRPr sz="1370"/>
          </a:p>
        </p:txBody>
      </p:sp>
      <p:sp>
        <p:nvSpPr>
          <p:cNvPr id="77" name="TextBox 77">
            <a:extLst>
              <a:ext uri="{FF2B5EF4-FFF2-40B4-BE49-F238E27FC236}">
                <a16:creationId xmlns:a16="http://schemas.microsoft.com/office/drawing/2014/main" id="{783F96B1-58E8-FEA7-F710-73575D0A90EC}"/>
              </a:ext>
            </a:extLst>
          </p:cNvPr>
          <p:cNvSpPr>
            <a:spLocks noGrp="1"/>
          </p:cNvSpPr>
          <p:nvPr/>
        </p:nvSpPr>
        <p:spPr>
          <a:xfrm>
            <a:off x="593414" y="1690814"/>
            <a:ext cx="801679" cy="160336"/>
          </a:xfrm>
          <a:prstGeom prst="rect">
            <a:avLst/>
          </a:prstGeom>
          <a:noFill/>
          <a:ln>
            <a:noFill/>
          </a:ln>
        </p:spPr>
        <p:txBody>
          <a:bodyPr wrap="none" lIns="0" tIns="0" rIns="0" bIns="0" anchor="t">
            <a:noAutofit/>
          </a:bodyPr>
          <a:lstStyle/>
          <a:p>
            <a:pPr algn="l">
              <a:buNone/>
            </a:pPr>
            <a:r>
              <a:rPr sz="1000" b="1">
                <a:latin typeface="Arial"/>
                <a:ea typeface="Arial"/>
                <a:cs typeface="Arial"/>
              </a:rPr>
              <a:t>Milepost</a:t>
            </a:r>
            <a:endParaRPr sz="1000"/>
          </a:p>
        </p:txBody>
      </p:sp>
      <p:sp>
        <p:nvSpPr>
          <p:cNvPr id="78" name="TextBox 78">
            <a:extLst>
              <a:ext uri="{FF2B5EF4-FFF2-40B4-BE49-F238E27FC236}">
                <a16:creationId xmlns:a16="http://schemas.microsoft.com/office/drawing/2014/main" id="{FDF00024-42C4-CEAD-DE4B-917C6001474C}"/>
              </a:ext>
            </a:extLst>
          </p:cNvPr>
          <p:cNvSpPr>
            <a:spLocks noGrp="1"/>
          </p:cNvSpPr>
          <p:nvPr/>
        </p:nvSpPr>
        <p:spPr>
          <a:xfrm>
            <a:off x="1344077"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0.00</a:t>
            </a:r>
            <a:endParaRPr sz="1000"/>
          </a:p>
        </p:txBody>
      </p:sp>
      <p:sp>
        <p:nvSpPr>
          <p:cNvPr id="79" name="TextBox 79">
            <a:extLst>
              <a:ext uri="{FF2B5EF4-FFF2-40B4-BE49-F238E27FC236}">
                <a16:creationId xmlns:a16="http://schemas.microsoft.com/office/drawing/2014/main" id="{0B867F18-2734-7309-A2A6-43620BB3E2F9}"/>
              </a:ext>
            </a:extLst>
          </p:cNvPr>
          <p:cNvSpPr>
            <a:spLocks noGrp="1"/>
          </p:cNvSpPr>
          <p:nvPr/>
        </p:nvSpPr>
        <p:spPr>
          <a:xfrm>
            <a:off x="3173363"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0.25</a:t>
            </a:r>
            <a:endParaRPr sz="1000"/>
          </a:p>
        </p:txBody>
      </p:sp>
      <p:sp>
        <p:nvSpPr>
          <p:cNvPr id="80" name="TextBox 80">
            <a:extLst>
              <a:ext uri="{FF2B5EF4-FFF2-40B4-BE49-F238E27FC236}">
                <a16:creationId xmlns:a16="http://schemas.microsoft.com/office/drawing/2014/main" id="{08E881AD-5782-8795-F319-BEB5D2E08111}"/>
              </a:ext>
            </a:extLst>
          </p:cNvPr>
          <p:cNvSpPr>
            <a:spLocks noGrp="1"/>
          </p:cNvSpPr>
          <p:nvPr/>
        </p:nvSpPr>
        <p:spPr>
          <a:xfrm>
            <a:off x="5374336"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0.50</a:t>
            </a:r>
            <a:endParaRPr sz="1000"/>
          </a:p>
        </p:txBody>
      </p:sp>
      <p:sp>
        <p:nvSpPr>
          <p:cNvPr id="81" name="TextBox 81">
            <a:extLst>
              <a:ext uri="{FF2B5EF4-FFF2-40B4-BE49-F238E27FC236}">
                <a16:creationId xmlns:a16="http://schemas.microsoft.com/office/drawing/2014/main" id="{1622C9D8-150A-5F49-BF69-5E157F0F9DEB}"/>
              </a:ext>
            </a:extLst>
          </p:cNvPr>
          <p:cNvSpPr>
            <a:spLocks noGrp="1"/>
          </p:cNvSpPr>
          <p:nvPr/>
        </p:nvSpPr>
        <p:spPr>
          <a:xfrm>
            <a:off x="7458702"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0.75</a:t>
            </a:r>
            <a:endParaRPr sz="1000"/>
          </a:p>
        </p:txBody>
      </p:sp>
      <p:sp>
        <p:nvSpPr>
          <p:cNvPr id="82" name="TextBox 82">
            <a:extLst>
              <a:ext uri="{FF2B5EF4-FFF2-40B4-BE49-F238E27FC236}">
                <a16:creationId xmlns:a16="http://schemas.microsoft.com/office/drawing/2014/main" id="{AA4F0BFC-AB16-C746-6E42-11D9A4DCB431}"/>
              </a:ext>
            </a:extLst>
          </p:cNvPr>
          <p:cNvSpPr>
            <a:spLocks noGrp="1"/>
          </p:cNvSpPr>
          <p:nvPr/>
        </p:nvSpPr>
        <p:spPr>
          <a:xfrm>
            <a:off x="8770540" y="1319126"/>
            <a:ext cx="510159" cy="160336"/>
          </a:xfrm>
          <a:prstGeom prst="rect">
            <a:avLst/>
          </a:prstGeom>
          <a:noFill/>
          <a:ln>
            <a:noFill/>
          </a:ln>
        </p:spPr>
        <p:txBody>
          <a:bodyPr wrap="none" lIns="0" tIns="0" rIns="0" bIns="0" anchor="t">
            <a:noAutofit/>
          </a:bodyPr>
          <a:lstStyle/>
          <a:p>
            <a:pPr algn="ctr">
              <a:buNone/>
            </a:pPr>
            <a:r>
              <a:rPr sz="1000">
                <a:latin typeface="Arial"/>
                <a:ea typeface="Arial"/>
                <a:cs typeface="Arial"/>
              </a:rPr>
              <a:t>1.00</a:t>
            </a:r>
            <a:endParaRPr sz="1000"/>
          </a:p>
        </p:txBody>
      </p:sp>
      <p:sp>
        <p:nvSpPr>
          <p:cNvPr id="83" name="TextBox 83">
            <a:extLst>
              <a:ext uri="{FF2B5EF4-FFF2-40B4-BE49-F238E27FC236}">
                <a16:creationId xmlns:a16="http://schemas.microsoft.com/office/drawing/2014/main" id="{2D46F9CA-75E9-DE94-6981-5466B70527B9}"/>
              </a:ext>
            </a:extLst>
          </p:cNvPr>
          <p:cNvSpPr>
            <a:spLocks noGrp="1"/>
          </p:cNvSpPr>
          <p:nvPr/>
        </p:nvSpPr>
        <p:spPr>
          <a:xfrm>
            <a:off x="1599157" y="1639798"/>
            <a:ext cx="1829286"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1</a:t>
            </a:r>
            <a:endParaRPr sz="1100"/>
          </a:p>
        </p:txBody>
      </p:sp>
      <p:sp>
        <p:nvSpPr>
          <p:cNvPr id="84" name="TextBox 84">
            <a:extLst>
              <a:ext uri="{FF2B5EF4-FFF2-40B4-BE49-F238E27FC236}">
                <a16:creationId xmlns:a16="http://schemas.microsoft.com/office/drawing/2014/main" id="{C27D8262-48D8-484E-F974-93C95B2E2C8B}"/>
              </a:ext>
            </a:extLst>
          </p:cNvPr>
          <p:cNvSpPr>
            <a:spLocks noGrp="1"/>
          </p:cNvSpPr>
          <p:nvPr/>
        </p:nvSpPr>
        <p:spPr>
          <a:xfrm>
            <a:off x="3428443" y="1639798"/>
            <a:ext cx="2200973"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2</a:t>
            </a:r>
            <a:endParaRPr sz="1100"/>
          </a:p>
        </p:txBody>
      </p:sp>
      <p:sp>
        <p:nvSpPr>
          <p:cNvPr id="85" name="TextBox 85">
            <a:extLst>
              <a:ext uri="{FF2B5EF4-FFF2-40B4-BE49-F238E27FC236}">
                <a16:creationId xmlns:a16="http://schemas.microsoft.com/office/drawing/2014/main" id="{A45C459A-FDB1-724C-1572-D0DC94E9061B}"/>
              </a:ext>
            </a:extLst>
          </p:cNvPr>
          <p:cNvSpPr>
            <a:spLocks noGrp="1"/>
          </p:cNvSpPr>
          <p:nvPr/>
        </p:nvSpPr>
        <p:spPr>
          <a:xfrm>
            <a:off x="5629416" y="1639798"/>
            <a:ext cx="2084366"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3</a:t>
            </a:r>
            <a:endParaRPr sz="1100"/>
          </a:p>
        </p:txBody>
      </p:sp>
      <p:sp>
        <p:nvSpPr>
          <p:cNvPr id="86" name="TextBox 86">
            <a:extLst>
              <a:ext uri="{FF2B5EF4-FFF2-40B4-BE49-F238E27FC236}">
                <a16:creationId xmlns:a16="http://schemas.microsoft.com/office/drawing/2014/main" id="{89564D2E-F551-9DE3-87F1-2B0B46F12D14}"/>
              </a:ext>
            </a:extLst>
          </p:cNvPr>
          <p:cNvSpPr>
            <a:spLocks noGrp="1"/>
          </p:cNvSpPr>
          <p:nvPr/>
        </p:nvSpPr>
        <p:spPr>
          <a:xfrm>
            <a:off x="7713782" y="1639798"/>
            <a:ext cx="1311838" cy="204064"/>
          </a:xfrm>
          <a:prstGeom prst="rect">
            <a:avLst/>
          </a:prstGeom>
          <a:noFill/>
          <a:ln>
            <a:noFill/>
          </a:ln>
        </p:spPr>
        <p:txBody>
          <a:bodyPr wrap="none" lIns="0" tIns="0" rIns="0" bIns="0" anchor="ctr">
            <a:noAutofit/>
          </a:bodyPr>
          <a:lstStyle/>
          <a:p>
            <a:pPr algn="ctr">
              <a:buNone/>
            </a:pPr>
            <a:r>
              <a:rPr sz="1100" b="1">
                <a:latin typeface="Arial"/>
                <a:ea typeface="Arial"/>
                <a:cs typeface="Arial"/>
              </a:rPr>
              <a:t>Bin 4</a:t>
            </a:r>
            <a:endParaRPr sz="1100"/>
          </a:p>
        </p:txBody>
      </p:sp>
      <p:sp>
        <p:nvSpPr>
          <p:cNvPr id="87" name="TextBox 87">
            <a:extLst>
              <a:ext uri="{FF2B5EF4-FFF2-40B4-BE49-F238E27FC236}">
                <a16:creationId xmlns:a16="http://schemas.microsoft.com/office/drawing/2014/main" id="{F840C616-9341-FC27-95A9-E901B20F4A15}"/>
              </a:ext>
            </a:extLst>
          </p:cNvPr>
          <p:cNvSpPr>
            <a:spLocks noGrp="1"/>
          </p:cNvSpPr>
          <p:nvPr/>
        </p:nvSpPr>
        <p:spPr>
          <a:xfrm>
            <a:off x="9805436" y="1370143"/>
            <a:ext cx="1603358" cy="320671"/>
          </a:xfrm>
          <a:prstGeom prst="rect">
            <a:avLst/>
          </a:prstGeom>
          <a:noFill/>
          <a:ln>
            <a:noFill/>
          </a:ln>
        </p:spPr>
        <p:txBody>
          <a:bodyPr wrap="none" lIns="0" tIns="0" rIns="0" bIns="0" anchor="t">
            <a:noAutofit/>
          </a:bodyPr>
          <a:lstStyle/>
          <a:p>
            <a:r>
              <a:rPr sz="1000" b="1">
                <a:latin typeface="Arial"/>
                <a:ea typeface="Arial"/>
                <a:cs typeface="Arial"/>
              </a:rPr>
              <a:t>Bin = spatial aggregation unit</a:t>
            </a:r>
          </a:p>
          <a:p>
            <a:r>
              <a:rPr sz="1000" b="1">
                <a:latin typeface="Arial"/>
                <a:ea typeface="Arial"/>
                <a:cs typeface="Arial"/>
              </a:rPr>
              <a:t>Not a signaling block</a:t>
            </a:r>
            <a:endParaRPr sz="1000"/>
          </a:p>
          <a:p>
            <a:pPr algn="l">
              <a:buNone/>
            </a:pPr>
            <a:endParaRPr sz="1000"/>
          </a:p>
        </p:txBody>
      </p:sp>
      <p:sp>
        <p:nvSpPr>
          <p:cNvPr id="89" name="TextBox 89">
            <a:extLst>
              <a:ext uri="{FF2B5EF4-FFF2-40B4-BE49-F238E27FC236}">
                <a16:creationId xmlns:a16="http://schemas.microsoft.com/office/drawing/2014/main" id="{B2AB142F-7278-7FC4-46C4-50ABEB6A62F3}"/>
              </a:ext>
            </a:extLst>
          </p:cNvPr>
          <p:cNvSpPr>
            <a:spLocks noGrp="1"/>
          </p:cNvSpPr>
          <p:nvPr/>
        </p:nvSpPr>
        <p:spPr>
          <a:xfrm>
            <a:off x="331046" y="2251988"/>
            <a:ext cx="5684633" cy="218640"/>
          </a:xfrm>
          <a:prstGeom prst="rect">
            <a:avLst/>
          </a:prstGeom>
          <a:noFill/>
          <a:ln>
            <a:noFill/>
          </a:ln>
        </p:spPr>
        <p:txBody>
          <a:bodyPr wrap="none" lIns="0" tIns="0" rIns="0" bIns="0" anchor="t">
            <a:noAutofit/>
          </a:bodyPr>
          <a:lstStyle/>
          <a:p>
            <a:pPr algn="l">
              <a:buNone/>
            </a:pPr>
            <a:r>
              <a:rPr sz="1220" b="1">
                <a:latin typeface="Arial"/>
                <a:ea typeface="Arial"/>
                <a:cs typeface="Arial"/>
              </a:rPr>
              <a:t>Reconcile multiple sources in each bin to determine main-track count</a:t>
            </a:r>
            <a:endParaRPr sz="1220"/>
          </a:p>
        </p:txBody>
      </p:sp>
      <p:sp>
        <p:nvSpPr>
          <p:cNvPr id="90" name="TextBox 90">
            <a:extLst>
              <a:ext uri="{FF2B5EF4-FFF2-40B4-BE49-F238E27FC236}">
                <a16:creationId xmlns:a16="http://schemas.microsoft.com/office/drawing/2014/main" id="{A8783963-1A4D-7279-85BE-63D9DC4DB9DA}"/>
              </a:ext>
            </a:extLst>
          </p:cNvPr>
          <p:cNvSpPr>
            <a:spLocks noGrp="1"/>
          </p:cNvSpPr>
          <p:nvPr/>
        </p:nvSpPr>
        <p:spPr>
          <a:xfrm>
            <a:off x="1103573" y="2660117"/>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NTAD</a:t>
            </a:r>
            <a:endParaRPr sz="1000"/>
          </a:p>
        </p:txBody>
      </p:sp>
      <p:sp>
        <p:nvSpPr>
          <p:cNvPr id="91" name="TextBox 91">
            <a:extLst>
              <a:ext uri="{FF2B5EF4-FFF2-40B4-BE49-F238E27FC236}">
                <a16:creationId xmlns:a16="http://schemas.microsoft.com/office/drawing/2014/main" id="{CDDEC22A-E965-54F2-FB9C-59364189A7DA}"/>
              </a:ext>
            </a:extLst>
          </p:cNvPr>
          <p:cNvSpPr>
            <a:spLocks noGrp="1"/>
          </p:cNvSpPr>
          <p:nvPr/>
        </p:nvSpPr>
        <p:spPr>
          <a:xfrm>
            <a:off x="1103573" y="30245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FRA crossing</a:t>
            </a:r>
            <a:endParaRPr sz="1000"/>
          </a:p>
        </p:txBody>
      </p:sp>
      <p:sp>
        <p:nvSpPr>
          <p:cNvPr id="92" name="TextBox 92">
            <a:extLst>
              <a:ext uri="{FF2B5EF4-FFF2-40B4-BE49-F238E27FC236}">
                <a16:creationId xmlns:a16="http://schemas.microsoft.com/office/drawing/2014/main" id="{B70F557F-9B65-4A81-FAB3-8568883B84BB}"/>
              </a:ext>
            </a:extLst>
          </p:cNvPr>
          <p:cNvSpPr>
            <a:spLocks noGrp="1"/>
          </p:cNvSpPr>
          <p:nvPr/>
        </p:nvSpPr>
        <p:spPr>
          <a:xfrm>
            <a:off x="1103573" y="33889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Topology</a:t>
            </a:r>
            <a:endParaRPr sz="1000"/>
          </a:p>
        </p:txBody>
      </p:sp>
      <p:sp>
        <p:nvSpPr>
          <p:cNvPr id="93" name="TextBox 93">
            <a:extLst>
              <a:ext uri="{FF2B5EF4-FFF2-40B4-BE49-F238E27FC236}">
                <a16:creationId xmlns:a16="http://schemas.microsoft.com/office/drawing/2014/main" id="{DB40E0C9-A059-F68B-76C2-2F04D3C5F3E7}"/>
              </a:ext>
            </a:extLst>
          </p:cNvPr>
          <p:cNvSpPr>
            <a:spLocks noGrp="1"/>
          </p:cNvSpPr>
          <p:nvPr/>
        </p:nvSpPr>
        <p:spPr>
          <a:xfrm>
            <a:off x="1103573" y="3753316"/>
            <a:ext cx="1129639" cy="182200"/>
          </a:xfrm>
          <a:prstGeom prst="rect">
            <a:avLst/>
          </a:prstGeom>
          <a:noFill/>
          <a:ln>
            <a:noFill/>
          </a:ln>
        </p:spPr>
        <p:txBody>
          <a:bodyPr wrap="none" lIns="0" tIns="0" rIns="0" bIns="0" anchor="ctr">
            <a:noAutofit/>
          </a:bodyPr>
          <a:lstStyle/>
          <a:p>
            <a:pPr algn="l">
              <a:buNone/>
            </a:pPr>
            <a:r>
              <a:rPr sz="1000" b="1">
                <a:latin typeface="Arial"/>
                <a:ea typeface="Arial"/>
                <a:cs typeface="Arial"/>
              </a:rPr>
              <a:t>OSM</a:t>
            </a:r>
            <a:endParaRPr sz="1000"/>
          </a:p>
        </p:txBody>
      </p:sp>
      <p:sp>
        <p:nvSpPr>
          <p:cNvPr id="94" name="TextBox 94">
            <a:extLst>
              <a:ext uri="{FF2B5EF4-FFF2-40B4-BE49-F238E27FC236}">
                <a16:creationId xmlns:a16="http://schemas.microsoft.com/office/drawing/2014/main" id="{E6913C6B-C9E6-6701-FC6D-00EB64E67B13}"/>
              </a:ext>
            </a:extLst>
          </p:cNvPr>
          <p:cNvSpPr>
            <a:spLocks noGrp="1"/>
          </p:cNvSpPr>
          <p:nvPr/>
        </p:nvSpPr>
        <p:spPr>
          <a:xfrm>
            <a:off x="3297259" y="3046380"/>
            <a:ext cx="1486750" cy="510159"/>
          </a:xfrm>
          <a:prstGeom prst="rect">
            <a:avLst/>
          </a:prstGeom>
          <a:noFill/>
          <a:ln>
            <a:noFill/>
          </a:ln>
        </p:spPr>
        <p:txBody>
          <a:bodyPr wrap="none" lIns="0" tIns="0" rIns="0" bIns="0" anchor="ctr">
            <a:noAutofit/>
          </a:bodyPr>
          <a:lstStyle/>
          <a:p>
            <a:pPr algn="ctr">
              <a:buNone/>
            </a:pPr>
            <a:r>
              <a:rPr sz="940" b="1">
                <a:latin typeface="Arial"/>
                <a:ea typeface="Arial"/>
                <a:cs typeface="Arial"/>
              </a:rPr>
              <a:t>Reconcile</a:t>
            </a:r>
            <a:endParaRPr sz="940"/>
          </a:p>
          <a:p>
            <a:pPr algn="ctr">
              <a:buNone/>
            </a:pPr>
            <a:r>
              <a:rPr sz="940" b="1">
                <a:latin typeface="Arial"/>
                <a:ea typeface="Arial"/>
                <a:cs typeface="Arial"/>
              </a:rPr>
              <a:t>select the maximum value</a:t>
            </a:r>
            <a:endParaRPr sz="940"/>
          </a:p>
        </p:txBody>
      </p:sp>
      <p:sp>
        <p:nvSpPr>
          <p:cNvPr id="95" name="TextBox 95">
            <a:extLst>
              <a:ext uri="{FF2B5EF4-FFF2-40B4-BE49-F238E27FC236}">
                <a16:creationId xmlns:a16="http://schemas.microsoft.com/office/drawing/2014/main" id="{9D76192D-8311-63F0-5A75-D1237D4C8C35}"/>
              </a:ext>
            </a:extLst>
          </p:cNvPr>
          <p:cNvSpPr>
            <a:spLocks noGrp="1"/>
          </p:cNvSpPr>
          <p:nvPr/>
        </p:nvSpPr>
        <p:spPr>
          <a:xfrm>
            <a:off x="5600264" y="2485205"/>
            <a:ext cx="1311838"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1</a:t>
            </a:r>
            <a:endParaRPr sz="1030"/>
          </a:p>
        </p:txBody>
      </p:sp>
      <p:sp>
        <p:nvSpPr>
          <p:cNvPr id="96" name="TextBox 96">
            <a:extLst>
              <a:ext uri="{FF2B5EF4-FFF2-40B4-BE49-F238E27FC236}">
                <a16:creationId xmlns:a16="http://schemas.microsoft.com/office/drawing/2014/main" id="{A0629F5B-6AA4-71FA-6084-DB52D9A4AE1C}"/>
              </a:ext>
            </a:extLst>
          </p:cNvPr>
          <p:cNvSpPr>
            <a:spLocks noGrp="1"/>
          </p:cNvSpPr>
          <p:nvPr/>
        </p:nvSpPr>
        <p:spPr>
          <a:xfrm>
            <a:off x="5658568" y="3367052"/>
            <a:ext cx="1195231"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97" name="TextBox 97">
            <a:extLst>
              <a:ext uri="{FF2B5EF4-FFF2-40B4-BE49-F238E27FC236}">
                <a16:creationId xmlns:a16="http://schemas.microsoft.com/office/drawing/2014/main" id="{6D87E356-B2B2-1ECE-3365-54437F6B8EA7}"/>
              </a:ext>
            </a:extLst>
          </p:cNvPr>
          <p:cNvSpPr>
            <a:spLocks noGrp="1"/>
          </p:cNvSpPr>
          <p:nvPr/>
        </p:nvSpPr>
        <p:spPr>
          <a:xfrm>
            <a:off x="6955831" y="2485205"/>
            <a:ext cx="1282687"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2</a:t>
            </a:r>
            <a:endParaRPr sz="1030"/>
          </a:p>
        </p:txBody>
      </p:sp>
      <p:sp>
        <p:nvSpPr>
          <p:cNvPr id="98" name="TextBox 98">
            <a:extLst>
              <a:ext uri="{FF2B5EF4-FFF2-40B4-BE49-F238E27FC236}">
                <a16:creationId xmlns:a16="http://schemas.microsoft.com/office/drawing/2014/main" id="{2112ABE2-E190-F272-2AA1-B838FB497B57}"/>
              </a:ext>
            </a:extLst>
          </p:cNvPr>
          <p:cNvSpPr>
            <a:spLocks noGrp="1"/>
          </p:cNvSpPr>
          <p:nvPr/>
        </p:nvSpPr>
        <p:spPr>
          <a:xfrm>
            <a:off x="7014135" y="3367052"/>
            <a:ext cx="1166079"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99" name="TextBox 99">
            <a:extLst>
              <a:ext uri="{FF2B5EF4-FFF2-40B4-BE49-F238E27FC236}">
                <a16:creationId xmlns:a16="http://schemas.microsoft.com/office/drawing/2014/main" id="{13508C29-3612-FF8F-46F6-8F41B561712C}"/>
              </a:ext>
            </a:extLst>
          </p:cNvPr>
          <p:cNvSpPr>
            <a:spLocks noGrp="1"/>
          </p:cNvSpPr>
          <p:nvPr/>
        </p:nvSpPr>
        <p:spPr>
          <a:xfrm>
            <a:off x="8282245" y="2485205"/>
            <a:ext cx="1770982"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3</a:t>
            </a:r>
            <a:endParaRPr sz="1030"/>
          </a:p>
        </p:txBody>
      </p:sp>
      <p:sp>
        <p:nvSpPr>
          <p:cNvPr id="100" name="TextBox 100">
            <a:extLst>
              <a:ext uri="{FF2B5EF4-FFF2-40B4-BE49-F238E27FC236}">
                <a16:creationId xmlns:a16="http://schemas.microsoft.com/office/drawing/2014/main" id="{89EBB9EE-5765-68DA-1A14-E075A9269F88}"/>
              </a:ext>
            </a:extLst>
          </p:cNvPr>
          <p:cNvSpPr>
            <a:spLocks noGrp="1"/>
          </p:cNvSpPr>
          <p:nvPr/>
        </p:nvSpPr>
        <p:spPr>
          <a:xfrm>
            <a:off x="8340549" y="3367052"/>
            <a:ext cx="1654374" cy="422704"/>
          </a:xfrm>
          <a:prstGeom prst="rect">
            <a:avLst/>
          </a:prstGeom>
          <a:noFill/>
          <a:ln>
            <a:noFill/>
          </a:ln>
        </p:spPr>
        <p:txBody>
          <a:bodyPr wrap="none" lIns="0" tIns="0" rIns="0" bIns="0" anchor="ctr">
            <a:noAutofit/>
          </a:bodyPr>
          <a:lstStyle/>
          <a:p>
            <a:pPr algn="ctr">
              <a:buNone/>
            </a:pPr>
            <a:r>
              <a:rPr sz="800">
                <a:latin typeface="Arial"/>
                <a:ea typeface="Arial"/>
                <a:cs typeface="Arial"/>
              </a:rPr>
              <a:t>2 main track</a:t>
            </a:r>
            <a:endParaRPr sz="800"/>
          </a:p>
          <a:p>
            <a:pPr algn="ctr">
              <a:buNone/>
            </a:pPr>
            <a:r>
              <a:rPr sz="800">
                <a:latin typeface="Arial"/>
                <a:ea typeface="Arial"/>
                <a:cs typeface="Arial"/>
              </a:rPr>
              <a:t>+ 1 crossover</a:t>
            </a:r>
            <a:endParaRPr sz="800"/>
          </a:p>
        </p:txBody>
      </p:sp>
      <p:sp>
        <p:nvSpPr>
          <p:cNvPr id="101" name="TextBox 101">
            <a:extLst>
              <a:ext uri="{FF2B5EF4-FFF2-40B4-BE49-F238E27FC236}">
                <a16:creationId xmlns:a16="http://schemas.microsoft.com/office/drawing/2014/main" id="{9F60AFB4-B824-4091-C234-222060F13F9C}"/>
              </a:ext>
            </a:extLst>
          </p:cNvPr>
          <p:cNvSpPr>
            <a:spLocks noGrp="1"/>
          </p:cNvSpPr>
          <p:nvPr/>
        </p:nvSpPr>
        <p:spPr>
          <a:xfrm>
            <a:off x="10096955" y="2485205"/>
            <a:ext cx="1399294" cy="160336"/>
          </a:xfrm>
          <a:prstGeom prst="rect">
            <a:avLst/>
          </a:prstGeom>
          <a:noFill/>
          <a:ln>
            <a:noFill/>
          </a:ln>
        </p:spPr>
        <p:txBody>
          <a:bodyPr wrap="none" lIns="0" tIns="0" rIns="0" bIns="0" anchor="ctr">
            <a:noAutofit/>
          </a:bodyPr>
          <a:lstStyle/>
          <a:p>
            <a:pPr algn="ctr">
              <a:buNone/>
            </a:pPr>
            <a:r>
              <a:rPr sz="1030" b="1">
                <a:latin typeface="Arial"/>
                <a:ea typeface="Arial"/>
                <a:cs typeface="Arial"/>
              </a:rPr>
              <a:t>Bin 4</a:t>
            </a:r>
            <a:endParaRPr sz="1030"/>
          </a:p>
        </p:txBody>
      </p:sp>
      <p:sp>
        <p:nvSpPr>
          <p:cNvPr id="102" name="TextBox 102">
            <a:extLst>
              <a:ext uri="{FF2B5EF4-FFF2-40B4-BE49-F238E27FC236}">
                <a16:creationId xmlns:a16="http://schemas.microsoft.com/office/drawing/2014/main" id="{69793B68-D36A-BC6C-CA47-D31481894F3E}"/>
              </a:ext>
            </a:extLst>
          </p:cNvPr>
          <p:cNvSpPr>
            <a:spLocks noGrp="1"/>
          </p:cNvSpPr>
          <p:nvPr/>
        </p:nvSpPr>
        <p:spPr>
          <a:xfrm>
            <a:off x="10155259" y="3367052"/>
            <a:ext cx="1282687" cy="422704"/>
          </a:xfrm>
          <a:prstGeom prst="rect">
            <a:avLst/>
          </a:prstGeom>
          <a:noFill/>
          <a:ln>
            <a:noFill/>
          </a:ln>
        </p:spPr>
        <p:txBody>
          <a:bodyPr wrap="none" lIns="0" tIns="0" rIns="0" bIns="0" anchor="ctr">
            <a:noAutofit/>
          </a:bodyPr>
          <a:lstStyle/>
          <a:p>
            <a:pPr algn="ctr">
              <a:buNone/>
            </a:pPr>
            <a:r>
              <a:rPr sz="930">
                <a:latin typeface="Arial"/>
                <a:ea typeface="Arial"/>
                <a:cs typeface="Arial"/>
              </a:rPr>
              <a:t>2 main tracks</a:t>
            </a:r>
            <a:endParaRPr sz="930"/>
          </a:p>
        </p:txBody>
      </p:sp>
      <p:sp>
        <p:nvSpPr>
          <p:cNvPr id="103" name="TextBox 103">
            <a:extLst>
              <a:ext uri="{FF2B5EF4-FFF2-40B4-BE49-F238E27FC236}">
                <a16:creationId xmlns:a16="http://schemas.microsoft.com/office/drawing/2014/main" id="{22F0B765-A5CB-739B-CBCD-E52753E5901D}"/>
              </a:ext>
            </a:extLst>
          </p:cNvPr>
          <p:cNvSpPr>
            <a:spLocks noGrp="1"/>
          </p:cNvSpPr>
          <p:nvPr/>
        </p:nvSpPr>
        <p:spPr>
          <a:xfrm>
            <a:off x="6890239" y="3993819"/>
            <a:ext cx="2769437" cy="174912"/>
          </a:xfrm>
          <a:prstGeom prst="rect">
            <a:avLst/>
          </a:prstGeom>
          <a:noFill/>
          <a:ln>
            <a:noFill/>
          </a:ln>
        </p:spPr>
        <p:txBody>
          <a:bodyPr wrap="none" lIns="0" tIns="0" rIns="0" bIns="0" anchor="t">
            <a:noAutofit/>
          </a:bodyPr>
          <a:lstStyle/>
          <a:p>
            <a:pPr algn="ctr">
              <a:buNone/>
            </a:pPr>
            <a:r>
              <a:rPr sz="1130" b="1">
                <a:latin typeface="Arial"/>
                <a:ea typeface="Arial"/>
                <a:cs typeface="Arial"/>
              </a:rPr>
              <a:t>track count  n_b = [2, 2, 2, 2]</a:t>
            </a:r>
            <a:endParaRPr sz="1130"/>
          </a:p>
        </p:txBody>
      </p:sp>
      <p:sp>
        <p:nvSpPr>
          <p:cNvPr id="25" name="Rect 25">
            <a:extLst>
              <a:ext uri="{FF2B5EF4-FFF2-40B4-BE49-F238E27FC236}">
                <a16:creationId xmlns:a16="http://schemas.microsoft.com/office/drawing/2014/main" id="{5614DE1C-CD35-155A-C5E6-830408E1E2F6}"/>
              </a:ext>
            </a:extLst>
          </p:cNvPr>
          <p:cNvSpPr>
            <a:spLocks noGrp="1"/>
          </p:cNvSpPr>
          <p:nvPr/>
        </p:nvSpPr>
        <p:spPr>
          <a:xfrm>
            <a:off x="3512254" y="4467538"/>
            <a:ext cx="4030260" cy="1715542"/>
          </a:xfrm>
          <a:prstGeom prst="rect">
            <a:avLst/>
          </a:prstGeom>
          <a:noFill/>
          <a:ln w="12700">
            <a:solidFill>
              <a:srgbClr val="055500"/>
            </a:solidFill>
          </a:ln>
        </p:spPr>
        <p:txBody>
          <a:bodyPr/>
          <a:lstStyle/>
          <a:p>
            <a:endParaRPr/>
          </a:p>
        </p:txBody>
      </p:sp>
      <p:sp>
        <p:nvSpPr>
          <p:cNvPr id="26" name="Rect 26">
            <a:extLst>
              <a:ext uri="{FF2B5EF4-FFF2-40B4-BE49-F238E27FC236}">
                <a16:creationId xmlns:a16="http://schemas.microsoft.com/office/drawing/2014/main" id="{BBB7D9F7-4DC4-919B-D743-6C1E0BA72952}"/>
              </a:ext>
            </a:extLst>
          </p:cNvPr>
          <p:cNvSpPr>
            <a:spLocks noGrp="1"/>
          </p:cNvSpPr>
          <p:nvPr/>
        </p:nvSpPr>
        <p:spPr>
          <a:xfrm>
            <a:off x="3512254" y="4467538"/>
            <a:ext cx="4030260" cy="343108"/>
          </a:xfrm>
          <a:prstGeom prst="rect">
            <a:avLst/>
          </a:prstGeom>
          <a:noFill/>
          <a:ln w="12700">
            <a:solidFill>
              <a:srgbClr val="102845"/>
            </a:solidFill>
          </a:ln>
        </p:spPr>
        <p:txBody>
          <a:bodyPr/>
          <a:lstStyle/>
          <a:p>
            <a:endParaRPr/>
          </a:p>
        </p:txBody>
      </p:sp>
      <p:sp>
        <p:nvSpPr>
          <p:cNvPr id="27" name="Rect 27">
            <a:extLst>
              <a:ext uri="{FF2B5EF4-FFF2-40B4-BE49-F238E27FC236}">
                <a16:creationId xmlns:a16="http://schemas.microsoft.com/office/drawing/2014/main" id="{CF448C25-5BE8-D0C4-540F-FDF0CA3FD5FD}"/>
              </a:ext>
            </a:extLst>
          </p:cNvPr>
          <p:cNvSpPr>
            <a:spLocks noGrp="1"/>
          </p:cNvSpPr>
          <p:nvPr/>
        </p:nvSpPr>
        <p:spPr>
          <a:xfrm>
            <a:off x="3512254" y="6183080"/>
            <a:ext cx="4030260" cy="332386"/>
          </a:xfrm>
          <a:prstGeom prst="rect">
            <a:avLst/>
          </a:prstGeom>
          <a:noFill/>
          <a:ln w="12700">
            <a:solidFill>
              <a:srgbClr val="7D9ED0"/>
            </a:solidFill>
          </a:ln>
        </p:spPr>
        <p:txBody>
          <a:bodyPr/>
          <a:lstStyle/>
          <a:p>
            <a:endParaRPr/>
          </a:p>
        </p:txBody>
      </p:sp>
      <p:sp>
        <p:nvSpPr>
          <p:cNvPr id="28" name="Line 28">
            <a:extLst>
              <a:ext uri="{FF2B5EF4-FFF2-40B4-BE49-F238E27FC236}">
                <a16:creationId xmlns:a16="http://schemas.microsoft.com/office/drawing/2014/main" id="{4FB2D34D-456D-645F-C9A7-CC12C00993A0}"/>
              </a:ext>
            </a:extLst>
          </p:cNvPr>
          <p:cNvSpPr>
            <a:spLocks noGrp="1"/>
          </p:cNvSpPr>
          <p:nvPr/>
        </p:nvSpPr>
        <p:spPr>
          <a:xfrm>
            <a:off x="4508498" y="4467538"/>
            <a:ext cx="0" cy="1715542"/>
          </a:xfrm>
          <a:prstGeom prst="line">
            <a:avLst/>
          </a:prstGeom>
          <a:noFill/>
          <a:ln w="10160">
            <a:solidFill>
              <a:srgbClr val="066600"/>
            </a:solidFill>
          </a:ln>
        </p:spPr>
        <p:txBody>
          <a:bodyPr/>
          <a:lstStyle/>
          <a:p>
            <a:endParaRPr/>
          </a:p>
        </p:txBody>
      </p:sp>
      <p:sp>
        <p:nvSpPr>
          <p:cNvPr id="29" name="Line 29">
            <a:extLst>
              <a:ext uri="{FF2B5EF4-FFF2-40B4-BE49-F238E27FC236}">
                <a16:creationId xmlns:a16="http://schemas.microsoft.com/office/drawing/2014/main" id="{7A4A67F6-886B-654C-BE46-04F48186FEF7}"/>
              </a:ext>
            </a:extLst>
          </p:cNvPr>
          <p:cNvSpPr>
            <a:spLocks noGrp="1"/>
          </p:cNvSpPr>
          <p:nvPr/>
        </p:nvSpPr>
        <p:spPr>
          <a:xfrm>
            <a:off x="5984750" y="4467538"/>
            <a:ext cx="0" cy="1715542"/>
          </a:xfrm>
          <a:prstGeom prst="line">
            <a:avLst/>
          </a:prstGeom>
          <a:noFill/>
          <a:ln w="10160">
            <a:solidFill>
              <a:srgbClr val="066600"/>
            </a:solidFill>
          </a:ln>
        </p:spPr>
        <p:txBody>
          <a:bodyPr/>
          <a:lstStyle/>
          <a:p>
            <a:endParaRPr/>
          </a:p>
        </p:txBody>
      </p:sp>
      <p:sp>
        <p:nvSpPr>
          <p:cNvPr id="30" name="Line 30">
            <a:extLst>
              <a:ext uri="{FF2B5EF4-FFF2-40B4-BE49-F238E27FC236}">
                <a16:creationId xmlns:a16="http://schemas.microsoft.com/office/drawing/2014/main" id="{FD516BF9-8E57-9F4F-3C14-717A44BE1D9A}"/>
              </a:ext>
            </a:extLst>
          </p:cNvPr>
          <p:cNvSpPr>
            <a:spLocks noGrp="1"/>
          </p:cNvSpPr>
          <p:nvPr/>
        </p:nvSpPr>
        <p:spPr>
          <a:xfrm>
            <a:off x="3512254" y="4810646"/>
            <a:ext cx="4030260" cy="0"/>
          </a:xfrm>
          <a:prstGeom prst="line">
            <a:avLst/>
          </a:prstGeom>
          <a:noFill/>
          <a:ln w="10160">
            <a:solidFill>
              <a:srgbClr val="077700"/>
            </a:solidFill>
          </a:ln>
        </p:spPr>
        <p:txBody>
          <a:bodyPr/>
          <a:lstStyle/>
          <a:p>
            <a:endParaRPr/>
          </a:p>
        </p:txBody>
      </p:sp>
      <p:sp>
        <p:nvSpPr>
          <p:cNvPr id="31" name="Line 31">
            <a:extLst>
              <a:ext uri="{FF2B5EF4-FFF2-40B4-BE49-F238E27FC236}">
                <a16:creationId xmlns:a16="http://schemas.microsoft.com/office/drawing/2014/main" id="{7DAE85CB-834B-0E02-B09C-43D316166144}"/>
              </a:ext>
            </a:extLst>
          </p:cNvPr>
          <p:cNvSpPr>
            <a:spLocks noGrp="1"/>
          </p:cNvSpPr>
          <p:nvPr/>
        </p:nvSpPr>
        <p:spPr>
          <a:xfrm>
            <a:off x="3512254" y="5153755"/>
            <a:ext cx="4030260" cy="0"/>
          </a:xfrm>
          <a:prstGeom prst="line">
            <a:avLst/>
          </a:prstGeom>
          <a:noFill/>
          <a:ln w="10160">
            <a:solidFill>
              <a:srgbClr val="077700"/>
            </a:solidFill>
          </a:ln>
        </p:spPr>
        <p:txBody>
          <a:bodyPr/>
          <a:lstStyle/>
          <a:p>
            <a:endParaRPr/>
          </a:p>
        </p:txBody>
      </p:sp>
      <p:sp>
        <p:nvSpPr>
          <p:cNvPr id="32" name="Line 32">
            <a:extLst>
              <a:ext uri="{FF2B5EF4-FFF2-40B4-BE49-F238E27FC236}">
                <a16:creationId xmlns:a16="http://schemas.microsoft.com/office/drawing/2014/main" id="{101AAB11-D2CF-B02C-BD58-3B8444C1985E}"/>
              </a:ext>
            </a:extLst>
          </p:cNvPr>
          <p:cNvSpPr>
            <a:spLocks noGrp="1"/>
          </p:cNvSpPr>
          <p:nvPr/>
        </p:nvSpPr>
        <p:spPr>
          <a:xfrm>
            <a:off x="3512254" y="5496863"/>
            <a:ext cx="4030260" cy="0"/>
          </a:xfrm>
          <a:prstGeom prst="line">
            <a:avLst/>
          </a:prstGeom>
          <a:noFill/>
          <a:ln w="10160">
            <a:solidFill>
              <a:srgbClr val="077700"/>
            </a:solidFill>
          </a:ln>
        </p:spPr>
        <p:txBody>
          <a:bodyPr/>
          <a:lstStyle/>
          <a:p>
            <a:endParaRPr/>
          </a:p>
        </p:txBody>
      </p:sp>
      <p:sp>
        <p:nvSpPr>
          <p:cNvPr id="33" name="Line 33">
            <a:extLst>
              <a:ext uri="{FF2B5EF4-FFF2-40B4-BE49-F238E27FC236}">
                <a16:creationId xmlns:a16="http://schemas.microsoft.com/office/drawing/2014/main" id="{A053273E-A7D8-DCDE-67A9-1F8BE1B2E0C2}"/>
              </a:ext>
            </a:extLst>
          </p:cNvPr>
          <p:cNvSpPr>
            <a:spLocks noGrp="1"/>
          </p:cNvSpPr>
          <p:nvPr/>
        </p:nvSpPr>
        <p:spPr>
          <a:xfrm>
            <a:off x="3512254" y="5839971"/>
            <a:ext cx="4030260" cy="0"/>
          </a:xfrm>
          <a:prstGeom prst="line">
            <a:avLst/>
          </a:prstGeom>
          <a:noFill/>
          <a:ln w="10160">
            <a:solidFill>
              <a:srgbClr val="077700"/>
            </a:solidFill>
          </a:ln>
        </p:spPr>
        <p:txBody>
          <a:bodyPr/>
          <a:lstStyle/>
          <a:p>
            <a:endParaRPr/>
          </a:p>
        </p:txBody>
      </p:sp>
      <p:sp>
        <p:nvSpPr>
          <p:cNvPr id="105" name="TextBox 105">
            <a:extLst>
              <a:ext uri="{FF2B5EF4-FFF2-40B4-BE49-F238E27FC236}">
                <a16:creationId xmlns:a16="http://schemas.microsoft.com/office/drawing/2014/main" id="{E740019B-79CB-5E1C-9B22-2F37F7F7B5F0}"/>
              </a:ext>
            </a:extLst>
          </p:cNvPr>
          <p:cNvSpPr>
            <a:spLocks noGrp="1"/>
          </p:cNvSpPr>
          <p:nvPr/>
        </p:nvSpPr>
        <p:spPr>
          <a:xfrm>
            <a:off x="3530367" y="4488983"/>
            <a:ext cx="96001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Bin</a:t>
            </a:r>
            <a:endParaRPr sz="800" b="1"/>
          </a:p>
        </p:txBody>
      </p:sp>
      <p:sp>
        <p:nvSpPr>
          <p:cNvPr id="106" name="TextBox 106">
            <a:extLst>
              <a:ext uri="{FF2B5EF4-FFF2-40B4-BE49-F238E27FC236}">
                <a16:creationId xmlns:a16="http://schemas.microsoft.com/office/drawing/2014/main" id="{C11EA22D-A1EA-B95B-FB8B-4BB7D915831A}"/>
              </a:ext>
            </a:extLst>
          </p:cNvPr>
          <p:cNvSpPr>
            <a:spLocks noGrp="1"/>
          </p:cNvSpPr>
          <p:nvPr/>
        </p:nvSpPr>
        <p:spPr>
          <a:xfrm>
            <a:off x="4526611" y="4488983"/>
            <a:ext cx="144002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main track count</a:t>
            </a:r>
            <a:endParaRPr sz="800" b="1"/>
          </a:p>
          <a:p>
            <a:pPr algn="ctr">
              <a:buNone/>
            </a:pPr>
            <a:r>
              <a:rPr sz="800" b="1">
                <a:latin typeface="Arial"/>
                <a:ea typeface="Arial"/>
                <a:cs typeface="Arial"/>
              </a:rPr>
              <a:t>(n_b)</a:t>
            </a:r>
            <a:endParaRPr sz="800" b="1"/>
          </a:p>
        </p:txBody>
      </p:sp>
      <p:sp>
        <p:nvSpPr>
          <p:cNvPr id="107" name="TextBox 107">
            <a:extLst>
              <a:ext uri="{FF2B5EF4-FFF2-40B4-BE49-F238E27FC236}">
                <a16:creationId xmlns:a16="http://schemas.microsoft.com/office/drawing/2014/main" id="{E86E935C-2AE8-A0D0-0C3E-3D394A8FF68E}"/>
              </a:ext>
            </a:extLst>
          </p:cNvPr>
          <p:cNvSpPr>
            <a:spLocks noGrp="1"/>
          </p:cNvSpPr>
          <p:nvPr/>
        </p:nvSpPr>
        <p:spPr>
          <a:xfrm>
            <a:off x="6002863" y="4488983"/>
            <a:ext cx="1521536" cy="300220"/>
          </a:xfrm>
          <a:prstGeom prst="rect">
            <a:avLst/>
          </a:prstGeom>
          <a:noFill/>
          <a:ln>
            <a:noFill/>
          </a:ln>
        </p:spPr>
        <p:txBody>
          <a:bodyPr wrap="none" lIns="0" tIns="0" rIns="0" bIns="0" anchor="ctr">
            <a:noAutofit/>
          </a:bodyPr>
          <a:lstStyle/>
          <a:p>
            <a:pPr algn="ctr">
              <a:buNone/>
            </a:pPr>
            <a:r>
              <a:rPr sz="800" b="1">
                <a:latin typeface="Arial"/>
                <a:ea typeface="Arial"/>
                <a:cs typeface="Arial"/>
              </a:rPr>
              <a:t>track-miles</a:t>
            </a:r>
            <a:endParaRPr sz="800" b="1"/>
          </a:p>
          <a:p>
            <a:pPr algn="ctr">
              <a:buNone/>
            </a:pPr>
            <a:r>
              <a:rPr sz="800" b="1">
                <a:latin typeface="Arial"/>
                <a:ea typeface="Arial"/>
                <a:cs typeface="Arial"/>
              </a:rPr>
              <a:t>(n_b × 0.25 mile)</a:t>
            </a:r>
            <a:endParaRPr sz="800" b="1"/>
          </a:p>
        </p:txBody>
      </p:sp>
      <p:sp>
        <p:nvSpPr>
          <p:cNvPr id="108" name="TextBox 108">
            <a:extLst>
              <a:ext uri="{FF2B5EF4-FFF2-40B4-BE49-F238E27FC236}">
                <a16:creationId xmlns:a16="http://schemas.microsoft.com/office/drawing/2014/main" id="{42482D28-C052-8FB8-BD2D-0269A86065E8}"/>
              </a:ext>
            </a:extLst>
          </p:cNvPr>
          <p:cNvSpPr>
            <a:spLocks noGrp="1"/>
          </p:cNvSpPr>
          <p:nvPr/>
        </p:nvSpPr>
        <p:spPr>
          <a:xfrm>
            <a:off x="3530367" y="4832090"/>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1</a:t>
            </a:r>
            <a:endParaRPr sz="900"/>
          </a:p>
        </p:txBody>
      </p:sp>
      <p:sp>
        <p:nvSpPr>
          <p:cNvPr id="109" name="TextBox 109">
            <a:extLst>
              <a:ext uri="{FF2B5EF4-FFF2-40B4-BE49-F238E27FC236}">
                <a16:creationId xmlns:a16="http://schemas.microsoft.com/office/drawing/2014/main" id="{0E8C407F-6DDF-037B-C656-C5647DCC2D0D}"/>
              </a:ext>
            </a:extLst>
          </p:cNvPr>
          <p:cNvSpPr>
            <a:spLocks noGrp="1"/>
          </p:cNvSpPr>
          <p:nvPr/>
        </p:nvSpPr>
        <p:spPr>
          <a:xfrm>
            <a:off x="4526611" y="4832090"/>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0" name="TextBox 110">
            <a:extLst>
              <a:ext uri="{FF2B5EF4-FFF2-40B4-BE49-F238E27FC236}">
                <a16:creationId xmlns:a16="http://schemas.microsoft.com/office/drawing/2014/main" id="{5B2EDC37-588A-081C-61CB-9AF6697846EE}"/>
              </a:ext>
            </a:extLst>
          </p:cNvPr>
          <p:cNvSpPr>
            <a:spLocks noGrp="1"/>
          </p:cNvSpPr>
          <p:nvPr/>
        </p:nvSpPr>
        <p:spPr>
          <a:xfrm>
            <a:off x="6002863" y="4832090"/>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11" name="TextBox 111">
            <a:extLst>
              <a:ext uri="{FF2B5EF4-FFF2-40B4-BE49-F238E27FC236}">
                <a16:creationId xmlns:a16="http://schemas.microsoft.com/office/drawing/2014/main" id="{9CDD178B-8258-A56E-75B7-672BE1935124}"/>
              </a:ext>
            </a:extLst>
          </p:cNvPr>
          <p:cNvSpPr>
            <a:spLocks noGrp="1"/>
          </p:cNvSpPr>
          <p:nvPr/>
        </p:nvSpPr>
        <p:spPr>
          <a:xfrm>
            <a:off x="3530367" y="5175199"/>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2</a:t>
            </a:r>
            <a:endParaRPr sz="900"/>
          </a:p>
        </p:txBody>
      </p:sp>
      <p:sp>
        <p:nvSpPr>
          <p:cNvPr id="112" name="TextBox 112">
            <a:extLst>
              <a:ext uri="{FF2B5EF4-FFF2-40B4-BE49-F238E27FC236}">
                <a16:creationId xmlns:a16="http://schemas.microsoft.com/office/drawing/2014/main" id="{73A7986D-A111-7BC7-7148-5F3058EE3413}"/>
              </a:ext>
            </a:extLst>
          </p:cNvPr>
          <p:cNvSpPr>
            <a:spLocks noGrp="1"/>
          </p:cNvSpPr>
          <p:nvPr/>
        </p:nvSpPr>
        <p:spPr>
          <a:xfrm>
            <a:off x="4526611" y="5175199"/>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3" name="TextBox 113">
            <a:extLst>
              <a:ext uri="{FF2B5EF4-FFF2-40B4-BE49-F238E27FC236}">
                <a16:creationId xmlns:a16="http://schemas.microsoft.com/office/drawing/2014/main" id="{8C1E59C6-FAC2-3468-9684-6C39AC000CFD}"/>
              </a:ext>
            </a:extLst>
          </p:cNvPr>
          <p:cNvSpPr>
            <a:spLocks noGrp="1"/>
          </p:cNvSpPr>
          <p:nvPr/>
        </p:nvSpPr>
        <p:spPr>
          <a:xfrm>
            <a:off x="6002863" y="5175199"/>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14" name="TextBox 114">
            <a:extLst>
              <a:ext uri="{FF2B5EF4-FFF2-40B4-BE49-F238E27FC236}">
                <a16:creationId xmlns:a16="http://schemas.microsoft.com/office/drawing/2014/main" id="{720FC237-7271-67CB-95E2-5A6494ADF513}"/>
              </a:ext>
            </a:extLst>
          </p:cNvPr>
          <p:cNvSpPr>
            <a:spLocks noGrp="1"/>
          </p:cNvSpPr>
          <p:nvPr/>
        </p:nvSpPr>
        <p:spPr>
          <a:xfrm>
            <a:off x="3530367" y="5518308"/>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3</a:t>
            </a:r>
            <a:endParaRPr sz="900"/>
          </a:p>
        </p:txBody>
      </p:sp>
      <p:sp>
        <p:nvSpPr>
          <p:cNvPr id="115" name="TextBox 115">
            <a:extLst>
              <a:ext uri="{FF2B5EF4-FFF2-40B4-BE49-F238E27FC236}">
                <a16:creationId xmlns:a16="http://schemas.microsoft.com/office/drawing/2014/main" id="{CE9A16DE-B9FD-5D98-7ADC-7FFB1150AAD6}"/>
              </a:ext>
            </a:extLst>
          </p:cNvPr>
          <p:cNvSpPr>
            <a:spLocks noGrp="1"/>
          </p:cNvSpPr>
          <p:nvPr/>
        </p:nvSpPr>
        <p:spPr>
          <a:xfrm>
            <a:off x="4526611" y="5518308"/>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6" name="TextBox 116">
            <a:extLst>
              <a:ext uri="{FF2B5EF4-FFF2-40B4-BE49-F238E27FC236}">
                <a16:creationId xmlns:a16="http://schemas.microsoft.com/office/drawing/2014/main" id="{2C4939C5-3F35-EDF3-14C1-C30C607F3449}"/>
              </a:ext>
            </a:extLst>
          </p:cNvPr>
          <p:cNvSpPr>
            <a:spLocks noGrp="1"/>
          </p:cNvSpPr>
          <p:nvPr/>
        </p:nvSpPr>
        <p:spPr>
          <a:xfrm>
            <a:off x="6002863" y="5518308"/>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0.25</a:t>
            </a:r>
            <a:endParaRPr sz="1050"/>
          </a:p>
        </p:txBody>
      </p:sp>
      <p:sp>
        <p:nvSpPr>
          <p:cNvPr id="117" name="TextBox 117">
            <a:extLst>
              <a:ext uri="{FF2B5EF4-FFF2-40B4-BE49-F238E27FC236}">
                <a16:creationId xmlns:a16="http://schemas.microsoft.com/office/drawing/2014/main" id="{AB5F8F20-99E0-DD16-32B9-33284D45514B}"/>
              </a:ext>
            </a:extLst>
          </p:cNvPr>
          <p:cNvSpPr>
            <a:spLocks noGrp="1"/>
          </p:cNvSpPr>
          <p:nvPr/>
        </p:nvSpPr>
        <p:spPr>
          <a:xfrm>
            <a:off x="3530367" y="5861415"/>
            <a:ext cx="960016" cy="300220"/>
          </a:xfrm>
          <a:prstGeom prst="rect">
            <a:avLst/>
          </a:prstGeom>
          <a:noFill/>
          <a:ln>
            <a:noFill/>
          </a:ln>
        </p:spPr>
        <p:txBody>
          <a:bodyPr wrap="none" lIns="0" tIns="0" rIns="0" bIns="0" anchor="ctr">
            <a:noAutofit/>
          </a:bodyPr>
          <a:lstStyle/>
          <a:p>
            <a:pPr algn="ctr">
              <a:buNone/>
            </a:pPr>
            <a:r>
              <a:rPr sz="900" b="1">
                <a:latin typeface="Arial"/>
                <a:ea typeface="Arial"/>
                <a:cs typeface="Arial"/>
              </a:rPr>
              <a:t>Bin 4</a:t>
            </a:r>
            <a:endParaRPr sz="900"/>
          </a:p>
        </p:txBody>
      </p:sp>
      <p:sp>
        <p:nvSpPr>
          <p:cNvPr id="118" name="TextBox 118">
            <a:extLst>
              <a:ext uri="{FF2B5EF4-FFF2-40B4-BE49-F238E27FC236}">
                <a16:creationId xmlns:a16="http://schemas.microsoft.com/office/drawing/2014/main" id="{6D718C31-1E96-F7AA-2789-5EDCCECA7E8A}"/>
              </a:ext>
            </a:extLst>
          </p:cNvPr>
          <p:cNvSpPr>
            <a:spLocks noGrp="1"/>
          </p:cNvSpPr>
          <p:nvPr/>
        </p:nvSpPr>
        <p:spPr>
          <a:xfrm>
            <a:off x="4526611" y="5861415"/>
            <a:ext cx="1440026" cy="300220"/>
          </a:xfrm>
          <a:prstGeom prst="rect">
            <a:avLst/>
          </a:prstGeom>
          <a:noFill/>
          <a:ln>
            <a:noFill/>
          </a:ln>
        </p:spPr>
        <p:txBody>
          <a:bodyPr wrap="none" lIns="0" tIns="0" rIns="0" bIns="0" anchor="ctr">
            <a:noAutofit/>
          </a:bodyPr>
          <a:lstStyle/>
          <a:p>
            <a:pPr algn="ctr">
              <a:buNone/>
            </a:pPr>
            <a:r>
              <a:rPr sz="1050">
                <a:latin typeface="Arial"/>
                <a:ea typeface="Arial"/>
                <a:cs typeface="Arial"/>
              </a:rPr>
              <a:t>2</a:t>
            </a:r>
            <a:endParaRPr sz="1050"/>
          </a:p>
        </p:txBody>
      </p:sp>
      <p:sp>
        <p:nvSpPr>
          <p:cNvPr id="119" name="TextBox 119">
            <a:extLst>
              <a:ext uri="{FF2B5EF4-FFF2-40B4-BE49-F238E27FC236}">
                <a16:creationId xmlns:a16="http://schemas.microsoft.com/office/drawing/2014/main" id="{C8B9E347-D96D-C391-CBC4-D382B01A1B21}"/>
              </a:ext>
            </a:extLst>
          </p:cNvPr>
          <p:cNvSpPr>
            <a:spLocks noGrp="1"/>
          </p:cNvSpPr>
          <p:nvPr/>
        </p:nvSpPr>
        <p:spPr>
          <a:xfrm>
            <a:off x="6002863" y="5861415"/>
            <a:ext cx="1521536" cy="300220"/>
          </a:xfrm>
          <a:prstGeom prst="rect">
            <a:avLst/>
          </a:prstGeom>
          <a:noFill/>
          <a:ln>
            <a:noFill/>
          </a:ln>
        </p:spPr>
        <p:txBody>
          <a:bodyPr wrap="none" lIns="0" tIns="0" rIns="0" bIns="0" anchor="ctr">
            <a:noAutofit/>
          </a:bodyPr>
          <a:lstStyle/>
          <a:p>
            <a:pPr algn="ctr">
              <a:buNone/>
            </a:pPr>
            <a:r>
              <a:rPr sz="1050">
                <a:latin typeface="Arial"/>
                <a:ea typeface="Arial"/>
                <a:cs typeface="Arial"/>
              </a:rPr>
              <a:t>0.50</a:t>
            </a:r>
            <a:endParaRPr sz="1050"/>
          </a:p>
        </p:txBody>
      </p:sp>
      <p:sp>
        <p:nvSpPr>
          <p:cNvPr id="120" name="TextBox 120">
            <a:extLst>
              <a:ext uri="{FF2B5EF4-FFF2-40B4-BE49-F238E27FC236}">
                <a16:creationId xmlns:a16="http://schemas.microsoft.com/office/drawing/2014/main" id="{463EFED4-98FE-B9A6-C134-03654AEE5C29}"/>
              </a:ext>
            </a:extLst>
          </p:cNvPr>
          <p:cNvSpPr>
            <a:spLocks noGrp="1"/>
          </p:cNvSpPr>
          <p:nvPr/>
        </p:nvSpPr>
        <p:spPr>
          <a:xfrm>
            <a:off x="3512254" y="6204524"/>
            <a:ext cx="4030260" cy="268053"/>
          </a:xfrm>
          <a:prstGeom prst="rect">
            <a:avLst/>
          </a:prstGeom>
          <a:noFill/>
          <a:ln>
            <a:noFill/>
          </a:ln>
        </p:spPr>
        <p:txBody>
          <a:bodyPr wrap="none" lIns="0" tIns="0" rIns="0" bIns="0" anchor="ctr">
            <a:noAutofit/>
          </a:bodyPr>
          <a:lstStyle/>
          <a:p>
            <a:pPr algn="ctr">
              <a:buNone/>
            </a:pPr>
            <a:r>
              <a:rPr sz="1150" b="1">
                <a:latin typeface="Arial"/>
                <a:ea typeface="Arial"/>
                <a:cs typeface="Arial"/>
              </a:rPr>
              <a:t>Total = 2 track-miles</a:t>
            </a:r>
            <a:endParaRPr sz="1150"/>
          </a:p>
        </p:txBody>
      </p:sp>
      <p:sp>
        <p:nvSpPr>
          <p:cNvPr id="2" name="Line 43">
            <a:extLst>
              <a:ext uri="{FF2B5EF4-FFF2-40B4-BE49-F238E27FC236}">
                <a16:creationId xmlns:a16="http://schemas.microsoft.com/office/drawing/2014/main" id="{0DF884A1-ED6F-DA87-8298-50F2E64008FB}"/>
              </a:ext>
            </a:extLst>
          </p:cNvPr>
          <p:cNvSpPr>
            <a:spLocks noGrp="1"/>
          </p:cNvSpPr>
          <p:nvPr/>
        </p:nvSpPr>
        <p:spPr>
          <a:xfrm>
            <a:off x="8398853" y="3248132"/>
            <a:ext cx="1596070" cy="0"/>
          </a:xfrm>
          <a:prstGeom prst="line">
            <a:avLst/>
          </a:prstGeom>
          <a:noFill/>
          <a:ln w="38100">
            <a:solidFill>
              <a:srgbClr val="111111"/>
            </a:solidFill>
          </a:ln>
        </p:spPr>
        <p:txBody>
          <a:bodyPr/>
          <a:lstStyle/>
          <a:p>
            <a:endParaRPr/>
          </a:p>
        </p:txBody>
      </p:sp>
      <p:sp>
        <p:nvSpPr>
          <p:cNvPr id="3" name="Line 45">
            <a:extLst>
              <a:ext uri="{FF2B5EF4-FFF2-40B4-BE49-F238E27FC236}">
                <a16:creationId xmlns:a16="http://schemas.microsoft.com/office/drawing/2014/main" id="{FED9FDB1-A081-F631-11E9-61506A45FF33}"/>
              </a:ext>
            </a:extLst>
          </p:cNvPr>
          <p:cNvSpPr>
            <a:spLocks noGrp="1"/>
          </p:cNvSpPr>
          <p:nvPr/>
        </p:nvSpPr>
        <p:spPr>
          <a:xfrm flipH="1">
            <a:off x="9025619" y="2948644"/>
            <a:ext cx="240504" cy="268026"/>
          </a:xfrm>
          <a:prstGeom prst="line">
            <a:avLst/>
          </a:prstGeom>
          <a:noFill/>
          <a:ln w="25400">
            <a:solidFill>
              <a:srgbClr val="077700"/>
            </a:solidFill>
            <a:prstDash val="dash"/>
          </a:ln>
        </p:spPr>
        <p:txBody>
          <a:bodyPr/>
          <a:lstStyle/>
          <a:p>
            <a:endParaRPr/>
          </a:p>
        </p:txBody>
      </p:sp>
    </p:spTree>
    <p:extLst>
      <p:ext uri="{BB962C8B-B14F-4D97-AF65-F5344CB8AC3E}">
        <p14:creationId xmlns:p14="http://schemas.microsoft.com/office/powerpoint/2010/main" val="471815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C373167-B342-486E-872E-69711FE4CD8E}"/>
              </a:ext>
            </a:extLst>
          </p:cNvPr>
          <p:cNvSpPr>
            <a:spLocks noGrp="1"/>
          </p:cNvSpPr>
          <p:nvPr/>
        </p:nvSpPr>
        <p:spPr>
          <a:xfrm>
            <a:off x="502920" y="310896"/>
            <a:ext cx="11155680" cy="566928"/>
          </a:xfrm>
          <a:prstGeom prst="rect">
            <a:avLst/>
          </a:prstGeom>
          <a:noFill/>
        </p:spPr>
        <p:txBody>
          <a:bodyPr wrap="square" lIns="0" tIns="0" rIns="0" bIns="0" anchor="ctr"/>
          <a:lstStyle/>
          <a:p>
            <a:pPr marL="0" indent="0">
              <a:buNone/>
            </a:pPr>
            <a:r>
              <a:rPr sz="3200" b="1">
                <a:latin typeface="Cambria"/>
                <a:ea typeface="Cambria"/>
                <a:cs typeface="Cambria"/>
              </a:rPr>
              <a:t>How the track count is now established</a:t>
            </a:r>
            <a:endParaRPr sz="3200"/>
          </a:p>
        </p:txBody>
      </p:sp>
      <p:sp>
        <p:nvSpPr>
          <p:cNvPr id="3" name="Text 1">
            <a:extLst>
              <a:ext uri="{FF2B5EF4-FFF2-40B4-BE49-F238E27FC236}">
                <a16:creationId xmlns:a16="http://schemas.microsoft.com/office/drawing/2014/main" id="{29CBF6CB-FC43-4915-8428-E42AB78C8899}"/>
              </a:ext>
            </a:extLst>
          </p:cNvPr>
          <p:cNvSpPr>
            <a:spLocks noGrp="1"/>
          </p:cNvSpPr>
          <p:nvPr/>
        </p:nvSpPr>
        <p:spPr>
          <a:xfrm>
            <a:off x="502920" y="914400"/>
            <a:ext cx="11155680" cy="310896"/>
          </a:xfrm>
          <a:prstGeom prst="rect">
            <a:avLst/>
          </a:prstGeom>
          <a:noFill/>
        </p:spPr>
        <p:txBody>
          <a:bodyPr wrap="square" lIns="0" tIns="0" rIns="0" bIns="0" anchor="ctr"/>
          <a:lstStyle/>
          <a:p>
            <a:pPr marL="0" indent="0">
              <a:buNone/>
            </a:pPr>
            <a:r>
              <a:rPr sz="1400">
                <a:latin typeface="Calibri"/>
                <a:ea typeface="Calibri"/>
                <a:cs typeface="Calibri"/>
              </a:rPr>
              <a:t>Four independent sources reconciled per 0.25-mile bin, with continuity bridging between observations</a:t>
            </a:r>
            <a:endParaRPr sz="1400"/>
          </a:p>
        </p:txBody>
      </p:sp>
      <p:sp>
        <p:nvSpPr>
          <p:cNvPr id="4" name="Shape 2">
            <a:extLst>
              <a:ext uri="{FF2B5EF4-FFF2-40B4-BE49-F238E27FC236}">
                <a16:creationId xmlns:a16="http://schemas.microsoft.com/office/drawing/2014/main" id="{B98B76AD-AE8D-49CC-AA3C-8B27EAA1C98E}"/>
              </a:ext>
            </a:extLst>
          </p:cNvPr>
          <p:cNvSpPr>
            <a:spLocks noGrp="1"/>
          </p:cNvSpPr>
          <p:nvPr/>
        </p:nvSpPr>
        <p:spPr>
          <a:xfrm>
            <a:off x="502920" y="1481328"/>
            <a:ext cx="4709160" cy="676656"/>
          </a:xfrm>
          <a:prstGeom prst="roundRect">
            <a:avLst>
              <a:gd name="adj" fmla="val 6757"/>
            </a:avLst>
          </a:prstGeom>
          <a:solidFill>
            <a:srgbClr val="EDF1F4"/>
          </a:solidFill>
          <a:ln w="12700">
            <a:solidFill>
              <a:srgbClr val="D6DEE5"/>
            </a:solidFill>
            <a:prstDash val="solid"/>
          </a:ln>
        </p:spPr>
        <p:txBody>
          <a:bodyPr/>
          <a:lstStyle/>
          <a:p>
            <a:endParaRPr/>
          </a:p>
        </p:txBody>
      </p:sp>
      <p:sp>
        <p:nvSpPr>
          <p:cNvPr id="5" name="Text 3">
            <a:extLst>
              <a:ext uri="{FF2B5EF4-FFF2-40B4-BE49-F238E27FC236}">
                <a16:creationId xmlns:a16="http://schemas.microsoft.com/office/drawing/2014/main" id="{1065409D-E4BE-47B8-90C1-44D318C5B4E2}"/>
              </a:ext>
            </a:extLst>
          </p:cNvPr>
          <p:cNvSpPr>
            <a:spLocks noGrp="1"/>
          </p:cNvSpPr>
          <p:nvPr/>
        </p:nvSpPr>
        <p:spPr>
          <a:xfrm>
            <a:off x="685800" y="1545336"/>
            <a:ext cx="3063240" cy="237744"/>
          </a:xfrm>
          <a:prstGeom prst="rect">
            <a:avLst/>
          </a:prstGeom>
          <a:noFill/>
        </p:spPr>
        <p:txBody>
          <a:bodyPr wrap="square" lIns="0" tIns="0" rIns="0" bIns="0" anchor="ctr"/>
          <a:lstStyle/>
          <a:p>
            <a:pPr marL="0" indent="0">
              <a:buNone/>
            </a:pPr>
            <a:r>
              <a:rPr sz="1100" b="1">
                <a:latin typeface="Calibri"/>
                <a:ea typeface="Calibri"/>
                <a:cs typeface="Calibri"/>
              </a:rPr>
              <a:t>NTAD North American Rail Network</a:t>
            </a:r>
            <a:endParaRPr sz="1100"/>
          </a:p>
        </p:txBody>
      </p:sp>
      <p:sp>
        <p:nvSpPr>
          <p:cNvPr id="6" name="Text 4">
            <a:extLst>
              <a:ext uri="{FF2B5EF4-FFF2-40B4-BE49-F238E27FC236}">
                <a16:creationId xmlns:a16="http://schemas.microsoft.com/office/drawing/2014/main" id="{E31885F3-C560-4E18-AD53-AD731A6882F8}"/>
              </a:ext>
            </a:extLst>
          </p:cNvPr>
          <p:cNvSpPr>
            <a:spLocks noGrp="1"/>
          </p:cNvSpPr>
          <p:nvPr/>
        </p:nvSpPr>
        <p:spPr>
          <a:xfrm>
            <a:off x="685800" y="1764792"/>
            <a:ext cx="3063240" cy="347472"/>
          </a:xfrm>
          <a:prstGeom prst="rect">
            <a:avLst/>
          </a:prstGeom>
          <a:noFill/>
        </p:spPr>
        <p:txBody>
          <a:bodyPr wrap="square" lIns="0" tIns="0" rIns="0" bIns="0" anchor="ctr"/>
          <a:lstStyle/>
          <a:p>
            <a:pPr marL="0" indent="0">
              <a:buNone/>
            </a:pPr>
            <a:r>
              <a:rPr sz="850">
                <a:latin typeface="Calibri"/>
                <a:ea typeface="Calibri"/>
                <a:cs typeface="Calibri"/>
              </a:rPr>
              <a:t>TRACKS + NET + SUBDIV per arc</a:t>
            </a:r>
            <a:endParaRPr sz="850"/>
          </a:p>
          <a:p>
            <a:pPr marL="0" indent="0">
              <a:buNone/>
            </a:pPr>
            <a:r>
              <a:rPr sz="850">
                <a:latin typeface="Calibri"/>
                <a:ea typeface="Calibri"/>
                <a:cs typeface="Calibri"/>
              </a:rPr>
              <a:t>1,493 arcs on corridor</a:t>
            </a:r>
            <a:endParaRPr sz="850"/>
          </a:p>
        </p:txBody>
      </p:sp>
      <p:sp>
        <p:nvSpPr>
          <p:cNvPr id="7" name="Text 5">
            <a:extLst>
              <a:ext uri="{FF2B5EF4-FFF2-40B4-BE49-F238E27FC236}">
                <a16:creationId xmlns:a16="http://schemas.microsoft.com/office/drawing/2014/main" id="{47B26977-C23D-44D4-A1EB-B1AE0C88031C}"/>
              </a:ext>
            </a:extLst>
          </p:cNvPr>
          <p:cNvSpPr>
            <a:spLocks noGrp="1"/>
          </p:cNvSpPr>
          <p:nvPr/>
        </p:nvSpPr>
        <p:spPr>
          <a:xfrm>
            <a:off x="3749040" y="1691640"/>
            <a:ext cx="1325880" cy="274320"/>
          </a:xfrm>
          <a:prstGeom prst="rect">
            <a:avLst/>
          </a:prstGeom>
          <a:noFill/>
        </p:spPr>
        <p:txBody>
          <a:bodyPr wrap="square" lIns="0" tIns="0" rIns="0" bIns="0" anchor="ctr"/>
          <a:lstStyle/>
          <a:p>
            <a:pPr marL="0" indent="0" algn="r">
              <a:buNone/>
            </a:pPr>
            <a:r>
              <a:rPr sz="950" b="1">
                <a:latin typeface="Calibri"/>
                <a:ea typeface="Calibri"/>
                <a:cs typeface="Calibri"/>
              </a:rPr>
              <a:t>sets 8,020 bins</a:t>
            </a:r>
            <a:endParaRPr sz="950"/>
          </a:p>
        </p:txBody>
      </p:sp>
      <p:sp>
        <p:nvSpPr>
          <p:cNvPr id="8" name="Shape 6">
            <a:extLst>
              <a:ext uri="{FF2B5EF4-FFF2-40B4-BE49-F238E27FC236}">
                <a16:creationId xmlns:a16="http://schemas.microsoft.com/office/drawing/2014/main" id="{1A8690CC-EC88-4B3C-AB21-62AA48EAF92A}"/>
              </a:ext>
            </a:extLst>
          </p:cNvPr>
          <p:cNvSpPr>
            <a:spLocks noGrp="1"/>
          </p:cNvSpPr>
          <p:nvPr/>
        </p:nvSpPr>
        <p:spPr>
          <a:xfrm>
            <a:off x="5212080" y="1819656"/>
            <a:ext cx="292608" cy="0"/>
          </a:xfrm>
          <a:prstGeom prst="line">
            <a:avLst/>
          </a:prstGeom>
          <a:noFill/>
          <a:ln w="15875">
            <a:solidFill>
              <a:srgbClr val="C3CED6"/>
            </a:solidFill>
            <a:prstDash val="solid"/>
          </a:ln>
        </p:spPr>
        <p:txBody>
          <a:bodyPr/>
          <a:lstStyle/>
          <a:p>
            <a:endParaRPr/>
          </a:p>
        </p:txBody>
      </p:sp>
      <p:sp>
        <p:nvSpPr>
          <p:cNvPr id="9" name="Shape 7">
            <a:extLst>
              <a:ext uri="{FF2B5EF4-FFF2-40B4-BE49-F238E27FC236}">
                <a16:creationId xmlns:a16="http://schemas.microsoft.com/office/drawing/2014/main" id="{7AD4F7C9-45EF-4E5B-954D-DBC86BB4220E}"/>
              </a:ext>
            </a:extLst>
          </p:cNvPr>
          <p:cNvSpPr>
            <a:spLocks noGrp="1"/>
          </p:cNvSpPr>
          <p:nvPr/>
        </p:nvSpPr>
        <p:spPr>
          <a:xfrm>
            <a:off x="502920" y="2267712"/>
            <a:ext cx="4709160" cy="676656"/>
          </a:xfrm>
          <a:prstGeom prst="roundRect">
            <a:avLst>
              <a:gd name="adj" fmla="val 6757"/>
            </a:avLst>
          </a:prstGeom>
          <a:solidFill>
            <a:srgbClr val="EDF1F4"/>
          </a:solidFill>
          <a:ln w="12700">
            <a:solidFill>
              <a:srgbClr val="D6DEE5"/>
            </a:solidFill>
            <a:prstDash val="solid"/>
          </a:ln>
        </p:spPr>
        <p:txBody>
          <a:bodyPr/>
          <a:lstStyle/>
          <a:p>
            <a:endParaRPr/>
          </a:p>
        </p:txBody>
      </p:sp>
      <p:sp>
        <p:nvSpPr>
          <p:cNvPr id="10" name="Text 8">
            <a:extLst>
              <a:ext uri="{FF2B5EF4-FFF2-40B4-BE49-F238E27FC236}">
                <a16:creationId xmlns:a16="http://schemas.microsoft.com/office/drawing/2014/main" id="{1889D688-D8B9-48B1-B5E3-A6DFC0A05CEC}"/>
              </a:ext>
            </a:extLst>
          </p:cNvPr>
          <p:cNvSpPr>
            <a:spLocks noGrp="1"/>
          </p:cNvSpPr>
          <p:nvPr/>
        </p:nvSpPr>
        <p:spPr>
          <a:xfrm>
            <a:off x="685800" y="2331720"/>
            <a:ext cx="3063240" cy="237744"/>
          </a:xfrm>
          <a:prstGeom prst="rect">
            <a:avLst/>
          </a:prstGeom>
          <a:noFill/>
        </p:spPr>
        <p:txBody>
          <a:bodyPr wrap="square" lIns="0" tIns="0" rIns="0" bIns="0" anchor="ctr"/>
          <a:lstStyle/>
          <a:p>
            <a:pPr marL="0" indent="0">
              <a:buNone/>
            </a:pPr>
            <a:r>
              <a:rPr sz="1100" b="1">
                <a:latin typeface="Calibri"/>
                <a:ea typeface="Calibri"/>
                <a:cs typeface="Calibri"/>
              </a:rPr>
              <a:t>FRA Grade Crossing Inventory</a:t>
            </a:r>
            <a:endParaRPr sz="1100"/>
          </a:p>
        </p:txBody>
      </p:sp>
      <p:sp>
        <p:nvSpPr>
          <p:cNvPr id="11" name="Text 9">
            <a:extLst>
              <a:ext uri="{FF2B5EF4-FFF2-40B4-BE49-F238E27FC236}">
                <a16:creationId xmlns:a16="http://schemas.microsoft.com/office/drawing/2014/main" id="{777A8F32-BF17-48E3-A5EF-F73F21276EE2}"/>
              </a:ext>
            </a:extLst>
          </p:cNvPr>
          <p:cNvSpPr>
            <a:spLocks noGrp="1"/>
          </p:cNvSpPr>
          <p:nvPr/>
        </p:nvSpPr>
        <p:spPr>
          <a:xfrm>
            <a:off x="685800" y="2551176"/>
            <a:ext cx="3063240" cy="347472"/>
          </a:xfrm>
          <a:prstGeom prst="rect">
            <a:avLst/>
          </a:prstGeom>
          <a:noFill/>
        </p:spPr>
        <p:txBody>
          <a:bodyPr wrap="square" lIns="0" tIns="0" rIns="0" bIns="0" anchor="ctr"/>
          <a:lstStyle/>
          <a:p>
            <a:pPr marL="0" indent="0">
              <a:buNone/>
            </a:pPr>
            <a:r>
              <a:rPr sz="850">
                <a:latin typeface="Calibri"/>
                <a:ea typeface="Calibri"/>
                <a:cs typeface="Calibri"/>
              </a:rPr>
              <a:t>Form 6180.71 main / siding / yard</a:t>
            </a:r>
            <a:endParaRPr sz="850"/>
          </a:p>
          <a:p>
            <a:pPr marL="0" indent="0">
              <a:buNone/>
            </a:pPr>
            <a:r>
              <a:rPr sz="850">
                <a:latin typeface="Calibri"/>
                <a:ea typeface="Calibri"/>
                <a:cs typeface="Calibri"/>
              </a:rPr>
              <a:t>2,027 BNSF crossings on corridor</a:t>
            </a:r>
            <a:endParaRPr sz="850"/>
          </a:p>
        </p:txBody>
      </p:sp>
      <p:sp>
        <p:nvSpPr>
          <p:cNvPr id="12" name="Text 10">
            <a:extLst>
              <a:ext uri="{FF2B5EF4-FFF2-40B4-BE49-F238E27FC236}">
                <a16:creationId xmlns:a16="http://schemas.microsoft.com/office/drawing/2014/main" id="{347D1B5B-C231-42C7-8872-C038AF07E612}"/>
              </a:ext>
            </a:extLst>
          </p:cNvPr>
          <p:cNvSpPr>
            <a:spLocks noGrp="1"/>
          </p:cNvSpPr>
          <p:nvPr/>
        </p:nvSpPr>
        <p:spPr>
          <a:xfrm>
            <a:off x="3749040" y="2478024"/>
            <a:ext cx="1325880" cy="274320"/>
          </a:xfrm>
          <a:prstGeom prst="rect">
            <a:avLst/>
          </a:prstGeom>
          <a:noFill/>
        </p:spPr>
        <p:txBody>
          <a:bodyPr wrap="square" lIns="0" tIns="0" rIns="0" bIns="0" anchor="ctr"/>
          <a:lstStyle/>
          <a:p>
            <a:pPr marL="0" indent="0" algn="r">
              <a:buNone/>
            </a:pPr>
            <a:r>
              <a:rPr sz="950" b="1">
                <a:latin typeface="Calibri"/>
                <a:ea typeface="Calibri"/>
                <a:cs typeface="Calibri"/>
              </a:rPr>
              <a:t>sets 322 bins</a:t>
            </a:r>
            <a:endParaRPr sz="950"/>
          </a:p>
        </p:txBody>
      </p:sp>
      <p:sp>
        <p:nvSpPr>
          <p:cNvPr id="13" name="Shape 11">
            <a:extLst>
              <a:ext uri="{FF2B5EF4-FFF2-40B4-BE49-F238E27FC236}">
                <a16:creationId xmlns:a16="http://schemas.microsoft.com/office/drawing/2014/main" id="{84D1E5FD-487C-43FA-BE6B-E5B213A847E9}"/>
              </a:ext>
            </a:extLst>
          </p:cNvPr>
          <p:cNvSpPr>
            <a:spLocks noGrp="1"/>
          </p:cNvSpPr>
          <p:nvPr/>
        </p:nvSpPr>
        <p:spPr>
          <a:xfrm>
            <a:off x="5212080" y="2606040"/>
            <a:ext cx="292608" cy="0"/>
          </a:xfrm>
          <a:prstGeom prst="line">
            <a:avLst/>
          </a:prstGeom>
          <a:noFill/>
          <a:ln w="15875">
            <a:solidFill>
              <a:srgbClr val="C3CED6"/>
            </a:solidFill>
            <a:prstDash val="solid"/>
          </a:ln>
        </p:spPr>
        <p:txBody>
          <a:bodyPr/>
          <a:lstStyle/>
          <a:p>
            <a:endParaRPr/>
          </a:p>
        </p:txBody>
      </p:sp>
      <p:sp>
        <p:nvSpPr>
          <p:cNvPr id="14" name="Shape 12">
            <a:extLst>
              <a:ext uri="{FF2B5EF4-FFF2-40B4-BE49-F238E27FC236}">
                <a16:creationId xmlns:a16="http://schemas.microsoft.com/office/drawing/2014/main" id="{B8F06261-28B3-4220-8434-F7006FBCCD3C}"/>
              </a:ext>
            </a:extLst>
          </p:cNvPr>
          <p:cNvSpPr>
            <a:spLocks noGrp="1"/>
          </p:cNvSpPr>
          <p:nvPr/>
        </p:nvSpPr>
        <p:spPr>
          <a:xfrm>
            <a:off x="502920" y="3054096"/>
            <a:ext cx="4709160" cy="676656"/>
          </a:xfrm>
          <a:prstGeom prst="roundRect">
            <a:avLst>
              <a:gd name="adj" fmla="val 6757"/>
            </a:avLst>
          </a:prstGeom>
          <a:solidFill>
            <a:srgbClr val="EDF1F4"/>
          </a:solidFill>
          <a:ln w="12700">
            <a:solidFill>
              <a:srgbClr val="D6DEE5"/>
            </a:solidFill>
            <a:prstDash val="solid"/>
          </a:ln>
        </p:spPr>
        <p:txBody>
          <a:bodyPr/>
          <a:lstStyle/>
          <a:p>
            <a:endParaRPr/>
          </a:p>
        </p:txBody>
      </p:sp>
      <p:sp>
        <p:nvSpPr>
          <p:cNvPr id="15" name="Text 13">
            <a:extLst>
              <a:ext uri="{FF2B5EF4-FFF2-40B4-BE49-F238E27FC236}">
                <a16:creationId xmlns:a16="http://schemas.microsoft.com/office/drawing/2014/main" id="{2ED08558-03C6-4F84-BB13-382CBB798F7F}"/>
              </a:ext>
            </a:extLst>
          </p:cNvPr>
          <p:cNvSpPr>
            <a:spLocks noGrp="1"/>
          </p:cNvSpPr>
          <p:nvPr/>
        </p:nvSpPr>
        <p:spPr>
          <a:xfrm>
            <a:off x="685800" y="3118104"/>
            <a:ext cx="3063240" cy="237744"/>
          </a:xfrm>
          <a:prstGeom prst="rect">
            <a:avLst/>
          </a:prstGeom>
          <a:noFill/>
        </p:spPr>
        <p:txBody>
          <a:bodyPr wrap="square" lIns="0" tIns="0" rIns="0" bIns="0" anchor="ctr"/>
          <a:lstStyle/>
          <a:p>
            <a:pPr marL="0" indent="0">
              <a:buNone/>
            </a:pPr>
            <a:r>
              <a:rPr sz="1100" b="1">
                <a:latin typeface="Calibri"/>
                <a:ea typeface="Calibri"/>
                <a:cs typeface="Calibri"/>
              </a:rPr>
              <a:t>Topology</a:t>
            </a:r>
            <a:endParaRPr sz="1100"/>
          </a:p>
        </p:txBody>
      </p:sp>
      <p:sp>
        <p:nvSpPr>
          <p:cNvPr id="16" name="Text 14">
            <a:extLst>
              <a:ext uri="{FF2B5EF4-FFF2-40B4-BE49-F238E27FC236}">
                <a16:creationId xmlns:a16="http://schemas.microsoft.com/office/drawing/2014/main" id="{5BCB0BDF-8063-4279-BE3A-F3BD0EC1F920}"/>
              </a:ext>
            </a:extLst>
          </p:cNvPr>
          <p:cNvSpPr>
            <a:spLocks noGrp="1"/>
          </p:cNvSpPr>
          <p:nvPr/>
        </p:nvSpPr>
        <p:spPr>
          <a:xfrm>
            <a:off x="685800" y="3337560"/>
            <a:ext cx="3063240" cy="347472"/>
          </a:xfrm>
          <a:prstGeom prst="rect">
            <a:avLst/>
          </a:prstGeom>
          <a:noFill/>
        </p:spPr>
        <p:txBody>
          <a:bodyPr wrap="square" lIns="0" tIns="0" rIns="0" bIns="0" anchor="ctr"/>
          <a:lstStyle/>
          <a:p>
            <a:pPr marL="0" indent="0">
              <a:buNone/>
            </a:pPr>
            <a:r>
              <a:rPr sz="850">
                <a:latin typeface="Calibri"/>
                <a:ea typeface="Calibri"/>
                <a:cs typeface="Calibri"/>
              </a:rPr>
              <a:t>parallel-alignment lower bound</a:t>
            </a:r>
            <a:endParaRPr sz="850"/>
          </a:p>
          <a:p>
            <a:pPr marL="0" indent="0">
              <a:buNone/>
            </a:pPr>
            <a:r>
              <a:rPr sz="850">
                <a:latin typeface="Calibri"/>
                <a:ea typeface="Calibri"/>
                <a:cs typeface="Calibri"/>
              </a:rPr>
              <a:t>from the physical network</a:t>
            </a:r>
            <a:endParaRPr sz="850"/>
          </a:p>
        </p:txBody>
      </p:sp>
      <p:sp>
        <p:nvSpPr>
          <p:cNvPr id="17" name="Text 15">
            <a:extLst>
              <a:ext uri="{FF2B5EF4-FFF2-40B4-BE49-F238E27FC236}">
                <a16:creationId xmlns:a16="http://schemas.microsoft.com/office/drawing/2014/main" id="{BC70A300-AF71-4B1F-8F0F-535F5BC90199}"/>
              </a:ext>
            </a:extLst>
          </p:cNvPr>
          <p:cNvSpPr>
            <a:spLocks noGrp="1"/>
          </p:cNvSpPr>
          <p:nvPr/>
        </p:nvSpPr>
        <p:spPr>
          <a:xfrm>
            <a:off x="3749040" y="3264408"/>
            <a:ext cx="1325880" cy="274320"/>
          </a:xfrm>
          <a:prstGeom prst="rect">
            <a:avLst/>
          </a:prstGeom>
          <a:noFill/>
        </p:spPr>
        <p:txBody>
          <a:bodyPr wrap="square" lIns="0" tIns="0" rIns="0" bIns="0" anchor="ctr"/>
          <a:lstStyle/>
          <a:p>
            <a:pPr marL="0" indent="0" algn="r">
              <a:buNone/>
            </a:pPr>
            <a:r>
              <a:rPr sz="950" b="1">
                <a:latin typeface="Calibri"/>
                <a:ea typeface="Calibri"/>
                <a:cs typeface="Calibri"/>
              </a:rPr>
              <a:t>sets 234 bins</a:t>
            </a:r>
            <a:endParaRPr sz="950"/>
          </a:p>
        </p:txBody>
      </p:sp>
      <p:sp>
        <p:nvSpPr>
          <p:cNvPr id="18" name="Shape 16">
            <a:extLst>
              <a:ext uri="{FF2B5EF4-FFF2-40B4-BE49-F238E27FC236}">
                <a16:creationId xmlns:a16="http://schemas.microsoft.com/office/drawing/2014/main" id="{62414083-C241-43BD-9096-D535F86A5C0E}"/>
              </a:ext>
            </a:extLst>
          </p:cNvPr>
          <p:cNvSpPr>
            <a:spLocks noGrp="1"/>
          </p:cNvSpPr>
          <p:nvPr/>
        </p:nvSpPr>
        <p:spPr>
          <a:xfrm>
            <a:off x="5212080" y="3392424"/>
            <a:ext cx="292608" cy="0"/>
          </a:xfrm>
          <a:prstGeom prst="line">
            <a:avLst/>
          </a:prstGeom>
          <a:noFill/>
          <a:ln w="15875">
            <a:solidFill>
              <a:srgbClr val="C3CED6"/>
            </a:solidFill>
            <a:prstDash val="solid"/>
          </a:ln>
        </p:spPr>
        <p:txBody>
          <a:bodyPr/>
          <a:lstStyle/>
          <a:p>
            <a:endParaRPr/>
          </a:p>
        </p:txBody>
      </p:sp>
      <p:sp>
        <p:nvSpPr>
          <p:cNvPr id="19" name="Shape 17">
            <a:extLst>
              <a:ext uri="{FF2B5EF4-FFF2-40B4-BE49-F238E27FC236}">
                <a16:creationId xmlns:a16="http://schemas.microsoft.com/office/drawing/2014/main" id="{03D60146-B505-434A-B97F-DA4CD79E6EC7}"/>
              </a:ext>
            </a:extLst>
          </p:cNvPr>
          <p:cNvSpPr>
            <a:spLocks noGrp="1"/>
          </p:cNvSpPr>
          <p:nvPr/>
        </p:nvSpPr>
        <p:spPr>
          <a:xfrm>
            <a:off x="502920" y="3840480"/>
            <a:ext cx="4709160" cy="676656"/>
          </a:xfrm>
          <a:prstGeom prst="roundRect">
            <a:avLst>
              <a:gd name="adj" fmla="val 6757"/>
            </a:avLst>
          </a:prstGeom>
          <a:solidFill>
            <a:srgbClr val="EDF1F4"/>
          </a:solidFill>
          <a:ln w="12700">
            <a:solidFill>
              <a:srgbClr val="D6DEE5"/>
            </a:solidFill>
            <a:prstDash val="solid"/>
          </a:ln>
        </p:spPr>
        <p:txBody>
          <a:bodyPr/>
          <a:lstStyle/>
          <a:p>
            <a:endParaRPr/>
          </a:p>
        </p:txBody>
      </p:sp>
      <p:sp>
        <p:nvSpPr>
          <p:cNvPr id="20" name="Text 18">
            <a:extLst>
              <a:ext uri="{FF2B5EF4-FFF2-40B4-BE49-F238E27FC236}">
                <a16:creationId xmlns:a16="http://schemas.microsoft.com/office/drawing/2014/main" id="{68916D74-BEEA-4C0C-A6FD-02FA93769E13}"/>
              </a:ext>
            </a:extLst>
          </p:cNvPr>
          <p:cNvSpPr>
            <a:spLocks noGrp="1"/>
          </p:cNvSpPr>
          <p:nvPr/>
        </p:nvSpPr>
        <p:spPr>
          <a:xfrm>
            <a:off x="685800" y="3904488"/>
            <a:ext cx="3063240" cy="237744"/>
          </a:xfrm>
          <a:prstGeom prst="rect">
            <a:avLst/>
          </a:prstGeom>
          <a:noFill/>
        </p:spPr>
        <p:txBody>
          <a:bodyPr wrap="square" lIns="0" tIns="0" rIns="0" bIns="0" anchor="ctr"/>
          <a:lstStyle/>
          <a:p>
            <a:pPr marL="0" indent="0">
              <a:buNone/>
            </a:pPr>
            <a:r>
              <a:rPr sz="1100" b="1">
                <a:latin typeface="Calibri"/>
                <a:ea typeface="Calibri"/>
                <a:cs typeface="Calibri"/>
              </a:rPr>
              <a:t>OpenStreetMap tracks=*</a:t>
            </a:r>
            <a:endParaRPr sz="1100"/>
          </a:p>
        </p:txBody>
      </p:sp>
      <p:sp>
        <p:nvSpPr>
          <p:cNvPr id="21" name="Text 19">
            <a:extLst>
              <a:ext uri="{FF2B5EF4-FFF2-40B4-BE49-F238E27FC236}">
                <a16:creationId xmlns:a16="http://schemas.microsoft.com/office/drawing/2014/main" id="{0DB1B859-BE26-4AA3-BD79-26BFBEC2B975}"/>
              </a:ext>
            </a:extLst>
          </p:cNvPr>
          <p:cNvSpPr>
            <a:spLocks noGrp="1"/>
          </p:cNvSpPr>
          <p:nvPr/>
        </p:nvSpPr>
        <p:spPr>
          <a:xfrm>
            <a:off x="685800" y="4123944"/>
            <a:ext cx="3063240" cy="347472"/>
          </a:xfrm>
          <a:prstGeom prst="rect">
            <a:avLst/>
          </a:prstGeom>
          <a:noFill/>
        </p:spPr>
        <p:txBody>
          <a:bodyPr wrap="square" lIns="0" tIns="0" rIns="0" bIns="0" anchor="ctr"/>
          <a:lstStyle/>
          <a:p>
            <a:pPr marL="0" indent="0">
              <a:buNone/>
            </a:pPr>
            <a:r>
              <a:rPr sz="850">
                <a:latin typeface="Calibri"/>
                <a:ea typeface="Calibri"/>
                <a:cs typeface="Calibri"/>
              </a:rPr>
              <a:t>2 usable tags of 2,063 segments</a:t>
            </a:r>
            <a:endParaRPr sz="850"/>
          </a:p>
          <a:p>
            <a:pPr marL="0" indent="0">
              <a:buNone/>
            </a:pPr>
            <a:r>
              <a:rPr sz="850">
                <a:latin typeface="Calibri"/>
                <a:ea typeface="Calibri"/>
                <a:cs typeface="Calibri"/>
              </a:rPr>
              <a:t>— effectively silent</a:t>
            </a:r>
            <a:endParaRPr sz="850"/>
          </a:p>
        </p:txBody>
      </p:sp>
      <p:sp>
        <p:nvSpPr>
          <p:cNvPr id="22" name="Text 20">
            <a:extLst>
              <a:ext uri="{FF2B5EF4-FFF2-40B4-BE49-F238E27FC236}">
                <a16:creationId xmlns:a16="http://schemas.microsoft.com/office/drawing/2014/main" id="{625F0448-519E-4709-B67B-E58FFFFC23E7}"/>
              </a:ext>
            </a:extLst>
          </p:cNvPr>
          <p:cNvSpPr>
            <a:spLocks noGrp="1"/>
          </p:cNvSpPr>
          <p:nvPr/>
        </p:nvSpPr>
        <p:spPr>
          <a:xfrm>
            <a:off x="3749040" y="4050792"/>
            <a:ext cx="1325880" cy="274320"/>
          </a:xfrm>
          <a:prstGeom prst="rect">
            <a:avLst/>
          </a:prstGeom>
          <a:noFill/>
        </p:spPr>
        <p:txBody>
          <a:bodyPr wrap="square" lIns="0" tIns="0" rIns="0" bIns="0" anchor="ctr"/>
          <a:lstStyle/>
          <a:p>
            <a:pPr marL="0" indent="0" algn="r">
              <a:buNone/>
            </a:pPr>
            <a:r>
              <a:rPr sz="950" b="1">
                <a:latin typeface="Calibri"/>
                <a:ea typeface="Calibri"/>
                <a:cs typeface="Calibri"/>
              </a:rPr>
              <a:t>sets 0 bins</a:t>
            </a:r>
            <a:endParaRPr sz="950"/>
          </a:p>
        </p:txBody>
      </p:sp>
      <p:sp>
        <p:nvSpPr>
          <p:cNvPr id="23" name="Shape 21">
            <a:extLst>
              <a:ext uri="{FF2B5EF4-FFF2-40B4-BE49-F238E27FC236}">
                <a16:creationId xmlns:a16="http://schemas.microsoft.com/office/drawing/2014/main" id="{D559259E-180D-4E6A-9144-05779A9868B1}"/>
              </a:ext>
            </a:extLst>
          </p:cNvPr>
          <p:cNvSpPr>
            <a:spLocks noGrp="1"/>
          </p:cNvSpPr>
          <p:nvPr/>
        </p:nvSpPr>
        <p:spPr>
          <a:xfrm>
            <a:off x="5212080" y="4178808"/>
            <a:ext cx="292608" cy="0"/>
          </a:xfrm>
          <a:prstGeom prst="line">
            <a:avLst/>
          </a:prstGeom>
          <a:noFill/>
          <a:ln w="15875">
            <a:solidFill>
              <a:srgbClr val="C3CED6"/>
            </a:solidFill>
            <a:prstDash val="solid"/>
          </a:ln>
        </p:spPr>
        <p:txBody>
          <a:bodyPr/>
          <a:lstStyle/>
          <a:p>
            <a:endParaRPr/>
          </a:p>
        </p:txBody>
      </p:sp>
      <p:sp>
        <p:nvSpPr>
          <p:cNvPr id="24" name="Shape 22">
            <a:extLst>
              <a:ext uri="{FF2B5EF4-FFF2-40B4-BE49-F238E27FC236}">
                <a16:creationId xmlns:a16="http://schemas.microsoft.com/office/drawing/2014/main" id="{1C694DD0-2692-43F9-BFCD-E332EA1DC8C4}"/>
              </a:ext>
            </a:extLst>
          </p:cNvPr>
          <p:cNvSpPr>
            <a:spLocks noGrp="1"/>
          </p:cNvSpPr>
          <p:nvPr/>
        </p:nvSpPr>
        <p:spPr>
          <a:xfrm>
            <a:off x="5504688" y="1819656"/>
            <a:ext cx="0" cy="2359152"/>
          </a:xfrm>
          <a:prstGeom prst="line">
            <a:avLst/>
          </a:prstGeom>
          <a:noFill/>
          <a:ln w="15875">
            <a:solidFill>
              <a:srgbClr val="C3CED6"/>
            </a:solidFill>
            <a:prstDash val="solid"/>
          </a:ln>
        </p:spPr>
        <p:txBody>
          <a:bodyPr/>
          <a:lstStyle/>
          <a:p>
            <a:endParaRPr/>
          </a:p>
        </p:txBody>
      </p:sp>
      <p:sp>
        <p:nvSpPr>
          <p:cNvPr id="25" name="Shape 23">
            <a:extLst>
              <a:ext uri="{FF2B5EF4-FFF2-40B4-BE49-F238E27FC236}">
                <a16:creationId xmlns:a16="http://schemas.microsoft.com/office/drawing/2014/main" id="{56694061-1F6A-4414-A332-CC7D642A78F3}"/>
              </a:ext>
            </a:extLst>
          </p:cNvPr>
          <p:cNvSpPr>
            <a:spLocks noGrp="1"/>
          </p:cNvSpPr>
          <p:nvPr/>
        </p:nvSpPr>
        <p:spPr>
          <a:xfrm>
            <a:off x="5504688" y="3063240"/>
            <a:ext cx="365760" cy="0"/>
          </a:xfrm>
          <a:prstGeom prst="line">
            <a:avLst/>
          </a:prstGeom>
          <a:noFill/>
          <a:ln w="19050">
            <a:solidFill>
              <a:srgbClr val="C3CED6"/>
            </a:solidFill>
            <a:prstDash val="solid"/>
            <a:tailEnd type="triangle"/>
          </a:ln>
        </p:spPr>
        <p:txBody>
          <a:bodyPr/>
          <a:lstStyle/>
          <a:p>
            <a:endParaRPr/>
          </a:p>
        </p:txBody>
      </p:sp>
      <p:sp>
        <p:nvSpPr>
          <p:cNvPr id="26" name="Shape 24">
            <a:extLst>
              <a:ext uri="{FF2B5EF4-FFF2-40B4-BE49-F238E27FC236}">
                <a16:creationId xmlns:a16="http://schemas.microsoft.com/office/drawing/2014/main" id="{F9AE8FCC-1ED4-4613-B9BA-3F877B85AFBB}"/>
              </a:ext>
            </a:extLst>
          </p:cNvPr>
          <p:cNvSpPr>
            <a:spLocks noGrp="1"/>
          </p:cNvSpPr>
          <p:nvPr/>
        </p:nvSpPr>
        <p:spPr>
          <a:xfrm>
            <a:off x="5870448" y="2331720"/>
            <a:ext cx="2286000" cy="1463040"/>
          </a:xfrm>
          <a:prstGeom prst="roundRect">
            <a:avLst>
              <a:gd name="adj" fmla="val 3750"/>
            </a:avLst>
          </a:prstGeom>
          <a:noFill/>
          <a:ln w="12700">
            <a:solidFill>
              <a:srgbClr val="16232E"/>
            </a:solidFill>
            <a:prstDash val="solid"/>
          </a:ln>
        </p:spPr>
        <p:txBody>
          <a:bodyPr/>
          <a:lstStyle/>
          <a:p>
            <a:endParaRPr/>
          </a:p>
        </p:txBody>
      </p:sp>
      <p:sp>
        <p:nvSpPr>
          <p:cNvPr id="27" name="Text 25">
            <a:extLst>
              <a:ext uri="{FF2B5EF4-FFF2-40B4-BE49-F238E27FC236}">
                <a16:creationId xmlns:a16="http://schemas.microsoft.com/office/drawing/2014/main" id="{4203E481-3CDB-4FBF-9027-71F9C9CAC0ED}"/>
              </a:ext>
            </a:extLst>
          </p:cNvPr>
          <p:cNvSpPr>
            <a:spLocks noGrp="1"/>
          </p:cNvSpPr>
          <p:nvPr/>
        </p:nvSpPr>
        <p:spPr>
          <a:xfrm>
            <a:off x="6035040" y="2487168"/>
            <a:ext cx="1956816" cy="237744"/>
          </a:xfrm>
          <a:prstGeom prst="rect">
            <a:avLst/>
          </a:prstGeom>
          <a:noFill/>
        </p:spPr>
        <p:txBody>
          <a:bodyPr wrap="square" lIns="0" tIns="0" rIns="0" bIns="0" anchor="ctr"/>
          <a:lstStyle/>
          <a:p>
            <a:pPr marL="0" indent="0" algn="ctr">
              <a:buNone/>
            </a:pPr>
            <a:r>
              <a:rPr sz="1000" b="1">
                <a:latin typeface="Calibri"/>
                <a:ea typeface="Calibri"/>
                <a:cs typeface="Calibri"/>
              </a:rPr>
              <a:t>RECONCILE</a:t>
            </a:r>
            <a:endParaRPr sz="1000"/>
          </a:p>
        </p:txBody>
      </p:sp>
      <p:sp>
        <p:nvSpPr>
          <p:cNvPr id="28" name="Text 26">
            <a:extLst>
              <a:ext uri="{FF2B5EF4-FFF2-40B4-BE49-F238E27FC236}">
                <a16:creationId xmlns:a16="http://schemas.microsoft.com/office/drawing/2014/main" id="{16D833B6-B21E-4506-9E90-3C2F1EB2355E}"/>
              </a:ext>
            </a:extLst>
          </p:cNvPr>
          <p:cNvSpPr>
            <a:spLocks noGrp="1"/>
          </p:cNvSpPr>
          <p:nvPr/>
        </p:nvSpPr>
        <p:spPr>
          <a:xfrm>
            <a:off x="6035040" y="2743200"/>
            <a:ext cx="1956816" cy="457200"/>
          </a:xfrm>
          <a:prstGeom prst="rect">
            <a:avLst/>
          </a:prstGeom>
          <a:noFill/>
        </p:spPr>
        <p:txBody>
          <a:bodyPr wrap="square" lIns="0" tIns="0" rIns="0" bIns="0" anchor="ctr"/>
          <a:lstStyle/>
          <a:p>
            <a:pPr marL="0" indent="0" algn="ctr">
              <a:buNone/>
            </a:pPr>
            <a:r>
              <a:rPr sz="1400" b="1">
                <a:latin typeface="Cambria"/>
                <a:ea typeface="Cambria"/>
                <a:cs typeface="Cambria"/>
              </a:rPr>
              <a:t>max of the</a:t>
            </a:r>
            <a:endParaRPr sz="1400"/>
          </a:p>
          <a:p>
            <a:pPr marL="0" indent="0" algn="ctr">
              <a:buNone/>
            </a:pPr>
            <a:r>
              <a:rPr sz="1400" b="1">
                <a:latin typeface="Cambria"/>
                <a:ea typeface="Cambria"/>
                <a:cs typeface="Cambria"/>
              </a:rPr>
              <a:t>four sources</a:t>
            </a:r>
            <a:endParaRPr sz="1400"/>
          </a:p>
        </p:txBody>
      </p:sp>
      <p:sp>
        <p:nvSpPr>
          <p:cNvPr id="29" name="Text 27">
            <a:extLst>
              <a:ext uri="{FF2B5EF4-FFF2-40B4-BE49-F238E27FC236}">
                <a16:creationId xmlns:a16="http://schemas.microsoft.com/office/drawing/2014/main" id="{2F00C9A3-7531-4589-A6AC-15DED11D04C7}"/>
              </a:ext>
            </a:extLst>
          </p:cNvPr>
          <p:cNvSpPr>
            <a:spLocks noGrp="1"/>
          </p:cNvSpPr>
          <p:nvPr/>
        </p:nvSpPr>
        <p:spPr>
          <a:xfrm>
            <a:off x="6035040" y="3218688"/>
            <a:ext cx="1956816" cy="402336"/>
          </a:xfrm>
          <a:prstGeom prst="rect">
            <a:avLst/>
          </a:prstGeom>
          <a:noFill/>
        </p:spPr>
        <p:txBody>
          <a:bodyPr wrap="square" lIns="0" tIns="0" rIns="0" bIns="0" anchor="ctr"/>
          <a:lstStyle/>
          <a:p>
            <a:pPr marL="0" indent="0" algn="ctr">
              <a:buNone/>
            </a:pPr>
            <a:r>
              <a:rPr sz="850">
                <a:latin typeface="Calibri"/>
                <a:ea typeface="Calibri"/>
                <a:cs typeface="Calibri"/>
              </a:rPr>
              <a:t>each under-reports;</a:t>
            </a:r>
            <a:endParaRPr sz="850"/>
          </a:p>
          <a:p>
            <a:pPr marL="0" indent="0" algn="ctr">
              <a:buNone/>
            </a:pPr>
            <a:r>
              <a:rPr sz="850">
                <a:latin typeface="Calibri"/>
                <a:ea typeface="Calibri"/>
                <a:cs typeface="Calibri"/>
              </a:rPr>
              <a:t>none over-reports</a:t>
            </a:r>
            <a:endParaRPr sz="850"/>
          </a:p>
        </p:txBody>
      </p:sp>
      <p:sp>
        <p:nvSpPr>
          <p:cNvPr id="30" name="Shape 28">
            <a:extLst>
              <a:ext uri="{FF2B5EF4-FFF2-40B4-BE49-F238E27FC236}">
                <a16:creationId xmlns:a16="http://schemas.microsoft.com/office/drawing/2014/main" id="{CE724DF5-E1BF-462C-B790-6AF3BC6F4F8C}"/>
              </a:ext>
            </a:extLst>
          </p:cNvPr>
          <p:cNvSpPr>
            <a:spLocks noGrp="1"/>
          </p:cNvSpPr>
          <p:nvPr/>
        </p:nvSpPr>
        <p:spPr>
          <a:xfrm>
            <a:off x="8156448" y="3063240"/>
            <a:ext cx="502920" cy="0"/>
          </a:xfrm>
          <a:prstGeom prst="line">
            <a:avLst/>
          </a:prstGeom>
          <a:noFill/>
          <a:ln w="19050">
            <a:solidFill>
              <a:srgbClr val="C3CED6"/>
            </a:solidFill>
            <a:prstDash val="solid"/>
            <a:tailEnd type="triangle"/>
          </a:ln>
        </p:spPr>
        <p:txBody>
          <a:bodyPr/>
          <a:lstStyle/>
          <a:p>
            <a:endParaRPr/>
          </a:p>
        </p:txBody>
      </p:sp>
      <p:sp>
        <p:nvSpPr>
          <p:cNvPr id="31" name="Shape 29">
            <a:extLst>
              <a:ext uri="{FF2B5EF4-FFF2-40B4-BE49-F238E27FC236}">
                <a16:creationId xmlns:a16="http://schemas.microsoft.com/office/drawing/2014/main" id="{0E4A58A9-694B-4F04-9FAC-26E2F5691AD4}"/>
              </a:ext>
            </a:extLst>
          </p:cNvPr>
          <p:cNvSpPr>
            <a:spLocks noGrp="1"/>
          </p:cNvSpPr>
          <p:nvPr/>
        </p:nvSpPr>
        <p:spPr>
          <a:xfrm>
            <a:off x="8659368" y="2331720"/>
            <a:ext cx="2999232" cy="1463040"/>
          </a:xfrm>
          <a:prstGeom prst="roundRect">
            <a:avLst>
              <a:gd name="adj" fmla="val 3750"/>
            </a:avLst>
          </a:prstGeom>
          <a:noFill/>
          <a:ln w="12700">
            <a:solidFill>
              <a:srgbClr val="1F7A54"/>
            </a:solidFill>
            <a:prstDash val="solid"/>
          </a:ln>
        </p:spPr>
        <p:txBody>
          <a:bodyPr/>
          <a:lstStyle/>
          <a:p>
            <a:endParaRPr/>
          </a:p>
        </p:txBody>
      </p:sp>
      <p:sp>
        <p:nvSpPr>
          <p:cNvPr id="32" name="Text 30">
            <a:extLst>
              <a:ext uri="{FF2B5EF4-FFF2-40B4-BE49-F238E27FC236}">
                <a16:creationId xmlns:a16="http://schemas.microsoft.com/office/drawing/2014/main" id="{2D30E57B-DB25-46D6-83AF-8EDE02D8833B}"/>
              </a:ext>
            </a:extLst>
          </p:cNvPr>
          <p:cNvSpPr>
            <a:spLocks noGrp="1"/>
          </p:cNvSpPr>
          <p:nvPr/>
        </p:nvSpPr>
        <p:spPr>
          <a:xfrm>
            <a:off x="8842248" y="2468880"/>
            <a:ext cx="2633472" cy="457200"/>
          </a:xfrm>
          <a:prstGeom prst="rect">
            <a:avLst/>
          </a:prstGeom>
          <a:noFill/>
        </p:spPr>
        <p:txBody>
          <a:bodyPr wrap="square" lIns="0" tIns="0" rIns="0" bIns="0" anchor="ctr"/>
          <a:lstStyle/>
          <a:p>
            <a:pPr marL="0" indent="0" algn="ctr">
              <a:buNone/>
            </a:pPr>
            <a:r>
              <a:rPr sz="2800" b="1">
                <a:latin typeface="Cambria"/>
                <a:ea typeface="Cambria"/>
                <a:cs typeface="Cambria"/>
              </a:rPr>
              <a:t>94.2%</a:t>
            </a:r>
            <a:endParaRPr sz="2800"/>
          </a:p>
        </p:txBody>
      </p:sp>
      <p:sp>
        <p:nvSpPr>
          <p:cNvPr id="33" name="Text 31">
            <a:extLst>
              <a:ext uri="{FF2B5EF4-FFF2-40B4-BE49-F238E27FC236}">
                <a16:creationId xmlns:a16="http://schemas.microsoft.com/office/drawing/2014/main" id="{E9DA3E05-14C1-4E3E-9D67-6406748D7995}"/>
              </a:ext>
            </a:extLst>
          </p:cNvPr>
          <p:cNvSpPr>
            <a:spLocks noGrp="1"/>
          </p:cNvSpPr>
          <p:nvPr/>
        </p:nvSpPr>
        <p:spPr>
          <a:xfrm>
            <a:off x="8842248" y="2944368"/>
            <a:ext cx="2633472" cy="402336"/>
          </a:xfrm>
          <a:prstGeom prst="rect">
            <a:avLst/>
          </a:prstGeom>
          <a:noFill/>
        </p:spPr>
        <p:txBody>
          <a:bodyPr wrap="square" lIns="0" tIns="0" rIns="0" bIns="0" anchor="ctr"/>
          <a:lstStyle/>
          <a:p>
            <a:pPr marL="0" indent="0" algn="ctr">
              <a:buNone/>
            </a:pPr>
            <a:r>
              <a:rPr sz="1000">
                <a:latin typeface="Calibri"/>
                <a:ea typeface="Calibri"/>
                <a:cs typeface="Calibri"/>
              </a:rPr>
              <a:t>of mileposts carry a direct</a:t>
            </a:r>
            <a:endParaRPr sz="1000"/>
          </a:p>
          <a:p>
            <a:pPr marL="0" indent="0" algn="ctr">
              <a:buNone/>
            </a:pPr>
            <a:r>
              <a:rPr sz="1000">
                <a:latin typeface="Calibri"/>
                <a:ea typeface="Calibri"/>
                <a:cs typeface="Calibri"/>
              </a:rPr>
              <a:t>official observation</a:t>
            </a:r>
            <a:endParaRPr sz="1000"/>
          </a:p>
        </p:txBody>
      </p:sp>
      <p:sp>
        <p:nvSpPr>
          <p:cNvPr id="34" name="Text 32">
            <a:extLst>
              <a:ext uri="{FF2B5EF4-FFF2-40B4-BE49-F238E27FC236}">
                <a16:creationId xmlns:a16="http://schemas.microsoft.com/office/drawing/2014/main" id="{9E351FE6-F123-49A3-A376-B49C00EDD131}"/>
              </a:ext>
            </a:extLst>
          </p:cNvPr>
          <p:cNvSpPr>
            <a:spLocks noGrp="1"/>
          </p:cNvSpPr>
          <p:nvPr/>
        </p:nvSpPr>
        <p:spPr>
          <a:xfrm>
            <a:off x="8842248" y="3383280"/>
            <a:ext cx="2633472" cy="256032"/>
          </a:xfrm>
          <a:prstGeom prst="rect">
            <a:avLst/>
          </a:prstGeom>
          <a:noFill/>
        </p:spPr>
        <p:txBody>
          <a:bodyPr wrap="square" lIns="0" tIns="0" rIns="0" bIns="0" anchor="ctr"/>
          <a:lstStyle/>
          <a:p>
            <a:pPr marL="0" indent="0" algn="ctr">
              <a:buNone/>
            </a:pPr>
            <a:r>
              <a:rPr sz="900" i="1">
                <a:latin typeface="Calibri"/>
                <a:ea typeface="Calibri"/>
                <a:cs typeface="Calibri"/>
              </a:rPr>
              <a:t>was 4.5% of segments</a:t>
            </a:r>
            <a:endParaRPr sz="900"/>
          </a:p>
        </p:txBody>
      </p:sp>
      <p:sp>
        <p:nvSpPr>
          <p:cNvPr id="35" name="Text 33">
            <a:extLst>
              <a:ext uri="{FF2B5EF4-FFF2-40B4-BE49-F238E27FC236}">
                <a16:creationId xmlns:a16="http://schemas.microsoft.com/office/drawing/2014/main" id="{3495C039-0917-47C5-85A0-6BAAE5037AB7}"/>
              </a:ext>
            </a:extLst>
          </p:cNvPr>
          <p:cNvSpPr>
            <a:spLocks noGrp="1"/>
          </p:cNvSpPr>
          <p:nvPr/>
        </p:nvSpPr>
        <p:spPr>
          <a:xfrm>
            <a:off x="5870448" y="3931920"/>
            <a:ext cx="5788152" cy="640080"/>
          </a:xfrm>
          <a:prstGeom prst="rect">
            <a:avLst/>
          </a:prstGeom>
          <a:noFill/>
        </p:spPr>
        <p:txBody>
          <a:bodyPr wrap="square" lIns="0" tIns="0" rIns="0" bIns="0" anchor="ctr"/>
          <a:lstStyle/>
          <a:p>
            <a:pPr marL="0" indent="0">
              <a:buNone/>
            </a:pPr>
            <a:r>
              <a:rPr sz="950">
                <a:latin typeface="Calibri"/>
                <a:ea typeface="Calibri"/>
                <a:cs typeface="Calibri"/>
              </a:rPr>
              <a:t>Continuity bridging: a bin with no observation, lying between two observed bins no more than 25 miles apart, inherits min(left, right) — 302 bins. Bridging never overwrites a bin that has its own observation, which is why Sibley MO and Alva OK stay single track.</a:t>
            </a:r>
            <a:endParaRPr sz="950"/>
          </a:p>
        </p:txBody>
      </p:sp>
      <p:sp>
        <p:nvSpPr>
          <p:cNvPr id="36" name="Shape 34">
            <a:extLst>
              <a:ext uri="{FF2B5EF4-FFF2-40B4-BE49-F238E27FC236}">
                <a16:creationId xmlns:a16="http://schemas.microsoft.com/office/drawing/2014/main" id="{005DD116-C34E-4305-B1DD-FF4633C5716E}"/>
              </a:ext>
            </a:extLst>
          </p:cNvPr>
          <p:cNvSpPr>
            <a:spLocks noGrp="1"/>
          </p:cNvSpPr>
          <p:nvPr/>
        </p:nvSpPr>
        <p:spPr>
          <a:xfrm>
            <a:off x="502920" y="4892040"/>
            <a:ext cx="11155680" cy="1417320"/>
          </a:xfrm>
          <a:prstGeom prst="roundRect">
            <a:avLst>
              <a:gd name="adj" fmla="val 3871"/>
            </a:avLst>
          </a:prstGeom>
          <a:noFill/>
          <a:ln w="15875">
            <a:solidFill>
              <a:srgbClr val="C8912B"/>
            </a:solidFill>
            <a:prstDash val="solid"/>
          </a:ln>
        </p:spPr>
        <p:txBody>
          <a:bodyPr/>
          <a:lstStyle/>
          <a:p>
            <a:endParaRPr/>
          </a:p>
        </p:txBody>
      </p:sp>
      <p:sp>
        <p:nvSpPr>
          <p:cNvPr id="37" name="Text 35">
            <a:extLst>
              <a:ext uri="{FF2B5EF4-FFF2-40B4-BE49-F238E27FC236}">
                <a16:creationId xmlns:a16="http://schemas.microsoft.com/office/drawing/2014/main" id="{78E9092F-B448-4B9D-BC3F-9D984BBAA474}"/>
              </a:ext>
            </a:extLst>
          </p:cNvPr>
          <p:cNvSpPr>
            <a:spLocks noGrp="1"/>
          </p:cNvSpPr>
          <p:nvPr/>
        </p:nvSpPr>
        <p:spPr>
          <a:xfrm>
            <a:off x="777240" y="5029200"/>
            <a:ext cx="4572000" cy="256032"/>
          </a:xfrm>
          <a:prstGeom prst="rect">
            <a:avLst/>
          </a:prstGeom>
          <a:noFill/>
        </p:spPr>
        <p:txBody>
          <a:bodyPr wrap="square" lIns="0" tIns="0" rIns="0" bIns="0" anchor="ctr"/>
          <a:lstStyle/>
          <a:p>
            <a:pPr marL="0" indent="0">
              <a:buNone/>
            </a:pPr>
            <a:r>
              <a:rPr sz="1100" b="1">
                <a:latin typeface="Calibri"/>
                <a:ea typeface="Calibri"/>
                <a:cs typeface="Calibri"/>
              </a:rPr>
              <a:t>Where NARN and FRA both speak</a:t>
            </a:r>
            <a:endParaRPr sz="1100"/>
          </a:p>
        </p:txBody>
      </p:sp>
      <p:sp>
        <p:nvSpPr>
          <p:cNvPr id="38" name="Text 36">
            <a:extLst>
              <a:ext uri="{FF2B5EF4-FFF2-40B4-BE49-F238E27FC236}">
                <a16:creationId xmlns:a16="http://schemas.microsoft.com/office/drawing/2014/main" id="{B7AF7649-64DB-4206-8C02-13253D27B4EA}"/>
              </a:ext>
            </a:extLst>
          </p:cNvPr>
          <p:cNvSpPr>
            <a:spLocks noGrp="1"/>
          </p:cNvSpPr>
          <p:nvPr/>
        </p:nvSpPr>
        <p:spPr>
          <a:xfrm>
            <a:off x="777240" y="5321808"/>
            <a:ext cx="2011680" cy="274320"/>
          </a:xfrm>
          <a:prstGeom prst="rect">
            <a:avLst/>
          </a:prstGeom>
          <a:noFill/>
        </p:spPr>
        <p:txBody>
          <a:bodyPr wrap="square" lIns="0" tIns="0" rIns="0" bIns="0" anchor="ctr"/>
          <a:lstStyle/>
          <a:p>
            <a:pPr marL="0" indent="0">
              <a:buNone/>
            </a:pPr>
            <a:r>
              <a:rPr sz="1500" b="1">
                <a:latin typeface="Cambria"/>
                <a:ea typeface="Cambria"/>
                <a:cs typeface="Cambria"/>
              </a:rPr>
              <a:t>3,321 bins</a:t>
            </a:r>
            <a:endParaRPr sz="1500"/>
          </a:p>
        </p:txBody>
      </p:sp>
      <p:sp>
        <p:nvSpPr>
          <p:cNvPr id="39" name="Text 37">
            <a:extLst>
              <a:ext uri="{FF2B5EF4-FFF2-40B4-BE49-F238E27FC236}">
                <a16:creationId xmlns:a16="http://schemas.microsoft.com/office/drawing/2014/main" id="{1A3142A2-FBA7-408A-B776-85BB80C1D943}"/>
              </a:ext>
            </a:extLst>
          </p:cNvPr>
          <p:cNvSpPr>
            <a:spLocks noGrp="1"/>
          </p:cNvSpPr>
          <p:nvPr/>
        </p:nvSpPr>
        <p:spPr>
          <a:xfrm>
            <a:off x="777240" y="5596128"/>
            <a:ext cx="2011680" cy="256032"/>
          </a:xfrm>
          <a:prstGeom prst="rect">
            <a:avLst/>
          </a:prstGeom>
          <a:noFill/>
        </p:spPr>
        <p:txBody>
          <a:bodyPr wrap="square" lIns="0" tIns="0" rIns="0" bIns="0" anchor="ctr"/>
          <a:lstStyle/>
          <a:p>
            <a:pPr marL="0" indent="0">
              <a:buNone/>
            </a:pPr>
            <a:r>
              <a:rPr sz="950">
                <a:latin typeface="Calibri"/>
                <a:ea typeface="Calibri"/>
                <a:cs typeface="Calibri"/>
              </a:rPr>
              <a:t>agree</a:t>
            </a:r>
            <a:endParaRPr sz="950"/>
          </a:p>
        </p:txBody>
      </p:sp>
      <p:sp>
        <p:nvSpPr>
          <p:cNvPr id="40" name="Text 38">
            <a:extLst>
              <a:ext uri="{FF2B5EF4-FFF2-40B4-BE49-F238E27FC236}">
                <a16:creationId xmlns:a16="http://schemas.microsoft.com/office/drawing/2014/main" id="{35E9F634-7632-44C2-8B4A-369C04882231}"/>
              </a:ext>
            </a:extLst>
          </p:cNvPr>
          <p:cNvSpPr>
            <a:spLocks noGrp="1"/>
          </p:cNvSpPr>
          <p:nvPr/>
        </p:nvSpPr>
        <p:spPr>
          <a:xfrm>
            <a:off x="2926080" y="5321808"/>
            <a:ext cx="2011680" cy="274320"/>
          </a:xfrm>
          <a:prstGeom prst="rect">
            <a:avLst/>
          </a:prstGeom>
          <a:noFill/>
        </p:spPr>
        <p:txBody>
          <a:bodyPr wrap="square" lIns="0" tIns="0" rIns="0" bIns="0" anchor="ctr"/>
          <a:lstStyle/>
          <a:p>
            <a:pPr marL="0" indent="0">
              <a:buNone/>
            </a:pPr>
            <a:r>
              <a:rPr sz="1500" b="1">
                <a:latin typeface="Cambria"/>
                <a:ea typeface="Cambria"/>
                <a:cs typeface="Cambria"/>
              </a:rPr>
              <a:t>1,519 bins</a:t>
            </a:r>
            <a:endParaRPr sz="1500"/>
          </a:p>
        </p:txBody>
      </p:sp>
      <p:sp>
        <p:nvSpPr>
          <p:cNvPr id="41" name="Text 39">
            <a:extLst>
              <a:ext uri="{FF2B5EF4-FFF2-40B4-BE49-F238E27FC236}">
                <a16:creationId xmlns:a16="http://schemas.microsoft.com/office/drawing/2014/main" id="{52086097-D87C-4E86-A780-045962F52803}"/>
              </a:ext>
            </a:extLst>
          </p:cNvPr>
          <p:cNvSpPr>
            <a:spLocks noGrp="1"/>
          </p:cNvSpPr>
          <p:nvPr/>
        </p:nvSpPr>
        <p:spPr>
          <a:xfrm>
            <a:off x="2926080" y="5596128"/>
            <a:ext cx="2011680" cy="256032"/>
          </a:xfrm>
          <a:prstGeom prst="rect">
            <a:avLst/>
          </a:prstGeom>
          <a:noFill/>
        </p:spPr>
        <p:txBody>
          <a:bodyPr wrap="square" lIns="0" tIns="0" rIns="0" bIns="0" anchor="ctr"/>
          <a:lstStyle/>
          <a:p>
            <a:pPr marL="0" indent="0">
              <a:buNone/>
            </a:pPr>
            <a:r>
              <a:rPr sz="950">
                <a:latin typeface="Calibri"/>
                <a:ea typeface="Calibri"/>
                <a:cs typeface="Calibri"/>
              </a:rPr>
              <a:t>differ</a:t>
            </a:r>
            <a:endParaRPr sz="950"/>
          </a:p>
        </p:txBody>
      </p:sp>
      <p:sp>
        <p:nvSpPr>
          <p:cNvPr id="42" name="Text 40">
            <a:extLst>
              <a:ext uri="{FF2B5EF4-FFF2-40B4-BE49-F238E27FC236}">
                <a16:creationId xmlns:a16="http://schemas.microsoft.com/office/drawing/2014/main" id="{D2F6CB38-F582-4085-9B9D-D7810B57DF9A}"/>
              </a:ext>
            </a:extLst>
          </p:cNvPr>
          <p:cNvSpPr>
            <a:spLocks noGrp="1"/>
          </p:cNvSpPr>
          <p:nvPr/>
        </p:nvSpPr>
        <p:spPr>
          <a:xfrm>
            <a:off x="5074920" y="5321808"/>
            <a:ext cx="2011680" cy="274320"/>
          </a:xfrm>
          <a:prstGeom prst="rect">
            <a:avLst/>
          </a:prstGeom>
          <a:noFill/>
        </p:spPr>
        <p:txBody>
          <a:bodyPr wrap="square" lIns="0" tIns="0" rIns="0" bIns="0" anchor="ctr"/>
          <a:lstStyle/>
          <a:p>
            <a:pPr marL="0" indent="0">
              <a:buNone/>
            </a:pPr>
            <a:r>
              <a:rPr sz="1500" b="1">
                <a:latin typeface="Cambria"/>
                <a:ea typeface="Cambria"/>
                <a:cs typeface="Cambria"/>
              </a:rPr>
              <a:t>560 bins (~140 mi)</a:t>
            </a:r>
            <a:endParaRPr sz="1500"/>
          </a:p>
        </p:txBody>
      </p:sp>
      <p:sp>
        <p:nvSpPr>
          <p:cNvPr id="43" name="Text 41">
            <a:extLst>
              <a:ext uri="{FF2B5EF4-FFF2-40B4-BE49-F238E27FC236}">
                <a16:creationId xmlns:a16="http://schemas.microsoft.com/office/drawing/2014/main" id="{ED49C547-F8F8-4232-B032-9DA6C5AB0224}"/>
              </a:ext>
            </a:extLst>
          </p:cNvPr>
          <p:cNvSpPr>
            <a:spLocks noGrp="1"/>
          </p:cNvSpPr>
          <p:nvPr/>
        </p:nvSpPr>
        <p:spPr>
          <a:xfrm>
            <a:off x="5074920" y="5596128"/>
            <a:ext cx="2011680" cy="256032"/>
          </a:xfrm>
          <a:prstGeom prst="rect">
            <a:avLst/>
          </a:prstGeom>
          <a:noFill/>
        </p:spPr>
        <p:txBody>
          <a:bodyPr wrap="square" lIns="0" tIns="0" rIns="0" bIns="0" anchor="ctr"/>
          <a:lstStyle/>
          <a:p>
            <a:pPr marL="0" indent="0">
              <a:buNone/>
            </a:pPr>
            <a:r>
              <a:rPr sz="950">
                <a:latin typeface="Calibri"/>
                <a:ea typeface="Calibri"/>
                <a:cs typeface="Calibri"/>
              </a:rPr>
              <a:t>agree it is SINGLE TRACK</a:t>
            </a:r>
            <a:endParaRPr sz="950"/>
          </a:p>
        </p:txBody>
      </p:sp>
      <p:sp>
        <p:nvSpPr>
          <p:cNvPr id="44" name="Text 42">
            <a:extLst>
              <a:ext uri="{FF2B5EF4-FFF2-40B4-BE49-F238E27FC236}">
                <a16:creationId xmlns:a16="http://schemas.microsoft.com/office/drawing/2014/main" id="{6DC04AC3-3B0D-4F37-9D76-0EE89182D6C7}"/>
              </a:ext>
            </a:extLst>
          </p:cNvPr>
          <p:cNvSpPr>
            <a:spLocks noGrp="1"/>
          </p:cNvSpPr>
          <p:nvPr/>
        </p:nvSpPr>
        <p:spPr>
          <a:xfrm>
            <a:off x="7315200" y="5074920"/>
            <a:ext cx="4206240" cy="1005840"/>
          </a:xfrm>
          <a:prstGeom prst="rect">
            <a:avLst/>
          </a:prstGeom>
          <a:noFill/>
        </p:spPr>
        <p:txBody>
          <a:bodyPr wrap="square" lIns="0" tIns="0" rIns="0" bIns="0" anchor="ctr"/>
          <a:lstStyle/>
          <a:p>
            <a:pPr marL="0" indent="0">
              <a:buNone/>
            </a:pPr>
            <a:r>
              <a:rPr sz="1400">
                <a:latin typeface="Calibri"/>
                <a:ea typeface="Calibri"/>
                <a:cs typeface="Calibri"/>
              </a:rPr>
              <a:t>Two independent official datasets agreeing on single track is a far stronger statement than one. Crossing revision dates are 2024–2026.</a:t>
            </a:r>
            <a:endParaRPr sz="1400"/>
          </a:p>
        </p:txBody>
      </p:sp>
    </p:spTree>
    <p:extLst>
      <p:ext uri="{BB962C8B-B14F-4D97-AF65-F5344CB8AC3E}">
        <p14:creationId xmlns:p14="http://schemas.microsoft.com/office/powerpoint/2010/main" val="109838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858085-7BB0-44D2-A9A0-4A8551365094}"/>
              </a:ext>
            </a:extLst>
          </p:cNvPr>
          <p:cNvSpPr>
            <a:spLocks noGrp="1"/>
          </p:cNvSpPr>
          <p:nvPr/>
        </p:nvSpPr>
        <p:spPr>
          <a:xfrm>
            <a:off x="502920" y="310896"/>
            <a:ext cx="11155680" cy="492443"/>
          </a:xfrm>
          <a:prstGeom prst="rect">
            <a:avLst/>
          </a:prstGeom>
          <a:noFill/>
        </p:spPr>
        <p:txBody>
          <a:bodyPr wrap="square" lIns="0" tIns="0" rIns="0" bIns="0">
            <a:spAutoFit/>
          </a:bodyPr>
          <a:lstStyle/>
          <a:p>
            <a:pPr algn="l">
              <a:buNone/>
            </a:pPr>
            <a:r>
              <a:rPr sz="3200" b="1" i="0">
                <a:latin typeface="Cambria"/>
                <a:ea typeface="Cambria"/>
                <a:cs typeface="Cambria"/>
              </a:rPr>
              <a:t>How the four sources are merged</a:t>
            </a:r>
          </a:p>
        </p:txBody>
      </p:sp>
      <p:sp>
        <p:nvSpPr>
          <p:cNvPr id="3" name="TextBox 2">
            <a:extLst>
              <a:ext uri="{FF2B5EF4-FFF2-40B4-BE49-F238E27FC236}">
                <a16:creationId xmlns:a16="http://schemas.microsoft.com/office/drawing/2014/main" id="{54BC73C4-2E2A-49D0-AD39-2633F4D73DBE}"/>
              </a:ext>
            </a:extLst>
          </p:cNvPr>
          <p:cNvSpPr>
            <a:spLocks noGrp="1"/>
          </p:cNvSpPr>
          <p:nvPr/>
        </p:nvSpPr>
        <p:spPr>
          <a:xfrm>
            <a:off x="502920" y="914400"/>
            <a:ext cx="11155680" cy="215444"/>
          </a:xfrm>
          <a:prstGeom prst="rect">
            <a:avLst/>
          </a:prstGeom>
          <a:noFill/>
        </p:spPr>
        <p:txBody>
          <a:bodyPr wrap="square" lIns="0" tIns="0" rIns="0" bIns="0">
            <a:spAutoFit/>
          </a:bodyPr>
          <a:lstStyle/>
          <a:p>
            <a:pPr algn="l">
              <a:buNone/>
            </a:pPr>
            <a:r>
              <a:rPr sz="1400" b="0" i="0">
                <a:latin typeface="Calibri"/>
                <a:ea typeface="Calibri"/>
                <a:cs typeface="Calibri"/>
              </a:rPr>
              <a:t>One rule per 0.25-mile bin, and a separate, deliberately weaker rule for the bins no source observed</a:t>
            </a:r>
          </a:p>
        </p:txBody>
      </p:sp>
      <p:sp>
        <p:nvSpPr>
          <p:cNvPr id="4" name="TextBox 3">
            <a:extLst>
              <a:ext uri="{FF2B5EF4-FFF2-40B4-BE49-F238E27FC236}">
                <a16:creationId xmlns:a16="http://schemas.microsoft.com/office/drawing/2014/main" id="{4F5BA018-A8EB-4B87-8F4A-723980F0AD15}"/>
              </a:ext>
            </a:extLst>
          </p:cNvPr>
          <p:cNvSpPr>
            <a:spLocks noGrp="1"/>
          </p:cNvSpPr>
          <p:nvPr/>
        </p:nvSpPr>
        <p:spPr>
          <a:xfrm>
            <a:off x="502920" y="1481328"/>
            <a:ext cx="5486400" cy="169277"/>
          </a:xfrm>
          <a:prstGeom prst="rect">
            <a:avLst/>
          </a:prstGeom>
          <a:noFill/>
        </p:spPr>
        <p:txBody>
          <a:bodyPr wrap="square" lIns="0" tIns="0" rIns="0" bIns="0">
            <a:spAutoFit/>
          </a:bodyPr>
          <a:lstStyle/>
          <a:p>
            <a:pPr algn="l">
              <a:buNone/>
            </a:pPr>
            <a:r>
              <a:rPr sz="1100" b="1" i="0">
                <a:latin typeface="Calibri"/>
                <a:ea typeface="Calibri"/>
                <a:cs typeface="Calibri"/>
              </a:rPr>
              <a:t>RECONCILE  —  take the maximum</a:t>
            </a:r>
          </a:p>
        </p:txBody>
      </p:sp>
      <p:sp>
        <p:nvSpPr>
          <p:cNvPr id="5" name="Rounded Rectangle 4">
            <a:extLst>
              <a:ext uri="{FF2B5EF4-FFF2-40B4-BE49-F238E27FC236}">
                <a16:creationId xmlns:a16="http://schemas.microsoft.com/office/drawing/2014/main" id="{E8CBB81F-C12F-473A-B47E-A879B3FEAC47}"/>
              </a:ext>
            </a:extLst>
          </p:cNvPr>
          <p:cNvSpPr>
            <a:spLocks noGrp="1"/>
          </p:cNvSpPr>
          <p:nvPr/>
        </p:nvSpPr>
        <p:spPr>
          <a:xfrm>
            <a:off x="502920" y="1792224"/>
            <a:ext cx="5486400" cy="566928"/>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6" name="TextBox 5">
            <a:extLst>
              <a:ext uri="{FF2B5EF4-FFF2-40B4-BE49-F238E27FC236}">
                <a16:creationId xmlns:a16="http://schemas.microsoft.com/office/drawing/2014/main" id="{B5EB528E-1E40-4954-80E3-A0638B3C7BBF}"/>
              </a:ext>
            </a:extLst>
          </p:cNvPr>
          <p:cNvSpPr>
            <a:spLocks noGrp="1"/>
          </p:cNvSpPr>
          <p:nvPr/>
        </p:nvSpPr>
        <p:spPr>
          <a:xfrm>
            <a:off x="731520" y="1938528"/>
            <a:ext cx="5029200" cy="176972"/>
          </a:xfrm>
          <a:prstGeom prst="rect">
            <a:avLst/>
          </a:prstGeom>
          <a:noFill/>
        </p:spPr>
        <p:txBody>
          <a:bodyPr wrap="square" lIns="0" tIns="0" rIns="0" bIns="0">
            <a:spAutoFit/>
          </a:bodyPr>
          <a:lstStyle/>
          <a:p>
            <a:pPr algn="l">
              <a:buNone/>
            </a:pPr>
            <a:r>
              <a:rPr sz="1150" b="1" i="0">
                <a:latin typeface="Courier New"/>
                <a:ea typeface="Courier New"/>
                <a:cs typeface="Courier New"/>
              </a:rPr>
              <a:t>N(bin)  =  max ( N_NARN ,  N_FRA ,  N_topology ,  N_OSM )</a:t>
            </a:r>
          </a:p>
        </p:txBody>
      </p:sp>
      <p:sp>
        <p:nvSpPr>
          <p:cNvPr id="7" name="TextBox 6">
            <a:extLst>
              <a:ext uri="{FF2B5EF4-FFF2-40B4-BE49-F238E27FC236}">
                <a16:creationId xmlns:a16="http://schemas.microsoft.com/office/drawing/2014/main" id="{5DC51003-D6D2-41AB-B7DE-6745F7419218}"/>
              </a:ext>
            </a:extLst>
          </p:cNvPr>
          <p:cNvSpPr>
            <a:spLocks noGrp="1"/>
          </p:cNvSpPr>
          <p:nvPr/>
        </p:nvSpPr>
        <p:spPr>
          <a:xfrm>
            <a:off x="502920" y="2523744"/>
            <a:ext cx="5486400" cy="646331"/>
          </a:xfrm>
          <a:prstGeom prst="rect">
            <a:avLst/>
          </a:prstGeom>
          <a:noFill/>
        </p:spPr>
        <p:txBody>
          <a:bodyPr wrap="square" lIns="0" tIns="0" rIns="0" bIns="0">
            <a:spAutoFit/>
          </a:bodyPr>
          <a:lstStyle/>
          <a:p>
            <a:pPr algn="l">
              <a:buNone/>
            </a:pPr>
            <a:r>
              <a:rPr sz="1050" b="0" i="0">
                <a:latin typeface="Calibri"/>
                <a:ea typeface="Calibri"/>
                <a:cs typeface="Calibri"/>
              </a:rPr>
              <a:t>Every one of these sources under-reports and none systematically over-reports. An FRA record written before a double-tracking project still says 1; an unmatched OSM way yields nothing; a railroad digitised as a single alignment yields 1. A source claiming MORE track is therefore evidence; a source claiming less is only silence.</a:t>
            </a:r>
          </a:p>
        </p:txBody>
      </p:sp>
      <p:sp>
        <p:nvSpPr>
          <p:cNvPr id="8" name="TextBox 7">
            <a:extLst>
              <a:ext uri="{FF2B5EF4-FFF2-40B4-BE49-F238E27FC236}">
                <a16:creationId xmlns:a16="http://schemas.microsoft.com/office/drawing/2014/main" id="{E8A28C9D-AF62-4B10-9EE8-5BD4552154F1}"/>
              </a:ext>
            </a:extLst>
          </p:cNvPr>
          <p:cNvSpPr>
            <a:spLocks noGrp="1"/>
          </p:cNvSpPr>
          <p:nvPr/>
        </p:nvSpPr>
        <p:spPr>
          <a:xfrm>
            <a:off x="502920" y="3291840"/>
            <a:ext cx="5486400" cy="153888"/>
          </a:xfrm>
          <a:prstGeom prst="rect">
            <a:avLst/>
          </a:prstGeom>
          <a:noFill/>
        </p:spPr>
        <p:txBody>
          <a:bodyPr wrap="square" lIns="0" tIns="0" rIns="0" bIns="0">
            <a:spAutoFit/>
          </a:bodyPr>
          <a:lstStyle/>
          <a:p>
            <a:pPr algn="l">
              <a:buNone/>
            </a:pPr>
            <a:r>
              <a:rPr sz="1000" b="1" i="0">
                <a:latin typeface="Calibri"/>
                <a:ea typeface="Calibri"/>
                <a:cs typeface="Calibri"/>
              </a:rPr>
              <a:t>Worked example, one bin</a:t>
            </a:r>
          </a:p>
        </p:txBody>
      </p:sp>
      <p:sp>
        <p:nvSpPr>
          <p:cNvPr id="9" name="Rounded Rectangle 8">
            <a:extLst>
              <a:ext uri="{FF2B5EF4-FFF2-40B4-BE49-F238E27FC236}">
                <a16:creationId xmlns:a16="http://schemas.microsoft.com/office/drawing/2014/main" id="{00F00B0A-9305-4586-AA2C-35ECE44EB0C3}"/>
              </a:ext>
            </a:extLst>
          </p:cNvPr>
          <p:cNvSpPr>
            <a:spLocks noGrp="1"/>
          </p:cNvSpPr>
          <p:nvPr/>
        </p:nvSpPr>
        <p:spPr>
          <a:xfrm>
            <a:off x="502920" y="3529584"/>
            <a:ext cx="3200400" cy="256032"/>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10" name="TextBox 9">
            <a:extLst>
              <a:ext uri="{FF2B5EF4-FFF2-40B4-BE49-F238E27FC236}">
                <a16:creationId xmlns:a16="http://schemas.microsoft.com/office/drawing/2014/main" id="{471BB5CA-F887-404C-827D-64BF3FFC5C79}"/>
              </a:ext>
            </a:extLst>
          </p:cNvPr>
          <p:cNvSpPr>
            <a:spLocks noGrp="1"/>
          </p:cNvSpPr>
          <p:nvPr/>
        </p:nvSpPr>
        <p:spPr>
          <a:xfrm>
            <a:off x="640080" y="3566160"/>
            <a:ext cx="1828800" cy="146194"/>
          </a:xfrm>
          <a:prstGeom prst="rect">
            <a:avLst/>
          </a:prstGeom>
          <a:noFill/>
        </p:spPr>
        <p:txBody>
          <a:bodyPr wrap="square" lIns="0" tIns="0" rIns="0" bIns="0">
            <a:spAutoFit/>
          </a:bodyPr>
          <a:lstStyle/>
          <a:p>
            <a:pPr algn="l">
              <a:buNone/>
            </a:pPr>
            <a:r>
              <a:rPr sz="950" b="0" i="0">
                <a:latin typeface="Calibri"/>
                <a:ea typeface="Calibri"/>
                <a:cs typeface="Calibri"/>
              </a:rPr>
              <a:t>NARN</a:t>
            </a:r>
          </a:p>
        </p:txBody>
      </p:sp>
      <p:sp>
        <p:nvSpPr>
          <p:cNvPr id="11" name="TextBox 10">
            <a:extLst>
              <a:ext uri="{FF2B5EF4-FFF2-40B4-BE49-F238E27FC236}">
                <a16:creationId xmlns:a16="http://schemas.microsoft.com/office/drawing/2014/main" id="{BB62E3B0-6E24-4462-93DA-521901B602AD}"/>
              </a:ext>
            </a:extLst>
          </p:cNvPr>
          <p:cNvSpPr>
            <a:spLocks noGrp="1"/>
          </p:cNvSpPr>
          <p:nvPr/>
        </p:nvSpPr>
        <p:spPr>
          <a:xfrm>
            <a:off x="2560320" y="3566160"/>
            <a:ext cx="1005840" cy="146194"/>
          </a:xfrm>
          <a:prstGeom prst="rect">
            <a:avLst/>
          </a:prstGeom>
          <a:noFill/>
        </p:spPr>
        <p:txBody>
          <a:bodyPr wrap="square" lIns="0" tIns="0" rIns="0" bIns="0">
            <a:spAutoFit/>
          </a:bodyPr>
          <a:lstStyle/>
          <a:p>
            <a:pPr algn="r">
              <a:buNone/>
            </a:pPr>
            <a:r>
              <a:rPr sz="950" b="0" i="0">
                <a:latin typeface="Calibri"/>
                <a:ea typeface="Calibri"/>
                <a:cs typeface="Calibri"/>
              </a:rPr>
              <a:t>2</a:t>
            </a:r>
          </a:p>
        </p:txBody>
      </p:sp>
      <p:sp>
        <p:nvSpPr>
          <p:cNvPr id="12" name="Rounded Rectangle 11">
            <a:extLst>
              <a:ext uri="{FF2B5EF4-FFF2-40B4-BE49-F238E27FC236}">
                <a16:creationId xmlns:a16="http://schemas.microsoft.com/office/drawing/2014/main" id="{F4E492CF-3312-4715-BEC8-76892F34A118}"/>
              </a:ext>
            </a:extLst>
          </p:cNvPr>
          <p:cNvSpPr>
            <a:spLocks noGrp="1"/>
          </p:cNvSpPr>
          <p:nvPr/>
        </p:nvSpPr>
        <p:spPr>
          <a:xfrm>
            <a:off x="502920" y="3803904"/>
            <a:ext cx="3200400" cy="256032"/>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13" name="TextBox 12">
            <a:extLst>
              <a:ext uri="{FF2B5EF4-FFF2-40B4-BE49-F238E27FC236}">
                <a16:creationId xmlns:a16="http://schemas.microsoft.com/office/drawing/2014/main" id="{71E5E7B8-073C-4393-9798-8374640CD5B4}"/>
              </a:ext>
            </a:extLst>
          </p:cNvPr>
          <p:cNvSpPr>
            <a:spLocks noGrp="1"/>
          </p:cNvSpPr>
          <p:nvPr/>
        </p:nvSpPr>
        <p:spPr>
          <a:xfrm>
            <a:off x="640080" y="3840480"/>
            <a:ext cx="1828800" cy="146194"/>
          </a:xfrm>
          <a:prstGeom prst="rect">
            <a:avLst/>
          </a:prstGeom>
          <a:noFill/>
        </p:spPr>
        <p:txBody>
          <a:bodyPr wrap="square" lIns="0" tIns="0" rIns="0" bIns="0">
            <a:spAutoFit/>
          </a:bodyPr>
          <a:lstStyle/>
          <a:p>
            <a:pPr algn="l">
              <a:buNone/>
            </a:pPr>
            <a:r>
              <a:rPr sz="950" b="0" i="0">
                <a:latin typeface="Calibri"/>
                <a:ea typeface="Calibri"/>
                <a:cs typeface="Calibri"/>
              </a:rPr>
              <a:t>FRA</a:t>
            </a:r>
          </a:p>
        </p:txBody>
      </p:sp>
      <p:sp>
        <p:nvSpPr>
          <p:cNvPr id="14" name="TextBox 13">
            <a:extLst>
              <a:ext uri="{FF2B5EF4-FFF2-40B4-BE49-F238E27FC236}">
                <a16:creationId xmlns:a16="http://schemas.microsoft.com/office/drawing/2014/main" id="{17B32105-9D3A-496D-89CA-1286715FEA10}"/>
              </a:ext>
            </a:extLst>
          </p:cNvPr>
          <p:cNvSpPr>
            <a:spLocks noGrp="1"/>
          </p:cNvSpPr>
          <p:nvPr/>
        </p:nvSpPr>
        <p:spPr>
          <a:xfrm>
            <a:off x="2560320" y="3840480"/>
            <a:ext cx="1005840" cy="146194"/>
          </a:xfrm>
          <a:prstGeom prst="rect">
            <a:avLst/>
          </a:prstGeom>
          <a:noFill/>
        </p:spPr>
        <p:txBody>
          <a:bodyPr wrap="square" lIns="0" tIns="0" rIns="0" bIns="0">
            <a:spAutoFit/>
          </a:bodyPr>
          <a:lstStyle/>
          <a:p>
            <a:pPr algn="r">
              <a:buNone/>
            </a:pPr>
            <a:r>
              <a:rPr sz="950" b="1" i="0">
                <a:latin typeface="Calibri"/>
                <a:ea typeface="Calibri"/>
                <a:cs typeface="Calibri"/>
              </a:rPr>
              <a:t>3</a:t>
            </a:r>
          </a:p>
        </p:txBody>
      </p:sp>
      <p:sp>
        <p:nvSpPr>
          <p:cNvPr id="15" name="Rounded Rectangle 14">
            <a:extLst>
              <a:ext uri="{FF2B5EF4-FFF2-40B4-BE49-F238E27FC236}">
                <a16:creationId xmlns:a16="http://schemas.microsoft.com/office/drawing/2014/main" id="{99EA7E81-A91F-4FF4-A2E4-D5E6B88B20F1}"/>
              </a:ext>
            </a:extLst>
          </p:cNvPr>
          <p:cNvSpPr>
            <a:spLocks noGrp="1"/>
          </p:cNvSpPr>
          <p:nvPr/>
        </p:nvSpPr>
        <p:spPr>
          <a:xfrm>
            <a:off x="502920" y="4078224"/>
            <a:ext cx="3200400" cy="256032"/>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16" name="TextBox 15">
            <a:extLst>
              <a:ext uri="{FF2B5EF4-FFF2-40B4-BE49-F238E27FC236}">
                <a16:creationId xmlns:a16="http://schemas.microsoft.com/office/drawing/2014/main" id="{05433088-008C-4E8F-A586-4443AE45F203}"/>
              </a:ext>
            </a:extLst>
          </p:cNvPr>
          <p:cNvSpPr>
            <a:spLocks noGrp="1"/>
          </p:cNvSpPr>
          <p:nvPr/>
        </p:nvSpPr>
        <p:spPr>
          <a:xfrm>
            <a:off x="640080" y="4114800"/>
            <a:ext cx="1828800" cy="146194"/>
          </a:xfrm>
          <a:prstGeom prst="rect">
            <a:avLst/>
          </a:prstGeom>
          <a:noFill/>
        </p:spPr>
        <p:txBody>
          <a:bodyPr wrap="square" lIns="0" tIns="0" rIns="0" bIns="0">
            <a:spAutoFit/>
          </a:bodyPr>
          <a:lstStyle/>
          <a:p>
            <a:pPr algn="l">
              <a:buNone/>
            </a:pPr>
            <a:r>
              <a:rPr sz="950" b="0" i="0">
                <a:latin typeface="Calibri"/>
                <a:ea typeface="Calibri"/>
                <a:cs typeface="Calibri"/>
              </a:rPr>
              <a:t>Topology</a:t>
            </a:r>
          </a:p>
        </p:txBody>
      </p:sp>
      <p:sp>
        <p:nvSpPr>
          <p:cNvPr id="17" name="TextBox 16">
            <a:extLst>
              <a:ext uri="{FF2B5EF4-FFF2-40B4-BE49-F238E27FC236}">
                <a16:creationId xmlns:a16="http://schemas.microsoft.com/office/drawing/2014/main" id="{327B5BF1-5006-4E73-B63D-572C10C98C66}"/>
              </a:ext>
            </a:extLst>
          </p:cNvPr>
          <p:cNvSpPr>
            <a:spLocks noGrp="1"/>
          </p:cNvSpPr>
          <p:nvPr/>
        </p:nvSpPr>
        <p:spPr>
          <a:xfrm>
            <a:off x="2560320" y="4114800"/>
            <a:ext cx="1005840" cy="146194"/>
          </a:xfrm>
          <a:prstGeom prst="rect">
            <a:avLst/>
          </a:prstGeom>
          <a:noFill/>
        </p:spPr>
        <p:txBody>
          <a:bodyPr wrap="square" lIns="0" tIns="0" rIns="0" bIns="0">
            <a:spAutoFit/>
          </a:bodyPr>
          <a:lstStyle/>
          <a:p>
            <a:pPr algn="r">
              <a:buNone/>
            </a:pPr>
            <a:r>
              <a:rPr sz="950" b="0" i="0">
                <a:latin typeface="Calibri"/>
                <a:ea typeface="Calibri"/>
                <a:cs typeface="Calibri"/>
              </a:rPr>
              <a:t>2</a:t>
            </a:r>
          </a:p>
        </p:txBody>
      </p:sp>
      <p:sp>
        <p:nvSpPr>
          <p:cNvPr id="18" name="Rounded Rectangle 17">
            <a:extLst>
              <a:ext uri="{FF2B5EF4-FFF2-40B4-BE49-F238E27FC236}">
                <a16:creationId xmlns:a16="http://schemas.microsoft.com/office/drawing/2014/main" id="{E637C663-D762-4C78-882E-1B71A064F919}"/>
              </a:ext>
            </a:extLst>
          </p:cNvPr>
          <p:cNvSpPr>
            <a:spLocks noGrp="1"/>
          </p:cNvSpPr>
          <p:nvPr/>
        </p:nvSpPr>
        <p:spPr>
          <a:xfrm>
            <a:off x="502920" y="4352544"/>
            <a:ext cx="3200400" cy="256032"/>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19" name="TextBox 18">
            <a:extLst>
              <a:ext uri="{FF2B5EF4-FFF2-40B4-BE49-F238E27FC236}">
                <a16:creationId xmlns:a16="http://schemas.microsoft.com/office/drawing/2014/main" id="{A8819903-309F-418E-8E9D-E2CA85D70183}"/>
              </a:ext>
            </a:extLst>
          </p:cNvPr>
          <p:cNvSpPr>
            <a:spLocks noGrp="1"/>
          </p:cNvSpPr>
          <p:nvPr/>
        </p:nvSpPr>
        <p:spPr>
          <a:xfrm>
            <a:off x="640080" y="4389120"/>
            <a:ext cx="1828800" cy="146194"/>
          </a:xfrm>
          <a:prstGeom prst="rect">
            <a:avLst/>
          </a:prstGeom>
          <a:noFill/>
        </p:spPr>
        <p:txBody>
          <a:bodyPr wrap="square" lIns="0" tIns="0" rIns="0" bIns="0">
            <a:spAutoFit/>
          </a:bodyPr>
          <a:lstStyle/>
          <a:p>
            <a:pPr algn="l">
              <a:buNone/>
            </a:pPr>
            <a:r>
              <a:rPr sz="950" b="0" i="0">
                <a:latin typeface="Calibri"/>
                <a:ea typeface="Calibri"/>
                <a:cs typeface="Calibri"/>
              </a:rPr>
              <a:t>OSM</a:t>
            </a:r>
          </a:p>
        </p:txBody>
      </p:sp>
      <p:sp>
        <p:nvSpPr>
          <p:cNvPr id="20" name="TextBox 19">
            <a:extLst>
              <a:ext uri="{FF2B5EF4-FFF2-40B4-BE49-F238E27FC236}">
                <a16:creationId xmlns:a16="http://schemas.microsoft.com/office/drawing/2014/main" id="{A74095D6-15BB-4A91-A6D2-612FC7D2B8D4}"/>
              </a:ext>
            </a:extLst>
          </p:cNvPr>
          <p:cNvSpPr>
            <a:spLocks noGrp="1"/>
          </p:cNvSpPr>
          <p:nvPr/>
        </p:nvSpPr>
        <p:spPr>
          <a:xfrm>
            <a:off x="2560320" y="4389120"/>
            <a:ext cx="1005840" cy="146194"/>
          </a:xfrm>
          <a:prstGeom prst="rect">
            <a:avLst/>
          </a:prstGeom>
          <a:noFill/>
        </p:spPr>
        <p:txBody>
          <a:bodyPr wrap="square" lIns="0" tIns="0" rIns="0" bIns="0">
            <a:spAutoFit/>
          </a:bodyPr>
          <a:lstStyle/>
          <a:p>
            <a:pPr algn="r">
              <a:buNone/>
            </a:pPr>
            <a:r>
              <a:rPr sz="950" b="0" i="0">
                <a:latin typeface="Calibri"/>
                <a:ea typeface="Calibri"/>
                <a:cs typeface="Calibri"/>
              </a:rPr>
              <a:t>no match</a:t>
            </a:r>
          </a:p>
        </p:txBody>
      </p:sp>
      <p:sp>
        <p:nvSpPr>
          <p:cNvPr id="21" name="Rounded Rectangle 20">
            <a:extLst>
              <a:ext uri="{FF2B5EF4-FFF2-40B4-BE49-F238E27FC236}">
                <a16:creationId xmlns:a16="http://schemas.microsoft.com/office/drawing/2014/main" id="{BC8FDF94-FC12-47F5-A017-215AD6AE0C2C}"/>
              </a:ext>
            </a:extLst>
          </p:cNvPr>
          <p:cNvSpPr>
            <a:spLocks noGrp="1"/>
          </p:cNvSpPr>
          <p:nvPr/>
        </p:nvSpPr>
        <p:spPr>
          <a:xfrm>
            <a:off x="3886200" y="3650950"/>
            <a:ext cx="2103120" cy="786384"/>
          </a:xfrm>
          <a:prstGeom prst="roundRect">
            <a:avLst/>
          </a:prstGeom>
          <a:noFill/>
          <a:ln w="12700">
            <a:solidFill>
              <a:srgbClr val="1F7A5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22" name="TextBox 21">
            <a:extLst>
              <a:ext uri="{FF2B5EF4-FFF2-40B4-BE49-F238E27FC236}">
                <a16:creationId xmlns:a16="http://schemas.microsoft.com/office/drawing/2014/main" id="{D714221A-0B8E-4280-879A-6D45806AC50F}"/>
              </a:ext>
            </a:extLst>
          </p:cNvPr>
          <p:cNvSpPr>
            <a:spLocks noGrp="1"/>
          </p:cNvSpPr>
          <p:nvPr/>
        </p:nvSpPr>
        <p:spPr>
          <a:xfrm>
            <a:off x="4023360" y="3797254"/>
            <a:ext cx="1828800" cy="219456"/>
          </a:xfrm>
          <a:prstGeom prst="rect">
            <a:avLst/>
          </a:prstGeom>
          <a:noFill/>
        </p:spPr>
        <p:txBody>
          <a:bodyPr wrap="square" lIns="0" tIns="0" rIns="0" bIns="0">
            <a:spAutoFit/>
          </a:bodyPr>
          <a:lstStyle/>
          <a:p>
            <a:pPr algn="ctr">
              <a:buNone/>
            </a:pPr>
            <a:r>
              <a:rPr sz="1400" b="1" i="0">
                <a:latin typeface="Cambria"/>
                <a:ea typeface="Cambria"/>
                <a:cs typeface="Cambria"/>
              </a:rPr>
              <a:t>max = 3</a:t>
            </a:r>
          </a:p>
        </p:txBody>
      </p:sp>
      <p:sp>
        <p:nvSpPr>
          <p:cNvPr id="23" name="TextBox 22">
            <a:extLst>
              <a:ext uri="{FF2B5EF4-FFF2-40B4-BE49-F238E27FC236}">
                <a16:creationId xmlns:a16="http://schemas.microsoft.com/office/drawing/2014/main" id="{FCDF8BC9-774F-4670-9847-8D889A58F362}"/>
              </a:ext>
            </a:extLst>
          </p:cNvPr>
          <p:cNvSpPr>
            <a:spLocks noGrp="1"/>
          </p:cNvSpPr>
          <p:nvPr/>
        </p:nvSpPr>
        <p:spPr>
          <a:xfrm>
            <a:off x="4023360" y="4071574"/>
            <a:ext cx="1828800" cy="246221"/>
          </a:xfrm>
          <a:prstGeom prst="rect">
            <a:avLst/>
          </a:prstGeom>
          <a:noFill/>
        </p:spPr>
        <p:txBody>
          <a:bodyPr wrap="square" lIns="0" tIns="0" rIns="0" bIns="0">
            <a:spAutoFit/>
          </a:bodyPr>
          <a:lstStyle/>
          <a:p>
            <a:pPr algn="ctr">
              <a:buNone/>
            </a:pPr>
            <a:r>
              <a:rPr sz="800" b="0" i="0">
                <a:latin typeface="Calibri"/>
                <a:ea typeface="Calibri"/>
                <a:cs typeface="Calibri"/>
              </a:rPr>
              <a:t>FRA has already</a:t>
            </a:r>
          </a:p>
          <a:p>
            <a:pPr algn="ctr">
              <a:buNone/>
            </a:pPr>
            <a:r>
              <a:rPr sz="800" b="0" i="0">
                <a:latin typeface="Calibri"/>
                <a:ea typeface="Calibri"/>
                <a:cs typeface="Calibri"/>
              </a:rPr>
              <a:t>observed 3 tracks here</a:t>
            </a:r>
          </a:p>
        </p:txBody>
      </p:sp>
      <p:sp>
        <p:nvSpPr>
          <p:cNvPr id="24" name="TextBox 23">
            <a:extLst>
              <a:ext uri="{FF2B5EF4-FFF2-40B4-BE49-F238E27FC236}">
                <a16:creationId xmlns:a16="http://schemas.microsoft.com/office/drawing/2014/main" id="{7C24295B-55CC-4F52-8B9F-27F1AE1452B3}"/>
              </a:ext>
            </a:extLst>
          </p:cNvPr>
          <p:cNvSpPr>
            <a:spLocks noGrp="1"/>
          </p:cNvSpPr>
          <p:nvPr/>
        </p:nvSpPr>
        <p:spPr>
          <a:xfrm>
            <a:off x="6355080" y="1481328"/>
            <a:ext cx="5303520" cy="169277"/>
          </a:xfrm>
          <a:prstGeom prst="rect">
            <a:avLst/>
          </a:prstGeom>
          <a:noFill/>
        </p:spPr>
        <p:txBody>
          <a:bodyPr wrap="square" lIns="0" tIns="0" rIns="0" bIns="0">
            <a:spAutoFit/>
          </a:bodyPr>
          <a:lstStyle/>
          <a:p>
            <a:pPr algn="l">
              <a:buNone/>
            </a:pPr>
            <a:r>
              <a:rPr sz="1100" b="1" i="0">
                <a:latin typeface="Calibri"/>
                <a:ea typeface="Calibri"/>
                <a:cs typeface="Calibri"/>
              </a:rPr>
              <a:t>CONTINUITY BRIDGING  —  take the minimum</a:t>
            </a:r>
          </a:p>
        </p:txBody>
      </p:sp>
      <p:sp>
        <p:nvSpPr>
          <p:cNvPr id="25" name="Rounded Rectangle 24">
            <a:extLst>
              <a:ext uri="{FF2B5EF4-FFF2-40B4-BE49-F238E27FC236}">
                <a16:creationId xmlns:a16="http://schemas.microsoft.com/office/drawing/2014/main" id="{1925B97A-AE22-4AA7-AB07-7B6DAECA5873}"/>
              </a:ext>
            </a:extLst>
          </p:cNvPr>
          <p:cNvSpPr>
            <a:spLocks noGrp="1"/>
          </p:cNvSpPr>
          <p:nvPr/>
        </p:nvSpPr>
        <p:spPr>
          <a:xfrm>
            <a:off x="6355080" y="1792224"/>
            <a:ext cx="5303520" cy="566928"/>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26" name="TextBox 25">
            <a:extLst>
              <a:ext uri="{FF2B5EF4-FFF2-40B4-BE49-F238E27FC236}">
                <a16:creationId xmlns:a16="http://schemas.microsoft.com/office/drawing/2014/main" id="{88F0261C-867C-492F-90F4-E5C4DD65BF0C}"/>
              </a:ext>
            </a:extLst>
          </p:cNvPr>
          <p:cNvSpPr>
            <a:spLocks noGrp="1"/>
          </p:cNvSpPr>
          <p:nvPr/>
        </p:nvSpPr>
        <p:spPr>
          <a:xfrm>
            <a:off x="6583680" y="1938528"/>
            <a:ext cx="4846320" cy="176972"/>
          </a:xfrm>
          <a:prstGeom prst="rect">
            <a:avLst/>
          </a:prstGeom>
          <a:noFill/>
        </p:spPr>
        <p:txBody>
          <a:bodyPr wrap="square" lIns="0" tIns="0" rIns="0" bIns="0">
            <a:spAutoFit/>
          </a:bodyPr>
          <a:lstStyle/>
          <a:p>
            <a:pPr algn="l">
              <a:buNone/>
            </a:pPr>
            <a:r>
              <a:rPr sz="1150" b="1" i="0">
                <a:latin typeface="Courier New"/>
                <a:ea typeface="Courier New"/>
                <a:cs typeface="Courier New"/>
              </a:rPr>
              <a:t>N(gap)  =  min ( N_left ,  N_right )    gap ≤ 25 miles</a:t>
            </a:r>
          </a:p>
        </p:txBody>
      </p:sp>
      <p:sp>
        <p:nvSpPr>
          <p:cNvPr id="27" name="TextBox 26">
            <a:extLst>
              <a:ext uri="{FF2B5EF4-FFF2-40B4-BE49-F238E27FC236}">
                <a16:creationId xmlns:a16="http://schemas.microsoft.com/office/drawing/2014/main" id="{765DE112-DAD5-453A-99B8-D56F760C7743}"/>
              </a:ext>
            </a:extLst>
          </p:cNvPr>
          <p:cNvSpPr>
            <a:spLocks noGrp="1"/>
          </p:cNvSpPr>
          <p:nvPr/>
        </p:nvSpPr>
        <p:spPr>
          <a:xfrm>
            <a:off x="6355080" y="2523744"/>
            <a:ext cx="5303520" cy="484748"/>
          </a:xfrm>
          <a:prstGeom prst="rect">
            <a:avLst/>
          </a:prstGeom>
          <a:noFill/>
        </p:spPr>
        <p:txBody>
          <a:bodyPr wrap="square" lIns="0" tIns="0" rIns="0" bIns="0">
            <a:spAutoFit/>
          </a:bodyPr>
          <a:lstStyle/>
          <a:p>
            <a:pPr algn="l">
              <a:buNone/>
            </a:pPr>
            <a:r>
              <a:rPr sz="1050" b="0" i="0">
                <a:latin typeface="Calibri"/>
                <a:ea typeface="Calibri"/>
                <a:cs typeface="Calibri"/>
              </a:rPr>
              <a:t>A main track does not stop and restart. A bin with no observation of its own, lying between two observed bins, inherits from them - but only across a gap of 25 miles or less, and never over a bin that carries its own evidence.</a:t>
            </a:r>
          </a:p>
        </p:txBody>
      </p:sp>
      <p:sp>
        <p:nvSpPr>
          <p:cNvPr id="28" name="Rounded Rectangle 27">
            <a:extLst>
              <a:ext uri="{FF2B5EF4-FFF2-40B4-BE49-F238E27FC236}">
                <a16:creationId xmlns:a16="http://schemas.microsoft.com/office/drawing/2014/main" id="{2AED42DA-818B-4C2C-A379-23FD10CAF3FC}"/>
              </a:ext>
            </a:extLst>
          </p:cNvPr>
          <p:cNvSpPr>
            <a:spLocks noGrp="1"/>
          </p:cNvSpPr>
          <p:nvPr/>
        </p:nvSpPr>
        <p:spPr>
          <a:xfrm>
            <a:off x="6355080" y="3255264"/>
            <a:ext cx="5303520" cy="566928"/>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29" name="TextBox 28">
            <a:extLst>
              <a:ext uri="{FF2B5EF4-FFF2-40B4-BE49-F238E27FC236}">
                <a16:creationId xmlns:a16="http://schemas.microsoft.com/office/drawing/2014/main" id="{E66BC34E-BAE5-4DC1-B9B4-68F008F6002C}"/>
              </a:ext>
            </a:extLst>
          </p:cNvPr>
          <p:cNvSpPr>
            <a:spLocks noGrp="1"/>
          </p:cNvSpPr>
          <p:nvPr/>
        </p:nvSpPr>
        <p:spPr>
          <a:xfrm>
            <a:off x="6583680" y="3364992"/>
            <a:ext cx="4846320" cy="292388"/>
          </a:xfrm>
          <a:prstGeom prst="rect">
            <a:avLst/>
          </a:prstGeom>
          <a:noFill/>
        </p:spPr>
        <p:txBody>
          <a:bodyPr wrap="square" lIns="0" tIns="0" rIns="0" bIns="0">
            <a:spAutoFit/>
          </a:bodyPr>
          <a:lstStyle/>
          <a:p>
            <a:pPr algn="l">
              <a:buNone/>
            </a:pPr>
            <a:r>
              <a:rPr sz="950" b="0" i="0">
                <a:latin typeface="Courier New"/>
                <a:ea typeface="Courier New"/>
                <a:cs typeface="Courier New"/>
              </a:rPr>
              <a:t>mile 100        mile 103        mile 106</a:t>
            </a:r>
          </a:p>
          <a:p>
            <a:pPr algn="l">
              <a:buNone/>
            </a:pPr>
            <a:r>
              <a:rPr sz="950" b="0" i="0">
                <a:latin typeface="Courier New"/>
                <a:ea typeface="Courier New"/>
                <a:cs typeface="Courier New"/>
              </a:rPr>
              <a:t>tracks = 2       unknown        tracks = 3</a:t>
            </a:r>
          </a:p>
        </p:txBody>
      </p:sp>
      <p:sp>
        <p:nvSpPr>
          <p:cNvPr id="30" name="TextBox 29">
            <a:extLst>
              <a:ext uri="{FF2B5EF4-FFF2-40B4-BE49-F238E27FC236}">
                <a16:creationId xmlns:a16="http://schemas.microsoft.com/office/drawing/2014/main" id="{FF6F9D15-4A54-48DB-B952-AD6E8CC79806}"/>
              </a:ext>
            </a:extLst>
          </p:cNvPr>
          <p:cNvSpPr>
            <a:spLocks noGrp="1"/>
          </p:cNvSpPr>
          <p:nvPr/>
        </p:nvSpPr>
        <p:spPr>
          <a:xfrm>
            <a:off x="6355080" y="3950208"/>
            <a:ext cx="5303520" cy="484748"/>
          </a:xfrm>
          <a:prstGeom prst="rect">
            <a:avLst/>
          </a:prstGeom>
          <a:noFill/>
        </p:spPr>
        <p:txBody>
          <a:bodyPr wrap="square" lIns="0" tIns="0" rIns="0" bIns="0">
            <a:spAutoFit/>
          </a:bodyPr>
          <a:lstStyle/>
          <a:p>
            <a:pPr algn="l">
              <a:buNone/>
            </a:pPr>
            <a:r>
              <a:rPr sz="1050" b="0" i="0">
                <a:latin typeface="Calibri"/>
                <a:ea typeface="Calibri"/>
                <a:cs typeface="Calibri"/>
              </a:rPr>
              <a:t>Why the minimum, when the reconcile rule takes the maximum: three tracks on one side is no evidence that all three run through the gap. The only thing the two observations jointly support is that at least two run continuously - so the gap inherits min(2, 3) = 2.</a:t>
            </a:r>
          </a:p>
        </p:txBody>
      </p:sp>
      <p:sp>
        <p:nvSpPr>
          <p:cNvPr id="31" name="Rounded Rectangle 30">
            <a:extLst>
              <a:ext uri="{FF2B5EF4-FFF2-40B4-BE49-F238E27FC236}">
                <a16:creationId xmlns:a16="http://schemas.microsoft.com/office/drawing/2014/main" id="{3948B59B-D43A-43BC-89F0-9CD0C59BAF60}"/>
              </a:ext>
            </a:extLst>
          </p:cNvPr>
          <p:cNvSpPr>
            <a:spLocks noGrp="1"/>
          </p:cNvSpPr>
          <p:nvPr/>
        </p:nvSpPr>
        <p:spPr>
          <a:xfrm>
            <a:off x="502920" y="4828032"/>
            <a:ext cx="11155680" cy="1298448"/>
          </a:xfrm>
          <a:prstGeom prst="roundRect">
            <a:avLst/>
          </a:prstGeom>
          <a:noFill/>
          <a:ln w="12700">
            <a:solidFill>
              <a:srgbClr val="D6DEE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solidFill>
                <a:schemeClr val="tx1"/>
              </a:solidFill>
            </a:endParaRPr>
          </a:p>
        </p:txBody>
      </p:sp>
      <p:sp>
        <p:nvSpPr>
          <p:cNvPr id="32" name="TextBox 31">
            <a:extLst>
              <a:ext uri="{FF2B5EF4-FFF2-40B4-BE49-F238E27FC236}">
                <a16:creationId xmlns:a16="http://schemas.microsoft.com/office/drawing/2014/main" id="{F09A88BC-0A79-4C57-8464-EBB3461EEBF7}"/>
              </a:ext>
            </a:extLst>
          </p:cNvPr>
          <p:cNvSpPr>
            <a:spLocks noGrp="1"/>
          </p:cNvSpPr>
          <p:nvPr/>
        </p:nvSpPr>
        <p:spPr>
          <a:xfrm>
            <a:off x="731520" y="4956048"/>
            <a:ext cx="10698480" cy="169277"/>
          </a:xfrm>
          <a:prstGeom prst="rect">
            <a:avLst/>
          </a:prstGeom>
          <a:noFill/>
        </p:spPr>
        <p:txBody>
          <a:bodyPr wrap="square" lIns="0" tIns="0" rIns="0" bIns="0">
            <a:spAutoFit/>
          </a:bodyPr>
          <a:lstStyle/>
          <a:p>
            <a:pPr algn="l">
              <a:buNone/>
            </a:pPr>
            <a:r>
              <a:rPr sz="1100" b="1" i="0">
                <a:latin typeface="Calibri"/>
                <a:ea typeface="Calibri"/>
                <a:cs typeface="Calibri"/>
              </a:rPr>
              <a:t>Which rule actually set each of the 8,856 bins on the corridor</a:t>
            </a:r>
          </a:p>
        </p:txBody>
      </p:sp>
      <p:sp>
        <p:nvSpPr>
          <p:cNvPr id="33" name="TextBox 32">
            <a:extLst>
              <a:ext uri="{FF2B5EF4-FFF2-40B4-BE49-F238E27FC236}">
                <a16:creationId xmlns:a16="http://schemas.microsoft.com/office/drawing/2014/main" id="{B1CA54B5-B415-4B3A-ABCE-55197D1914BE}"/>
              </a:ext>
            </a:extLst>
          </p:cNvPr>
          <p:cNvSpPr>
            <a:spLocks noGrp="1"/>
          </p:cNvSpPr>
          <p:nvPr/>
        </p:nvSpPr>
        <p:spPr>
          <a:xfrm>
            <a:off x="822960" y="5248656"/>
            <a:ext cx="2468880" cy="338554"/>
          </a:xfrm>
          <a:prstGeom prst="rect">
            <a:avLst/>
          </a:prstGeom>
          <a:noFill/>
        </p:spPr>
        <p:txBody>
          <a:bodyPr wrap="square" lIns="0" tIns="0" rIns="0" bIns="0">
            <a:spAutoFit/>
          </a:bodyPr>
          <a:lstStyle/>
          <a:p>
            <a:pPr algn="l">
              <a:buNone/>
            </a:pPr>
            <a:r>
              <a:rPr sz="2200" b="1" i="0">
                <a:latin typeface="Cambria"/>
                <a:ea typeface="Cambria"/>
                <a:cs typeface="Cambria"/>
              </a:rPr>
              <a:t>8,020</a:t>
            </a:r>
          </a:p>
        </p:txBody>
      </p:sp>
      <p:sp>
        <p:nvSpPr>
          <p:cNvPr id="34" name="TextBox 33">
            <a:extLst>
              <a:ext uri="{FF2B5EF4-FFF2-40B4-BE49-F238E27FC236}">
                <a16:creationId xmlns:a16="http://schemas.microsoft.com/office/drawing/2014/main" id="{E06AF123-C07F-4151-A6BA-2389E423CE0C}"/>
              </a:ext>
            </a:extLst>
          </p:cNvPr>
          <p:cNvSpPr>
            <a:spLocks noGrp="1"/>
          </p:cNvSpPr>
          <p:nvPr/>
        </p:nvSpPr>
        <p:spPr>
          <a:xfrm>
            <a:off x="822960" y="5614416"/>
            <a:ext cx="2468880" cy="146194"/>
          </a:xfrm>
          <a:prstGeom prst="rect">
            <a:avLst/>
          </a:prstGeom>
          <a:noFill/>
        </p:spPr>
        <p:txBody>
          <a:bodyPr wrap="square" lIns="0" tIns="0" rIns="0" bIns="0">
            <a:spAutoFit/>
          </a:bodyPr>
          <a:lstStyle/>
          <a:p>
            <a:pPr algn="l">
              <a:buNone/>
            </a:pPr>
            <a:r>
              <a:rPr sz="950" b="0" i="0">
                <a:latin typeface="Calibri"/>
                <a:ea typeface="Calibri"/>
                <a:cs typeface="Calibri"/>
              </a:rPr>
              <a:t>NARN track count</a:t>
            </a:r>
          </a:p>
        </p:txBody>
      </p:sp>
      <p:sp>
        <p:nvSpPr>
          <p:cNvPr id="35" name="TextBox 34">
            <a:extLst>
              <a:ext uri="{FF2B5EF4-FFF2-40B4-BE49-F238E27FC236}">
                <a16:creationId xmlns:a16="http://schemas.microsoft.com/office/drawing/2014/main" id="{CFDDF5C9-E95D-4DBC-B633-F1D7D5271EA3}"/>
              </a:ext>
            </a:extLst>
          </p:cNvPr>
          <p:cNvSpPr>
            <a:spLocks noGrp="1"/>
          </p:cNvSpPr>
          <p:nvPr/>
        </p:nvSpPr>
        <p:spPr>
          <a:xfrm>
            <a:off x="822960" y="5815584"/>
            <a:ext cx="2468880" cy="130805"/>
          </a:xfrm>
          <a:prstGeom prst="rect">
            <a:avLst/>
          </a:prstGeom>
          <a:noFill/>
        </p:spPr>
        <p:txBody>
          <a:bodyPr wrap="square" lIns="0" tIns="0" rIns="0" bIns="0">
            <a:spAutoFit/>
          </a:bodyPr>
          <a:lstStyle/>
          <a:p>
            <a:pPr algn="l">
              <a:buNone/>
            </a:pPr>
            <a:r>
              <a:rPr sz="850" b="0" i="0">
                <a:latin typeface="Calibri"/>
                <a:ea typeface="Calibri"/>
                <a:cs typeface="Calibri"/>
              </a:rPr>
              <a:t>90.6% of bins</a:t>
            </a:r>
          </a:p>
        </p:txBody>
      </p:sp>
      <p:sp>
        <p:nvSpPr>
          <p:cNvPr id="36" name="TextBox 35">
            <a:extLst>
              <a:ext uri="{FF2B5EF4-FFF2-40B4-BE49-F238E27FC236}">
                <a16:creationId xmlns:a16="http://schemas.microsoft.com/office/drawing/2014/main" id="{2F4C7F74-1377-4493-A8EA-F83A9195F4C2}"/>
              </a:ext>
            </a:extLst>
          </p:cNvPr>
          <p:cNvSpPr>
            <a:spLocks noGrp="1"/>
          </p:cNvSpPr>
          <p:nvPr/>
        </p:nvSpPr>
        <p:spPr>
          <a:xfrm>
            <a:off x="3566160" y="5248656"/>
            <a:ext cx="2468880" cy="338554"/>
          </a:xfrm>
          <a:prstGeom prst="rect">
            <a:avLst/>
          </a:prstGeom>
          <a:noFill/>
        </p:spPr>
        <p:txBody>
          <a:bodyPr wrap="square" lIns="0" tIns="0" rIns="0" bIns="0">
            <a:spAutoFit/>
          </a:bodyPr>
          <a:lstStyle/>
          <a:p>
            <a:pPr algn="l">
              <a:buNone/>
            </a:pPr>
            <a:r>
              <a:rPr sz="2200" b="1" i="0">
                <a:latin typeface="Cambria"/>
                <a:ea typeface="Cambria"/>
                <a:cs typeface="Cambria"/>
              </a:rPr>
              <a:t>322</a:t>
            </a:r>
          </a:p>
        </p:txBody>
      </p:sp>
      <p:sp>
        <p:nvSpPr>
          <p:cNvPr id="37" name="TextBox 36">
            <a:extLst>
              <a:ext uri="{FF2B5EF4-FFF2-40B4-BE49-F238E27FC236}">
                <a16:creationId xmlns:a16="http://schemas.microsoft.com/office/drawing/2014/main" id="{99A0229A-CA3F-4C49-AA02-6401956DAE18}"/>
              </a:ext>
            </a:extLst>
          </p:cNvPr>
          <p:cNvSpPr>
            <a:spLocks noGrp="1"/>
          </p:cNvSpPr>
          <p:nvPr/>
        </p:nvSpPr>
        <p:spPr>
          <a:xfrm>
            <a:off x="3566160" y="5614416"/>
            <a:ext cx="2468880" cy="146194"/>
          </a:xfrm>
          <a:prstGeom prst="rect">
            <a:avLst/>
          </a:prstGeom>
          <a:noFill/>
        </p:spPr>
        <p:txBody>
          <a:bodyPr wrap="square" lIns="0" tIns="0" rIns="0" bIns="0">
            <a:spAutoFit/>
          </a:bodyPr>
          <a:lstStyle/>
          <a:p>
            <a:pPr algn="l">
              <a:buNone/>
            </a:pPr>
            <a:r>
              <a:rPr sz="950" b="0" i="0">
                <a:latin typeface="Calibri"/>
                <a:ea typeface="Calibri"/>
                <a:cs typeface="Calibri"/>
              </a:rPr>
              <a:t>FRA main tracks</a:t>
            </a:r>
          </a:p>
        </p:txBody>
      </p:sp>
      <p:sp>
        <p:nvSpPr>
          <p:cNvPr id="38" name="TextBox 37">
            <a:extLst>
              <a:ext uri="{FF2B5EF4-FFF2-40B4-BE49-F238E27FC236}">
                <a16:creationId xmlns:a16="http://schemas.microsoft.com/office/drawing/2014/main" id="{67E05002-8D0F-4CC5-B8AA-241E41A34909}"/>
              </a:ext>
            </a:extLst>
          </p:cNvPr>
          <p:cNvSpPr>
            <a:spLocks noGrp="1"/>
          </p:cNvSpPr>
          <p:nvPr/>
        </p:nvSpPr>
        <p:spPr>
          <a:xfrm>
            <a:off x="3566160" y="5815584"/>
            <a:ext cx="2468880" cy="130805"/>
          </a:xfrm>
          <a:prstGeom prst="rect">
            <a:avLst/>
          </a:prstGeom>
          <a:noFill/>
        </p:spPr>
        <p:txBody>
          <a:bodyPr wrap="square" lIns="0" tIns="0" rIns="0" bIns="0">
            <a:spAutoFit/>
          </a:bodyPr>
          <a:lstStyle/>
          <a:p>
            <a:pPr algn="l">
              <a:buNone/>
            </a:pPr>
            <a:r>
              <a:rPr sz="850" b="0" i="0">
                <a:latin typeface="Calibri"/>
                <a:ea typeface="Calibri"/>
                <a:cs typeface="Calibri"/>
              </a:rPr>
              <a:t>3.6% of bins</a:t>
            </a:r>
          </a:p>
        </p:txBody>
      </p:sp>
      <p:sp>
        <p:nvSpPr>
          <p:cNvPr id="39" name="TextBox 38">
            <a:extLst>
              <a:ext uri="{FF2B5EF4-FFF2-40B4-BE49-F238E27FC236}">
                <a16:creationId xmlns:a16="http://schemas.microsoft.com/office/drawing/2014/main" id="{3E4DE769-FA5D-46E5-9D54-0AF679646DA2}"/>
              </a:ext>
            </a:extLst>
          </p:cNvPr>
          <p:cNvSpPr>
            <a:spLocks noGrp="1"/>
          </p:cNvSpPr>
          <p:nvPr/>
        </p:nvSpPr>
        <p:spPr>
          <a:xfrm>
            <a:off x="6309360" y="5248656"/>
            <a:ext cx="2468880" cy="338554"/>
          </a:xfrm>
          <a:prstGeom prst="rect">
            <a:avLst/>
          </a:prstGeom>
          <a:noFill/>
        </p:spPr>
        <p:txBody>
          <a:bodyPr wrap="square" lIns="0" tIns="0" rIns="0" bIns="0">
            <a:spAutoFit/>
          </a:bodyPr>
          <a:lstStyle/>
          <a:p>
            <a:pPr algn="l">
              <a:buNone/>
            </a:pPr>
            <a:r>
              <a:rPr sz="2200" b="1" i="0">
                <a:latin typeface="Cambria"/>
                <a:ea typeface="Cambria"/>
                <a:cs typeface="Cambria"/>
              </a:rPr>
              <a:t>280</a:t>
            </a:r>
          </a:p>
        </p:txBody>
      </p:sp>
      <p:sp>
        <p:nvSpPr>
          <p:cNvPr id="40" name="TextBox 39">
            <a:extLst>
              <a:ext uri="{FF2B5EF4-FFF2-40B4-BE49-F238E27FC236}">
                <a16:creationId xmlns:a16="http://schemas.microsoft.com/office/drawing/2014/main" id="{2B2214A4-00A5-41C5-8C50-9C45AF8E5E8A}"/>
              </a:ext>
            </a:extLst>
          </p:cNvPr>
          <p:cNvSpPr>
            <a:spLocks noGrp="1"/>
          </p:cNvSpPr>
          <p:nvPr/>
        </p:nvSpPr>
        <p:spPr>
          <a:xfrm>
            <a:off x="6309360" y="5614416"/>
            <a:ext cx="2468880" cy="146194"/>
          </a:xfrm>
          <a:prstGeom prst="rect">
            <a:avLst/>
          </a:prstGeom>
          <a:noFill/>
        </p:spPr>
        <p:txBody>
          <a:bodyPr wrap="square" lIns="0" tIns="0" rIns="0" bIns="0">
            <a:spAutoFit/>
          </a:bodyPr>
          <a:lstStyle/>
          <a:p>
            <a:pPr algn="l">
              <a:buNone/>
            </a:pPr>
            <a:r>
              <a:rPr sz="950" b="0" i="0">
                <a:latin typeface="Calibri"/>
                <a:ea typeface="Calibri"/>
                <a:cs typeface="Calibri"/>
              </a:rPr>
              <a:t>bridged across a gap</a:t>
            </a:r>
          </a:p>
        </p:txBody>
      </p:sp>
      <p:sp>
        <p:nvSpPr>
          <p:cNvPr id="41" name="TextBox 40">
            <a:extLst>
              <a:ext uri="{FF2B5EF4-FFF2-40B4-BE49-F238E27FC236}">
                <a16:creationId xmlns:a16="http://schemas.microsoft.com/office/drawing/2014/main" id="{A00D9ECD-C08B-4D62-8CB1-BC56EB34578C}"/>
              </a:ext>
            </a:extLst>
          </p:cNvPr>
          <p:cNvSpPr>
            <a:spLocks noGrp="1"/>
          </p:cNvSpPr>
          <p:nvPr/>
        </p:nvSpPr>
        <p:spPr>
          <a:xfrm>
            <a:off x="6309360" y="5815584"/>
            <a:ext cx="2468880" cy="130805"/>
          </a:xfrm>
          <a:prstGeom prst="rect">
            <a:avLst/>
          </a:prstGeom>
          <a:noFill/>
        </p:spPr>
        <p:txBody>
          <a:bodyPr wrap="square" lIns="0" tIns="0" rIns="0" bIns="0">
            <a:spAutoFit/>
          </a:bodyPr>
          <a:lstStyle/>
          <a:p>
            <a:pPr algn="l">
              <a:buNone/>
            </a:pPr>
            <a:r>
              <a:rPr sz="850" b="0" i="0">
                <a:latin typeface="Calibri"/>
                <a:ea typeface="Calibri"/>
                <a:cs typeface="Calibri"/>
              </a:rPr>
              <a:t>3.2% of bins</a:t>
            </a:r>
          </a:p>
        </p:txBody>
      </p:sp>
      <p:sp>
        <p:nvSpPr>
          <p:cNvPr id="42" name="TextBox 41">
            <a:extLst>
              <a:ext uri="{FF2B5EF4-FFF2-40B4-BE49-F238E27FC236}">
                <a16:creationId xmlns:a16="http://schemas.microsoft.com/office/drawing/2014/main" id="{469B5CD9-9E66-4F10-964A-337500DB7EDF}"/>
              </a:ext>
            </a:extLst>
          </p:cNvPr>
          <p:cNvSpPr>
            <a:spLocks noGrp="1"/>
          </p:cNvSpPr>
          <p:nvPr/>
        </p:nvSpPr>
        <p:spPr>
          <a:xfrm>
            <a:off x="9052560" y="5248656"/>
            <a:ext cx="2468880" cy="338554"/>
          </a:xfrm>
          <a:prstGeom prst="rect">
            <a:avLst/>
          </a:prstGeom>
          <a:noFill/>
        </p:spPr>
        <p:txBody>
          <a:bodyPr wrap="square" lIns="0" tIns="0" rIns="0" bIns="0">
            <a:spAutoFit/>
          </a:bodyPr>
          <a:lstStyle/>
          <a:p>
            <a:pPr algn="l">
              <a:buNone/>
            </a:pPr>
            <a:r>
              <a:rPr sz="2200" b="1" i="0">
                <a:latin typeface="Cambria"/>
                <a:ea typeface="Cambria"/>
                <a:cs typeface="Cambria"/>
              </a:rPr>
              <a:t>234</a:t>
            </a:r>
          </a:p>
        </p:txBody>
      </p:sp>
      <p:sp>
        <p:nvSpPr>
          <p:cNvPr id="43" name="TextBox 42">
            <a:extLst>
              <a:ext uri="{FF2B5EF4-FFF2-40B4-BE49-F238E27FC236}">
                <a16:creationId xmlns:a16="http://schemas.microsoft.com/office/drawing/2014/main" id="{6D7AC6DD-45F1-47B9-843A-7FB9C671B3BF}"/>
              </a:ext>
            </a:extLst>
          </p:cNvPr>
          <p:cNvSpPr>
            <a:spLocks noGrp="1"/>
          </p:cNvSpPr>
          <p:nvPr/>
        </p:nvSpPr>
        <p:spPr>
          <a:xfrm>
            <a:off x="9052560" y="5614416"/>
            <a:ext cx="2468880" cy="146194"/>
          </a:xfrm>
          <a:prstGeom prst="rect">
            <a:avLst/>
          </a:prstGeom>
          <a:noFill/>
        </p:spPr>
        <p:txBody>
          <a:bodyPr wrap="square" lIns="0" tIns="0" rIns="0" bIns="0">
            <a:spAutoFit/>
          </a:bodyPr>
          <a:lstStyle/>
          <a:p>
            <a:pPr algn="l">
              <a:buNone/>
            </a:pPr>
            <a:r>
              <a:rPr sz="950" b="0" i="0">
                <a:latin typeface="Calibri"/>
                <a:ea typeface="Calibri"/>
                <a:cs typeface="Calibri"/>
              </a:rPr>
              <a:t>Stage 2 topology only</a:t>
            </a:r>
          </a:p>
        </p:txBody>
      </p:sp>
      <p:sp>
        <p:nvSpPr>
          <p:cNvPr id="44" name="TextBox 43">
            <a:extLst>
              <a:ext uri="{FF2B5EF4-FFF2-40B4-BE49-F238E27FC236}">
                <a16:creationId xmlns:a16="http://schemas.microsoft.com/office/drawing/2014/main" id="{0A2B017D-6ACD-46A4-A5D0-37EADA20A3E5}"/>
              </a:ext>
            </a:extLst>
          </p:cNvPr>
          <p:cNvSpPr>
            <a:spLocks noGrp="1"/>
          </p:cNvSpPr>
          <p:nvPr/>
        </p:nvSpPr>
        <p:spPr>
          <a:xfrm>
            <a:off x="9052560" y="5815584"/>
            <a:ext cx="2468880" cy="130805"/>
          </a:xfrm>
          <a:prstGeom prst="rect">
            <a:avLst/>
          </a:prstGeom>
          <a:noFill/>
        </p:spPr>
        <p:txBody>
          <a:bodyPr wrap="square" lIns="0" tIns="0" rIns="0" bIns="0">
            <a:spAutoFit/>
          </a:bodyPr>
          <a:lstStyle/>
          <a:p>
            <a:pPr algn="l">
              <a:buNone/>
            </a:pPr>
            <a:r>
              <a:rPr sz="850" b="0" i="0">
                <a:latin typeface="Calibri"/>
                <a:ea typeface="Calibri"/>
                <a:cs typeface="Calibri"/>
              </a:rPr>
              <a:t>2.6% of bins</a:t>
            </a:r>
          </a:p>
        </p:txBody>
      </p:sp>
    </p:spTree>
    <p:extLst>
      <p:ext uri="{BB962C8B-B14F-4D97-AF65-F5344CB8AC3E}">
        <p14:creationId xmlns:p14="http://schemas.microsoft.com/office/powerpoint/2010/main" val="919793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60">
            <a:extLst>
              <a:ext uri="{FF2B5EF4-FFF2-40B4-BE49-F238E27FC236}">
                <a16:creationId xmlns:a16="http://schemas.microsoft.com/office/drawing/2014/main" id="{0D05C244-7088-4996-9399-735CC0F6EF5A}"/>
              </a:ext>
            </a:extLst>
          </p:cNvPr>
          <p:cNvSpPr>
            <a:spLocks noGrp="1"/>
          </p:cNvSpPr>
          <p:nvPr/>
        </p:nvSpPr>
        <p:spPr>
          <a:xfrm>
            <a:off x="-2550545" y="214708"/>
            <a:ext cx="7830497" cy="315746"/>
          </a:xfrm>
          <a:prstGeom prst="rect">
            <a:avLst/>
          </a:prstGeom>
          <a:noFill/>
          <a:ln>
            <a:noFill/>
          </a:ln>
        </p:spPr>
        <p:txBody>
          <a:bodyPr wrap="none" lIns="0" tIns="0" rIns="0" bIns="0" anchor="t">
            <a:noAutofit/>
          </a:bodyPr>
          <a:lstStyle/>
          <a:p>
            <a:pPr algn="ctr">
              <a:buNone/>
            </a:pPr>
            <a:r>
              <a:rPr sz="1790" b="1">
                <a:solidFill>
                  <a:srgbClr val="112B54"/>
                </a:solidFill>
                <a:latin typeface="Arial"/>
                <a:ea typeface="Arial"/>
                <a:cs typeface="Arial"/>
              </a:rPr>
              <a:t>Input_rail_arc.csv</a:t>
            </a:r>
            <a:endParaRPr sz="1790"/>
          </a:p>
        </p:txBody>
      </p:sp>
      <p:sp>
        <p:nvSpPr>
          <p:cNvPr id="2" name="Roundrect 2">
            <a:extLst>
              <a:ext uri="{FF2B5EF4-FFF2-40B4-BE49-F238E27FC236}">
                <a16:creationId xmlns:a16="http://schemas.microsoft.com/office/drawing/2014/main" id="{334BE2EE-6DC8-4CEA-A8E9-EAA42D79F102}"/>
              </a:ext>
            </a:extLst>
          </p:cNvPr>
          <p:cNvSpPr>
            <a:spLocks noGrp="1"/>
          </p:cNvSpPr>
          <p:nvPr/>
        </p:nvSpPr>
        <p:spPr>
          <a:xfrm>
            <a:off x="1282262" y="814885"/>
            <a:ext cx="4234995" cy="5543873"/>
          </a:xfrm>
          <a:prstGeom prst="roundRect">
            <a:avLst>
              <a:gd name="adj" fmla="val 3683"/>
            </a:avLst>
          </a:prstGeom>
          <a:noFill/>
          <a:ln w="16510">
            <a:solidFill>
              <a:srgbClr val="DDE7F5"/>
            </a:solidFill>
          </a:ln>
        </p:spPr>
        <p:txBody>
          <a:bodyPr/>
          <a:lstStyle/>
          <a:p>
            <a:endParaRPr sz="1193"/>
          </a:p>
        </p:txBody>
      </p:sp>
      <p:sp>
        <p:nvSpPr>
          <p:cNvPr id="3" name="Roundrect 3">
            <a:extLst>
              <a:ext uri="{FF2B5EF4-FFF2-40B4-BE49-F238E27FC236}">
                <a16:creationId xmlns:a16="http://schemas.microsoft.com/office/drawing/2014/main" id="{3C94C301-2FDF-41BA-AD9B-B2180969A125}"/>
              </a:ext>
            </a:extLst>
          </p:cNvPr>
          <p:cNvSpPr>
            <a:spLocks noGrp="1"/>
          </p:cNvSpPr>
          <p:nvPr/>
        </p:nvSpPr>
        <p:spPr>
          <a:xfrm>
            <a:off x="5985147" y="814885"/>
            <a:ext cx="4450944" cy="5543873"/>
          </a:xfrm>
          <a:prstGeom prst="roundRect">
            <a:avLst>
              <a:gd name="adj" fmla="val 3504"/>
            </a:avLst>
          </a:prstGeom>
          <a:noFill/>
          <a:ln w="16510">
            <a:solidFill>
              <a:srgbClr val="DDE7F5"/>
            </a:solidFill>
          </a:ln>
        </p:spPr>
        <p:txBody>
          <a:bodyPr/>
          <a:lstStyle/>
          <a:p>
            <a:endParaRPr sz="1193"/>
          </a:p>
        </p:txBody>
      </p:sp>
      <p:sp>
        <p:nvSpPr>
          <p:cNvPr id="8" name="Roundrect 8">
            <a:extLst>
              <a:ext uri="{FF2B5EF4-FFF2-40B4-BE49-F238E27FC236}">
                <a16:creationId xmlns:a16="http://schemas.microsoft.com/office/drawing/2014/main" id="{2BB4C60C-D105-4778-8D0F-4DD37452E5F3}"/>
              </a:ext>
            </a:extLst>
          </p:cNvPr>
          <p:cNvSpPr>
            <a:spLocks noGrp="1"/>
          </p:cNvSpPr>
          <p:nvPr/>
        </p:nvSpPr>
        <p:spPr>
          <a:xfrm>
            <a:off x="1294259" y="825929"/>
            <a:ext cx="4211001" cy="629483"/>
          </a:xfrm>
          <a:prstGeom prst="roundRect">
            <a:avLst>
              <a:gd name="adj" fmla="val 15789"/>
            </a:avLst>
          </a:prstGeom>
          <a:noFill/>
          <a:ln w="19050">
            <a:solidFill>
              <a:srgbClr val="174EA6"/>
            </a:solidFill>
          </a:ln>
        </p:spPr>
        <p:txBody>
          <a:bodyPr/>
          <a:lstStyle/>
          <a:p>
            <a:endParaRPr sz="1193"/>
          </a:p>
        </p:txBody>
      </p:sp>
      <p:sp>
        <p:nvSpPr>
          <p:cNvPr id="9" name="Roundrect 9">
            <a:extLst>
              <a:ext uri="{FF2B5EF4-FFF2-40B4-BE49-F238E27FC236}">
                <a16:creationId xmlns:a16="http://schemas.microsoft.com/office/drawing/2014/main" id="{F83D54D3-1095-42DB-99EF-23A26CC12B13}"/>
              </a:ext>
            </a:extLst>
          </p:cNvPr>
          <p:cNvSpPr>
            <a:spLocks noGrp="1"/>
          </p:cNvSpPr>
          <p:nvPr/>
        </p:nvSpPr>
        <p:spPr>
          <a:xfrm>
            <a:off x="5985147" y="825929"/>
            <a:ext cx="4450944" cy="629483"/>
          </a:xfrm>
          <a:prstGeom prst="roundRect">
            <a:avLst>
              <a:gd name="adj" fmla="val 15789"/>
            </a:avLst>
          </a:prstGeom>
          <a:noFill/>
          <a:ln w="19050">
            <a:solidFill>
              <a:srgbClr val="174EA6"/>
            </a:solidFill>
          </a:ln>
        </p:spPr>
        <p:txBody>
          <a:bodyPr/>
          <a:lstStyle/>
          <a:p>
            <a:endParaRPr sz="1193"/>
          </a:p>
        </p:txBody>
      </p:sp>
      <p:sp>
        <p:nvSpPr>
          <p:cNvPr id="13" name="Line 13">
            <a:extLst>
              <a:ext uri="{FF2B5EF4-FFF2-40B4-BE49-F238E27FC236}">
                <a16:creationId xmlns:a16="http://schemas.microsoft.com/office/drawing/2014/main" id="{FC47F4B4-3FCF-4C87-ABEF-9E300B199A93}"/>
              </a:ext>
            </a:extLst>
          </p:cNvPr>
          <p:cNvSpPr>
            <a:spLocks noGrp="1"/>
          </p:cNvSpPr>
          <p:nvPr/>
        </p:nvSpPr>
        <p:spPr>
          <a:xfrm flipV="1">
            <a:off x="2050082" y="3376994"/>
            <a:ext cx="2687361" cy="0"/>
          </a:xfrm>
          <a:prstGeom prst="line">
            <a:avLst/>
          </a:prstGeom>
          <a:noFill/>
          <a:ln w="38100">
            <a:solidFill>
              <a:srgbClr val="151515"/>
            </a:solidFill>
          </a:ln>
        </p:spPr>
        <p:txBody>
          <a:bodyPr/>
          <a:lstStyle/>
          <a:p>
            <a:endParaRPr sz="1193"/>
          </a:p>
        </p:txBody>
      </p:sp>
      <p:sp>
        <p:nvSpPr>
          <p:cNvPr id="14" name="Line 14">
            <a:extLst>
              <a:ext uri="{FF2B5EF4-FFF2-40B4-BE49-F238E27FC236}">
                <a16:creationId xmlns:a16="http://schemas.microsoft.com/office/drawing/2014/main" id="{C336963A-18AF-4B08-8CC0-CE5CFC0745FE}"/>
              </a:ext>
            </a:extLst>
          </p:cNvPr>
          <p:cNvSpPr>
            <a:spLocks noGrp="1"/>
          </p:cNvSpPr>
          <p:nvPr/>
        </p:nvSpPr>
        <p:spPr>
          <a:xfrm>
            <a:off x="6800952" y="2217415"/>
            <a:ext cx="2807335" cy="1"/>
          </a:xfrm>
          <a:prstGeom prst="line">
            <a:avLst/>
          </a:prstGeom>
          <a:noFill/>
          <a:ln w="38100">
            <a:solidFill>
              <a:srgbClr val="151515"/>
            </a:solidFill>
          </a:ln>
        </p:spPr>
        <p:txBody>
          <a:bodyPr/>
          <a:lstStyle/>
          <a:p>
            <a:endParaRPr sz="1193"/>
          </a:p>
        </p:txBody>
      </p:sp>
      <p:sp>
        <p:nvSpPr>
          <p:cNvPr id="15" name="Line 15">
            <a:extLst>
              <a:ext uri="{FF2B5EF4-FFF2-40B4-BE49-F238E27FC236}">
                <a16:creationId xmlns:a16="http://schemas.microsoft.com/office/drawing/2014/main" id="{F10AAD23-285F-488E-88A0-E9FFB60C8C94}"/>
              </a:ext>
            </a:extLst>
          </p:cNvPr>
          <p:cNvSpPr>
            <a:spLocks noGrp="1"/>
          </p:cNvSpPr>
          <p:nvPr/>
        </p:nvSpPr>
        <p:spPr>
          <a:xfrm flipV="1">
            <a:off x="6800954" y="3509514"/>
            <a:ext cx="2807335" cy="2"/>
          </a:xfrm>
          <a:prstGeom prst="line">
            <a:avLst/>
          </a:prstGeom>
          <a:noFill/>
          <a:ln w="38100">
            <a:solidFill>
              <a:srgbClr val="174EA6"/>
            </a:solidFill>
          </a:ln>
        </p:spPr>
        <p:txBody>
          <a:bodyPr/>
          <a:lstStyle/>
          <a:p>
            <a:endParaRPr sz="1193"/>
          </a:p>
        </p:txBody>
      </p:sp>
      <p:sp>
        <p:nvSpPr>
          <p:cNvPr id="16" name="Line 16">
            <a:extLst>
              <a:ext uri="{FF2B5EF4-FFF2-40B4-BE49-F238E27FC236}">
                <a16:creationId xmlns:a16="http://schemas.microsoft.com/office/drawing/2014/main" id="{4E039B51-E0E7-466D-8BE1-5C135C850F09}"/>
              </a:ext>
            </a:extLst>
          </p:cNvPr>
          <p:cNvSpPr>
            <a:spLocks noGrp="1"/>
          </p:cNvSpPr>
          <p:nvPr/>
        </p:nvSpPr>
        <p:spPr>
          <a:xfrm flipV="1">
            <a:off x="6800954" y="4779521"/>
            <a:ext cx="2807335" cy="2"/>
          </a:xfrm>
          <a:prstGeom prst="line">
            <a:avLst/>
          </a:prstGeom>
          <a:noFill/>
          <a:ln w="38100">
            <a:solidFill>
              <a:srgbClr val="2E8B46"/>
            </a:solidFill>
          </a:ln>
        </p:spPr>
        <p:txBody>
          <a:bodyPr/>
          <a:lstStyle/>
          <a:p>
            <a:endParaRPr sz="1193"/>
          </a:p>
        </p:txBody>
      </p:sp>
      <p:sp>
        <p:nvSpPr>
          <p:cNvPr id="17" name="Ellipse 17">
            <a:extLst>
              <a:ext uri="{FF2B5EF4-FFF2-40B4-BE49-F238E27FC236}">
                <a16:creationId xmlns:a16="http://schemas.microsoft.com/office/drawing/2014/main" id="{554F801F-54B9-4DDD-B3A3-C732FD249639}"/>
              </a:ext>
            </a:extLst>
          </p:cNvPr>
          <p:cNvSpPr>
            <a:spLocks noGrp="1"/>
          </p:cNvSpPr>
          <p:nvPr/>
        </p:nvSpPr>
        <p:spPr>
          <a:xfrm>
            <a:off x="1498212" y="3111948"/>
            <a:ext cx="551869" cy="508003"/>
          </a:xfrm>
          <a:prstGeom prst="ellipse">
            <a:avLst/>
          </a:prstGeom>
          <a:noFill/>
          <a:ln w="25400">
            <a:solidFill>
              <a:srgbClr val="151515"/>
            </a:solidFill>
          </a:ln>
        </p:spPr>
        <p:txBody>
          <a:bodyPr/>
          <a:lstStyle/>
          <a:p>
            <a:endParaRPr sz="1193"/>
          </a:p>
        </p:txBody>
      </p:sp>
      <p:sp>
        <p:nvSpPr>
          <p:cNvPr id="18" name="Ellipse 18">
            <a:extLst>
              <a:ext uri="{FF2B5EF4-FFF2-40B4-BE49-F238E27FC236}">
                <a16:creationId xmlns:a16="http://schemas.microsoft.com/office/drawing/2014/main" id="{B6E5FA17-34C4-4E42-9241-219EBC7CB505}"/>
              </a:ext>
            </a:extLst>
          </p:cNvPr>
          <p:cNvSpPr>
            <a:spLocks noGrp="1"/>
          </p:cNvSpPr>
          <p:nvPr/>
        </p:nvSpPr>
        <p:spPr>
          <a:xfrm>
            <a:off x="4737443" y="3111948"/>
            <a:ext cx="551869" cy="508003"/>
          </a:xfrm>
          <a:prstGeom prst="ellipse">
            <a:avLst/>
          </a:prstGeom>
          <a:noFill/>
          <a:ln w="25400">
            <a:solidFill>
              <a:srgbClr val="151515"/>
            </a:solidFill>
          </a:ln>
        </p:spPr>
        <p:txBody>
          <a:bodyPr/>
          <a:lstStyle/>
          <a:p>
            <a:endParaRPr sz="1193"/>
          </a:p>
        </p:txBody>
      </p:sp>
      <p:sp>
        <p:nvSpPr>
          <p:cNvPr id="19" name="Ellipse 19">
            <a:extLst>
              <a:ext uri="{FF2B5EF4-FFF2-40B4-BE49-F238E27FC236}">
                <a16:creationId xmlns:a16="http://schemas.microsoft.com/office/drawing/2014/main" id="{F3C96F63-5E94-4528-9232-E6FE238C367F}"/>
              </a:ext>
            </a:extLst>
          </p:cNvPr>
          <p:cNvSpPr>
            <a:spLocks noGrp="1"/>
          </p:cNvSpPr>
          <p:nvPr/>
        </p:nvSpPr>
        <p:spPr>
          <a:xfrm>
            <a:off x="6249084" y="1985503"/>
            <a:ext cx="551869" cy="508003"/>
          </a:xfrm>
          <a:prstGeom prst="ellipse">
            <a:avLst/>
          </a:prstGeom>
          <a:noFill/>
          <a:ln w="25400">
            <a:solidFill>
              <a:srgbClr val="151515"/>
            </a:solidFill>
          </a:ln>
        </p:spPr>
        <p:txBody>
          <a:bodyPr/>
          <a:lstStyle/>
          <a:p>
            <a:endParaRPr sz="1193"/>
          </a:p>
        </p:txBody>
      </p:sp>
      <p:sp>
        <p:nvSpPr>
          <p:cNvPr id="20" name="Ellipse 20">
            <a:extLst>
              <a:ext uri="{FF2B5EF4-FFF2-40B4-BE49-F238E27FC236}">
                <a16:creationId xmlns:a16="http://schemas.microsoft.com/office/drawing/2014/main" id="{4B5BB432-24C9-4AFF-A050-CDE6F08053C8}"/>
              </a:ext>
            </a:extLst>
          </p:cNvPr>
          <p:cNvSpPr>
            <a:spLocks noGrp="1"/>
          </p:cNvSpPr>
          <p:nvPr/>
        </p:nvSpPr>
        <p:spPr>
          <a:xfrm>
            <a:off x="9608288" y="1985503"/>
            <a:ext cx="551869" cy="508003"/>
          </a:xfrm>
          <a:prstGeom prst="ellipse">
            <a:avLst/>
          </a:prstGeom>
          <a:noFill/>
          <a:ln w="25400">
            <a:solidFill>
              <a:srgbClr val="151515"/>
            </a:solidFill>
          </a:ln>
        </p:spPr>
        <p:txBody>
          <a:bodyPr/>
          <a:lstStyle/>
          <a:p>
            <a:endParaRPr sz="1193"/>
          </a:p>
        </p:txBody>
      </p:sp>
      <p:sp>
        <p:nvSpPr>
          <p:cNvPr id="21" name="Ellipse 21">
            <a:extLst>
              <a:ext uri="{FF2B5EF4-FFF2-40B4-BE49-F238E27FC236}">
                <a16:creationId xmlns:a16="http://schemas.microsoft.com/office/drawing/2014/main" id="{A15EA5BF-F357-4245-B77A-ECD89A8798B2}"/>
              </a:ext>
            </a:extLst>
          </p:cNvPr>
          <p:cNvSpPr>
            <a:spLocks noGrp="1"/>
          </p:cNvSpPr>
          <p:nvPr/>
        </p:nvSpPr>
        <p:spPr>
          <a:xfrm>
            <a:off x="6249084" y="3255515"/>
            <a:ext cx="551869" cy="508003"/>
          </a:xfrm>
          <a:prstGeom prst="ellipse">
            <a:avLst/>
          </a:prstGeom>
          <a:noFill/>
          <a:ln w="25400">
            <a:solidFill>
              <a:srgbClr val="174EA6"/>
            </a:solidFill>
          </a:ln>
        </p:spPr>
        <p:txBody>
          <a:bodyPr/>
          <a:lstStyle/>
          <a:p>
            <a:endParaRPr sz="1193"/>
          </a:p>
        </p:txBody>
      </p:sp>
      <p:sp>
        <p:nvSpPr>
          <p:cNvPr id="22" name="Ellipse 22">
            <a:extLst>
              <a:ext uri="{FF2B5EF4-FFF2-40B4-BE49-F238E27FC236}">
                <a16:creationId xmlns:a16="http://schemas.microsoft.com/office/drawing/2014/main" id="{FBCB084E-8B02-4C7E-B134-8202BFF4ECBE}"/>
              </a:ext>
            </a:extLst>
          </p:cNvPr>
          <p:cNvSpPr>
            <a:spLocks noGrp="1"/>
          </p:cNvSpPr>
          <p:nvPr/>
        </p:nvSpPr>
        <p:spPr>
          <a:xfrm>
            <a:off x="9608288" y="3255515"/>
            <a:ext cx="551869" cy="508003"/>
          </a:xfrm>
          <a:prstGeom prst="ellipse">
            <a:avLst/>
          </a:prstGeom>
          <a:noFill/>
          <a:ln w="25400">
            <a:solidFill>
              <a:srgbClr val="174EA6"/>
            </a:solidFill>
          </a:ln>
        </p:spPr>
        <p:txBody>
          <a:bodyPr/>
          <a:lstStyle/>
          <a:p>
            <a:endParaRPr sz="1193"/>
          </a:p>
        </p:txBody>
      </p:sp>
      <p:sp>
        <p:nvSpPr>
          <p:cNvPr id="23" name="Ellipse 23">
            <a:extLst>
              <a:ext uri="{FF2B5EF4-FFF2-40B4-BE49-F238E27FC236}">
                <a16:creationId xmlns:a16="http://schemas.microsoft.com/office/drawing/2014/main" id="{C21F3542-7C56-4DE9-BEC2-A5B1C23F3734}"/>
              </a:ext>
            </a:extLst>
          </p:cNvPr>
          <p:cNvSpPr>
            <a:spLocks noGrp="1"/>
          </p:cNvSpPr>
          <p:nvPr/>
        </p:nvSpPr>
        <p:spPr>
          <a:xfrm>
            <a:off x="6249084" y="4525524"/>
            <a:ext cx="551869" cy="508003"/>
          </a:xfrm>
          <a:prstGeom prst="ellipse">
            <a:avLst/>
          </a:prstGeom>
          <a:noFill/>
          <a:ln w="25400">
            <a:solidFill>
              <a:srgbClr val="2E8B46"/>
            </a:solidFill>
          </a:ln>
        </p:spPr>
        <p:txBody>
          <a:bodyPr/>
          <a:lstStyle/>
          <a:p>
            <a:endParaRPr sz="1193"/>
          </a:p>
        </p:txBody>
      </p:sp>
      <p:sp>
        <p:nvSpPr>
          <p:cNvPr id="24" name="Ellipse 24">
            <a:extLst>
              <a:ext uri="{FF2B5EF4-FFF2-40B4-BE49-F238E27FC236}">
                <a16:creationId xmlns:a16="http://schemas.microsoft.com/office/drawing/2014/main" id="{6AF123D1-E0F0-46E3-824F-12E232781DA4}"/>
              </a:ext>
            </a:extLst>
          </p:cNvPr>
          <p:cNvSpPr>
            <a:spLocks noGrp="1"/>
          </p:cNvSpPr>
          <p:nvPr/>
        </p:nvSpPr>
        <p:spPr>
          <a:xfrm>
            <a:off x="9608288" y="4525524"/>
            <a:ext cx="551869" cy="508003"/>
          </a:xfrm>
          <a:prstGeom prst="ellipse">
            <a:avLst/>
          </a:prstGeom>
          <a:noFill/>
          <a:ln w="25400">
            <a:solidFill>
              <a:srgbClr val="2E8B46"/>
            </a:solidFill>
          </a:ln>
        </p:spPr>
        <p:txBody>
          <a:bodyPr/>
          <a:lstStyle/>
          <a:p>
            <a:endParaRPr sz="1193"/>
          </a:p>
        </p:txBody>
      </p:sp>
      <p:sp>
        <p:nvSpPr>
          <p:cNvPr id="37" name="Line 37">
            <a:extLst>
              <a:ext uri="{FF2B5EF4-FFF2-40B4-BE49-F238E27FC236}">
                <a16:creationId xmlns:a16="http://schemas.microsoft.com/office/drawing/2014/main" id="{C9EE8DB5-3BA6-49F4-9BE2-0C9CB6BC290A}"/>
              </a:ext>
            </a:extLst>
          </p:cNvPr>
          <p:cNvSpPr>
            <a:spLocks noGrp="1"/>
          </p:cNvSpPr>
          <p:nvPr/>
        </p:nvSpPr>
        <p:spPr>
          <a:xfrm>
            <a:off x="5571485" y="3376994"/>
            <a:ext cx="419421" cy="0"/>
          </a:xfrm>
          <a:prstGeom prst="line">
            <a:avLst/>
          </a:prstGeom>
          <a:noFill/>
          <a:ln w="72390">
            <a:solidFill>
              <a:srgbClr val="174EA6"/>
            </a:solidFill>
          </a:ln>
        </p:spPr>
        <p:txBody>
          <a:bodyPr/>
          <a:lstStyle/>
          <a:p>
            <a:endParaRPr sz="1193"/>
          </a:p>
        </p:txBody>
      </p:sp>
      <p:sp>
        <p:nvSpPr>
          <p:cNvPr id="45" name="Polygon 45">
            <a:extLst>
              <a:ext uri="{FF2B5EF4-FFF2-40B4-BE49-F238E27FC236}">
                <a16:creationId xmlns:a16="http://schemas.microsoft.com/office/drawing/2014/main" id="{6122A2D5-0748-4CCA-80AD-D73FEFC15046}"/>
              </a:ext>
            </a:extLst>
          </p:cNvPr>
          <p:cNvSpPr>
            <a:spLocks noGrp="1"/>
          </p:cNvSpPr>
          <p:nvPr/>
        </p:nvSpPr>
        <p:spPr>
          <a:xfrm>
            <a:off x="5822946" y="3310731"/>
            <a:ext cx="167959" cy="132522"/>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193"/>
          </a:p>
        </p:txBody>
      </p:sp>
      <p:sp>
        <p:nvSpPr>
          <p:cNvPr id="46" name="Polygon 46">
            <a:extLst>
              <a:ext uri="{FF2B5EF4-FFF2-40B4-BE49-F238E27FC236}">
                <a16:creationId xmlns:a16="http://schemas.microsoft.com/office/drawing/2014/main" id="{3DD53A2F-2B83-4C96-B18B-72704677E432}"/>
              </a:ext>
            </a:extLst>
          </p:cNvPr>
          <p:cNvSpPr>
            <a:spLocks noGrp="1"/>
          </p:cNvSpPr>
          <p:nvPr/>
        </p:nvSpPr>
        <p:spPr>
          <a:xfrm>
            <a:off x="10741778" y="3310731"/>
            <a:ext cx="167959" cy="132522"/>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193"/>
          </a:p>
        </p:txBody>
      </p:sp>
      <p:pic>
        <p:nvPicPr>
          <p:cNvPr id="102" name="Asset-sheet separated blue numbered badge 1"/>
          <p:cNvPicPr>
            <a:picLocks noChangeAspect="1"/>
          </p:cNvPicPr>
          <p:nvPr/>
        </p:nvPicPr>
        <p:blipFill>
          <a:blip r:embed="rId3"/>
          <a:stretch>
            <a:fillRect/>
          </a:stretch>
        </p:blipFill>
        <p:spPr>
          <a:xfrm>
            <a:off x="1474215" y="914276"/>
            <a:ext cx="503880" cy="463831"/>
          </a:xfrm>
          <a:prstGeom prst="rect">
            <a:avLst/>
          </a:prstGeom>
        </p:spPr>
      </p:pic>
      <p:pic>
        <p:nvPicPr>
          <p:cNvPr id="103" name="Asset-sheet separated blue numbered badge 2"/>
          <p:cNvPicPr>
            <a:picLocks noChangeAspect="1"/>
          </p:cNvPicPr>
          <p:nvPr/>
        </p:nvPicPr>
        <p:blipFill>
          <a:blip r:embed="rId4"/>
          <a:stretch>
            <a:fillRect/>
          </a:stretch>
        </p:blipFill>
        <p:spPr>
          <a:xfrm>
            <a:off x="6165103" y="914276"/>
            <a:ext cx="503880" cy="463831"/>
          </a:xfrm>
          <a:prstGeom prst="rect">
            <a:avLst/>
          </a:prstGeom>
        </p:spPr>
      </p:pic>
      <p:pic>
        <p:nvPicPr>
          <p:cNvPr id="104" name="Asset-sheet separated blue process arrow"/>
          <p:cNvPicPr>
            <a:picLocks noChangeAspect="1"/>
          </p:cNvPicPr>
          <p:nvPr/>
        </p:nvPicPr>
        <p:blipFill>
          <a:blip r:embed="rId5"/>
          <a:stretch>
            <a:fillRect/>
          </a:stretch>
        </p:blipFill>
        <p:spPr>
          <a:xfrm>
            <a:off x="5553248" y="3145078"/>
            <a:ext cx="455892" cy="463831"/>
          </a:xfrm>
          <a:prstGeom prst="rect">
            <a:avLst/>
          </a:prstGeom>
        </p:spPr>
      </p:pic>
      <p:sp>
        <p:nvSpPr>
          <p:cNvPr id="62" name="TextBox 62">
            <a:extLst>
              <a:ext uri="{FF2B5EF4-FFF2-40B4-BE49-F238E27FC236}">
                <a16:creationId xmlns:a16="http://schemas.microsoft.com/office/drawing/2014/main" id="{A6B09CD4-8E8B-42BA-8A59-665D425DE6DF}"/>
              </a:ext>
            </a:extLst>
          </p:cNvPr>
          <p:cNvSpPr>
            <a:spLocks noGrp="1"/>
          </p:cNvSpPr>
          <p:nvPr/>
        </p:nvSpPr>
        <p:spPr>
          <a:xfrm>
            <a:off x="1294259" y="958451"/>
            <a:ext cx="4211001" cy="331307"/>
          </a:xfrm>
          <a:prstGeom prst="rect">
            <a:avLst/>
          </a:prstGeom>
          <a:noFill/>
          <a:ln>
            <a:noFill/>
          </a:ln>
        </p:spPr>
        <p:txBody>
          <a:bodyPr wrap="none" lIns="0" tIns="0" rIns="0" bIns="0" anchor="ctr">
            <a:noAutofit/>
          </a:bodyPr>
          <a:lstStyle/>
          <a:p>
            <a:pPr algn="ctr">
              <a:buNone/>
            </a:pPr>
            <a:r>
              <a:rPr sz="928" b="1">
                <a:solidFill>
                  <a:srgbClr val="112B54"/>
                </a:solidFill>
                <a:latin typeface="Arial"/>
                <a:ea typeface="Arial"/>
                <a:cs typeface="Arial"/>
              </a:rPr>
              <a:t>1. Segment layer</a:t>
            </a:r>
            <a:endParaRPr sz="928"/>
          </a:p>
        </p:txBody>
      </p:sp>
      <p:sp>
        <p:nvSpPr>
          <p:cNvPr id="63" name="TextBox 63">
            <a:extLst>
              <a:ext uri="{FF2B5EF4-FFF2-40B4-BE49-F238E27FC236}">
                <a16:creationId xmlns:a16="http://schemas.microsoft.com/office/drawing/2014/main" id="{F96CCE79-D0CD-4FE2-844F-DFED245B401D}"/>
              </a:ext>
            </a:extLst>
          </p:cNvPr>
          <p:cNvSpPr>
            <a:spLocks noGrp="1"/>
          </p:cNvSpPr>
          <p:nvPr/>
        </p:nvSpPr>
        <p:spPr>
          <a:xfrm>
            <a:off x="2182050" y="2592899"/>
            <a:ext cx="2399430" cy="287132"/>
          </a:xfrm>
          <a:prstGeom prst="rect">
            <a:avLst/>
          </a:prstGeom>
          <a:noFill/>
          <a:ln>
            <a:noFill/>
          </a:ln>
        </p:spPr>
        <p:txBody>
          <a:bodyPr wrap="none" lIns="0" tIns="0" rIns="0" bIns="0" anchor="t">
            <a:noAutofit/>
          </a:bodyPr>
          <a:lstStyle/>
          <a:p>
            <a:pPr algn="ctr">
              <a:buNone/>
            </a:pPr>
            <a:r>
              <a:rPr sz="796" b="1">
                <a:solidFill>
                  <a:srgbClr val="174EA6"/>
                </a:solidFill>
                <a:latin typeface="Arial"/>
                <a:ea typeface="Arial"/>
                <a:cs typeface="Arial"/>
              </a:rPr>
              <a:t>Segment S100</a:t>
            </a:r>
            <a:endParaRPr sz="796"/>
          </a:p>
        </p:txBody>
      </p:sp>
      <p:sp>
        <p:nvSpPr>
          <p:cNvPr id="64" name="TextBox 64">
            <a:extLst>
              <a:ext uri="{FF2B5EF4-FFF2-40B4-BE49-F238E27FC236}">
                <a16:creationId xmlns:a16="http://schemas.microsoft.com/office/drawing/2014/main" id="{5F2A4152-DF8B-4E84-8861-D7229E3467B7}"/>
              </a:ext>
            </a:extLst>
          </p:cNvPr>
          <p:cNvSpPr>
            <a:spLocks noGrp="1"/>
          </p:cNvSpPr>
          <p:nvPr/>
        </p:nvSpPr>
        <p:spPr>
          <a:xfrm>
            <a:off x="1498212" y="3189253"/>
            <a:ext cx="551869" cy="375481"/>
          </a:xfrm>
          <a:prstGeom prst="rect">
            <a:avLst/>
          </a:prstGeom>
          <a:noFill/>
          <a:ln>
            <a:noFill/>
          </a:ln>
        </p:spPr>
        <p:txBody>
          <a:bodyPr wrap="none" lIns="0" tIns="0" rIns="0" bIns="0" anchor="ctr">
            <a:noAutofit/>
          </a:bodyPr>
          <a:lstStyle/>
          <a:p>
            <a:pPr algn="ctr">
              <a:buNone/>
            </a:pPr>
            <a:r>
              <a:rPr sz="862">
                <a:solidFill>
                  <a:srgbClr val="151515"/>
                </a:solidFill>
                <a:latin typeface="Arial"/>
                <a:ea typeface="Arial"/>
                <a:cs typeface="Arial"/>
              </a:rPr>
              <a:t>A</a:t>
            </a:r>
            <a:endParaRPr sz="862"/>
          </a:p>
        </p:txBody>
      </p:sp>
      <p:sp>
        <p:nvSpPr>
          <p:cNvPr id="65" name="TextBox 65">
            <a:extLst>
              <a:ext uri="{FF2B5EF4-FFF2-40B4-BE49-F238E27FC236}">
                <a16:creationId xmlns:a16="http://schemas.microsoft.com/office/drawing/2014/main" id="{9DAAD115-9CCC-49EC-91A2-33D6863F5C6D}"/>
              </a:ext>
            </a:extLst>
          </p:cNvPr>
          <p:cNvSpPr>
            <a:spLocks noGrp="1"/>
          </p:cNvSpPr>
          <p:nvPr/>
        </p:nvSpPr>
        <p:spPr>
          <a:xfrm>
            <a:off x="4737443" y="3189253"/>
            <a:ext cx="551869" cy="375481"/>
          </a:xfrm>
          <a:prstGeom prst="rect">
            <a:avLst/>
          </a:prstGeom>
          <a:noFill/>
          <a:ln>
            <a:noFill/>
          </a:ln>
        </p:spPr>
        <p:txBody>
          <a:bodyPr wrap="none" lIns="0" tIns="0" rIns="0" bIns="0" anchor="ctr">
            <a:noAutofit/>
          </a:bodyPr>
          <a:lstStyle/>
          <a:p>
            <a:pPr algn="ctr">
              <a:buNone/>
            </a:pPr>
            <a:r>
              <a:rPr sz="862">
                <a:solidFill>
                  <a:srgbClr val="151515"/>
                </a:solidFill>
                <a:latin typeface="Arial"/>
                <a:ea typeface="Arial"/>
                <a:cs typeface="Arial"/>
              </a:rPr>
              <a:t>B</a:t>
            </a:r>
            <a:endParaRPr sz="862"/>
          </a:p>
        </p:txBody>
      </p:sp>
      <p:sp>
        <p:nvSpPr>
          <p:cNvPr id="66" name="TextBox 66">
            <a:extLst>
              <a:ext uri="{FF2B5EF4-FFF2-40B4-BE49-F238E27FC236}">
                <a16:creationId xmlns:a16="http://schemas.microsoft.com/office/drawing/2014/main" id="{77A66CA6-5708-4242-A33F-576732D603A5}"/>
              </a:ext>
            </a:extLst>
          </p:cNvPr>
          <p:cNvSpPr>
            <a:spLocks noGrp="1"/>
          </p:cNvSpPr>
          <p:nvPr/>
        </p:nvSpPr>
        <p:spPr>
          <a:xfrm>
            <a:off x="2038083" y="3796649"/>
            <a:ext cx="2699358" cy="276089"/>
          </a:xfrm>
          <a:prstGeom prst="rect">
            <a:avLst/>
          </a:prstGeom>
          <a:noFill/>
          <a:ln>
            <a:noFill/>
          </a:ln>
        </p:spPr>
        <p:txBody>
          <a:bodyPr wrap="none" lIns="0" tIns="0" rIns="0" bIns="0" anchor="t">
            <a:noAutofit/>
          </a:bodyPr>
          <a:lstStyle/>
          <a:p>
            <a:pPr algn="ctr">
              <a:buNone/>
            </a:pPr>
            <a:r>
              <a:rPr sz="729">
                <a:solidFill>
                  <a:srgbClr val="151515"/>
                </a:solidFill>
                <a:latin typeface="Arial"/>
                <a:ea typeface="Arial"/>
                <a:cs typeface="Arial"/>
              </a:rPr>
              <a:t>length = L</a:t>
            </a:r>
            <a:endParaRPr sz="729"/>
          </a:p>
        </p:txBody>
      </p:sp>
      <p:sp>
        <p:nvSpPr>
          <p:cNvPr id="67" name="TextBox 67">
            <a:extLst>
              <a:ext uri="{FF2B5EF4-FFF2-40B4-BE49-F238E27FC236}">
                <a16:creationId xmlns:a16="http://schemas.microsoft.com/office/drawing/2014/main" id="{56E5111C-E889-4D1B-A7B9-A680FD03047B}"/>
              </a:ext>
            </a:extLst>
          </p:cNvPr>
          <p:cNvSpPr>
            <a:spLocks noGrp="1"/>
          </p:cNvSpPr>
          <p:nvPr/>
        </p:nvSpPr>
        <p:spPr>
          <a:xfrm>
            <a:off x="1966100" y="4216306"/>
            <a:ext cx="2939302" cy="276089"/>
          </a:xfrm>
          <a:prstGeom prst="rect">
            <a:avLst/>
          </a:prstGeom>
          <a:noFill/>
          <a:ln>
            <a:noFill/>
          </a:ln>
        </p:spPr>
        <p:txBody>
          <a:bodyPr wrap="none" lIns="0" tIns="0" rIns="0" bIns="0" anchor="t">
            <a:noAutofit/>
          </a:bodyPr>
          <a:lstStyle/>
          <a:p>
            <a:pPr algn="ctr">
              <a:buNone/>
            </a:pPr>
            <a:r>
              <a:rPr sz="729">
                <a:solidFill>
                  <a:srgbClr val="151515"/>
                </a:solidFill>
                <a:latin typeface="Arial"/>
                <a:ea typeface="Arial"/>
                <a:cs typeface="Arial"/>
              </a:rPr>
              <a:t>track_count = 3</a:t>
            </a:r>
            <a:endParaRPr sz="729"/>
          </a:p>
        </p:txBody>
      </p:sp>
      <p:sp>
        <p:nvSpPr>
          <p:cNvPr id="68" name="TextBox 68">
            <a:extLst>
              <a:ext uri="{FF2B5EF4-FFF2-40B4-BE49-F238E27FC236}">
                <a16:creationId xmlns:a16="http://schemas.microsoft.com/office/drawing/2014/main" id="{B2F114B2-C37E-440B-BB27-99343457C53E}"/>
              </a:ext>
            </a:extLst>
          </p:cNvPr>
          <p:cNvSpPr>
            <a:spLocks noGrp="1"/>
          </p:cNvSpPr>
          <p:nvPr/>
        </p:nvSpPr>
        <p:spPr>
          <a:xfrm>
            <a:off x="5985147" y="958451"/>
            <a:ext cx="4450944" cy="331307"/>
          </a:xfrm>
          <a:prstGeom prst="rect">
            <a:avLst/>
          </a:prstGeom>
          <a:noFill/>
          <a:ln>
            <a:noFill/>
          </a:ln>
        </p:spPr>
        <p:txBody>
          <a:bodyPr wrap="none" lIns="0" tIns="0" rIns="0" bIns="0" anchor="ctr">
            <a:noAutofit/>
          </a:bodyPr>
          <a:lstStyle/>
          <a:p>
            <a:pPr algn="ctr">
              <a:buNone/>
            </a:pPr>
            <a:r>
              <a:rPr sz="928" b="1">
                <a:solidFill>
                  <a:srgbClr val="112B54"/>
                </a:solidFill>
                <a:latin typeface="Arial"/>
                <a:ea typeface="Arial"/>
                <a:cs typeface="Arial"/>
              </a:rPr>
              <a:t>2. First copy by track count</a:t>
            </a:r>
            <a:endParaRPr sz="928"/>
          </a:p>
        </p:txBody>
      </p:sp>
      <p:sp>
        <p:nvSpPr>
          <p:cNvPr id="69" name="TextBox 69">
            <a:extLst>
              <a:ext uri="{FF2B5EF4-FFF2-40B4-BE49-F238E27FC236}">
                <a16:creationId xmlns:a16="http://schemas.microsoft.com/office/drawing/2014/main" id="{95E57587-85D9-4E3A-8FF5-6F8D5B048861}"/>
              </a:ext>
            </a:extLst>
          </p:cNvPr>
          <p:cNvSpPr>
            <a:spLocks noGrp="1"/>
          </p:cNvSpPr>
          <p:nvPr/>
        </p:nvSpPr>
        <p:spPr>
          <a:xfrm>
            <a:off x="6249084" y="2062808"/>
            <a:ext cx="551869" cy="375481"/>
          </a:xfrm>
          <a:prstGeom prst="rect">
            <a:avLst/>
          </a:prstGeom>
          <a:noFill/>
          <a:ln>
            <a:noFill/>
          </a:ln>
        </p:spPr>
        <p:txBody>
          <a:bodyPr wrap="none" lIns="0" tIns="0" rIns="0" bIns="0" anchor="ctr">
            <a:noAutofit/>
          </a:bodyPr>
          <a:lstStyle/>
          <a:p>
            <a:pPr algn="ctr">
              <a:buNone/>
            </a:pPr>
            <a:r>
              <a:rPr sz="862">
                <a:solidFill>
                  <a:srgbClr val="151515"/>
                </a:solidFill>
                <a:latin typeface="Arial"/>
                <a:ea typeface="Arial"/>
                <a:cs typeface="Arial"/>
              </a:rPr>
              <a:t>A</a:t>
            </a:r>
            <a:endParaRPr sz="862"/>
          </a:p>
        </p:txBody>
      </p:sp>
      <p:sp>
        <p:nvSpPr>
          <p:cNvPr id="70" name="TextBox 70">
            <a:extLst>
              <a:ext uri="{FF2B5EF4-FFF2-40B4-BE49-F238E27FC236}">
                <a16:creationId xmlns:a16="http://schemas.microsoft.com/office/drawing/2014/main" id="{CA71AA92-B768-4CED-B1CE-02106631F0C4}"/>
              </a:ext>
            </a:extLst>
          </p:cNvPr>
          <p:cNvSpPr>
            <a:spLocks noGrp="1"/>
          </p:cNvSpPr>
          <p:nvPr/>
        </p:nvSpPr>
        <p:spPr>
          <a:xfrm>
            <a:off x="9608288" y="2062808"/>
            <a:ext cx="551869" cy="375481"/>
          </a:xfrm>
          <a:prstGeom prst="rect">
            <a:avLst/>
          </a:prstGeom>
          <a:noFill/>
          <a:ln>
            <a:noFill/>
          </a:ln>
        </p:spPr>
        <p:txBody>
          <a:bodyPr wrap="none" lIns="0" tIns="0" rIns="0" bIns="0" anchor="ctr">
            <a:noAutofit/>
          </a:bodyPr>
          <a:lstStyle/>
          <a:p>
            <a:pPr algn="ctr">
              <a:buNone/>
            </a:pPr>
            <a:r>
              <a:rPr sz="862">
                <a:solidFill>
                  <a:srgbClr val="151515"/>
                </a:solidFill>
                <a:latin typeface="Arial"/>
                <a:ea typeface="Arial"/>
                <a:cs typeface="Arial"/>
              </a:rPr>
              <a:t>B</a:t>
            </a:r>
            <a:endParaRPr sz="862"/>
          </a:p>
        </p:txBody>
      </p:sp>
      <p:sp>
        <p:nvSpPr>
          <p:cNvPr id="71" name="TextBox 71">
            <a:extLst>
              <a:ext uri="{FF2B5EF4-FFF2-40B4-BE49-F238E27FC236}">
                <a16:creationId xmlns:a16="http://schemas.microsoft.com/office/drawing/2014/main" id="{FC193682-5A7E-4585-A6B2-5500FA6295A3}"/>
              </a:ext>
            </a:extLst>
          </p:cNvPr>
          <p:cNvSpPr>
            <a:spLocks noGrp="1"/>
          </p:cNvSpPr>
          <p:nvPr/>
        </p:nvSpPr>
        <p:spPr>
          <a:xfrm>
            <a:off x="7184862" y="1852980"/>
            <a:ext cx="2135493" cy="265045"/>
          </a:xfrm>
          <a:prstGeom prst="rect">
            <a:avLst/>
          </a:prstGeom>
          <a:noFill/>
          <a:ln>
            <a:noFill/>
          </a:ln>
        </p:spPr>
        <p:txBody>
          <a:bodyPr wrap="none" lIns="0" tIns="0" rIns="0" bIns="0" anchor="t">
            <a:noAutofit/>
          </a:bodyPr>
          <a:lstStyle/>
          <a:p>
            <a:pPr algn="ctr">
              <a:buNone/>
            </a:pPr>
            <a:r>
              <a:rPr sz="696">
                <a:solidFill>
                  <a:srgbClr val="151515"/>
                </a:solidFill>
                <a:latin typeface="Arial"/>
                <a:ea typeface="Arial"/>
                <a:cs typeface="Arial"/>
              </a:rPr>
              <a:t>track type 0</a:t>
            </a:r>
            <a:endParaRPr sz="696"/>
          </a:p>
        </p:txBody>
      </p:sp>
      <p:sp>
        <p:nvSpPr>
          <p:cNvPr id="72" name="TextBox 72">
            <a:extLst>
              <a:ext uri="{FF2B5EF4-FFF2-40B4-BE49-F238E27FC236}">
                <a16:creationId xmlns:a16="http://schemas.microsoft.com/office/drawing/2014/main" id="{E782A9DF-F58D-43B2-80FD-5F933142855A}"/>
              </a:ext>
            </a:extLst>
          </p:cNvPr>
          <p:cNvSpPr>
            <a:spLocks noGrp="1"/>
          </p:cNvSpPr>
          <p:nvPr/>
        </p:nvSpPr>
        <p:spPr>
          <a:xfrm>
            <a:off x="6249084" y="3332819"/>
            <a:ext cx="551869" cy="375481"/>
          </a:xfrm>
          <a:prstGeom prst="rect">
            <a:avLst/>
          </a:prstGeom>
          <a:noFill/>
          <a:ln>
            <a:noFill/>
          </a:ln>
        </p:spPr>
        <p:txBody>
          <a:bodyPr wrap="none" lIns="0" tIns="0" rIns="0" bIns="0" anchor="ctr">
            <a:noAutofit/>
          </a:bodyPr>
          <a:lstStyle/>
          <a:p>
            <a:pPr algn="ctr">
              <a:buNone/>
            </a:pPr>
            <a:r>
              <a:rPr sz="862">
                <a:solidFill>
                  <a:srgbClr val="174EA6"/>
                </a:solidFill>
                <a:latin typeface="Arial"/>
                <a:ea typeface="Arial"/>
                <a:cs typeface="Arial"/>
              </a:rPr>
              <a:t>A</a:t>
            </a:r>
            <a:endParaRPr sz="862"/>
          </a:p>
        </p:txBody>
      </p:sp>
      <p:sp>
        <p:nvSpPr>
          <p:cNvPr id="73" name="TextBox 73">
            <a:extLst>
              <a:ext uri="{FF2B5EF4-FFF2-40B4-BE49-F238E27FC236}">
                <a16:creationId xmlns:a16="http://schemas.microsoft.com/office/drawing/2014/main" id="{360C4BD6-F016-40F3-AAC8-B21693EA61C7}"/>
              </a:ext>
            </a:extLst>
          </p:cNvPr>
          <p:cNvSpPr>
            <a:spLocks noGrp="1"/>
          </p:cNvSpPr>
          <p:nvPr/>
        </p:nvSpPr>
        <p:spPr>
          <a:xfrm>
            <a:off x="9608288" y="3332819"/>
            <a:ext cx="551869" cy="375481"/>
          </a:xfrm>
          <a:prstGeom prst="rect">
            <a:avLst/>
          </a:prstGeom>
          <a:noFill/>
          <a:ln>
            <a:noFill/>
          </a:ln>
        </p:spPr>
        <p:txBody>
          <a:bodyPr wrap="none" lIns="0" tIns="0" rIns="0" bIns="0" anchor="ctr">
            <a:noAutofit/>
          </a:bodyPr>
          <a:lstStyle/>
          <a:p>
            <a:pPr algn="ctr">
              <a:buNone/>
            </a:pPr>
            <a:r>
              <a:rPr sz="862">
                <a:solidFill>
                  <a:srgbClr val="174EA6"/>
                </a:solidFill>
                <a:latin typeface="Arial"/>
                <a:ea typeface="Arial"/>
                <a:cs typeface="Arial"/>
              </a:rPr>
              <a:t>B</a:t>
            </a:r>
            <a:endParaRPr sz="862"/>
          </a:p>
        </p:txBody>
      </p:sp>
      <p:sp>
        <p:nvSpPr>
          <p:cNvPr id="74" name="TextBox 74">
            <a:extLst>
              <a:ext uri="{FF2B5EF4-FFF2-40B4-BE49-F238E27FC236}">
                <a16:creationId xmlns:a16="http://schemas.microsoft.com/office/drawing/2014/main" id="{85F5679F-129F-43DC-B38C-5BFB7154E786}"/>
              </a:ext>
            </a:extLst>
          </p:cNvPr>
          <p:cNvSpPr>
            <a:spLocks noGrp="1"/>
          </p:cNvSpPr>
          <p:nvPr/>
        </p:nvSpPr>
        <p:spPr>
          <a:xfrm>
            <a:off x="7184862" y="3145078"/>
            <a:ext cx="2135493" cy="265045"/>
          </a:xfrm>
          <a:prstGeom prst="rect">
            <a:avLst/>
          </a:prstGeom>
          <a:noFill/>
          <a:ln>
            <a:noFill/>
          </a:ln>
        </p:spPr>
        <p:txBody>
          <a:bodyPr wrap="none" lIns="0" tIns="0" rIns="0" bIns="0" anchor="t">
            <a:noAutofit/>
          </a:bodyPr>
          <a:lstStyle/>
          <a:p>
            <a:pPr algn="ctr">
              <a:buNone/>
            </a:pPr>
            <a:r>
              <a:rPr sz="696">
                <a:solidFill>
                  <a:srgbClr val="174EA6"/>
                </a:solidFill>
                <a:latin typeface="Arial"/>
                <a:ea typeface="Arial"/>
                <a:cs typeface="Arial"/>
              </a:rPr>
              <a:t>track type 1</a:t>
            </a:r>
            <a:endParaRPr sz="696"/>
          </a:p>
        </p:txBody>
      </p:sp>
      <p:sp>
        <p:nvSpPr>
          <p:cNvPr id="75" name="TextBox 75">
            <a:extLst>
              <a:ext uri="{FF2B5EF4-FFF2-40B4-BE49-F238E27FC236}">
                <a16:creationId xmlns:a16="http://schemas.microsoft.com/office/drawing/2014/main" id="{77CCD216-0CEE-4328-86D2-E7D5219D2ADB}"/>
              </a:ext>
            </a:extLst>
          </p:cNvPr>
          <p:cNvSpPr>
            <a:spLocks noGrp="1"/>
          </p:cNvSpPr>
          <p:nvPr/>
        </p:nvSpPr>
        <p:spPr>
          <a:xfrm>
            <a:off x="6249084" y="4602829"/>
            <a:ext cx="551869" cy="375481"/>
          </a:xfrm>
          <a:prstGeom prst="rect">
            <a:avLst/>
          </a:prstGeom>
          <a:noFill/>
          <a:ln>
            <a:noFill/>
          </a:ln>
        </p:spPr>
        <p:txBody>
          <a:bodyPr wrap="none" lIns="0" tIns="0" rIns="0" bIns="0" anchor="ctr">
            <a:noAutofit/>
          </a:bodyPr>
          <a:lstStyle/>
          <a:p>
            <a:pPr algn="ctr">
              <a:buNone/>
            </a:pPr>
            <a:r>
              <a:rPr sz="862">
                <a:solidFill>
                  <a:srgbClr val="2E8B46"/>
                </a:solidFill>
                <a:latin typeface="Arial"/>
                <a:ea typeface="Arial"/>
                <a:cs typeface="Arial"/>
              </a:rPr>
              <a:t>A</a:t>
            </a:r>
            <a:endParaRPr sz="862"/>
          </a:p>
        </p:txBody>
      </p:sp>
      <p:sp>
        <p:nvSpPr>
          <p:cNvPr id="76" name="TextBox 76">
            <a:extLst>
              <a:ext uri="{FF2B5EF4-FFF2-40B4-BE49-F238E27FC236}">
                <a16:creationId xmlns:a16="http://schemas.microsoft.com/office/drawing/2014/main" id="{8BE32215-DE55-4B6B-9D96-F9918D7F53C1}"/>
              </a:ext>
            </a:extLst>
          </p:cNvPr>
          <p:cNvSpPr>
            <a:spLocks noGrp="1"/>
          </p:cNvSpPr>
          <p:nvPr/>
        </p:nvSpPr>
        <p:spPr>
          <a:xfrm>
            <a:off x="9608288" y="4602829"/>
            <a:ext cx="551869" cy="375481"/>
          </a:xfrm>
          <a:prstGeom prst="rect">
            <a:avLst/>
          </a:prstGeom>
          <a:noFill/>
          <a:ln>
            <a:noFill/>
          </a:ln>
        </p:spPr>
        <p:txBody>
          <a:bodyPr wrap="none" lIns="0" tIns="0" rIns="0" bIns="0" anchor="ctr">
            <a:noAutofit/>
          </a:bodyPr>
          <a:lstStyle/>
          <a:p>
            <a:pPr algn="ctr">
              <a:buNone/>
            </a:pPr>
            <a:r>
              <a:rPr sz="862">
                <a:solidFill>
                  <a:srgbClr val="2E8B46"/>
                </a:solidFill>
                <a:latin typeface="Arial"/>
                <a:ea typeface="Arial"/>
                <a:cs typeface="Arial"/>
              </a:rPr>
              <a:t>B</a:t>
            </a:r>
            <a:endParaRPr sz="862"/>
          </a:p>
        </p:txBody>
      </p:sp>
      <p:sp>
        <p:nvSpPr>
          <p:cNvPr id="77" name="TextBox 77">
            <a:extLst>
              <a:ext uri="{FF2B5EF4-FFF2-40B4-BE49-F238E27FC236}">
                <a16:creationId xmlns:a16="http://schemas.microsoft.com/office/drawing/2014/main" id="{A545C420-1FA5-4FAA-BDAC-E5FAC3B91014}"/>
              </a:ext>
            </a:extLst>
          </p:cNvPr>
          <p:cNvSpPr>
            <a:spLocks noGrp="1"/>
          </p:cNvSpPr>
          <p:nvPr/>
        </p:nvSpPr>
        <p:spPr>
          <a:xfrm>
            <a:off x="7184862" y="4415089"/>
            <a:ext cx="2135493" cy="265045"/>
          </a:xfrm>
          <a:prstGeom prst="rect">
            <a:avLst/>
          </a:prstGeom>
          <a:noFill/>
          <a:ln>
            <a:noFill/>
          </a:ln>
        </p:spPr>
        <p:txBody>
          <a:bodyPr wrap="none" lIns="0" tIns="0" rIns="0" bIns="0" anchor="t">
            <a:noAutofit/>
          </a:bodyPr>
          <a:lstStyle/>
          <a:p>
            <a:pPr algn="ctr">
              <a:buNone/>
            </a:pPr>
            <a:r>
              <a:rPr sz="696">
                <a:solidFill>
                  <a:srgbClr val="2E8B46"/>
                </a:solidFill>
                <a:latin typeface="Arial"/>
                <a:ea typeface="Arial"/>
                <a:cs typeface="Arial"/>
              </a:rPr>
              <a:t>track type 2</a:t>
            </a:r>
            <a:endParaRPr sz="696"/>
          </a:p>
        </p:txBody>
      </p:sp>
      <p:sp>
        <p:nvSpPr>
          <p:cNvPr id="78" name="TextBox 78">
            <a:extLst>
              <a:ext uri="{FF2B5EF4-FFF2-40B4-BE49-F238E27FC236}">
                <a16:creationId xmlns:a16="http://schemas.microsoft.com/office/drawing/2014/main" id="{FEBDD0EF-7275-4868-8D54-E8FE38CE1BD9}"/>
              </a:ext>
            </a:extLst>
          </p:cNvPr>
          <p:cNvSpPr>
            <a:spLocks noGrp="1"/>
          </p:cNvSpPr>
          <p:nvPr/>
        </p:nvSpPr>
        <p:spPr>
          <a:xfrm>
            <a:off x="6668985" y="5663011"/>
            <a:ext cx="3059274" cy="287132"/>
          </a:xfrm>
          <a:prstGeom prst="rect">
            <a:avLst/>
          </a:prstGeom>
          <a:noFill/>
          <a:ln>
            <a:noFill/>
          </a:ln>
        </p:spPr>
        <p:txBody>
          <a:bodyPr wrap="none" lIns="0" tIns="0" rIns="0" bIns="0" anchor="t">
            <a:noAutofit/>
          </a:bodyPr>
          <a:lstStyle/>
          <a:p>
            <a:pPr algn="ctr">
              <a:buNone/>
            </a:pPr>
            <a:r>
              <a:rPr sz="862" b="1">
                <a:solidFill>
                  <a:srgbClr val="174EA6"/>
                </a:solidFill>
                <a:latin typeface="Arial"/>
                <a:ea typeface="Arial"/>
                <a:cs typeface="Arial"/>
              </a:rPr>
              <a:t>3 parallel main tracks</a:t>
            </a:r>
            <a:endParaRPr sz="862"/>
          </a:p>
        </p:txBody>
      </p:sp>
    </p:spTree>
    <p:extLst>
      <p:ext uri="{BB962C8B-B14F-4D97-AF65-F5344CB8AC3E}">
        <p14:creationId xmlns:p14="http://schemas.microsoft.com/office/powerpoint/2010/main" val="253959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B202949-3BD3-482D-AC73-B757DAB8FF99}"/>
              </a:ext>
            </a:extLst>
          </p:cNvPr>
          <p:cNvSpPr>
            <a:spLocks noGrp="1"/>
          </p:cNvSpPr>
          <p:nvPr/>
        </p:nvSpPr>
        <p:spPr>
          <a:xfrm>
            <a:off x="502920" y="310896"/>
            <a:ext cx="11155680" cy="566928"/>
          </a:xfrm>
          <a:prstGeom prst="rect">
            <a:avLst/>
          </a:prstGeom>
          <a:noFill/>
        </p:spPr>
        <p:txBody>
          <a:bodyPr wrap="square" lIns="0" tIns="0" rIns="0" bIns="0" anchor="ctr"/>
          <a:lstStyle/>
          <a:p>
            <a:pPr marL="0" indent="0">
              <a:buNone/>
            </a:pPr>
            <a:r>
              <a:rPr sz="3200" b="1">
                <a:solidFill>
                  <a:srgbClr val="16232E"/>
                </a:solidFill>
                <a:latin typeface="Cambria"/>
                <a:ea typeface="Cambria"/>
                <a:cs typeface="Cambria"/>
              </a:rPr>
              <a:t>Results and the open findings on Southern Transcon</a:t>
            </a:r>
            <a:endParaRPr sz="3200"/>
          </a:p>
        </p:txBody>
      </p:sp>
      <p:graphicFrame>
        <p:nvGraphicFramePr>
          <p:cNvPr id="5" name="Table 18"/>
          <p:cNvGraphicFramePr/>
          <p:nvPr/>
        </p:nvGraphicFramePr>
        <p:xfrm>
          <a:off x="502920" y="1463396"/>
          <a:ext cx="10515600" cy="3200400"/>
        </p:xfrm>
        <a:graphic>
          <a:graphicData uri="http://schemas.openxmlformats.org/drawingml/2006/table">
            <a:tbl>
              <a:tblPr>
                <a:tableStyleId>{8EC20E35-A176-4012-BC5E-935CFFF8708E}</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0">
                <a:tc>
                  <a:txBody>
                    <a:bodyPr/>
                    <a:lstStyle/>
                    <a:p>
                      <a:pPr>
                        <a:buNone/>
                      </a:pPr>
                      <a:r>
                        <a:t>Track Type</a:t>
                      </a:r>
                    </a:p>
                  </a:txBody>
                  <a:tcPr anchor="ctr">
                    <a:lnB w="12700" cmpd="sng">
                      <a:solidFill>
                        <a:schemeClr val="tx1"/>
                      </a:solidFill>
                      <a:prstDash val="solid"/>
                    </a:lnB>
                  </a:tcPr>
                </a:tc>
                <a:tc>
                  <a:txBody>
                    <a:bodyPr/>
                    <a:lstStyle/>
                    <a:p>
                      <a:pPr algn="r">
                        <a:buNone/>
                      </a:pPr>
                      <a:r>
                        <a:t>Number of Arcs</a:t>
                      </a:r>
                    </a:p>
                  </a:txBody>
                  <a:tcPr anchor="ctr">
                    <a:lnB w="12700" cmpd="sng">
                      <a:solidFill>
                        <a:schemeClr val="tx1"/>
                      </a:solidFill>
                      <a:prstDash val="solid"/>
                    </a:lnB>
                  </a:tcPr>
                </a:tc>
                <a:tc>
                  <a:txBody>
                    <a:bodyPr/>
                    <a:lstStyle/>
                    <a:p>
                      <a:pPr algn="r">
                        <a:buNone/>
                      </a:pPr>
                      <a:r>
                        <a:t>Track Mileage (Sum of Arc Lengths)</a:t>
                      </a:r>
                    </a:p>
                  </a:txBody>
                  <a:tcPr anchor="ctr">
                    <a:lnB w="12700" cmpd="sng">
                      <a:solidFill>
                        <a:schemeClr val="tx1"/>
                      </a:solidFill>
                      <a:prstDash val="solid"/>
                    </a:lnB>
                  </a:tcPr>
                </a:tc>
                <a:tc>
                  <a:txBody>
                    <a:bodyPr/>
                    <a:lstStyle/>
                    <a:p>
                      <a:pPr algn="r">
                        <a:buNone/>
                      </a:pPr>
                      <a:r>
                        <a:t>Mileage Coverage (Union)</a:t>
                      </a:r>
                    </a:p>
                  </a:txBody>
                  <a:tcPr anchor="ctr">
                    <a:lnB w="12700" cmpd="sng">
                      <a:solidFill>
                        <a:schemeClr val="tx1"/>
                      </a:solidFill>
                      <a:prstDash val="solid"/>
                    </a:lnB>
                  </a:tcPr>
                </a:tc>
                <a:extLst>
                  <a:ext uri="{0D108BD9-81ED-4DB2-BD59-A6C34878D82A}">
                    <a16:rowId xmlns:a16="http://schemas.microsoft.com/office/drawing/2014/main" val="10000"/>
                  </a:ext>
                </a:extLst>
              </a:tr>
              <a:tr h="0">
                <a:tc>
                  <a:txBody>
                    <a:bodyPr/>
                    <a:lstStyle/>
                    <a:p>
                      <a:pPr>
                        <a:buNone/>
                      </a:pPr>
                      <a:r>
                        <a:t>Main Track 1</a:t>
                      </a:r>
                    </a:p>
                  </a:txBody>
                  <a:tcPr anchor="ctr">
                    <a:lnT w="12700" cmpd="sng">
                      <a:solidFill>
                        <a:schemeClr val="tx1"/>
                      </a:solidFill>
                      <a:prstDash val="solid"/>
                    </a:lnT>
                  </a:tcPr>
                </a:tc>
                <a:tc>
                  <a:txBody>
                    <a:bodyPr/>
                    <a:lstStyle/>
                    <a:p>
                      <a:pPr algn="r">
                        <a:buNone/>
                      </a:pPr>
                      <a:r>
                        <a:t>1,918</a:t>
                      </a:r>
                    </a:p>
                  </a:txBody>
                  <a:tcPr anchor="ctr">
                    <a:lnT w="12700" cmpd="sng">
                      <a:solidFill>
                        <a:schemeClr val="tx1"/>
                      </a:solidFill>
                      <a:prstDash val="solid"/>
                    </a:lnT>
                  </a:tcPr>
                </a:tc>
                <a:tc>
                  <a:txBody>
                    <a:bodyPr/>
                    <a:lstStyle/>
                    <a:p>
                      <a:pPr algn="r">
                        <a:buNone/>
                      </a:pPr>
                      <a:r>
                        <a:t>2,213.97</a:t>
                      </a:r>
                    </a:p>
                  </a:txBody>
                  <a:tcPr anchor="ctr">
                    <a:lnT w="12700" cmpd="sng">
                      <a:solidFill>
                        <a:schemeClr val="tx1"/>
                      </a:solidFill>
                      <a:prstDash val="solid"/>
                    </a:lnT>
                  </a:tcPr>
                </a:tc>
                <a:tc>
                  <a:txBody>
                    <a:bodyPr/>
                    <a:lstStyle/>
                    <a:p>
                      <a:pPr algn="r">
                        <a:buNone/>
                      </a:pPr>
                      <a:r>
                        <a:t>2,213.97</a:t>
                      </a:r>
                    </a:p>
                  </a:txBody>
                  <a:tcPr anchor="ctr">
                    <a:lnT w="12700" cmpd="sng">
                      <a:solidFill>
                        <a:schemeClr val="tx1"/>
                      </a:solidFill>
                      <a:prstDash val="solid"/>
                    </a:lnT>
                  </a:tcPr>
                </a:tc>
                <a:extLst>
                  <a:ext uri="{0D108BD9-81ED-4DB2-BD59-A6C34878D82A}">
                    <a16:rowId xmlns:a16="http://schemas.microsoft.com/office/drawing/2014/main" val="10001"/>
                  </a:ext>
                </a:extLst>
              </a:tr>
              <a:tr h="0">
                <a:tc>
                  <a:txBody>
                    <a:bodyPr/>
                    <a:lstStyle/>
                    <a:p>
                      <a:pPr>
                        <a:buNone/>
                      </a:pPr>
                      <a:r>
                        <a:t>Main Track 2</a:t>
                      </a:r>
                    </a:p>
                  </a:txBody>
                  <a:tcPr anchor="ctr"/>
                </a:tc>
                <a:tc>
                  <a:txBody>
                    <a:bodyPr/>
                    <a:lstStyle/>
                    <a:p>
                      <a:pPr algn="r">
                        <a:buNone/>
                      </a:pPr>
                      <a:r>
                        <a:t>1,766</a:t>
                      </a:r>
                    </a:p>
                  </a:txBody>
                  <a:tcPr anchor="ctr"/>
                </a:tc>
                <a:tc>
                  <a:txBody>
                    <a:bodyPr/>
                    <a:lstStyle/>
                    <a:p>
                      <a:pPr algn="r">
                        <a:buNone/>
                      </a:pPr>
                      <a:r>
                        <a:t>1,999.31</a:t>
                      </a:r>
                    </a:p>
                  </a:txBody>
                  <a:tcPr anchor="ctr"/>
                </a:tc>
                <a:tc>
                  <a:txBody>
                    <a:bodyPr/>
                    <a:lstStyle/>
                    <a:p>
                      <a:pPr algn="r">
                        <a:buNone/>
                      </a:pPr>
                      <a:r>
                        <a:t>1,999.31</a:t>
                      </a:r>
                    </a:p>
                  </a:txBody>
                  <a:tcPr anchor="ctr"/>
                </a:tc>
                <a:extLst>
                  <a:ext uri="{0D108BD9-81ED-4DB2-BD59-A6C34878D82A}">
                    <a16:rowId xmlns:a16="http://schemas.microsoft.com/office/drawing/2014/main" val="10002"/>
                  </a:ext>
                </a:extLst>
              </a:tr>
              <a:tr h="0">
                <a:tc>
                  <a:txBody>
                    <a:bodyPr/>
                    <a:lstStyle/>
                    <a:p>
                      <a:pPr>
                        <a:buNone/>
                      </a:pPr>
                      <a:r>
                        <a:t>Main Track 3</a:t>
                      </a:r>
                    </a:p>
                  </a:txBody>
                  <a:tcPr anchor="ctr"/>
                </a:tc>
                <a:tc>
                  <a:txBody>
                    <a:bodyPr/>
                    <a:lstStyle/>
                    <a:p>
                      <a:pPr algn="r">
                        <a:buNone/>
                      </a:pPr>
                      <a:r>
                        <a:t>187</a:t>
                      </a:r>
                    </a:p>
                  </a:txBody>
                  <a:tcPr anchor="ctr"/>
                </a:tc>
                <a:tc>
                  <a:txBody>
                    <a:bodyPr/>
                    <a:lstStyle/>
                    <a:p>
                      <a:pPr algn="r">
                        <a:buNone/>
                      </a:pPr>
                      <a:r>
                        <a:t>119.52</a:t>
                      </a:r>
                    </a:p>
                  </a:txBody>
                  <a:tcPr anchor="ctr"/>
                </a:tc>
                <a:tc>
                  <a:txBody>
                    <a:bodyPr/>
                    <a:lstStyle/>
                    <a:p>
                      <a:pPr algn="r">
                        <a:buNone/>
                      </a:pPr>
                      <a:r>
                        <a:t>119.52</a:t>
                      </a:r>
                    </a:p>
                  </a:txBody>
                  <a:tcPr anchor="ctr"/>
                </a:tc>
                <a:extLst>
                  <a:ext uri="{0D108BD9-81ED-4DB2-BD59-A6C34878D82A}">
                    <a16:rowId xmlns:a16="http://schemas.microsoft.com/office/drawing/2014/main" val="10003"/>
                  </a:ext>
                </a:extLst>
              </a:tr>
              <a:tr h="0">
                <a:tc>
                  <a:txBody>
                    <a:bodyPr/>
                    <a:lstStyle/>
                    <a:p>
                      <a:pPr>
                        <a:buNone/>
                      </a:pPr>
                      <a:r>
                        <a:t>Main Track 4</a:t>
                      </a:r>
                    </a:p>
                  </a:txBody>
                  <a:tcPr anchor="ctr"/>
                </a:tc>
                <a:tc>
                  <a:txBody>
                    <a:bodyPr/>
                    <a:lstStyle/>
                    <a:p>
                      <a:pPr algn="r">
                        <a:buNone/>
                      </a:pPr>
                      <a:r>
                        <a:t>40</a:t>
                      </a:r>
                    </a:p>
                  </a:txBody>
                  <a:tcPr anchor="ctr"/>
                </a:tc>
                <a:tc>
                  <a:txBody>
                    <a:bodyPr/>
                    <a:lstStyle/>
                    <a:p>
                      <a:pPr algn="r">
                        <a:buNone/>
                      </a:pPr>
                      <a:r>
                        <a:t>14.54</a:t>
                      </a:r>
                    </a:p>
                  </a:txBody>
                  <a:tcPr anchor="ctr"/>
                </a:tc>
                <a:tc>
                  <a:txBody>
                    <a:bodyPr/>
                    <a:lstStyle/>
                    <a:p>
                      <a:pPr algn="r">
                        <a:buNone/>
                      </a:pPr>
                      <a:r>
                        <a:t>14.54</a:t>
                      </a:r>
                    </a:p>
                  </a:txBody>
                  <a:tcPr anchor="ctr"/>
                </a:tc>
                <a:extLst>
                  <a:ext uri="{0D108BD9-81ED-4DB2-BD59-A6C34878D82A}">
                    <a16:rowId xmlns:a16="http://schemas.microsoft.com/office/drawing/2014/main" val="10004"/>
                  </a:ext>
                </a:extLst>
              </a:tr>
              <a:tr h="0">
                <a:tc>
                  <a:txBody>
                    <a:bodyPr/>
                    <a:lstStyle/>
                    <a:p>
                      <a:pPr>
                        <a:buNone/>
                      </a:pPr>
                      <a:r>
                        <a:t>Crossover</a:t>
                      </a:r>
                    </a:p>
                  </a:txBody>
                  <a:tcPr anchor="ctr"/>
                </a:tc>
                <a:tc>
                  <a:txBody>
                    <a:bodyPr/>
                    <a:lstStyle/>
                    <a:p>
                      <a:pPr algn="r">
                        <a:buNone/>
                      </a:pPr>
                      <a:r>
                        <a:t>547</a:t>
                      </a:r>
                    </a:p>
                  </a:txBody>
                  <a:tcPr anchor="ctr"/>
                </a:tc>
                <a:tc>
                  <a:txBody>
                    <a:bodyPr/>
                    <a:lstStyle/>
                    <a:p>
                      <a:pPr algn="r">
                        <a:buNone/>
                      </a:pPr>
                      <a:r>
                        <a:t>54.70</a:t>
                      </a:r>
                    </a:p>
                  </a:txBody>
                  <a:tcPr anchor="ctr"/>
                </a:tc>
                <a:tc>
                  <a:txBody>
                    <a:bodyPr/>
                    <a:lstStyle/>
                    <a:p>
                      <a:pPr algn="r">
                        <a:buNone/>
                      </a:pPr>
                      <a:r>
                        <a:t>0.00</a:t>
                      </a:r>
                    </a:p>
                  </a:txBody>
                  <a:tcPr anchor="ctr"/>
                </a:tc>
                <a:extLst>
                  <a:ext uri="{0D108BD9-81ED-4DB2-BD59-A6C34878D82A}">
                    <a16:rowId xmlns:a16="http://schemas.microsoft.com/office/drawing/2014/main" val="10005"/>
                  </a:ext>
                </a:extLst>
              </a:tr>
              <a:tr h="0">
                <a:tc>
                  <a:txBody>
                    <a:bodyPr/>
                    <a:lstStyle/>
                    <a:p>
                      <a:pPr>
                        <a:buNone/>
                      </a:pPr>
                      <a:r>
                        <a:t>Siding</a:t>
                      </a:r>
                    </a:p>
                  </a:txBody>
                  <a:tcPr anchor="ctr"/>
                </a:tc>
                <a:tc>
                  <a:txBody>
                    <a:bodyPr/>
                    <a:lstStyle/>
                    <a:p>
                      <a:pPr algn="r">
                        <a:buNone/>
                      </a:pPr>
                      <a:r>
                        <a:t>56</a:t>
                      </a:r>
                    </a:p>
                  </a:txBody>
                  <a:tcPr anchor="ctr"/>
                </a:tc>
                <a:tc>
                  <a:txBody>
                    <a:bodyPr/>
                    <a:lstStyle/>
                    <a:p>
                      <a:pPr algn="r">
                        <a:buNone/>
                      </a:pPr>
                      <a:r>
                        <a:t>53.85</a:t>
                      </a:r>
                    </a:p>
                  </a:txBody>
                  <a:tcPr anchor="ctr"/>
                </a:tc>
                <a:tc>
                  <a:txBody>
                    <a:bodyPr/>
                    <a:lstStyle/>
                    <a:p>
                      <a:pPr algn="r">
                        <a:buNone/>
                      </a:pPr>
                      <a:r>
                        <a:t>71.70</a:t>
                      </a:r>
                    </a:p>
                  </a:txBody>
                  <a:tcPr anchor="ctr"/>
                </a:tc>
                <a:extLst>
                  <a:ext uri="{0D108BD9-81ED-4DB2-BD59-A6C34878D82A}">
                    <a16:rowId xmlns:a16="http://schemas.microsoft.com/office/drawing/2014/main" val="10006"/>
                  </a:ext>
                </a:extLst>
              </a:tr>
              <a:tr h="0">
                <a:tc>
                  <a:txBody>
                    <a:bodyPr/>
                    <a:lstStyle/>
                    <a:p>
                      <a:pPr>
                        <a:buNone/>
                      </a:pPr>
                      <a:r>
                        <a:t>Switch</a:t>
                      </a:r>
                    </a:p>
                  </a:txBody>
                  <a:tcPr anchor="ctr"/>
                </a:tc>
                <a:tc>
                  <a:txBody>
                    <a:bodyPr/>
                    <a:lstStyle/>
                    <a:p>
                      <a:pPr algn="r">
                        <a:buNone/>
                      </a:pPr>
                      <a:r>
                        <a:t>112</a:t>
                      </a:r>
                    </a:p>
                  </a:txBody>
                  <a:tcPr anchor="ctr"/>
                </a:tc>
                <a:tc>
                  <a:txBody>
                    <a:bodyPr/>
                    <a:lstStyle/>
                    <a:p>
                      <a:pPr algn="r">
                        <a:buNone/>
                      </a:pPr>
                      <a:r>
                        <a:t>33.60</a:t>
                      </a:r>
                    </a:p>
                  </a:txBody>
                  <a:tcPr anchor="ctr"/>
                </a:tc>
                <a:tc>
                  <a:txBody>
                    <a:bodyPr/>
                    <a:lstStyle/>
                    <a:p>
                      <a:pPr algn="r">
                        <a:buNone/>
                      </a:pPr>
                      <a:r>
                        <a:t>31.52</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3107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Lst>
          </p:cNvPr>
          <p:cNvSpPr>
            <a:spLocks noGrp="1"/>
          </p:cNvSpPr>
          <p:nvPr/>
        </p:nvSpPr>
        <p:spPr>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endParaRPr/>
          </a:p>
        </p:txBody>
      </p:sp>
      <p:pic>
        <p:nvPicPr>
          <p:cNvPr id="10" name="Picture 1"/>
          <p:cNvPicPr>
            <a:picLocks noChangeAspect="1"/>
          </p:cNvPicPr>
          <p:nvPr/>
        </p:nvPicPr>
        <p:blipFill>
          <a:blip r:embed="rId3"/>
          <a:srcRect b="19658"/>
          <a:stretch>
            <a:fillRect/>
          </a:stretch>
        </p:blipFill>
        <p:spPr>
          <a:xfrm>
            <a:off x="20" y="1282"/>
            <a:ext cx="12191980" cy="6856718"/>
          </a:xfrm>
          <a:prstGeom prst="rect">
            <a:avLst/>
          </a:prstGeom>
        </p:spPr>
      </p:pic>
    </p:spTree>
    <p:extLst>
      <p:ext uri="{BB962C8B-B14F-4D97-AF65-F5344CB8AC3E}">
        <p14:creationId xmlns:p14="http://schemas.microsoft.com/office/powerpoint/2010/main" val="345063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8"/>
          <p:cNvGraphicFramePr/>
          <p:nvPr/>
        </p:nvGraphicFramePr>
        <p:xfrm>
          <a:off x="4477407" y="4954553"/>
          <a:ext cx="5486400" cy="1485900"/>
        </p:xfrm>
        <a:graphic>
          <a:graphicData uri="http://schemas.openxmlformats.org/drawingml/2006/table">
            <a:tbl>
              <a:tblPr>
                <a:tableStyleId>{9D7B26C5-4107-4FEC-AEDC-1716B250A1EF}</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marR="0" indent="0" algn="l">
                        <a:buNone/>
                      </a:pPr>
                      <a:r>
                        <a:rPr sz="1200" b="0">
                          <a:solidFill>
                            <a:srgbClr val="0B0B0B"/>
                          </a:solidFill>
                        </a:rPr>
                        <a:t>Type</a:t>
                      </a:r>
                      <a:endParaRPr sz="1200" b="0" i="0">
                        <a:solidFill>
                          <a:srgbClr val="0B0B0B"/>
                        </a:solidFill>
                        <a:latin typeface="anthropic-sans"/>
                        <a:ea typeface="anthropic-sans"/>
                        <a:cs typeface="anthropic-sans"/>
                      </a:endParaRPr>
                    </a:p>
                  </a:txBody>
                  <a:tcPr marL="57150" marR="57150" marT="57150" marB="57150">
                    <a:lnB w="12700" cmpd="sng">
                      <a:solidFill>
                        <a:schemeClr val="tx1"/>
                      </a:solidFill>
                      <a:prstDash val="solid"/>
                    </a:lnB>
                  </a:tcPr>
                </a:tc>
                <a:tc>
                  <a:txBody>
                    <a:bodyPr/>
                    <a:lstStyle/>
                    <a:p>
                      <a:pPr marL="0" marR="0" indent="0" algn="l">
                        <a:buNone/>
                      </a:pPr>
                      <a:r>
                        <a:rPr sz="1200" b="0">
                          <a:solidFill>
                            <a:srgbClr val="0B0B0B"/>
                          </a:solidFill>
                        </a:rPr>
                        <a:t>Multiplier</a:t>
                      </a:r>
                      <a:endParaRPr sz="1200" b="0" i="0">
                        <a:solidFill>
                          <a:srgbClr val="0B0B0B"/>
                        </a:solidFill>
                        <a:latin typeface="anthropic-sans"/>
                        <a:ea typeface="anthropic-sans"/>
                        <a:cs typeface="anthropic-sans"/>
                      </a:endParaRPr>
                    </a:p>
                  </a:txBody>
                  <a:tcPr marL="57150" marR="57150" marT="57150" marB="57150">
                    <a:lnB w="12700" cmpd="sng">
                      <a:solidFill>
                        <a:schemeClr val="tx1"/>
                      </a:solidFill>
                      <a:prstDash val="solid"/>
                    </a:lnB>
                  </a:tcPr>
                </a:tc>
                <a:tc>
                  <a:txBody>
                    <a:bodyPr/>
                    <a:lstStyle/>
                    <a:p>
                      <a:pPr marL="0" marR="0" indent="0" algn="l">
                        <a:buNone/>
                      </a:pPr>
                      <a:r>
                        <a:rPr sz="1200" b="0">
                          <a:solidFill>
                            <a:srgbClr val="0B0B0B"/>
                          </a:solidFill>
                        </a:rPr>
                        <a:t>70 × Multiplier</a:t>
                      </a:r>
                      <a:endParaRPr sz="1200" b="0" i="0">
                        <a:solidFill>
                          <a:srgbClr val="0B0B0B"/>
                        </a:solidFill>
                        <a:latin typeface="anthropic-sans"/>
                        <a:ea typeface="anthropic-sans"/>
                        <a:cs typeface="anthropic-sans"/>
                      </a:endParaRPr>
                    </a:p>
                  </a:txBody>
                  <a:tcPr marL="57150" marR="57150" marT="57150" marB="57150">
                    <a:lnB w="12700" cmpd="sng">
                      <a:solidFill>
                        <a:schemeClr val="tx1"/>
                      </a:solidFill>
                      <a:prstDash val="solid"/>
                    </a:lnB>
                  </a:tcPr>
                </a:tc>
                <a:extLst>
                  <a:ext uri="{0D108BD9-81ED-4DB2-BD59-A6C34878D82A}">
                    <a16:rowId xmlns:a16="http://schemas.microsoft.com/office/drawing/2014/main" val="10000"/>
                  </a:ext>
                </a:extLst>
              </a:tr>
              <a:tr h="0">
                <a:tc>
                  <a:txBody>
                    <a:bodyPr/>
                    <a:lstStyle/>
                    <a:p>
                      <a:pPr marL="0" marR="0" indent="0" algn="l">
                        <a:buNone/>
                      </a:pPr>
                      <a:r>
                        <a:rPr sz="1200" b="0">
                          <a:solidFill>
                            <a:srgbClr val="0B0B0B"/>
                          </a:solidFill>
                        </a:rPr>
                        <a:t>intermodal</a:t>
                      </a:r>
                      <a:endParaRPr sz="1200" b="0" i="0">
                        <a:solidFill>
                          <a:srgbClr val="0B0B0B"/>
                        </a:solidFill>
                        <a:latin typeface="anthropic-sans"/>
                        <a:ea typeface="anthropic-sans"/>
                        <a:cs typeface="anthropic-sans"/>
                      </a:endParaRPr>
                    </a:p>
                  </a:txBody>
                  <a:tcPr marL="57150" marR="57150" marT="57150" marB="57150">
                    <a:lnT w="12700" cmpd="sng">
                      <a:solidFill>
                        <a:schemeClr val="tx1"/>
                      </a:solidFill>
                      <a:prstDash val="solid"/>
                    </a:lnT>
                  </a:tcPr>
                </a:tc>
                <a:tc>
                  <a:txBody>
                    <a:bodyPr/>
                    <a:lstStyle/>
                    <a:p>
                      <a:pPr marL="0" marR="0" indent="0" algn="l">
                        <a:buNone/>
                      </a:pPr>
                      <a:r>
                        <a:rPr sz="1200" b="0">
                          <a:solidFill>
                            <a:srgbClr val="0B0B0B"/>
                          </a:solidFill>
                        </a:rPr>
                        <a:t>1.00</a:t>
                      </a:r>
                      <a:endParaRPr sz="1200" b="0" i="0">
                        <a:solidFill>
                          <a:srgbClr val="0B0B0B"/>
                        </a:solidFill>
                        <a:latin typeface="anthropic-sans"/>
                        <a:ea typeface="anthropic-sans"/>
                        <a:cs typeface="anthropic-sans"/>
                      </a:endParaRPr>
                    </a:p>
                  </a:txBody>
                  <a:tcPr marL="57150" marR="57150" marT="57150" marB="57150">
                    <a:lnT w="12700" cmpd="sng">
                      <a:solidFill>
                        <a:schemeClr val="tx1"/>
                      </a:solidFill>
                      <a:prstDash val="solid"/>
                    </a:lnT>
                  </a:tcPr>
                </a:tc>
                <a:tc>
                  <a:txBody>
                    <a:bodyPr/>
                    <a:lstStyle/>
                    <a:p>
                      <a:pPr marL="0" marR="0" indent="0" algn="l">
                        <a:buNone/>
                      </a:pPr>
                      <a:r>
                        <a:rPr sz="1200" b="0">
                          <a:solidFill>
                            <a:srgbClr val="0B0B0B"/>
                          </a:solidFill>
                        </a:rPr>
                        <a:t>70</a:t>
                      </a:r>
                      <a:endParaRPr sz="1200" b="0" i="0">
                        <a:solidFill>
                          <a:srgbClr val="0B0B0B"/>
                        </a:solidFill>
                        <a:latin typeface="anthropic-sans"/>
                        <a:ea typeface="anthropic-sans"/>
                        <a:cs typeface="anthropic-sans"/>
                      </a:endParaRPr>
                    </a:p>
                  </a:txBody>
                  <a:tcPr marL="57150" marR="57150" marT="57150" marB="57150">
                    <a:lnT w="12700" cmpd="sng">
                      <a:solidFill>
                        <a:schemeClr val="tx1"/>
                      </a:solidFill>
                      <a:prstDash val="solid"/>
                    </a:lnT>
                  </a:tcPr>
                </a:tc>
                <a:extLst>
                  <a:ext uri="{0D108BD9-81ED-4DB2-BD59-A6C34878D82A}">
                    <a16:rowId xmlns:a16="http://schemas.microsoft.com/office/drawing/2014/main" val="10001"/>
                  </a:ext>
                </a:extLst>
              </a:tr>
              <a:tr h="0">
                <a:tc>
                  <a:txBody>
                    <a:bodyPr/>
                    <a:lstStyle/>
                    <a:p>
                      <a:pPr marL="0" marR="0" indent="0" algn="l">
                        <a:buNone/>
                      </a:pPr>
                      <a:r>
                        <a:rPr sz="1200" b="0">
                          <a:solidFill>
                            <a:srgbClr val="0B0B0B"/>
                          </a:solidFill>
                        </a:rPr>
                        <a:t>autorack</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0.85</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60</a:t>
                      </a:r>
                      <a:endParaRPr sz="1200" b="0" i="0">
                        <a:solidFill>
                          <a:srgbClr val="0B0B0B"/>
                        </a:solidFill>
                        <a:latin typeface="anthropic-sans"/>
                        <a:ea typeface="anthropic-sans"/>
                        <a:cs typeface="anthropic-sans"/>
                      </a:endParaRPr>
                    </a:p>
                  </a:txBody>
                  <a:tcPr marL="57150" marR="57150" marT="57150" marB="57150"/>
                </a:tc>
                <a:extLst>
                  <a:ext uri="{0D108BD9-81ED-4DB2-BD59-A6C34878D82A}">
                    <a16:rowId xmlns:a16="http://schemas.microsoft.com/office/drawing/2014/main" val="10002"/>
                  </a:ext>
                </a:extLst>
              </a:tr>
              <a:tr h="0">
                <a:tc>
                  <a:txBody>
                    <a:bodyPr/>
                    <a:lstStyle/>
                    <a:p>
                      <a:pPr marL="0" marR="0" indent="0" algn="l">
                        <a:buNone/>
                      </a:pPr>
                      <a:r>
                        <a:rPr sz="1200" b="0">
                          <a:solidFill>
                            <a:srgbClr val="0B0B0B"/>
                          </a:solidFill>
                        </a:rPr>
                        <a:t>manifest</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0.65</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46</a:t>
                      </a:r>
                      <a:endParaRPr sz="1200" b="0" i="0">
                        <a:solidFill>
                          <a:srgbClr val="0B0B0B"/>
                        </a:solidFill>
                        <a:latin typeface="anthropic-sans"/>
                        <a:ea typeface="anthropic-sans"/>
                        <a:cs typeface="anthropic-sans"/>
                      </a:endParaRPr>
                    </a:p>
                  </a:txBody>
                  <a:tcPr marL="57150" marR="57150" marT="57150" marB="57150"/>
                </a:tc>
                <a:extLst>
                  <a:ext uri="{0D108BD9-81ED-4DB2-BD59-A6C34878D82A}">
                    <a16:rowId xmlns:a16="http://schemas.microsoft.com/office/drawing/2014/main" val="10003"/>
                  </a:ext>
                </a:extLst>
              </a:tr>
              <a:tr h="0">
                <a:tc>
                  <a:txBody>
                    <a:bodyPr/>
                    <a:lstStyle/>
                    <a:p>
                      <a:pPr marL="0" marR="0" indent="0" algn="l">
                        <a:buNone/>
                      </a:pPr>
                      <a:r>
                        <a:rPr sz="1200" b="0">
                          <a:solidFill>
                            <a:srgbClr val="0B0B0B"/>
                          </a:solidFill>
                        </a:rPr>
                        <a:t>bulk</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0.50</a:t>
                      </a:r>
                      <a:endParaRPr sz="1200" b="0" i="0">
                        <a:solidFill>
                          <a:srgbClr val="0B0B0B"/>
                        </a:solidFill>
                        <a:latin typeface="anthropic-sans"/>
                        <a:ea typeface="anthropic-sans"/>
                        <a:cs typeface="anthropic-sans"/>
                      </a:endParaRPr>
                    </a:p>
                  </a:txBody>
                  <a:tcPr marL="57150" marR="57150" marT="57150" marB="57150"/>
                </a:tc>
                <a:tc>
                  <a:txBody>
                    <a:bodyPr/>
                    <a:lstStyle/>
                    <a:p>
                      <a:pPr marL="0" marR="0" indent="0" algn="l">
                        <a:buNone/>
                      </a:pPr>
                      <a:r>
                        <a:rPr sz="1200" b="0">
                          <a:solidFill>
                            <a:srgbClr val="0B0B0B"/>
                          </a:solidFill>
                        </a:rPr>
                        <a:t>35</a:t>
                      </a:r>
                      <a:endParaRPr sz="1200" b="0" i="0">
                        <a:solidFill>
                          <a:srgbClr val="0B0B0B"/>
                        </a:solidFill>
                        <a:latin typeface="anthropic-sans"/>
                        <a:ea typeface="anthropic-sans"/>
                        <a:cs typeface="anthropic-sans"/>
                      </a:endParaRPr>
                    </a:p>
                  </a:txBody>
                  <a:tcPr marL="57150" marR="57150" marT="57150" marB="57150"/>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51B86652-F656-A330-52B7-2B5B3C0F99B4}"/>
              </a:ext>
            </a:extLst>
          </p:cNvPr>
          <p:cNvSpPr>
            <a:spLocks noGrp="1"/>
          </p:cNvSpPr>
          <p:nvPr/>
        </p:nvSpPr>
        <p:spPr>
          <a:xfrm>
            <a:off x="399837" y="5512837"/>
            <a:ext cx="3668110" cy="369332"/>
          </a:xfrm>
          <a:prstGeom prst="rect">
            <a:avLst/>
          </a:prstGeom>
          <a:noFill/>
        </p:spPr>
        <p:txBody>
          <a:bodyPr wrap="square">
            <a:spAutoFit/>
          </a:bodyPr>
          <a:lstStyle/>
          <a:p>
            <a:r>
              <a:t>Main Track Speed for different Train</a:t>
            </a:r>
          </a:p>
        </p:txBody>
      </p:sp>
      <p:graphicFrame>
        <p:nvGraphicFramePr>
          <p:cNvPr id="15" name="Table 11"/>
          <p:cNvGraphicFramePr/>
          <p:nvPr/>
        </p:nvGraphicFramePr>
        <p:xfrm>
          <a:off x="399837" y="117267"/>
          <a:ext cx="7094040" cy="4438330"/>
        </p:xfrm>
        <a:graphic>
          <a:graphicData uri="http://schemas.openxmlformats.org/drawingml/2006/table">
            <a:tbl>
              <a:tblPr>
                <a:tableStyleId>{9D7B26C5-4107-4FEC-AEDC-1716B250A1EF}</a:tableStyleId>
              </a:tblPr>
              <a:tblGrid>
                <a:gridCol w="2364680">
                  <a:extLst>
                    <a:ext uri="{9D8B030D-6E8A-4147-A177-3AD203B41FA5}">
                      <a16:colId xmlns:a16="http://schemas.microsoft.com/office/drawing/2014/main" val="20000"/>
                    </a:ext>
                  </a:extLst>
                </a:gridCol>
                <a:gridCol w="2364680">
                  <a:extLst>
                    <a:ext uri="{9D8B030D-6E8A-4147-A177-3AD203B41FA5}">
                      <a16:colId xmlns:a16="http://schemas.microsoft.com/office/drawing/2014/main" val="20001"/>
                    </a:ext>
                  </a:extLst>
                </a:gridCol>
                <a:gridCol w="2364680">
                  <a:extLst>
                    <a:ext uri="{9D8B030D-6E8A-4147-A177-3AD203B41FA5}">
                      <a16:colId xmlns:a16="http://schemas.microsoft.com/office/drawing/2014/main" val="20002"/>
                    </a:ext>
                  </a:extLst>
                </a:gridCol>
              </a:tblGrid>
              <a:tr h="232438">
                <a:tc>
                  <a:txBody>
                    <a:bodyPr/>
                    <a:lstStyle/>
                    <a:p>
                      <a:pPr>
                        <a:buNone/>
                      </a:pPr>
                      <a:r>
                        <a:rPr sz="1300"/>
                        <a:t>Element</a:t>
                      </a:r>
                    </a:p>
                  </a:txBody>
                  <a:tcPr marL="67990" marR="67990" marT="33995" marB="33995" anchor="ctr">
                    <a:lnB w="12700" cmpd="sng">
                      <a:solidFill>
                        <a:schemeClr val="tx1"/>
                      </a:solidFill>
                      <a:prstDash val="solid"/>
                    </a:lnB>
                  </a:tcPr>
                </a:tc>
                <a:tc>
                  <a:txBody>
                    <a:bodyPr/>
                    <a:lstStyle/>
                    <a:p>
                      <a:pPr algn="l">
                        <a:buNone/>
                      </a:pPr>
                      <a:r>
                        <a:rPr sz="1300"/>
                        <a:t>Value</a:t>
                      </a:r>
                    </a:p>
                  </a:txBody>
                  <a:tcPr marL="67990" marR="67990" marT="33995" marB="33995" anchor="ctr">
                    <a:lnB w="12700" cmpd="sng">
                      <a:solidFill>
                        <a:schemeClr val="tx1"/>
                      </a:solidFill>
                      <a:prstDash val="solid"/>
                    </a:lnB>
                  </a:tcPr>
                </a:tc>
                <a:tc>
                  <a:txBody>
                    <a:bodyPr/>
                    <a:lstStyle/>
                    <a:p>
                      <a:pPr>
                        <a:buNone/>
                      </a:pPr>
                      <a:r>
                        <a:rPr sz="1300"/>
                        <a:t>Evidence / Basis</a:t>
                      </a:r>
                    </a:p>
                  </a:txBody>
                  <a:tcPr marL="67990" marR="67990" marT="33995" marB="33995" anchor="ctr">
                    <a:lnB w="12700" cmpd="sng">
                      <a:solidFill>
                        <a:schemeClr val="tx1"/>
                      </a:solidFill>
                      <a:prstDash val="solid"/>
                    </a:lnB>
                  </a:tcPr>
                </a:tc>
                <a:extLst>
                  <a:ext uri="{0D108BD9-81ED-4DB2-BD59-A6C34878D82A}">
                    <a16:rowId xmlns:a16="http://schemas.microsoft.com/office/drawing/2014/main" val="10000"/>
                  </a:ext>
                </a:extLst>
              </a:tr>
              <a:tr h="406767">
                <a:tc>
                  <a:txBody>
                    <a:bodyPr/>
                    <a:lstStyle/>
                    <a:p>
                      <a:pPr>
                        <a:buNone/>
                      </a:pPr>
                      <a:r>
                        <a:rPr sz="1300"/>
                        <a:t>Main Track Speed</a:t>
                      </a:r>
                    </a:p>
                  </a:txBody>
                  <a:tcPr marL="67990" marR="67990" marT="33995" marB="33995" anchor="ctr">
                    <a:lnT w="12700" cmpd="sng">
                      <a:solidFill>
                        <a:schemeClr val="tx1"/>
                      </a:solidFill>
                      <a:prstDash val="solid"/>
                    </a:lnT>
                  </a:tcPr>
                </a:tc>
                <a:tc>
                  <a:txBody>
                    <a:bodyPr/>
                    <a:lstStyle/>
                    <a:p>
                      <a:pPr algn="l">
                        <a:buNone/>
                      </a:pPr>
                      <a:r>
                        <a:rPr sz="1300"/>
                        <a:t>70 mph</a:t>
                      </a:r>
                    </a:p>
                  </a:txBody>
                  <a:tcPr marL="67990" marR="67990" marT="33995" marB="33995" anchor="ctr">
                    <a:lnT w="12700" cmpd="sng">
                      <a:solidFill>
                        <a:schemeClr val="tx1"/>
                      </a:solidFill>
                      <a:prstDash val="solid"/>
                    </a:lnT>
                  </a:tcPr>
                </a:tc>
                <a:tc>
                  <a:txBody>
                    <a:bodyPr/>
                    <a:lstStyle/>
                    <a:p>
                      <a:pPr>
                        <a:buNone/>
                      </a:pPr>
                      <a:r>
                        <a:rPr sz="1300"/>
                        <a:t>FRA timetable: typical/medium speed of 70 mph</a:t>
                      </a:r>
                    </a:p>
                  </a:txBody>
                  <a:tcPr marL="67990" marR="67990" marT="33995" marB="33995" anchor="ctr">
                    <a:lnT w="12700" cmpd="sng">
                      <a:solidFill>
                        <a:schemeClr val="tx1"/>
                      </a:solidFill>
                      <a:prstDash val="solid"/>
                    </a:lnT>
                  </a:tcPr>
                </a:tc>
                <a:extLst>
                  <a:ext uri="{0D108BD9-81ED-4DB2-BD59-A6C34878D82A}">
                    <a16:rowId xmlns:a16="http://schemas.microsoft.com/office/drawing/2014/main" val="10001"/>
                  </a:ext>
                </a:extLst>
              </a:tr>
              <a:tr h="406767">
                <a:tc>
                  <a:txBody>
                    <a:bodyPr/>
                    <a:lstStyle/>
                    <a:p>
                      <a:pPr>
                        <a:buNone/>
                      </a:pPr>
                      <a:r>
                        <a:rPr sz="1300"/>
                        <a:t>Siding Speed</a:t>
                      </a:r>
                    </a:p>
                  </a:txBody>
                  <a:tcPr marL="67990" marR="67990" marT="33995" marB="33995" anchor="ctr"/>
                </a:tc>
                <a:tc>
                  <a:txBody>
                    <a:bodyPr/>
                    <a:lstStyle/>
                    <a:p>
                      <a:pPr algn="l">
                        <a:buNone/>
                      </a:pPr>
                      <a:r>
                        <a:rPr sz="1300"/>
                        <a:t>25 mph</a:t>
                      </a:r>
                    </a:p>
                  </a:txBody>
                  <a:tcPr marL="67990" marR="67990" marT="33995" marB="33995" anchor="ctr"/>
                </a:tc>
                <a:tc>
                  <a:txBody>
                    <a:bodyPr/>
                    <a:lstStyle/>
                    <a:p>
                      <a:pPr>
                        <a:buNone/>
                      </a:pPr>
                      <a:r>
                        <a:rPr sz="1300"/>
                        <a:t>FRA Class 2 track freight speed limit, 49 CFR §213.9</a:t>
                      </a:r>
                    </a:p>
                  </a:txBody>
                  <a:tcPr marL="67990" marR="67990" marT="33995" marB="33995" anchor="ctr"/>
                </a:tc>
                <a:extLst>
                  <a:ext uri="{0D108BD9-81ED-4DB2-BD59-A6C34878D82A}">
                    <a16:rowId xmlns:a16="http://schemas.microsoft.com/office/drawing/2014/main" val="10002"/>
                  </a:ext>
                </a:extLst>
              </a:tr>
              <a:tr h="755423">
                <a:tc>
                  <a:txBody>
                    <a:bodyPr/>
                    <a:lstStyle/>
                    <a:p>
                      <a:pPr>
                        <a:buNone/>
                      </a:pPr>
                      <a:r>
                        <a:rPr sz="1300"/>
                        <a:t>Switch Speed</a:t>
                      </a:r>
                    </a:p>
                  </a:txBody>
                  <a:tcPr marL="67990" marR="67990" marT="33995" marB="33995" anchor="ctr"/>
                </a:tc>
                <a:tc>
                  <a:txBody>
                    <a:bodyPr/>
                    <a:lstStyle/>
                    <a:p>
                      <a:pPr algn="l">
                        <a:buNone/>
                      </a:pPr>
                      <a:r>
                        <a:rPr sz="1300"/>
                        <a:t>30 mph</a:t>
                      </a:r>
                    </a:p>
                  </a:txBody>
                  <a:tcPr marL="67990" marR="67990" marT="33995" marB="33995" anchor="ctr"/>
                </a:tc>
                <a:tc>
                  <a:txBody>
                    <a:bodyPr/>
                    <a:lstStyle/>
                    <a:p>
                      <a:pPr>
                        <a:buNone/>
                      </a:pPr>
                      <a:r>
                        <a:rPr sz="1300"/>
                        <a:t>No. 15 turnout, diverging movement; common U.S. rule of thumb: rated speed ≈ 2 × frog number</a:t>
                      </a:r>
                    </a:p>
                  </a:txBody>
                  <a:tcPr marL="67990" marR="67990" marT="33995" marB="33995" anchor="ctr"/>
                </a:tc>
                <a:extLst>
                  <a:ext uri="{0D108BD9-81ED-4DB2-BD59-A6C34878D82A}">
                    <a16:rowId xmlns:a16="http://schemas.microsoft.com/office/drawing/2014/main" val="10003"/>
                  </a:ext>
                </a:extLst>
              </a:tr>
              <a:tr h="581095">
                <a:tc>
                  <a:txBody>
                    <a:bodyPr/>
                    <a:lstStyle/>
                    <a:p>
                      <a:pPr>
                        <a:buNone/>
                      </a:pPr>
                      <a:r>
                        <a:rPr sz="1300"/>
                        <a:t>Crossover Speed</a:t>
                      </a:r>
                    </a:p>
                  </a:txBody>
                  <a:tcPr marL="67990" marR="67990" marT="33995" marB="33995" anchor="ctr"/>
                </a:tc>
                <a:tc>
                  <a:txBody>
                    <a:bodyPr/>
                    <a:lstStyle/>
                    <a:p>
                      <a:pPr algn="l">
                        <a:buNone/>
                      </a:pPr>
                      <a:r>
                        <a:rPr sz="1300"/>
                        <a:t>45 mph</a:t>
                      </a:r>
                    </a:p>
                  </a:txBody>
                  <a:tcPr marL="67990" marR="67990" marT="33995" marB="33995" anchor="ctr"/>
                </a:tc>
                <a:tc>
                  <a:txBody>
                    <a:bodyPr/>
                    <a:lstStyle/>
                    <a:p>
                      <a:pPr>
                        <a:buNone/>
                      </a:pPr>
                      <a:r>
                        <a:rPr sz="1300"/>
                        <a:t>No. 20 turnout design based on AREMA practice; FRA Report RR06-10</a:t>
                      </a:r>
                    </a:p>
                  </a:txBody>
                  <a:tcPr marL="67990" marR="67990" marT="33995" marB="33995" anchor="ctr"/>
                </a:tc>
                <a:extLst>
                  <a:ext uri="{0D108BD9-81ED-4DB2-BD59-A6C34878D82A}">
                    <a16:rowId xmlns:a16="http://schemas.microsoft.com/office/drawing/2014/main" val="10004"/>
                  </a:ext>
                </a:extLst>
              </a:tr>
              <a:tr h="581095">
                <a:tc>
                  <a:txBody>
                    <a:bodyPr/>
                    <a:lstStyle/>
                    <a:p>
                      <a:pPr>
                        <a:buNone/>
                      </a:pPr>
                      <a:r>
                        <a:rPr sz="1300"/>
                        <a:t>Switch Length</a:t>
                      </a:r>
                    </a:p>
                  </a:txBody>
                  <a:tcPr marL="67990" marR="67990" marT="33995" marB="33995" anchor="ctr"/>
                </a:tc>
                <a:tc>
                  <a:txBody>
                    <a:bodyPr/>
                    <a:lstStyle/>
                    <a:p>
                      <a:pPr algn="l">
                        <a:buNone/>
                      </a:pPr>
                      <a:r>
                        <a:rPr sz="1300"/>
                        <a:t>0.034 mi</a:t>
                      </a:r>
                    </a:p>
                  </a:txBody>
                  <a:tcPr marL="67990" marR="67990" marT="33995" marB="33995" anchor="ctr"/>
                </a:tc>
                <a:tc>
                  <a:txBody>
                    <a:bodyPr/>
                    <a:lstStyle/>
                    <a:p>
                      <a:pPr>
                        <a:buNone/>
                      </a:pPr>
                      <a:r>
                        <a:rPr sz="1300"/>
                        <a:t>Approximate distance from switch point to end of frog for a No. 20 turnout: about 150–180 ft</a:t>
                      </a:r>
                    </a:p>
                  </a:txBody>
                  <a:tcPr marL="67990" marR="67990" marT="33995" marB="33995" anchor="ctr"/>
                </a:tc>
                <a:extLst>
                  <a:ext uri="{0D108BD9-81ED-4DB2-BD59-A6C34878D82A}">
                    <a16:rowId xmlns:a16="http://schemas.microsoft.com/office/drawing/2014/main" val="10005"/>
                  </a:ext>
                </a:extLst>
              </a:tr>
              <a:tr h="755423">
                <a:tc>
                  <a:txBody>
                    <a:bodyPr/>
                    <a:lstStyle/>
                    <a:p>
                      <a:pPr>
                        <a:buNone/>
                      </a:pPr>
                      <a:r>
                        <a:rPr sz="1300"/>
                        <a:t>Crossover Length</a:t>
                      </a:r>
                    </a:p>
                  </a:txBody>
                  <a:tcPr marL="67990" marR="67990" marT="33995" marB="33995" anchor="ctr"/>
                </a:tc>
                <a:tc>
                  <a:txBody>
                    <a:bodyPr/>
                    <a:lstStyle/>
                    <a:p>
                      <a:pPr algn="l">
                        <a:buNone/>
                      </a:pPr>
                      <a:r>
                        <a:rPr sz="1300"/>
                        <a:t>0.114 mi</a:t>
                      </a:r>
                    </a:p>
                  </a:txBody>
                  <a:tcPr marL="67990" marR="67990" marT="33995" marB="33995" anchor="ctr"/>
                </a:tc>
                <a:tc>
                  <a:txBody>
                    <a:bodyPr/>
                    <a:lstStyle/>
                    <a:p>
                      <a:pPr>
                        <a:buNone/>
                      </a:pPr>
                      <a:r>
                        <a:rPr sz="1300"/>
                        <a:t>Connecting track ≈ track spacing × frog number = 15 ft × 20 = 300 ft; including two turnouts gives approximately 600 ft total</a:t>
                      </a:r>
                    </a:p>
                  </a:txBody>
                  <a:tcPr marL="67990" marR="67990" marT="33995" marB="33995" anchor="ctr"/>
                </a:tc>
                <a:extLst>
                  <a:ext uri="{0D108BD9-81ED-4DB2-BD59-A6C34878D82A}">
                    <a16:rowId xmlns:a16="http://schemas.microsoft.com/office/drawing/2014/main" val="10006"/>
                  </a:ext>
                </a:extLst>
              </a:tr>
            </a:tbl>
          </a:graphicData>
        </a:graphic>
      </p:graphicFrame>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A2E37E4-B2A0-337B-F815-F7317CFF2CD8}"/>
                  </a:ext>
                </a:extLst>
              </p14:cNvPr>
              <p14:cNvContentPartPr/>
              <p14:nvPr/>
            </p14:nvContentPartPr>
            <p14:xfrm>
              <a:off x="2828880" y="787320"/>
              <a:ext cx="1138680" cy="3479400"/>
            </p14:xfrm>
          </p:contentPart>
        </mc:Choice>
        <mc:Fallback>
          <p:pic>
            <p:nvPicPr>
              <p:cNvPr id="2" name="Ink 1">
                <a:extLst>
                  <a:ext uri="{FF2B5EF4-FFF2-40B4-BE49-F238E27FC236}">
                    <a16:creationId xmlns:a16="http://schemas.microsoft.com/office/drawing/2014/main" id="{3A2E37E4-B2A0-337B-F815-F7317CFF2CD8}"/>
                  </a:ext>
                </a:extLst>
              </p:cNvPr>
              <p:cNvPicPr/>
              <p:nvPr/>
            </p:nvPicPr>
            <p:blipFill>
              <a:blip r:embed="rId4"/>
              <a:stretch>
                <a:fillRect/>
              </a:stretch>
            </p:blipFill>
            <p:spPr>
              <a:xfrm>
                <a:off x="2819520" y="777960"/>
                <a:ext cx="1157400" cy="3498120"/>
              </a:xfrm>
              <a:prstGeom prst="rect">
                <a:avLst/>
              </a:prstGeom>
            </p:spPr>
          </p:pic>
        </mc:Fallback>
      </mc:AlternateContent>
    </p:spTree>
    <p:extLst>
      <p:ext uri="{BB962C8B-B14F-4D97-AF65-F5344CB8AC3E}">
        <p14:creationId xmlns:p14="http://schemas.microsoft.com/office/powerpoint/2010/main" val="2116402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rect 12">
            <a:extLst>
              <a:ext uri="{FF2B5EF4-FFF2-40B4-BE49-F238E27FC236}">
                <a16:creationId xmlns:a16="http://schemas.microsoft.com/office/drawing/2014/main" id="{4556DF92-71DF-49D9-BA3B-0D3F88B3388B}"/>
              </a:ext>
            </a:extLst>
          </p:cNvPr>
          <p:cNvSpPr>
            <a:spLocks noGrp="1"/>
          </p:cNvSpPr>
          <p:nvPr/>
        </p:nvSpPr>
        <p:spPr>
          <a:xfrm>
            <a:off x="6433141" y="3500452"/>
            <a:ext cx="1199834" cy="309431"/>
          </a:xfrm>
          <a:prstGeom prst="roundRect">
            <a:avLst>
              <a:gd name="adj" fmla="val 16327"/>
            </a:avLst>
          </a:prstGeom>
          <a:noFill/>
          <a:ln w="20320">
            <a:solidFill>
              <a:srgbClr val="174EA6"/>
            </a:solidFill>
          </a:ln>
        </p:spPr>
        <p:txBody>
          <a:bodyPr/>
          <a:lstStyle/>
          <a:p>
            <a:endParaRPr sz="1400"/>
          </a:p>
        </p:txBody>
      </p:sp>
      <p:sp>
        <p:nvSpPr>
          <p:cNvPr id="13" name="Roundrect 13">
            <a:extLst>
              <a:ext uri="{FF2B5EF4-FFF2-40B4-BE49-F238E27FC236}">
                <a16:creationId xmlns:a16="http://schemas.microsoft.com/office/drawing/2014/main" id="{0DAD14F4-C323-4A2D-9D1E-B41970293D9C}"/>
              </a:ext>
            </a:extLst>
          </p:cNvPr>
          <p:cNvSpPr>
            <a:spLocks noGrp="1"/>
          </p:cNvSpPr>
          <p:nvPr/>
        </p:nvSpPr>
        <p:spPr>
          <a:xfrm>
            <a:off x="7759274" y="3500452"/>
            <a:ext cx="2241796" cy="309431"/>
          </a:xfrm>
          <a:prstGeom prst="roundRect">
            <a:avLst>
              <a:gd name="adj" fmla="val 16327"/>
            </a:avLst>
          </a:prstGeom>
          <a:noFill/>
          <a:ln w="17780">
            <a:solidFill>
              <a:srgbClr val="174EA6"/>
            </a:solidFill>
          </a:ln>
        </p:spPr>
        <p:txBody>
          <a:bodyPr/>
          <a:lstStyle/>
          <a:p>
            <a:endParaRPr sz="1400"/>
          </a:p>
        </p:txBody>
      </p:sp>
      <p:sp>
        <p:nvSpPr>
          <p:cNvPr id="14" name="Roundrect 14">
            <a:extLst>
              <a:ext uri="{FF2B5EF4-FFF2-40B4-BE49-F238E27FC236}">
                <a16:creationId xmlns:a16="http://schemas.microsoft.com/office/drawing/2014/main" id="{80C83F62-F522-4B44-8590-F83FC739EE0A}"/>
              </a:ext>
            </a:extLst>
          </p:cNvPr>
          <p:cNvSpPr>
            <a:spLocks noGrp="1"/>
          </p:cNvSpPr>
          <p:nvPr/>
        </p:nvSpPr>
        <p:spPr>
          <a:xfrm>
            <a:off x="10127368" y="3500452"/>
            <a:ext cx="789365" cy="309431"/>
          </a:xfrm>
          <a:prstGeom prst="roundRect">
            <a:avLst>
              <a:gd name="adj" fmla="val 16327"/>
            </a:avLst>
          </a:prstGeom>
          <a:noFill/>
          <a:ln w="17780">
            <a:solidFill>
              <a:srgbClr val="174EA6"/>
            </a:solidFill>
          </a:ln>
        </p:spPr>
        <p:txBody>
          <a:bodyPr/>
          <a:lstStyle/>
          <a:p>
            <a:endParaRPr sz="1400"/>
          </a:p>
        </p:txBody>
      </p:sp>
      <p:sp>
        <p:nvSpPr>
          <p:cNvPr id="15" name="Roundrect 15">
            <a:extLst>
              <a:ext uri="{FF2B5EF4-FFF2-40B4-BE49-F238E27FC236}">
                <a16:creationId xmlns:a16="http://schemas.microsoft.com/office/drawing/2014/main" id="{0CF30875-309A-4F2D-B62D-40871B4591E0}"/>
              </a:ext>
            </a:extLst>
          </p:cNvPr>
          <p:cNvSpPr>
            <a:spLocks noGrp="1"/>
          </p:cNvSpPr>
          <p:nvPr/>
        </p:nvSpPr>
        <p:spPr>
          <a:xfrm>
            <a:off x="11030401" y="3500452"/>
            <a:ext cx="663066" cy="309431"/>
          </a:xfrm>
          <a:prstGeom prst="roundRect">
            <a:avLst>
              <a:gd name="adj" fmla="val 16327"/>
            </a:avLst>
          </a:prstGeom>
          <a:noFill/>
          <a:ln w="20320">
            <a:solidFill>
              <a:srgbClr val="174EA6"/>
            </a:solidFill>
          </a:ln>
        </p:spPr>
        <p:txBody>
          <a:bodyPr/>
          <a:lstStyle/>
          <a:p>
            <a:endParaRPr sz="1400"/>
          </a:p>
        </p:txBody>
      </p:sp>
      <p:sp>
        <p:nvSpPr>
          <p:cNvPr id="16" name="Roundrect 16">
            <a:extLst>
              <a:ext uri="{FF2B5EF4-FFF2-40B4-BE49-F238E27FC236}">
                <a16:creationId xmlns:a16="http://schemas.microsoft.com/office/drawing/2014/main" id="{6B93C208-7C8A-4735-BA7E-10E663BAE7FC}"/>
              </a:ext>
            </a:extLst>
          </p:cNvPr>
          <p:cNvSpPr>
            <a:spLocks noGrp="1"/>
          </p:cNvSpPr>
          <p:nvPr/>
        </p:nvSpPr>
        <p:spPr>
          <a:xfrm>
            <a:off x="6433141" y="4068795"/>
            <a:ext cx="1389282" cy="309431"/>
          </a:xfrm>
          <a:prstGeom prst="roundRect">
            <a:avLst>
              <a:gd name="adj" fmla="val 16327"/>
            </a:avLst>
          </a:prstGeom>
          <a:noFill/>
          <a:ln w="20320">
            <a:solidFill>
              <a:srgbClr val="238443"/>
            </a:solidFill>
          </a:ln>
        </p:spPr>
        <p:txBody>
          <a:bodyPr/>
          <a:lstStyle/>
          <a:p>
            <a:endParaRPr sz="1400"/>
          </a:p>
        </p:txBody>
      </p:sp>
      <p:sp>
        <p:nvSpPr>
          <p:cNvPr id="17" name="Roundrect 17">
            <a:extLst>
              <a:ext uri="{FF2B5EF4-FFF2-40B4-BE49-F238E27FC236}">
                <a16:creationId xmlns:a16="http://schemas.microsoft.com/office/drawing/2014/main" id="{56476270-0AA0-4870-B0A8-16FD60721CA7}"/>
              </a:ext>
            </a:extLst>
          </p:cNvPr>
          <p:cNvSpPr>
            <a:spLocks noGrp="1"/>
          </p:cNvSpPr>
          <p:nvPr/>
        </p:nvSpPr>
        <p:spPr>
          <a:xfrm>
            <a:off x="8030815" y="4068795"/>
            <a:ext cx="1894475" cy="309431"/>
          </a:xfrm>
          <a:prstGeom prst="roundRect">
            <a:avLst>
              <a:gd name="adj" fmla="val 16327"/>
            </a:avLst>
          </a:prstGeom>
          <a:noFill/>
          <a:ln w="17780">
            <a:solidFill>
              <a:srgbClr val="238443"/>
            </a:solidFill>
          </a:ln>
        </p:spPr>
        <p:txBody>
          <a:bodyPr/>
          <a:lstStyle/>
          <a:p>
            <a:endParaRPr sz="1400"/>
          </a:p>
        </p:txBody>
      </p:sp>
      <p:sp>
        <p:nvSpPr>
          <p:cNvPr id="18" name="Roundrect 18">
            <a:extLst>
              <a:ext uri="{FF2B5EF4-FFF2-40B4-BE49-F238E27FC236}">
                <a16:creationId xmlns:a16="http://schemas.microsoft.com/office/drawing/2014/main" id="{41BCCDD0-8290-4B01-AD18-C2A2F84F0DCF}"/>
              </a:ext>
            </a:extLst>
          </p:cNvPr>
          <p:cNvSpPr>
            <a:spLocks noGrp="1"/>
          </p:cNvSpPr>
          <p:nvPr/>
        </p:nvSpPr>
        <p:spPr>
          <a:xfrm>
            <a:off x="10114738" y="4068795"/>
            <a:ext cx="1578729" cy="309431"/>
          </a:xfrm>
          <a:prstGeom prst="roundRect">
            <a:avLst>
              <a:gd name="adj" fmla="val 16327"/>
            </a:avLst>
          </a:prstGeom>
          <a:noFill/>
          <a:ln w="20320">
            <a:solidFill>
              <a:srgbClr val="238443"/>
            </a:solidFill>
          </a:ln>
        </p:spPr>
        <p:txBody>
          <a:bodyPr/>
          <a:lstStyle/>
          <a:p>
            <a:endParaRPr sz="1400"/>
          </a:p>
        </p:txBody>
      </p:sp>
      <p:sp>
        <p:nvSpPr>
          <p:cNvPr id="19" name="Roundrect 19">
            <a:extLst>
              <a:ext uri="{FF2B5EF4-FFF2-40B4-BE49-F238E27FC236}">
                <a16:creationId xmlns:a16="http://schemas.microsoft.com/office/drawing/2014/main" id="{3E5142E3-5C46-49EC-8065-307E5EE75A6C}"/>
              </a:ext>
            </a:extLst>
          </p:cNvPr>
          <p:cNvSpPr>
            <a:spLocks noGrp="1"/>
          </p:cNvSpPr>
          <p:nvPr/>
        </p:nvSpPr>
        <p:spPr>
          <a:xfrm>
            <a:off x="6433141" y="4637138"/>
            <a:ext cx="1389282" cy="309431"/>
          </a:xfrm>
          <a:prstGeom prst="roundRect">
            <a:avLst>
              <a:gd name="adj" fmla="val 16327"/>
            </a:avLst>
          </a:prstGeom>
          <a:noFill/>
          <a:ln w="20320">
            <a:solidFill>
              <a:srgbClr val="E87518"/>
            </a:solidFill>
          </a:ln>
        </p:spPr>
        <p:txBody>
          <a:bodyPr/>
          <a:lstStyle/>
          <a:p>
            <a:endParaRPr sz="1400"/>
          </a:p>
        </p:txBody>
      </p:sp>
      <p:sp>
        <p:nvSpPr>
          <p:cNvPr id="20" name="Roundrect 20">
            <a:extLst>
              <a:ext uri="{FF2B5EF4-FFF2-40B4-BE49-F238E27FC236}">
                <a16:creationId xmlns:a16="http://schemas.microsoft.com/office/drawing/2014/main" id="{167BCD5F-7C64-48BB-83B5-8AE738A55B39}"/>
              </a:ext>
            </a:extLst>
          </p:cNvPr>
          <p:cNvSpPr>
            <a:spLocks noGrp="1"/>
          </p:cNvSpPr>
          <p:nvPr/>
        </p:nvSpPr>
        <p:spPr>
          <a:xfrm>
            <a:off x="8030815" y="4637138"/>
            <a:ext cx="1894475" cy="309431"/>
          </a:xfrm>
          <a:prstGeom prst="roundRect">
            <a:avLst>
              <a:gd name="adj" fmla="val 16327"/>
            </a:avLst>
          </a:prstGeom>
          <a:noFill/>
          <a:ln w="17780">
            <a:solidFill>
              <a:srgbClr val="E87518"/>
            </a:solidFill>
          </a:ln>
        </p:spPr>
        <p:txBody>
          <a:bodyPr/>
          <a:lstStyle/>
          <a:p>
            <a:endParaRPr sz="1400"/>
          </a:p>
        </p:txBody>
      </p:sp>
      <p:sp>
        <p:nvSpPr>
          <p:cNvPr id="21" name="Roundrect 21">
            <a:extLst>
              <a:ext uri="{FF2B5EF4-FFF2-40B4-BE49-F238E27FC236}">
                <a16:creationId xmlns:a16="http://schemas.microsoft.com/office/drawing/2014/main" id="{81CD7D37-0FBF-45AB-A321-7D12388936C1}"/>
              </a:ext>
            </a:extLst>
          </p:cNvPr>
          <p:cNvSpPr>
            <a:spLocks noGrp="1"/>
          </p:cNvSpPr>
          <p:nvPr/>
        </p:nvSpPr>
        <p:spPr>
          <a:xfrm>
            <a:off x="10114738" y="4637138"/>
            <a:ext cx="1578729" cy="309431"/>
          </a:xfrm>
          <a:prstGeom prst="roundRect">
            <a:avLst>
              <a:gd name="adj" fmla="val 16327"/>
            </a:avLst>
          </a:prstGeom>
          <a:noFill/>
          <a:ln w="20320">
            <a:solidFill>
              <a:srgbClr val="E87518"/>
            </a:solidFill>
          </a:ln>
        </p:spPr>
        <p:txBody>
          <a:bodyPr/>
          <a:lstStyle/>
          <a:p>
            <a:endParaRPr sz="1400"/>
          </a:p>
        </p:txBody>
      </p:sp>
      <p:sp>
        <p:nvSpPr>
          <p:cNvPr id="22" name="Roundrect 22">
            <a:extLst>
              <a:ext uri="{FF2B5EF4-FFF2-40B4-BE49-F238E27FC236}">
                <a16:creationId xmlns:a16="http://schemas.microsoft.com/office/drawing/2014/main" id="{3C3ECF7F-20AA-4C23-98DE-62738D3EF5A9}"/>
              </a:ext>
            </a:extLst>
          </p:cNvPr>
          <p:cNvSpPr>
            <a:spLocks noGrp="1"/>
          </p:cNvSpPr>
          <p:nvPr/>
        </p:nvSpPr>
        <p:spPr>
          <a:xfrm>
            <a:off x="6433141" y="5205480"/>
            <a:ext cx="1389282" cy="309431"/>
          </a:xfrm>
          <a:prstGeom prst="roundRect">
            <a:avLst>
              <a:gd name="adj" fmla="val 16327"/>
            </a:avLst>
          </a:prstGeom>
          <a:noFill/>
          <a:ln w="20320">
            <a:solidFill>
              <a:srgbClr val="6B2CA3"/>
            </a:solidFill>
          </a:ln>
        </p:spPr>
        <p:txBody>
          <a:bodyPr/>
          <a:lstStyle/>
          <a:p>
            <a:endParaRPr sz="1400"/>
          </a:p>
        </p:txBody>
      </p:sp>
      <p:sp>
        <p:nvSpPr>
          <p:cNvPr id="23" name="Roundrect 23">
            <a:extLst>
              <a:ext uri="{FF2B5EF4-FFF2-40B4-BE49-F238E27FC236}">
                <a16:creationId xmlns:a16="http://schemas.microsoft.com/office/drawing/2014/main" id="{25D2AF73-EF57-4653-B8FA-17E8FBF6A0ED}"/>
              </a:ext>
            </a:extLst>
          </p:cNvPr>
          <p:cNvSpPr>
            <a:spLocks noGrp="1"/>
          </p:cNvSpPr>
          <p:nvPr/>
        </p:nvSpPr>
        <p:spPr>
          <a:xfrm>
            <a:off x="8030815" y="5205480"/>
            <a:ext cx="1894475" cy="309431"/>
          </a:xfrm>
          <a:prstGeom prst="roundRect">
            <a:avLst>
              <a:gd name="adj" fmla="val 16327"/>
            </a:avLst>
          </a:prstGeom>
          <a:noFill/>
          <a:ln w="17780">
            <a:solidFill>
              <a:srgbClr val="6B2CA3"/>
            </a:solidFill>
          </a:ln>
        </p:spPr>
        <p:txBody>
          <a:bodyPr/>
          <a:lstStyle/>
          <a:p>
            <a:endParaRPr sz="1400"/>
          </a:p>
        </p:txBody>
      </p:sp>
      <p:sp>
        <p:nvSpPr>
          <p:cNvPr id="24" name="Roundrect 24">
            <a:extLst>
              <a:ext uri="{FF2B5EF4-FFF2-40B4-BE49-F238E27FC236}">
                <a16:creationId xmlns:a16="http://schemas.microsoft.com/office/drawing/2014/main" id="{5797F069-1F22-40BA-B05F-C4BA7273A51A}"/>
              </a:ext>
            </a:extLst>
          </p:cNvPr>
          <p:cNvSpPr>
            <a:spLocks noGrp="1"/>
          </p:cNvSpPr>
          <p:nvPr/>
        </p:nvSpPr>
        <p:spPr>
          <a:xfrm>
            <a:off x="10114738" y="5205480"/>
            <a:ext cx="1578729" cy="309431"/>
          </a:xfrm>
          <a:prstGeom prst="roundRect">
            <a:avLst>
              <a:gd name="adj" fmla="val 16327"/>
            </a:avLst>
          </a:prstGeom>
          <a:noFill/>
          <a:ln w="20320">
            <a:solidFill>
              <a:srgbClr val="6B2CA3"/>
            </a:solidFill>
          </a:ln>
        </p:spPr>
        <p:txBody>
          <a:bodyPr/>
          <a:lstStyle/>
          <a:p>
            <a:endParaRPr sz="1400"/>
          </a:p>
        </p:txBody>
      </p:sp>
      <p:sp>
        <p:nvSpPr>
          <p:cNvPr id="25" name="Line 25">
            <a:extLst>
              <a:ext uri="{FF2B5EF4-FFF2-40B4-BE49-F238E27FC236}">
                <a16:creationId xmlns:a16="http://schemas.microsoft.com/office/drawing/2014/main" id="{26A82EBE-287A-432C-8906-1351A692AFAD}"/>
              </a:ext>
            </a:extLst>
          </p:cNvPr>
          <p:cNvSpPr>
            <a:spLocks noGrp="1"/>
          </p:cNvSpPr>
          <p:nvPr/>
        </p:nvSpPr>
        <p:spPr>
          <a:xfrm>
            <a:off x="7677180" y="3652010"/>
            <a:ext cx="31575" cy="0"/>
          </a:xfrm>
          <a:prstGeom prst="line">
            <a:avLst/>
          </a:prstGeom>
          <a:noFill/>
          <a:ln w="31750">
            <a:solidFill>
              <a:srgbClr val="151515"/>
            </a:solidFill>
          </a:ln>
        </p:spPr>
        <p:txBody>
          <a:bodyPr/>
          <a:lstStyle/>
          <a:p>
            <a:endParaRPr sz="1400"/>
          </a:p>
        </p:txBody>
      </p:sp>
      <p:sp>
        <p:nvSpPr>
          <p:cNvPr id="26" name="Line 26">
            <a:extLst>
              <a:ext uri="{FF2B5EF4-FFF2-40B4-BE49-F238E27FC236}">
                <a16:creationId xmlns:a16="http://schemas.microsoft.com/office/drawing/2014/main" id="{37863347-510F-4F6F-AB09-676FFBAC73E6}"/>
              </a:ext>
            </a:extLst>
          </p:cNvPr>
          <p:cNvSpPr>
            <a:spLocks noGrp="1"/>
          </p:cNvSpPr>
          <p:nvPr/>
        </p:nvSpPr>
        <p:spPr>
          <a:xfrm>
            <a:off x="10032644" y="3652010"/>
            <a:ext cx="44204" cy="0"/>
          </a:xfrm>
          <a:prstGeom prst="line">
            <a:avLst/>
          </a:prstGeom>
          <a:noFill/>
          <a:ln w="31750">
            <a:solidFill>
              <a:srgbClr val="151515"/>
            </a:solidFill>
          </a:ln>
        </p:spPr>
        <p:txBody>
          <a:bodyPr/>
          <a:lstStyle/>
          <a:p>
            <a:endParaRPr sz="1400"/>
          </a:p>
        </p:txBody>
      </p:sp>
      <p:sp>
        <p:nvSpPr>
          <p:cNvPr id="27" name="Line 27">
            <a:extLst>
              <a:ext uri="{FF2B5EF4-FFF2-40B4-BE49-F238E27FC236}">
                <a16:creationId xmlns:a16="http://schemas.microsoft.com/office/drawing/2014/main" id="{D0FB14F1-A093-4862-BA1B-79420F28C8F0}"/>
              </a:ext>
            </a:extLst>
          </p:cNvPr>
          <p:cNvSpPr>
            <a:spLocks noGrp="1"/>
          </p:cNvSpPr>
          <p:nvPr/>
        </p:nvSpPr>
        <p:spPr>
          <a:xfrm>
            <a:off x="10948307" y="3652010"/>
            <a:ext cx="31575" cy="0"/>
          </a:xfrm>
          <a:prstGeom prst="line">
            <a:avLst/>
          </a:prstGeom>
          <a:noFill/>
          <a:ln w="31750">
            <a:solidFill>
              <a:srgbClr val="151515"/>
            </a:solidFill>
          </a:ln>
        </p:spPr>
        <p:txBody>
          <a:bodyPr/>
          <a:lstStyle/>
          <a:p>
            <a:endParaRPr sz="1400"/>
          </a:p>
        </p:txBody>
      </p:sp>
      <p:sp>
        <p:nvSpPr>
          <p:cNvPr id="28" name="Line 28">
            <a:extLst>
              <a:ext uri="{FF2B5EF4-FFF2-40B4-BE49-F238E27FC236}">
                <a16:creationId xmlns:a16="http://schemas.microsoft.com/office/drawing/2014/main" id="{44060660-C03A-42E8-A7FF-57EB2AC8210E}"/>
              </a:ext>
            </a:extLst>
          </p:cNvPr>
          <p:cNvSpPr>
            <a:spLocks noGrp="1"/>
          </p:cNvSpPr>
          <p:nvPr/>
        </p:nvSpPr>
        <p:spPr>
          <a:xfrm>
            <a:off x="7866627" y="4220353"/>
            <a:ext cx="113669" cy="0"/>
          </a:xfrm>
          <a:prstGeom prst="line">
            <a:avLst/>
          </a:prstGeom>
          <a:noFill/>
          <a:ln w="31750">
            <a:solidFill>
              <a:srgbClr val="151515"/>
            </a:solidFill>
          </a:ln>
        </p:spPr>
        <p:txBody>
          <a:bodyPr/>
          <a:lstStyle/>
          <a:p>
            <a:endParaRPr sz="1400"/>
          </a:p>
        </p:txBody>
      </p:sp>
      <p:sp>
        <p:nvSpPr>
          <p:cNvPr id="29" name="Line 29">
            <a:extLst>
              <a:ext uri="{FF2B5EF4-FFF2-40B4-BE49-F238E27FC236}">
                <a16:creationId xmlns:a16="http://schemas.microsoft.com/office/drawing/2014/main" id="{BD39800A-7D56-492A-83F6-90FE848DA471}"/>
              </a:ext>
            </a:extLst>
          </p:cNvPr>
          <p:cNvSpPr>
            <a:spLocks noGrp="1"/>
          </p:cNvSpPr>
          <p:nvPr/>
        </p:nvSpPr>
        <p:spPr>
          <a:xfrm>
            <a:off x="9969495" y="4220353"/>
            <a:ext cx="94724" cy="0"/>
          </a:xfrm>
          <a:prstGeom prst="line">
            <a:avLst/>
          </a:prstGeom>
          <a:noFill/>
          <a:ln w="31750">
            <a:solidFill>
              <a:srgbClr val="151515"/>
            </a:solidFill>
          </a:ln>
        </p:spPr>
        <p:txBody>
          <a:bodyPr/>
          <a:lstStyle/>
          <a:p>
            <a:endParaRPr sz="1400"/>
          </a:p>
        </p:txBody>
      </p:sp>
      <p:sp>
        <p:nvSpPr>
          <p:cNvPr id="30" name="Line 30">
            <a:extLst>
              <a:ext uri="{FF2B5EF4-FFF2-40B4-BE49-F238E27FC236}">
                <a16:creationId xmlns:a16="http://schemas.microsoft.com/office/drawing/2014/main" id="{9D50D32D-49FA-4023-ACD7-53B616C15109}"/>
              </a:ext>
            </a:extLst>
          </p:cNvPr>
          <p:cNvSpPr>
            <a:spLocks noGrp="1"/>
          </p:cNvSpPr>
          <p:nvPr/>
        </p:nvSpPr>
        <p:spPr>
          <a:xfrm>
            <a:off x="7866627" y="4788695"/>
            <a:ext cx="113669" cy="0"/>
          </a:xfrm>
          <a:prstGeom prst="line">
            <a:avLst/>
          </a:prstGeom>
          <a:noFill/>
          <a:ln w="31750">
            <a:solidFill>
              <a:srgbClr val="151515"/>
            </a:solidFill>
          </a:ln>
        </p:spPr>
        <p:txBody>
          <a:bodyPr/>
          <a:lstStyle/>
          <a:p>
            <a:endParaRPr sz="1400"/>
          </a:p>
        </p:txBody>
      </p:sp>
      <p:sp>
        <p:nvSpPr>
          <p:cNvPr id="31" name="Line 31">
            <a:extLst>
              <a:ext uri="{FF2B5EF4-FFF2-40B4-BE49-F238E27FC236}">
                <a16:creationId xmlns:a16="http://schemas.microsoft.com/office/drawing/2014/main" id="{A5849523-0B01-4BC2-B758-F60DC8DB79E9}"/>
              </a:ext>
            </a:extLst>
          </p:cNvPr>
          <p:cNvSpPr>
            <a:spLocks noGrp="1"/>
          </p:cNvSpPr>
          <p:nvPr/>
        </p:nvSpPr>
        <p:spPr>
          <a:xfrm>
            <a:off x="9969495" y="4788695"/>
            <a:ext cx="94724" cy="0"/>
          </a:xfrm>
          <a:prstGeom prst="line">
            <a:avLst/>
          </a:prstGeom>
          <a:noFill/>
          <a:ln w="31750">
            <a:solidFill>
              <a:srgbClr val="151515"/>
            </a:solidFill>
          </a:ln>
        </p:spPr>
        <p:txBody>
          <a:bodyPr/>
          <a:lstStyle/>
          <a:p>
            <a:endParaRPr sz="1400"/>
          </a:p>
        </p:txBody>
      </p:sp>
      <p:sp>
        <p:nvSpPr>
          <p:cNvPr id="32" name="Line 32">
            <a:extLst>
              <a:ext uri="{FF2B5EF4-FFF2-40B4-BE49-F238E27FC236}">
                <a16:creationId xmlns:a16="http://schemas.microsoft.com/office/drawing/2014/main" id="{659AE6CF-AD99-42F4-9DEB-79409D917802}"/>
              </a:ext>
            </a:extLst>
          </p:cNvPr>
          <p:cNvSpPr>
            <a:spLocks noGrp="1"/>
          </p:cNvSpPr>
          <p:nvPr/>
        </p:nvSpPr>
        <p:spPr>
          <a:xfrm>
            <a:off x="7866627" y="5357038"/>
            <a:ext cx="113669" cy="0"/>
          </a:xfrm>
          <a:prstGeom prst="line">
            <a:avLst/>
          </a:prstGeom>
          <a:noFill/>
          <a:ln w="31750">
            <a:solidFill>
              <a:srgbClr val="151515"/>
            </a:solidFill>
          </a:ln>
        </p:spPr>
        <p:txBody>
          <a:bodyPr/>
          <a:lstStyle/>
          <a:p>
            <a:endParaRPr sz="1400"/>
          </a:p>
        </p:txBody>
      </p:sp>
      <p:sp>
        <p:nvSpPr>
          <p:cNvPr id="33" name="Line 33">
            <a:extLst>
              <a:ext uri="{FF2B5EF4-FFF2-40B4-BE49-F238E27FC236}">
                <a16:creationId xmlns:a16="http://schemas.microsoft.com/office/drawing/2014/main" id="{58A7A6DC-0283-408F-999C-EA15883DAF2B}"/>
              </a:ext>
            </a:extLst>
          </p:cNvPr>
          <p:cNvSpPr>
            <a:spLocks noGrp="1"/>
          </p:cNvSpPr>
          <p:nvPr/>
        </p:nvSpPr>
        <p:spPr>
          <a:xfrm>
            <a:off x="9969495" y="5357038"/>
            <a:ext cx="94724" cy="0"/>
          </a:xfrm>
          <a:prstGeom prst="line">
            <a:avLst/>
          </a:prstGeom>
          <a:noFill/>
          <a:ln w="31750">
            <a:solidFill>
              <a:srgbClr val="151515"/>
            </a:solidFill>
          </a:ln>
        </p:spPr>
        <p:txBody>
          <a:bodyPr/>
          <a:lstStyle/>
          <a:p>
            <a:endParaRPr sz="1400"/>
          </a:p>
        </p:txBody>
      </p:sp>
      <p:sp>
        <p:nvSpPr>
          <p:cNvPr id="34" name="Polygon 34">
            <a:extLst>
              <a:ext uri="{FF2B5EF4-FFF2-40B4-BE49-F238E27FC236}">
                <a16:creationId xmlns:a16="http://schemas.microsoft.com/office/drawing/2014/main" id="{4D4E7E2A-A8BC-40AE-8004-500E358D3F41}"/>
              </a:ext>
            </a:extLst>
          </p:cNvPr>
          <p:cNvSpPr>
            <a:spLocks noGrp="1"/>
          </p:cNvSpPr>
          <p:nvPr/>
        </p:nvSpPr>
        <p:spPr>
          <a:xfrm>
            <a:off x="7620345" y="3614121"/>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37" name="Polygon 37">
            <a:extLst>
              <a:ext uri="{FF2B5EF4-FFF2-40B4-BE49-F238E27FC236}">
                <a16:creationId xmlns:a16="http://schemas.microsoft.com/office/drawing/2014/main" id="{D3AABD7E-6D66-4E87-82B1-247E2203CC89}"/>
              </a:ext>
            </a:extLst>
          </p:cNvPr>
          <p:cNvSpPr>
            <a:spLocks noGrp="1"/>
          </p:cNvSpPr>
          <p:nvPr/>
        </p:nvSpPr>
        <p:spPr>
          <a:xfrm>
            <a:off x="7891887" y="4182463"/>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39" name="Polygon 39">
            <a:extLst>
              <a:ext uri="{FF2B5EF4-FFF2-40B4-BE49-F238E27FC236}">
                <a16:creationId xmlns:a16="http://schemas.microsoft.com/office/drawing/2014/main" id="{AF4172E8-E53D-4F32-BB9A-EEA09999DEA7}"/>
              </a:ext>
            </a:extLst>
          </p:cNvPr>
          <p:cNvSpPr>
            <a:spLocks noGrp="1"/>
          </p:cNvSpPr>
          <p:nvPr/>
        </p:nvSpPr>
        <p:spPr>
          <a:xfrm>
            <a:off x="7891887" y="4750806"/>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41" name="Polygon 41">
            <a:extLst>
              <a:ext uri="{FF2B5EF4-FFF2-40B4-BE49-F238E27FC236}">
                <a16:creationId xmlns:a16="http://schemas.microsoft.com/office/drawing/2014/main" id="{DA048326-BF62-4AE5-A5CB-00ACDDB9263D}"/>
              </a:ext>
            </a:extLst>
          </p:cNvPr>
          <p:cNvSpPr>
            <a:spLocks noGrp="1"/>
          </p:cNvSpPr>
          <p:nvPr/>
        </p:nvSpPr>
        <p:spPr>
          <a:xfrm>
            <a:off x="7891887" y="5319148"/>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2" name="Roundrect 2">
            <a:extLst>
              <a:ext uri="{FF2B5EF4-FFF2-40B4-BE49-F238E27FC236}">
                <a16:creationId xmlns:a16="http://schemas.microsoft.com/office/drawing/2014/main" id="{B9158E64-5FC2-42BB-88D3-655F5A0A5C8A}"/>
              </a:ext>
            </a:extLst>
          </p:cNvPr>
          <p:cNvSpPr>
            <a:spLocks noGrp="1"/>
          </p:cNvSpPr>
          <p:nvPr/>
        </p:nvSpPr>
        <p:spPr>
          <a:xfrm>
            <a:off x="6456357" y="571783"/>
            <a:ext cx="5078137" cy="2262657"/>
          </a:xfrm>
          <a:prstGeom prst="roundRect">
            <a:avLst>
              <a:gd name="adj" fmla="val 1724"/>
            </a:avLst>
          </a:prstGeom>
          <a:solidFill>
            <a:srgbClr val="FFFFFF"/>
          </a:solidFill>
          <a:ln w="15240">
            <a:solidFill>
              <a:srgbClr val="C7D1E0"/>
            </a:solidFill>
          </a:ln>
        </p:spPr>
        <p:txBody>
          <a:bodyPr/>
          <a:lstStyle/>
          <a:p>
            <a:endParaRPr sz="1193"/>
          </a:p>
        </p:txBody>
      </p:sp>
      <p:sp>
        <p:nvSpPr>
          <p:cNvPr id="5" name="Line 5">
            <a:extLst>
              <a:ext uri="{FF2B5EF4-FFF2-40B4-BE49-F238E27FC236}">
                <a16:creationId xmlns:a16="http://schemas.microsoft.com/office/drawing/2014/main" id="{C949B6C7-C93A-4D59-814B-DE1B4C9B8685}"/>
              </a:ext>
            </a:extLst>
          </p:cNvPr>
          <p:cNvSpPr>
            <a:spLocks noGrp="1"/>
          </p:cNvSpPr>
          <p:nvPr/>
        </p:nvSpPr>
        <p:spPr>
          <a:xfrm>
            <a:off x="7732389" y="1031952"/>
            <a:ext cx="0" cy="1150959"/>
          </a:xfrm>
          <a:prstGeom prst="line">
            <a:avLst/>
          </a:prstGeom>
          <a:noFill/>
          <a:ln w="15240">
            <a:solidFill>
              <a:srgbClr val="9AA6B5"/>
            </a:solidFill>
            <a:prstDash val="solid"/>
          </a:ln>
        </p:spPr>
        <p:txBody>
          <a:bodyPr/>
          <a:lstStyle/>
          <a:p>
            <a:endParaRPr sz="1193"/>
          </a:p>
        </p:txBody>
      </p:sp>
      <p:sp>
        <p:nvSpPr>
          <p:cNvPr id="6" name="Line 6">
            <a:extLst>
              <a:ext uri="{FF2B5EF4-FFF2-40B4-BE49-F238E27FC236}">
                <a16:creationId xmlns:a16="http://schemas.microsoft.com/office/drawing/2014/main" id="{A826056C-9A88-4847-8956-CA25F4920055}"/>
              </a:ext>
            </a:extLst>
          </p:cNvPr>
          <p:cNvSpPr>
            <a:spLocks noGrp="1"/>
          </p:cNvSpPr>
          <p:nvPr/>
        </p:nvSpPr>
        <p:spPr>
          <a:xfrm>
            <a:off x="8902507" y="1031952"/>
            <a:ext cx="0" cy="1150959"/>
          </a:xfrm>
          <a:prstGeom prst="line">
            <a:avLst/>
          </a:prstGeom>
          <a:noFill/>
          <a:ln w="15240">
            <a:solidFill>
              <a:srgbClr val="9AA6B5"/>
            </a:solidFill>
            <a:prstDash val="solid"/>
          </a:ln>
        </p:spPr>
        <p:txBody>
          <a:bodyPr/>
          <a:lstStyle/>
          <a:p>
            <a:endParaRPr sz="1193"/>
          </a:p>
        </p:txBody>
      </p:sp>
      <p:sp>
        <p:nvSpPr>
          <p:cNvPr id="7" name="Line 7">
            <a:extLst>
              <a:ext uri="{FF2B5EF4-FFF2-40B4-BE49-F238E27FC236}">
                <a16:creationId xmlns:a16="http://schemas.microsoft.com/office/drawing/2014/main" id="{F41E7087-7DD9-4E96-8EE2-2AF5833569E3}"/>
              </a:ext>
            </a:extLst>
          </p:cNvPr>
          <p:cNvSpPr>
            <a:spLocks noGrp="1"/>
          </p:cNvSpPr>
          <p:nvPr/>
        </p:nvSpPr>
        <p:spPr>
          <a:xfrm>
            <a:off x="10347348" y="1031952"/>
            <a:ext cx="0" cy="1150959"/>
          </a:xfrm>
          <a:prstGeom prst="line">
            <a:avLst/>
          </a:prstGeom>
          <a:noFill/>
          <a:ln w="15240">
            <a:solidFill>
              <a:srgbClr val="9AA6B5"/>
            </a:solidFill>
            <a:prstDash val="solid"/>
          </a:ln>
        </p:spPr>
        <p:txBody>
          <a:bodyPr/>
          <a:lstStyle/>
          <a:p>
            <a:endParaRPr sz="1193"/>
          </a:p>
        </p:txBody>
      </p:sp>
      <p:sp>
        <p:nvSpPr>
          <p:cNvPr id="43" name="Line 43">
            <a:extLst>
              <a:ext uri="{FF2B5EF4-FFF2-40B4-BE49-F238E27FC236}">
                <a16:creationId xmlns:a16="http://schemas.microsoft.com/office/drawing/2014/main" id="{42AA844E-6BB0-410E-95D7-06D0B2B3A190}"/>
              </a:ext>
            </a:extLst>
          </p:cNvPr>
          <p:cNvSpPr>
            <a:spLocks noGrp="1"/>
          </p:cNvSpPr>
          <p:nvPr/>
        </p:nvSpPr>
        <p:spPr>
          <a:xfrm flipV="1">
            <a:off x="7208380" y="1222232"/>
            <a:ext cx="747858" cy="320227"/>
          </a:xfrm>
          <a:prstGeom prst="line">
            <a:avLst/>
          </a:prstGeom>
          <a:noFill/>
          <a:ln w="50800">
            <a:solidFill>
              <a:srgbClr val="174EA6"/>
            </a:solidFill>
          </a:ln>
        </p:spPr>
        <p:txBody>
          <a:bodyPr/>
          <a:lstStyle/>
          <a:p>
            <a:endParaRPr sz="1193"/>
          </a:p>
        </p:txBody>
      </p:sp>
      <p:sp>
        <p:nvSpPr>
          <p:cNvPr id="44" name="Line 44">
            <a:extLst>
              <a:ext uri="{FF2B5EF4-FFF2-40B4-BE49-F238E27FC236}">
                <a16:creationId xmlns:a16="http://schemas.microsoft.com/office/drawing/2014/main" id="{268C0CF6-0814-4217-94C7-396DB56B172E}"/>
              </a:ext>
            </a:extLst>
          </p:cNvPr>
          <p:cNvSpPr>
            <a:spLocks noGrp="1"/>
          </p:cNvSpPr>
          <p:nvPr/>
        </p:nvSpPr>
        <p:spPr>
          <a:xfrm>
            <a:off x="7208380" y="1644559"/>
            <a:ext cx="747858" cy="329509"/>
          </a:xfrm>
          <a:prstGeom prst="line">
            <a:avLst/>
          </a:prstGeom>
          <a:noFill/>
          <a:ln w="50800">
            <a:solidFill>
              <a:srgbClr val="174EA6"/>
            </a:solidFill>
          </a:ln>
        </p:spPr>
        <p:txBody>
          <a:bodyPr/>
          <a:lstStyle/>
          <a:p>
            <a:endParaRPr sz="1193"/>
          </a:p>
        </p:txBody>
      </p:sp>
      <p:sp>
        <p:nvSpPr>
          <p:cNvPr id="45" name="Line 45">
            <a:extLst>
              <a:ext uri="{FF2B5EF4-FFF2-40B4-BE49-F238E27FC236}">
                <a16:creationId xmlns:a16="http://schemas.microsoft.com/office/drawing/2014/main" id="{346AC3A4-AD7D-4107-BF47-09044D21A461}"/>
              </a:ext>
            </a:extLst>
          </p:cNvPr>
          <p:cNvSpPr>
            <a:spLocks noGrp="1"/>
          </p:cNvSpPr>
          <p:nvPr/>
        </p:nvSpPr>
        <p:spPr>
          <a:xfrm>
            <a:off x="8246224" y="1222231"/>
            <a:ext cx="910657" cy="0"/>
          </a:xfrm>
          <a:prstGeom prst="line">
            <a:avLst/>
          </a:prstGeom>
          <a:noFill/>
          <a:ln w="50800">
            <a:solidFill>
              <a:srgbClr val="238443"/>
            </a:solidFill>
          </a:ln>
        </p:spPr>
        <p:txBody>
          <a:bodyPr/>
          <a:lstStyle/>
          <a:p>
            <a:endParaRPr sz="1193"/>
          </a:p>
        </p:txBody>
      </p:sp>
      <p:sp>
        <p:nvSpPr>
          <p:cNvPr id="46" name="Line 46">
            <a:extLst>
              <a:ext uri="{FF2B5EF4-FFF2-40B4-BE49-F238E27FC236}">
                <a16:creationId xmlns:a16="http://schemas.microsoft.com/office/drawing/2014/main" id="{0FFEF4B6-39D1-4746-99E3-C13696AEF0AD}"/>
              </a:ext>
            </a:extLst>
          </p:cNvPr>
          <p:cNvSpPr>
            <a:spLocks noGrp="1"/>
          </p:cNvSpPr>
          <p:nvPr/>
        </p:nvSpPr>
        <p:spPr>
          <a:xfrm>
            <a:off x="8246224" y="1974068"/>
            <a:ext cx="910657" cy="0"/>
          </a:xfrm>
          <a:prstGeom prst="line">
            <a:avLst/>
          </a:prstGeom>
          <a:noFill/>
          <a:ln w="50800">
            <a:solidFill>
              <a:srgbClr val="238443"/>
            </a:solidFill>
          </a:ln>
        </p:spPr>
        <p:txBody>
          <a:bodyPr/>
          <a:lstStyle/>
          <a:p>
            <a:endParaRPr sz="1193"/>
          </a:p>
        </p:txBody>
      </p:sp>
      <p:sp>
        <p:nvSpPr>
          <p:cNvPr id="47" name="Line 47">
            <a:extLst>
              <a:ext uri="{FF2B5EF4-FFF2-40B4-BE49-F238E27FC236}">
                <a16:creationId xmlns:a16="http://schemas.microsoft.com/office/drawing/2014/main" id="{B1FB9C52-9AAA-489E-B0F8-8D4001B425D6}"/>
              </a:ext>
            </a:extLst>
          </p:cNvPr>
          <p:cNvSpPr>
            <a:spLocks noGrp="1"/>
          </p:cNvSpPr>
          <p:nvPr/>
        </p:nvSpPr>
        <p:spPr>
          <a:xfrm>
            <a:off x="9441778" y="1222232"/>
            <a:ext cx="671546" cy="338791"/>
          </a:xfrm>
          <a:prstGeom prst="line">
            <a:avLst/>
          </a:prstGeom>
          <a:noFill/>
          <a:ln w="50800">
            <a:solidFill>
              <a:srgbClr val="E87518"/>
            </a:solidFill>
          </a:ln>
        </p:spPr>
        <p:txBody>
          <a:bodyPr/>
          <a:lstStyle/>
          <a:p>
            <a:endParaRPr sz="1193"/>
          </a:p>
        </p:txBody>
      </p:sp>
      <p:sp>
        <p:nvSpPr>
          <p:cNvPr id="48" name="Line 48">
            <a:extLst>
              <a:ext uri="{FF2B5EF4-FFF2-40B4-BE49-F238E27FC236}">
                <a16:creationId xmlns:a16="http://schemas.microsoft.com/office/drawing/2014/main" id="{2D9A4DF6-9E36-4CE4-9FB4-141CD34ACFDC}"/>
              </a:ext>
            </a:extLst>
          </p:cNvPr>
          <p:cNvSpPr>
            <a:spLocks noGrp="1"/>
          </p:cNvSpPr>
          <p:nvPr/>
        </p:nvSpPr>
        <p:spPr>
          <a:xfrm flipV="1">
            <a:off x="9441778" y="1663124"/>
            <a:ext cx="671546" cy="310944"/>
          </a:xfrm>
          <a:prstGeom prst="line">
            <a:avLst/>
          </a:prstGeom>
          <a:noFill/>
          <a:ln w="50800">
            <a:solidFill>
              <a:srgbClr val="E87518"/>
            </a:solidFill>
          </a:ln>
        </p:spPr>
        <p:txBody>
          <a:bodyPr/>
          <a:lstStyle/>
          <a:p>
            <a:endParaRPr sz="1193"/>
          </a:p>
        </p:txBody>
      </p:sp>
      <p:sp>
        <p:nvSpPr>
          <p:cNvPr id="49" name="Line 49">
            <a:extLst>
              <a:ext uri="{FF2B5EF4-FFF2-40B4-BE49-F238E27FC236}">
                <a16:creationId xmlns:a16="http://schemas.microsoft.com/office/drawing/2014/main" id="{D4819760-E626-42D0-BEEA-6AF41AD5F205}"/>
              </a:ext>
            </a:extLst>
          </p:cNvPr>
          <p:cNvSpPr>
            <a:spLocks noGrp="1"/>
          </p:cNvSpPr>
          <p:nvPr/>
        </p:nvSpPr>
        <p:spPr>
          <a:xfrm>
            <a:off x="10489797" y="1612072"/>
            <a:ext cx="544359" cy="0"/>
          </a:xfrm>
          <a:prstGeom prst="line">
            <a:avLst/>
          </a:prstGeom>
          <a:noFill/>
          <a:ln w="50800">
            <a:solidFill>
              <a:srgbClr val="6B2CA3"/>
            </a:solidFill>
          </a:ln>
        </p:spPr>
        <p:txBody>
          <a:bodyPr/>
          <a:lstStyle/>
          <a:p>
            <a:endParaRPr sz="1193"/>
          </a:p>
        </p:txBody>
      </p:sp>
      <p:sp>
        <p:nvSpPr>
          <p:cNvPr id="50" name="Polygon 50">
            <a:extLst>
              <a:ext uri="{FF2B5EF4-FFF2-40B4-BE49-F238E27FC236}">
                <a16:creationId xmlns:a16="http://schemas.microsoft.com/office/drawing/2014/main" id="{9F51280A-498A-42DC-8964-5DD4CFB5A1EE}"/>
              </a:ext>
            </a:extLst>
          </p:cNvPr>
          <p:cNvSpPr>
            <a:spLocks noGrp="1"/>
          </p:cNvSpPr>
          <p:nvPr/>
        </p:nvSpPr>
        <p:spPr>
          <a:xfrm>
            <a:off x="7878792" y="1222231"/>
            <a:ext cx="77446" cy="52815"/>
          </a:xfrm>
          <a:custGeom>
            <a:avLst/>
            <a:gdLst/>
            <a:ahLst/>
            <a:cxnLst/>
            <a:rect l="l" t="t" r="r" b="b"/>
            <a:pathLst>
              <a:path w="21600" h="21600">
                <a:moveTo>
                  <a:pt x="21600" y="0"/>
                </a:moveTo>
                <a:lnTo>
                  <a:pt x="7235" y="21600"/>
                </a:lnTo>
                <a:lnTo>
                  <a:pt x="0" y="982"/>
                </a:lnTo>
                <a:close/>
              </a:path>
            </a:pathLst>
          </a:custGeom>
          <a:solidFill>
            <a:srgbClr val="174EA6"/>
          </a:solidFill>
          <a:ln>
            <a:noFill/>
          </a:ln>
        </p:spPr>
        <p:txBody>
          <a:bodyPr/>
          <a:lstStyle/>
          <a:p>
            <a:endParaRPr sz="1193"/>
          </a:p>
        </p:txBody>
      </p:sp>
      <p:sp>
        <p:nvSpPr>
          <p:cNvPr id="51" name="Polygon 51">
            <a:extLst>
              <a:ext uri="{FF2B5EF4-FFF2-40B4-BE49-F238E27FC236}">
                <a16:creationId xmlns:a16="http://schemas.microsoft.com/office/drawing/2014/main" id="{CF912AB5-36AB-41DC-B941-5D4934AFED8E}"/>
              </a:ext>
            </a:extLst>
          </p:cNvPr>
          <p:cNvSpPr>
            <a:spLocks noGrp="1"/>
          </p:cNvSpPr>
          <p:nvPr/>
        </p:nvSpPr>
        <p:spPr>
          <a:xfrm>
            <a:off x="7878826" y="1920735"/>
            <a:ext cx="77411" cy="53333"/>
          </a:xfrm>
          <a:custGeom>
            <a:avLst/>
            <a:gdLst/>
            <a:ahLst/>
            <a:cxnLst/>
            <a:rect l="l" t="t" r="r" b="b"/>
            <a:pathLst>
              <a:path w="21600" h="21600">
                <a:moveTo>
                  <a:pt x="21600" y="21600"/>
                </a:moveTo>
                <a:lnTo>
                  <a:pt x="0" y="20310"/>
                </a:lnTo>
                <a:lnTo>
                  <a:pt x="7409" y="0"/>
                </a:lnTo>
                <a:close/>
              </a:path>
            </a:pathLst>
          </a:custGeom>
          <a:solidFill>
            <a:srgbClr val="174EA6"/>
          </a:solidFill>
          <a:ln>
            <a:noFill/>
          </a:ln>
        </p:spPr>
        <p:txBody>
          <a:bodyPr/>
          <a:lstStyle/>
          <a:p>
            <a:endParaRPr sz="1193"/>
          </a:p>
        </p:txBody>
      </p:sp>
      <p:sp>
        <p:nvSpPr>
          <p:cNvPr id="52" name="Polygon 52">
            <a:extLst>
              <a:ext uri="{FF2B5EF4-FFF2-40B4-BE49-F238E27FC236}">
                <a16:creationId xmlns:a16="http://schemas.microsoft.com/office/drawing/2014/main" id="{5DB93ECF-E821-4425-A84F-42FB9E6B31F9}"/>
              </a:ext>
            </a:extLst>
          </p:cNvPr>
          <p:cNvSpPr>
            <a:spLocks noGrp="1"/>
          </p:cNvSpPr>
          <p:nvPr/>
        </p:nvSpPr>
        <p:spPr>
          <a:xfrm>
            <a:off x="9085656" y="1194386"/>
            <a:ext cx="71225" cy="55692"/>
          </a:xfrm>
          <a:custGeom>
            <a:avLst/>
            <a:gdLst/>
            <a:ahLst/>
            <a:cxnLst/>
            <a:rect l="l" t="t" r="r" b="b"/>
            <a:pathLst>
              <a:path w="21600" h="21600">
                <a:moveTo>
                  <a:pt x="21600" y="10800"/>
                </a:moveTo>
                <a:lnTo>
                  <a:pt x="0" y="21600"/>
                </a:lnTo>
                <a:lnTo>
                  <a:pt x="0" y="0"/>
                </a:lnTo>
                <a:close/>
              </a:path>
            </a:pathLst>
          </a:custGeom>
          <a:solidFill>
            <a:srgbClr val="238443"/>
          </a:solidFill>
          <a:ln>
            <a:noFill/>
          </a:ln>
        </p:spPr>
        <p:txBody>
          <a:bodyPr/>
          <a:lstStyle/>
          <a:p>
            <a:endParaRPr sz="1193"/>
          </a:p>
        </p:txBody>
      </p:sp>
      <p:sp>
        <p:nvSpPr>
          <p:cNvPr id="53" name="Polygon 53">
            <a:extLst>
              <a:ext uri="{FF2B5EF4-FFF2-40B4-BE49-F238E27FC236}">
                <a16:creationId xmlns:a16="http://schemas.microsoft.com/office/drawing/2014/main" id="{A8DF3545-9E3B-4C0C-9B17-F8A73D99515F}"/>
              </a:ext>
            </a:extLst>
          </p:cNvPr>
          <p:cNvSpPr>
            <a:spLocks noGrp="1"/>
          </p:cNvSpPr>
          <p:nvPr/>
        </p:nvSpPr>
        <p:spPr>
          <a:xfrm>
            <a:off x="9085656" y="1946222"/>
            <a:ext cx="71225" cy="55692"/>
          </a:xfrm>
          <a:custGeom>
            <a:avLst/>
            <a:gdLst/>
            <a:ahLst/>
            <a:cxnLst/>
            <a:rect l="l" t="t" r="r" b="b"/>
            <a:pathLst>
              <a:path w="21600" h="21600">
                <a:moveTo>
                  <a:pt x="21600" y="10800"/>
                </a:moveTo>
                <a:lnTo>
                  <a:pt x="0" y="21600"/>
                </a:lnTo>
                <a:lnTo>
                  <a:pt x="0" y="0"/>
                </a:lnTo>
                <a:close/>
              </a:path>
            </a:pathLst>
          </a:custGeom>
          <a:solidFill>
            <a:srgbClr val="238443"/>
          </a:solidFill>
          <a:ln>
            <a:noFill/>
          </a:ln>
        </p:spPr>
        <p:txBody>
          <a:bodyPr/>
          <a:lstStyle/>
          <a:p>
            <a:endParaRPr sz="1193"/>
          </a:p>
        </p:txBody>
      </p:sp>
      <p:sp>
        <p:nvSpPr>
          <p:cNvPr id="54" name="Polygon 54">
            <a:extLst>
              <a:ext uri="{FF2B5EF4-FFF2-40B4-BE49-F238E27FC236}">
                <a16:creationId xmlns:a16="http://schemas.microsoft.com/office/drawing/2014/main" id="{A5313575-DDF1-4BE4-8D4E-4EC7B43BBF63}"/>
              </a:ext>
            </a:extLst>
          </p:cNvPr>
          <p:cNvSpPr>
            <a:spLocks noGrp="1"/>
          </p:cNvSpPr>
          <p:nvPr/>
        </p:nvSpPr>
        <p:spPr>
          <a:xfrm>
            <a:off x="10036223" y="1505210"/>
            <a:ext cx="77101" cy="55812"/>
          </a:xfrm>
          <a:custGeom>
            <a:avLst/>
            <a:gdLst/>
            <a:ahLst/>
            <a:cxnLst/>
            <a:rect l="l" t="t" r="r" b="b"/>
            <a:pathLst>
              <a:path w="21600" h="21600">
                <a:moveTo>
                  <a:pt x="21600" y="21600"/>
                </a:moveTo>
                <a:lnTo>
                  <a:pt x="0" y="18861"/>
                </a:lnTo>
                <a:lnTo>
                  <a:pt x="8277" y="0"/>
                </a:lnTo>
                <a:close/>
              </a:path>
            </a:pathLst>
          </a:custGeom>
          <a:solidFill>
            <a:srgbClr val="E87518"/>
          </a:solidFill>
          <a:ln>
            <a:noFill/>
          </a:ln>
        </p:spPr>
        <p:txBody>
          <a:bodyPr/>
          <a:lstStyle/>
          <a:p>
            <a:endParaRPr sz="1193"/>
          </a:p>
        </p:txBody>
      </p:sp>
      <p:sp>
        <p:nvSpPr>
          <p:cNvPr id="55" name="Polygon 55">
            <a:extLst>
              <a:ext uri="{FF2B5EF4-FFF2-40B4-BE49-F238E27FC236}">
                <a16:creationId xmlns:a16="http://schemas.microsoft.com/office/drawing/2014/main" id="{9D3D6296-1447-4FFF-AF73-ED9FD0264545}"/>
              </a:ext>
            </a:extLst>
          </p:cNvPr>
          <p:cNvSpPr>
            <a:spLocks noGrp="1"/>
          </p:cNvSpPr>
          <p:nvPr/>
        </p:nvSpPr>
        <p:spPr>
          <a:xfrm>
            <a:off x="10035997" y="1663124"/>
            <a:ext cx="77327" cy="54238"/>
          </a:xfrm>
          <a:custGeom>
            <a:avLst/>
            <a:gdLst/>
            <a:ahLst/>
            <a:cxnLst/>
            <a:rect l="l" t="t" r="r" b="b"/>
            <a:pathLst>
              <a:path w="21600" h="21600">
                <a:moveTo>
                  <a:pt x="21600" y="0"/>
                </a:moveTo>
                <a:lnTo>
                  <a:pt x="7718" y="21600"/>
                </a:lnTo>
                <a:lnTo>
                  <a:pt x="0" y="1823"/>
                </a:lnTo>
                <a:close/>
              </a:path>
            </a:pathLst>
          </a:custGeom>
          <a:solidFill>
            <a:srgbClr val="E87518"/>
          </a:solidFill>
          <a:ln>
            <a:noFill/>
          </a:ln>
        </p:spPr>
        <p:txBody>
          <a:bodyPr/>
          <a:lstStyle/>
          <a:p>
            <a:endParaRPr sz="1193"/>
          </a:p>
        </p:txBody>
      </p:sp>
      <p:sp>
        <p:nvSpPr>
          <p:cNvPr id="56" name="Polygon 56">
            <a:extLst>
              <a:ext uri="{FF2B5EF4-FFF2-40B4-BE49-F238E27FC236}">
                <a16:creationId xmlns:a16="http://schemas.microsoft.com/office/drawing/2014/main" id="{5B3AE597-27C6-4C69-9651-92B63E6ADC95}"/>
              </a:ext>
            </a:extLst>
          </p:cNvPr>
          <p:cNvSpPr>
            <a:spLocks noGrp="1"/>
          </p:cNvSpPr>
          <p:nvPr/>
        </p:nvSpPr>
        <p:spPr>
          <a:xfrm>
            <a:off x="10962931" y="1584227"/>
            <a:ext cx="71225" cy="55692"/>
          </a:xfrm>
          <a:custGeom>
            <a:avLst/>
            <a:gdLst/>
            <a:ahLst/>
            <a:cxnLst/>
            <a:rect l="l" t="t" r="r" b="b"/>
            <a:pathLst>
              <a:path w="21600" h="21600">
                <a:moveTo>
                  <a:pt x="21600" y="10800"/>
                </a:moveTo>
                <a:lnTo>
                  <a:pt x="0" y="21600"/>
                </a:lnTo>
                <a:lnTo>
                  <a:pt x="0" y="0"/>
                </a:lnTo>
                <a:close/>
              </a:path>
            </a:pathLst>
          </a:custGeom>
          <a:solidFill>
            <a:srgbClr val="6B2CA3"/>
          </a:solidFill>
          <a:ln>
            <a:noFill/>
          </a:ln>
        </p:spPr>
        <p:txBody>
          <a:bodyPr/>
          <a:lstStyle/>
          <a:p>
            <a:endParaRPr sz="1193"/>
          </a:p>
        </p:txBody>
      </p:sp>
      <p:sp>
        <p:nvSpPr>
          <p:cNvPr id="57" name="Ellipse 57">
            <a:extLst>
              <a:ext uri="{FF2B5EF4-FFF2-40B4-BE49-F238E27FC236}">
                <a16:creationId xmlns:a16="http://schemas.microsoft.com/office/drawing/2014/main" id="{080F87A8-23AA-45BC-A09E-F8FC64087C59}"/>
              </a:ext>
            </a:extLst>
          </p:cNvPr>
          <p:cNvSpPr>
            <a:spLocks noGrp="1"/>
          </p:cNvSpPr>
          <p:nvPr/>
        </p:nvSpPr>
        <p:spPr>
          <a:xfrm>
            <a:off x="6918394" y="1468203"/>
            <a:ext cx="274724" cy="250613"/>
          </a:xfrm>
          <a:prstGeom prst="ellipse">
            <a:avLst/>
          </a:prstGeom>
          <a:solidFill>
            <a:srgbClr val="FFFFFF"/>
          </a:solidFill>
          <a:ln w="25400">
            <a:solidFill>
              <a:srgbClr val="151515"/>
            </a:solidFill>
          </a:ln>
        </p:spPr>
        <p:txBody>
          <a:bodyPr/>
          <a:lstStyle/>
          <a:p>
            <a:endParaRPr sz="1193"/>
          </a:p>
        </p:txBody>
      </p:sp>
      <p:sp>
        <p:nvSpPr>
          <p:cNvPr id="58" name="Ellipse 58">
            <a:extLst>
              <a:ext uri="{FF2B5EF4-FFF2-40B4-BE49-F238E27FC236}">
                <a16:creationId xmlns:a16="http://schemas.microsoft.com/office/drawing/2014/main" id="{A168F807-6C4B-4F76-914D-83F28174A459}"/>
              </a:ext>
            </a:extLst>
          </p:cNvPr>
          <p:cNvSpPr>
            <a:spLocks noGrp="1"/>
          </p:cNvSpPr>
          <p:nvPr/>
        </p:nvSpPr>
        <p:spPr>
          <a:xfrm>
            <a:off x="7981674" y="1096925"/>
            <a:ext cx="274724" cy="250613"/>
          </a:xfrm>
          <a:prstGeom prst="ellipse">
            <a:avLst/>
          </a:prstGeom>
          <a:solidFill>
            <a:srgbClr val="FFFFFF"/>
          </a:solidFill>
          <a:ln w="25400">
            <a:solidFill>
              <a:srgbClr val="151515"/>
            </a:solidFill>
          </a:ln>
        </p:spPr>
        <p:txBody>
          <a:bodyPr/>
          <a:lstStyle/>
          <a:p>
            <a:endParaRPr sz="1193"/>
          </a:p>
        </p:txBody>
      </p:sp>
      <p:sp>
        <p:nvSpPr>
          <p:cNvPr id="59" name="Ellipse 59">
            <a:extLst>
              <a:ext uri="{FF2B5EF4-FFF2-40B4-BE49-F238E27FC236}">
                <a16:creationId xmlns:a16="http://schemas.microsoft.com/office/drawing/2014/main" id="{F8327A5A-3142-4766-B66E-9F6A219EB76E}"/>
              </a:ext>
            </a:extLst>
          </p:cNvPr>
          <p:cNvSpPr>
            <a:spLocks noGrp="1"/>
          </p:cNvSpPr>
          <p:nvPr/>
        </p:nvSpPr>
        <p:spPr>
          <a:xfrm>
            <a:off x="7981674" y="1848762"/>
            <a:ext cx="274724" cy="250613"/>
          </a:xfrm>
          <a:prstGeom prst="ellipse">
            <a:avLst/>
          </a:prstGeom>
          <a:solidFill>
            <a:srgbClr val="FFFFFF"/>
          </a:solidFill>
          <a:ln w="25400">
            <a:solidFill>
              <a:srgbClr val="151515"/>
            </a:solidFill>
          </a:ln>
        </p:spPr>
        <p:txBody>
          <a:bodyPr/>
          <a:lstStyle/>
          <a:p>
            <a:endParaRPr sz="1193"/>
          </a:p>
        </p:txBody>
      </p:sp>
      <p:sp>
        <p:nvSpPr>
          <p:cNvPr id="60" name="Ellipse 60">
            <a:extLst>
              <a:ext uri="{FF2B5EF4-FFF2-40B4-BE49-F238E27FC236}">
                <a16:creationId xmlns:a16="http://schemas.microsoft.com/office/drawing/2014/main" id="{EBDEB578-BE92-4EB3-9B57-A77B749A3BA7}"/>
              </a:ext>
            </a:extLst>
          </p:cNvPr>
          <p:cNvSpPr>
            <a:spLocks noGrp="1"/>
          </p:cNvSpPr>
          <p:nvPr/>
        </p:nvSpPr>
        <p:spPr>
          <a:xfrm>
            <a:off x="9182317" y="1096925"/>
            <a:ext cx="274724" cy="250613"/>
          </a:xfrm>
          <a:prstGeom prst="ellipse">
            <a:avLst/>
          </a:prstGeom>
          <a:solidFill>
            <a:srgbClr val="FFFFFF"/>
          </a:solidFill>
          <a:ln w="25400">
            <a:solidFill>
              <a:srgbClr val="151515"/>
            </a:solidFill>
          </a:ln>
        </p:spPr>
        <p:txBody>
          <a:bodyPr/>
          <a:lstStyle/>
          <a:p>
            <a:endParaRPr sz="1193"/>
          </a:p>
        </p:txBody>
      </p:sp>
      <p:sp>
        <p:nvSpPr>
          <p:cNvPr id="61" name="Ellipse 61">
            <a:extLst>
              <a:ext uri="{FF2B5EF4-FFF2-40B4-BE49-F238E27FC236}">
                <a16:creationId xmlns:a16="http://schemas.microsoft.com/office/drawing/2014/main" id="{10B9B5EE-84B6-4766-864D-4183BE2FE548}"/>
              </a:ext>
            </a:extLst>
          </p:cNvPr>
          <p:cNvSpPr>
            <a:spLocks noGrp="1"/>
          </p:cNvSpPr>
          <p:nvPr/>
        </p:nvSpPr>
        <p:spPr>
          <a:xfrm>
            <a:off x="9182317" y="1848762"/>
            <a:ext cx="274724" cy="250613"/>
          </a:xfrm>
          <a:prstGeom prst="ellipse">
            <a:avLst/>
          </a:prstGeom>
          <a:solidFill>
            <a:srgbClr val="FFFFFF"/>
          </a:solidFill>
          <a:ln w="25400">
            <a:solidFill>
              <a:srgbClr val="151515"/>
            </a:solidFill>
          </a:ln>
        </p:spPr>
        <p:txBody>
          <a:bodyPr/>
          <a:lstStyle/>
          <a:p>
            <a:endParaRPr sz="1193"/>
          </a:p>
        </p:txBody>
      </p:sp>
      <p:sp>
        <p:nvSpPr>
          <p:cNvPr id="62" name="Ellipse 62">
            <a:extLst>
              <a:ext uri="{FF2B5EF4-FFF2-40B4-BE49-F238E27FC236}">
                <a16:creationId xmlns:a16="http://schemas.microsoft.com/office/drawing/2014/main" id="{4ADCFAA3-DFD6-4519-98B0-4BE4AB5B5F63}"/>
              </a:ext>
            </a:extLst>
          </p:cNvPr>
          <p:cNvSpPr>
            <a:spLocks noGrp="1"/>
          </p:cNvSpPr>
          <p:nvPr/>
        </p:nvSpPr>
        <p:spPr>
          <a:xfrm>
            <a:off x="10179461" y="1486766"/>
            <a:ext cx="274724" cy="250613"/>
          </a:xfrm>
          <a:prstGeom prst="ellipse">
            <a:avLst/>
          </a:prstGeom>
          <a:solidFill>
            <a:srgbClr val="FFFFFF"/>
          </a:solidFill>
          <a:ln w="25400">
            <a:solidFill>
              <a:srgbClr val="151515"/>
            </a:solidFill>
          </a:ln>
        </p:spPr>
        <p:txBody>
          <a:bodyPr/>
          <a:lstStyle/>
          <a:p>
            <a:endParaRPr sz="1193"/>
          </a:p>
        </p:txBody>
      </p:sp>
      <p:sp>
        <p:nvSpPr>
          <p:cNvPr id="63" name="Ellipse 63">
            <a:extLst>
              <a:ext uri="{FF2B5EF4-FFF2-40B4-BE49-F238E27FC236}">
                <a16:creationId xmlns:a16="http://schemas.microsoft.com/office/drawing/2014/main" id="{F3C718E2-9DEE-431E-B6BC-B32E75DEA532}"/>
              </a:ext>
            </a:extLst>
          </p:cNvPr>
          <p:cNvSpPr>
            <a:spLocks noGrp="1"/>
          </p:cNvSpPr>
          <p:nvPr/>
        </p:nvSpPr>
        <p:spPr>
          <a:xfrm>
            <a:off x="11044331" y="1486766"/>
            <a:ext cx="274724" cy="250613"/>
          </a:xfrm>
          <a:prstGeom prst="ellipse">
            <a:avLst/>
          </a:prstGeom>
          <a:solidFill>
            <a:srgbClr val="FFFFFF"/>
          </a:solidFill>
          <a:ln w="25400">
            <a:solidFill>
              <a:srgbClr val="151515"/>
            </a:solidFill>
          </a:ln>
        </p:spPr>
        <p:txBody>
          <a:bodyPr/>
          <a:lstStyle/>
          <a:p>
            <a:endParaRPr sz="1193"/>
          </a:p>
        </p:txBody>
      </p:sp>
      <p:sp>
        <p:nvSpPr>
          <p:cNvPr id="65" name="TextBox 65">
            <a:extLst>
              <a:ext uri="{FF2B5EF4-FFF2-40B4-BE49-F238E27FC236}">
                <a16:creationId xmlns:a16="http://schemas.microsoft.com/office/drawing/2014/main" id="{D2576BF0-4774-4CE3-895A-EB30818E3F11}"/>
              </a:ext>
            </a:extLst>
          </p:cNvPr>
          <p:cNvSpPr>
            <a:spLocks noGrp="1"/>
          </p:cNvSpPr>
          <p:nvPr/>
        </p:nvSpPr>
        <p:spPr>
          <a:xfrm>
            <a:off x="6918394" y="1491408"/>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0</a:t>
            </a:r>
            <a:endParaRPr sz="928"/>
          </a:p>
        </p:txBody>
      </p:sp>
      <p:sp>
        <p:nvSpPr>
          <p:cNvPr id="66" name="TextBox 66">
            <a:extLst>
              <a:ext uri="{FF2B5EF4-FFF2-40B4-BE49-F238E27FC236}">
                <a16:creationId xmlns:a16="http://schemas.microsoft.com/office/drawing/2014/main" id="{2A2DC56C-BB82-4681-9BB1-3135555DFF8A}"/>
              </a:ext>
            </a:extLst>
          </p:cNvPr>
          <p:cNvSpPr>
            <a:spLocks noGrp="1"/>
          </p:cNvSpPr>
          <p:nvPr/>
        </p:nvSpPr>
        <p:spPr>
          <a:xfrm>
            <a:off x="7981674" y="1120130"/>
            <a:ext cx="274724" cy="204202"/>
          </a:xfrm>
          <a:prstGeom prst="rect">
            <a:avLst/>
          </a:prstGeom>
          <a:noFill/>
          <a:ln>
            <a:noFill/>
          </a:ln>
        </p:spPr>
        <p:txBody>
          <a:bodyPr wrap="none" lIns="0" tIns="0" rIns="0" bIns="0" anchor="ctr">
            <a:noAutofit/>
          </a:bodyPr>
          <a:lstStyle/>
          <a:p>
            <a:pPr algn="ctr">
              <a:buNone/>
            </a:pPr>
            <a:r>
              <a:rPr sz="928" b="1" dirty="0">
                <a:latin typeface="Arial"/>
                <a:ea typeface="Arial"/>
                <a:cs typeface="Arial"/>
              </a:rPr>
              <a:t>1</a:t>
            </a:r>
            <a:endParaRPr sz="928" dirty="0"/>
          </a:p>
        </p:txBody>
      </p:sp>
      <p:sp>
        <p:nvSpPr>
          <p:cNvPr id="67" name="TextBox 67">
            <a:extLst>
              <a:ext uri="{FF2B5EF4-FFF2-40B4-BE49-F238E27FC236}">
                <a16:creationId xmlns:a16="http://schemas.microsoft.com/office/drawing/2014/main" id="{DB7251AC-50EC-4B75-AFD2-AF8EB1A0FCB6}"/>
              </a:ext>
            </a:extLst>
          </p:cNvPr>
          <p:cNvSpPr>
            <a:spLocks noGrp="1"/>
          </p:cNvSpPr>
          <p:nvPr/>
        </p:nvSpPr>
        <p:spPr>
          <a:xfrm>
            <a:off x="7981674" y="1871967"/>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2</a:t>
            </a:r>
            <a:endParaRPr sz="928"/>
          </a:p>
        </p:txBody>
      </p:sp>
      <p:sp>
        <p:nvSpPr>
          <p:cNvPr id="68" name="TextBox 68">
            <a:extLst>
              <a:ext uri="{FF2B5EF4-FFF2-40B4-BE49-F238E27FC236}">
                <a16:creationId xmlns:a16="http://schemas.microsoft.com/office/drawing/2014/main" id="{AE0CAB4B-4DBE-4F48-9B90-F4FC83F8BC66}"/>
              </a:ext>
            </a:extLst>
          </p:cNvPr>
          <p:cNvSpPr>
            <a:spLocks noGrp="1"/>
          </p:cNvSpPr>
          <p:nvPr/>
        </p:nvSpPr>
        <p:spPr>
          <a:xfrm>
            <a:off x="9182317" y="1120130"/>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3</a:t>
            </a:r>
            <a:endParaRPr sz="928"/>
          </a:p>
        </p:txBody>
      </p:sp>
      <p:sp>
        <p:nvSpPr>
          <p:cNvPr id="69" name="TextBox 69">
            <a:extLst>
              <a:ext uri="{FF2B5EF4-FFF2-40B4-BE49-F238E27FC236}">
                <a16:creationId xmlns:a16="http://schemas.microsoft.com/office/drawing/2014/main" id="{4FAE29D2-267C-4494-B4B3-CBD039FE43A9}"/>
              </a:ext>
            </a:extLst>
          </p:cNvPr>
          <p:cNvSpPr>
            <a:spLocks noGrp="1"/>
          </p:cNvSpPr>
          <p:nvPr/>
        </p:nvSpPr>
        <p:spPr>
          <a:xfrm>
            <a:off x="9182317" y="1871967"/>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4</a:t>
            </a:r>
            <a:endParaRPr sz="928"/>
          </a:p>
        </p:txBody>
      </p:sp>
      <p:sp>
        <p:nvSpPr>
          <p:cNvPr id="70" name="TextBox 70">
            <a:extLst>
              <a:ext uri="{FF2B5EF4-FFF2-40B4-BE49-F238E27FC236}">
                <a16:creationId xmlns:a16="http://schemas.microsoft.com/office/drawing/2014/main" id="{A72B2FDF-7CC9-43BE-8092-DDB8ED5C183D}"/>
              </a:ext>
            </a:extLst>
          </p:cNvPr>
          <p:cNvSpPr>
            <a:spLocks noGrp="1"/>
          </p:cNvSpPr>
          <p:nvPr/>
        </p:nvSpPr>
        <p:spPr>
          <a:xfrm>
            <a:off x="10179461" y="1509971"/>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5</a:t>
            </a:r>
            <a:endParaRPr sz="928"/>
          </a:p>
        </p:txBody>
      </p:sp>
      <p:sp>
        <p:nvSpPr>
          <p:cNvPr id="71" name="TextBox 71">
            <a:extLst>
              <a:ext uri="{FF2B5EF4-FFF2-40B4-BE49-F238E27FC236}">
                <a16:creationId xmlns:a16="http://schemas.microsoft.com/office/drawing/2014/main" id="{0D02AE56-FDF8-498B-87D5-ED14D5941C15}"/>
              </a:ext>
            </a:extLst>
          </p:cNvPr>
          <p:cNvSpPr>
            <a:spLocks noGrp="1"/>
          </p:cNvSpPr>
          <p:nvPr/>
        </p:nvSpPr>
        <p:spPr>
          <a:xfrm>
            <a:off x="11044331" y="1509971"/>
            <a:ext cx="274724" cy="204202"/>
          </a:xfrm>
          <a:prstGeom prst="rect">
            <a:avLst/>
          </a:prstGeom>
          <a:noFill/>
          <a:ln>
            <a:noFill/>
          </a:ln>
        </p:spPr>
        <p:txBody>
          <a:bodyPr wrap="none" lIns="0" tIns="0" rIns="0" bIns="0" anchor="ctr">
            <a:noAutofit/>
          </a:bodyPr>
          <a:lstStyle/>
          <a:p>
            <a:pPr algn="ctr">
              <a:buNone/>
            </a:pPr>
            <a:r>
              <a:rPr sz="928" b="1">
                <a:latin typeface="Arial"/>
                <a:ea typeface="Arial"/>
                <a:cs typeface="Arial"/>
              </a:rPr>
              <a:t>6</a:t>
            </a:r>
            <a:endParaRPr sz="928"/>
          </a:p>
        </p:txBody>
      </p:sp>
      <p:sp>
        <p:nvSpPr>
          <p:cNvPr id="82" name="TextBox 82">
            <a:extLst>
              <a:ext uri="{FF2B5EF4-FFF2-40B4-BE49-F238E27FC236}">
                <a16:creationId xmlns:a16="http://schemas.microsoft.com/office/drawing/2014/main" id="{C22AA92D-C048-46DF-A7C0-D0C0684D452B}"/>
              </a:ext>
            </a:extLst>
          </p:cNvPr>
          <p:cNvSpPr>
            <a:spLocks noGrp="1"/>
          </p:cNvSpPr>
          <p:nvPr/>
        </p:nvSpPr>
        <p:spPr>
          <a:xfrm>
            <a:off x="6689458" y="2252526"/>
            <a:ext cx="737683" cy="120665"/>
          </a:xfrm>
          <a:prstGeom prst="rect">
            <a:avLst/>
          </a:prstGeom>
          <a:noFill/>
          <a:ln>
            <a:noFill/>
          </a:ln>
        </p:spPr>
        <p:txBody>
          <a:bodyPr wrap="none" lIns="0" tIns="0" rIns="0" bIns="0" anchor="t">
            <a:noAutofit/>
          </a:bodyPr>
          <a:lstStyle/>
          <a:p>
            <a:pPr algn="ctr">
              <a:buNone/>
            </a:pPr>
            <a:r>
              <a:rPr sz="995" b="1">
                <a:latin typeface="Arial"/>
                <a:ea typeface="Arial"/>
                <a:cs typeface="Arial"/>
              </a:rPr>
              <a:t>Group 0</a:t>
            </a:r>
            <a:endParaRPr sz="995"/>
          </a:p>
        </p:txBody>
      </p:sp>
      <p:sp>
        <p:nvSpPr>
          <p:cNvPr id="83" name="TextBox 83">
            <a:extLst>
              <a:ext uri="{FF2B5EF4-FFF2-40B4-BE49-F238E27FC236}">
                <a16:creationId xmlns:a16="http://schemas.microsoft.com/office/drawing/2014/main" id="{4E8B8F95-5463-417A-B15F-BDCC1BBF3DA7}"/>
              </a:ext>
            </a:extLst>
          </p:cNvPr>
          <p:cNvSpPr>
            <a:spLocks noGrp="1"/>
          </p:cNvSpPr>
          <p:nvPr/>
        </p:nvSpPr>
        <p:spPr>
          <a:xfrm>
            <a:off x="6597883" y="2401037"/>
            <a:ext cx="915744" cy="11602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{0}</a:t>
            </a:r>
            <a:endParaRPr sz="762"/>
          </a:p>
        </p:txBody>
      </p:sp>
      <p:sp>
        <p:nvSpPr>
          <p:cNvPr id="84" name="TextBox 84">
            <a:extLst>
              <a:ext uri="{FF2B5EF4-FFF2-40B4-BE49-F238E27FC236}">
                <a16:creationId xmlns:a16="http://schemas.microsoft.com/office/drawing/2014/main" id="{5F5AC4DF-40B8-4F5F-A72E-975D9E33396F}"/>
              </a:ext>
            </a:extLst>
          </p:cNvPr>
          <p:cNvSpPr>
            <a:spLocks noGrp="1"/>
          </p:cNvSpPr>
          <p:nvPr/>
        </p:nvSpPr>
        <p:spPr>
          <a:xfrm>
            <a:off x="7834138" y="2252526"/>
            <a:ext cx="737683" cy="120665"/>
          </a:xfrm>
          <a:prstGeom prst="rect">
            <a:avLst/>
          </a:prstGeom>
          <a:noFill/>
          <a:ln>
            <a:noFill/>
          </a:ln>
        </p:spPr>
        <p:txBody>
          <a:bodyPr wrap="none" lIns="0" tIns="0" rIns="0" bIns="0" anchor="t">
            <a:noAutofit/>
          </a:bodyPr>
          <a:lstStyle/>
          <a:p>
            <a:pPr algn="ctr">
              <a:buNone/>
            </a:pPr>
            <a:r>
              <a:rPr sz="995" b="1">
                <a:latin typeface="Arial"/>
                <a:ea typeface="Arial"/>
                <a:cs typeface="Arial"/>
              </a:rPr>
              <a:t>Group 1</a:t>
            </a:r>
            <a:endParaRPr sz="995"/>
          </a:p>
        </p:txBody>
      </p:sp>
      <p:sp>
        <p:nvSpPr>
          <p:cNvPr id="85" name="TextBox 85">
            <a:extLst>
              <a:ext uri="{FF2B5EF4-FFF2-40B4-BE49-F238E27FC236}">
                <a16:creationId xmlns:a16="http://schemas.microsoft.com/office/drawing/2014/main" id="{D3326CD2-6C55-4CBC-9028-1DA92D31A655}"/>
              </a:ext>
            </a:extLst>
          </p:cNvPr>
          <p:cNvSpPr>
            <a:spLocks noGrp="1"/>
          </p:cNvSpPr>
          <p:nvPr/>
        </p:nvSpPr>
        <p:spPr>
          <a:xfrm>
            <a:off x="7742564" y="2401037"/>
            <a:ext cx="915744" cy="11602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{1, 2}</a:t>
            </a:r>
            <a:endParaRPr sz="762"/>
          </a:p>
        </p:txBody>
      </p:sp>
      <p:sp>
        <p:nvSpPr>
          <p:cNvPr id="86" name="TextBox 86">
            <a:extLst>
              <a:ext uri="{FF2B5EF4-FFF2-40B4-BE49-F238E27FC236}">
                <a16:creationId xmlns:a16="http://schemas.microsoft.com/office/drawing/2014/main" id="{AB1FCBBE-CDF7-4EBF-9584-226743536CD1}"/>
              </a:ext>
            </a:extLst>
          </p:cNvPr>
          <p:cNvSpPr>
            <a:spLocks noGrp="1"/>
          </p:cNvSpPr>
          <p:nvPr/>
        </p:nvSpPr>
        <p:spPr>
          <a:xfrm>
            <a:off x="8953381" y="2252526"/>
            <a:ext cx="737683" cy="120665"/>
          </a:xfrm>
          <a:prstGeom prst="rect">
            <a:avLst/>
          </a:prstGeom>
          <a:noFill/>
          <a:ln>
            <a:noFill/>
          </a:ln>
        </p:spPr>
        <p:txBody>
          <a:bodyPr wrap="none" lIns="0" tIns="0" rIns="0" bIns="0" anchor="t">
            <a:noAutofit/>
          </a:bodyPr>
          <a:lstStyle/>
          <a:p>
            <a:pPr algn="ctr">
              <a:buNone/>
            </a:pPr>
            <a:r>
              <a:rPr sz="995" b="1">
                <a:latin typeface="Arial"/>
                <a:ea typeface="Arial"/>
                <a:cs typeface="Arial"/>
              </a:rPr>
              <a:t>Group 2</a:t>
            </a:r>
            <a:endParaRPr sz="995"/>
          </a:p>
        </p:txBody>
      </p:sp>
      <p:sp>
        <p:nvSpPr>
          <p:cNvPr id="87" name="TextBox 87">
            <a:extLst>
              <a:ext uri="{FF2B5EF4-FFF2-40B4-BE49-F238E27FC236}">
                <a16:creationId xmlns:a16="http://schemas.microsoft.com/office/drawing/2014/main" id="{CBB80340-A995-4089-B1A9-1789954715F6}"/>
              </a:ext>
            </a:extLst>
          </p:cNvPr>
          <p:cNvSpPr>
            <a:spLocks noGrp="1"/>
          </p:cNvSpPr>
          <p:nvPr/>
        </p:nvSpPr>
        <p:spPr>
          <a:xfrm>
            <a:off x="8861807" y="2401037"/>
            <a:ext cx="915744" cy="11602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{3, 4}</a:t>
            </a:r>
            <a:endParaRPr sz="762"/>
          </a:p>
        </p:txBody>
      </p:sp>
      <p:sp>
        <p:nvSpPr>
          <p:cNvPr id="88" name="TextBox 88">
            <a:extLst>
              <a:ext uri="{FF2B5EF4-FFF2-40B4-BE49-F238E27FC236}">
                <a16:creationId xmlns:a16="http://schemas.microsoft.com/office/drawing/2014/main" id="{DA6ADEEE-3E1F-4B52-81A6-231DDB050475}"/>
              </a:ext>
            </a:extLst>
          </p:cNvPr>
          <p:cNvSpPr>
            <a:spLocks noGrp="1"/>
          </p:cNvSpPr>
          <p:nvPr/>
        </p:nvSpPr>
        <p:spPr>
          <a:xfrm>
            <a:off x="10225248" y="2252526"/>
            <a:ext cx="737683" cy="120665"/>
          </a:xfrm>
          <a:prstGeom prst="rect">
            <a:avLst/>
          </a:prstGeom>
          <a:noFill/>
          <a:ln>
            <a:noFill/>
          </a:ln>
        </p:spPr>
        <p:txBody>
          <a:bodyPr wrap="none" lIns="0" tIns="0" rIns="0" bIns="0" anchor="t">
            <a:noAutofit/>
          </a:bodyPr>
          <a:lstStyle/>
          <a:p>
            <a:pPr algn="ctr">
              <a:buNone/>
            </a:pPr>
            <a:r>
              <a:rPr sz="995" b="1">
                <a:latin typeface="Arial"/>
                <a:ea typeface="Arial"/>
                <a:cs typeface="Arial"/>
              </a:rPr>
              <a:t>Group 3</a:t>
            </a:r>
            <a:endParaRPr sz="995"/>
          </a:p>
        </p:txBody>
      </p:sp>
      <p:sp>
        <p:nvSpPr>
          <p:cNvPr id="89" name="TextBox 89">
            <a:extLst>
              <a:ext uri="{FF2B5EF4-FFF2-40B4-BE49-F238E27FC236}">
                <a16:creationId xmlns:a16="http://schemas.microsoft.com/office/drawing/2014/main" id="{22D3A06B-AC6E-43DC-A574-1FC68293FC7B}"/>
              </a:ext>
            </a:extLst>
          </p:cNvPr>
          <p:cNvSpPr>
            <a:spLocks noGrp="1"/>
          </p:cNvSpPr>
          <p:nvPr/>
        </p:nvSpPr>
        <p:spPr>
          <a:xfrm>
            <a:off x="10133674" y="2401037"/>
            <a:ext cx="915744" cy="11602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{5}</a:t>
            </a:r>
            <a:endParaRPr sz="762"/>
          </a:p>
        </p:txBody>
      </p:sp>
      <p:sp>
        <p:nvSpPr>
          <p:cNvPr id="94" name="TextBox 94">
            <a:extLst>
              <a:ext uri="{FF2B5EF4-FFF2-40B4-BE49-F238E27FC236}">
                <a16:creationId xmlns:a16="http://schemas.microsoft.com/office/drawing/2014/main" id="{F494C1AC-6F69-4C70-B13B-9CD984DDEE0B}"/>
              </a:ext>
            </a:extLst>
          </p:cNvPr>
          <p:cNvSpPr>
            <a:spLocks noGrp="1"/>
          </p:cNvSpPr>
          <p:nvPr/>
        </p:nvSpPr>
        <p:spPr>
          <a:xfrm>
            <a:off x="6483660" y="3557287"/>
            <a:ext cx="109879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Frontier = {0}</a:t>
            </a:r>
            <a:endParaRPr sz="900"/>
          </a:p>
        </p:txBody>
      </p:sp>
      <p:sp>
        <p:nvSpPr>
          <p:cNvPr id="95" name="TextBox 95">
            <a:extLst>
              <a:ext uri="{FF2B5EF4-FFF2-40B4-BE49-F238E27FC236}">
                <a16:creationId xmlns:a16="http://schemas.microsoft.com/office/drawing/2014/main" id="{CC36949E-26E0-4E28-97A6-F658596043E5}"/>
              </a:ext>
            </a:extLst>
          </p:cNvPr>
          <p:cNvSpPr>
            <a:spLocks noGrp="1"/>
          </p:cNvSpPr>
          <p:nvPr/>
        </p:nvSpPr>
        <p:spPr>
          <a:xfrm>
            <a:off x="7809793" y="3557287"/>
            <a:ext cx="2140757" cy="183133"/>
          </a:xfrm>
          <a:prstGeom prst="rect">
            <a:avLst/>
          </a:prstGeom>
          <a:noFill/>
          <a:ln>
            <a:noFill/>
          </a:ln>
        </p:spPr>
        <p:txBody>
          <a:bodyPr wrap="none" lIns="0" tIns="0" rIns="0" bIns="0" anchor="ctr">
            <a:noAutofit/>
          </a:bodyPr>
          <a:lstStyle/>
          <a:p>
            <a:pPr algn="ctr">
              <a:buNone/>
            </a:pPr>
            <a:r>
              <a:rPr sz="800" b="1">
                <a:latin typeface="Arial"/>
                <a:ea typeface="Arial"/>
                <a:cs typeface="Arial"/>
              </a:rPr>
              <a:t>Take all terminal nodes of arcs on the frontier</a:t>
            </a:r>
            <a:endParaRPr sz="800"/>
          </a:p>
        </p:txBody>
      </p:sp>
      <p:sp>
        <p:nvSpPr>
          <p:cNvPr id="96" name="TextBox 96">
            <a:extLst>
              <a:ext uri="{FF2B5EF4-FFF2-40B4-BE49-F238E27FC236}">
                <a16:creationId xmlns:a16="http://schemas.microsoft.com/office/drawing/2014/main" id="{7E3CF79D-8029-4C6A-A25B-0A2F80E364E2}"/>
              </a:ext>
            </a:extLst>
          </p:cNvPr>
          <p:cNvSpPr>
            <a:spLocks noGrp="1"/>
          </p:cNvSpPr>
          <p:nvPr/>
        </p:nvSpPr>
        <p:spPr>
          <a:xfrm>
            <a:off x="10165257" y="3557287"/>
            <a:ext cx="71358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(0,1), (0,2)</a:t>
            </a:r>
            <a:endParaRPr sz="900"/>
          </a:p>
        </p:txBody>
      </p:sp>
      <p:sp>
        <p:nvSpPr>
          <p:cNvPr id="97" name="TextBox 97">
            <a:extLst>
              <a:ext uri="{FF2B5EF4-FFF2-40B4-BE49-F238E27FC236}">
                <a16:creationId xmlns:a16="http://schemas.microsoft.com/office/drawing/2014/main" id="{2A9FC15A-7DD7-4062-93D8-63189F1814B2}"/>
              </a:ext>
            </a:extLst>
          </p:cNvPr>
          <p:cNvSpPr>
            <a:spLocks noGrp="1"/>
          </p:cNvSpPr>
          <p:nvPr/>
        </p:nvSpPr>
        <p:spPr>
          <a:xfrm>
            <a:off x="11061976" y="3557287"/>
            <a:ext cx="599917"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Group 0</a:t>
            </a:r>
            <a:endParaRPr sz="900"/>
          </a:p>
        </p:txBody>
      </p:sp>
      <p:sp>
        <p:nvSpPr>
          <p:cNvPr id="98" name="TextBox 98">
            <a:extLst>
              <a:ext uri="{FF2B5EF4-FFF2-40B4-BE49-F238E27FC236}">
                <a16:creationId xmlns:a16="http://schemas.microsoft.com/office/drawing/2014/main" id="{E21CD209-CD83-4CAF-81A2-7417BA24BE43}"/>
              </a:ext>
            </a:extLst>
          </p:cNvPr>
          <p:cNvSpPr>
            <a:spLocks noGrp="1"/>
          </p:cNvSpPr>
          <p:nvPr/>
        </p:nvSpPr>
        <p:spPr>
          <a:xfrm>
            <a:off x="6483661" y="4125629"/>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{1,2}</a:t>
            </a:r>
            <a:endParaRPr sz="900"/>
          </a:p>
        </p:txBody>
      </p:sp>
      <p:sp>
        <p:nvSpPr>
          <p:cNvPr id="99" name="TextBox 99">
            <a:extLst>
              <a:ext uri="{FF2B5EF4-FFF2-40B4-BE49-F238E27FC236}">
                <a16:creationId xmlns:a16="http://schemas.microsoft.com/office/drawing/2014/main" id="{9BD076FD-2953-4EC4-B0AD-095086B6F4A2}"/>
              </a:ext>
            </a:extLst>
          </p:cNvPr>
          <p:cNvSpPr>
            <a:spLocks noGrp="1"/>
          </p:cNvSpPr>
          <p:nvPr/>
        </p:nvSpPr>
        <p:spPr>
          <a:xfrm>
            <a:off x="8081335" y="4125629"/>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(1,3), (2,4)</a:t>
            </a:r>
            <a:endParaRPr sz="900"/>
          </a:p>
        </p:txBody>
      </p:sp>
      <p:sp>
        <p:nvSpPr>
          <p:cNvPr id="100" name="TextBox 100">
            <a:extLst>
              <a:ext uri="{FF2B5EF4-FFF2-40B4-BE49-F238E27FC236}">
                <a16:creationId xmlns:a16="http://schemas.microsoft.com/office/drawing/2014/main" id="{1BC90562-A9BC-40C8-B065-174B5B67693A}"/>
              </a:ext>
            </a:extLst>
          </p:cNvPr>
          <p:cNvSpPr>
            <a:spLocks noGrp="1"/>
          </p:cNvSpPr>
          <p:nvPr/>
        </p:nvSpPr>
        <p:spPr>
          <a:xfrm>
            <a:off x="10177887" y="4125629"/>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1</a:t>
            </a:r>
            <a:endParaRPr sz="1000"/>
          </a:p>
        </p:txBody>
      </p:sp>
      <p:sp>
        <p:nvSpPr>
          <p:cNvPr id="101" name="TextBox 101">
            <a:extLst>
              <a:ext uri="{FF2B5EF4-FFF2-40B4-BE49-F238E27FC236}">
                <a16:creationId xmlns:a16="http://schemas.microsoft.com/office/drawing/2014/main" id="{284B907B-EF9D-42BF-B8A2-17D384B4CA3A}"/>
              </a:ext>
            </a:extLst>
          </p:cNvPr>
          <p:cNvSpPr>
            <a:spLocks noGrp="1"/>
          </p:cNvSpPr>
          <p:nvPr/>
        </p:nvSpPr>
        <p:spPr>
          <a:xfrm>
            <a:off x="6483661" y="4693972"/>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{3,4}</a:t>
            </a:r>
            <a:endParaRPr sz="900"/>
          </a:p>
        </p:txBody>
      </p:sp>
      <p:sp>
        <p:nvSpPr>
          <p:cNvPr id="102" name="TextBox 102">
            <a:extLst>
              <a:ext uri="{FF2B5EF4-FFF2-40B4-BE49-F238E27FC236}">
                <a16:creationId xmlns:a16="http://schemas.microsoft.com/office/drawing/2014/main" id="{5BEFB214-4E7A-4330-A285-1E1F978181CE}"/>
              </a:ext>
            </a:extLst>
          </p:cNvPr>
          <p:cNvSpPr>
            <a:spLocks noGrp="1"/>
          </p:cNvSpPr>
          <p:nvPr/>
        </p:nvSpPr>
        <p:spPr>
          <a:xfrm>
            <a:off x="8081335" y="4693972"/>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(3,5), (4,5)</a:t>
            </a:r>
            <a:endParaRPr sz="900"/>
          </a:p>
        </p:txBody>
      </p:sp>
      <p:sp>
        <p:nvSpPr>
          <p:cNvPr id="103" name="TextBox 103">
            <a:extLst>
              <a:ext uri="{FF2B5EF4-FFF2-40B4-BE49-F238E27FC236}">
                <a16:creationId xmlns:a16="http://schemas.microsoft.com/office/drawing/2014/main" id="{5806D4F0-9A4E-42AE-819A-B48122A8C70E}"/>
              </a:ext>
            </a:extLst>
          </p:cNvPr>
          <p:cNvSpPr>
            <a:spLocks noGrp="1"/>
          </p:cNvSpPr>
          <p:nvPr/>
        </p:nvSpPr>
        <p:spPr>
          <a:xfrm>
            <a:off x="10177887" y="4693972"/>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2</a:t>
            </a:r>
            <a:endParaRPr sz="1000"/>
          </a:p>
        </p:txBody>
      </p:sp>
      <p:sp>
        <p:nvSpPr>
          <p:cNvPr id="104" name="TextBox 104">
            <a:extLst>
              <a:ext uri="{FF2B5EF4-FFF2-40B4-BE49-F238E27FC236}">
                <a16:creationId xmlns:a16="http://schemas.microsoft.com/office/drawing/2014/main" id="{6E19D27F-4492-4A0C-A9CC-0ADF8DAD78A2}"/>
              </a:ext>
            </a:extLst>
          </p:cNvPr>
          <p:cNvSpPr>
            <a:spLocks noGrp="1"/>
          </p:cNvSpPr>
          <p:nvPr/>
        </p:nvSpPr>
        <p:spPr>
          <a:xfrm>
            <a:off x="6483661" y="5262314"/>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{5}</a:t>
            </a:r>
            <a:endParaRPr sz="900"/>
          </a:p>
        </p:txBody>
      </p:sp>
      <p:sp>
        <p:nvSpPr>
          <p:cNvPr id="105" name="TextBox 105">
            <a:extLst>
              <a:ext uri="{FF2B5EF4-FFF2-40B4-BE49-F238E27FC236}">
                <a16:creationId xmlns:a16="http://schemas.microsoft.com/office/drawing/2014/main" id="{7B23FB54-592C-486E-B0B3-9B306C1075C5}"/>
              </a:ext>
            </a:extLst>
          </p:cNvPr>
          <p:cNvSpPr>
            <a:spLocks noGrp="1"/>
          </p:cNvSpPr>
          <p:nvPr/>
        </p:nvSpPr>
        <p:spPr>
          <a:xfrm>
            <a:off x="8081335" y="5262314"/>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(5,6)</a:t>
            </a:r>
            <a:endParaRPr sz="900"/>
          </a:p>
        </p:txBody>
      </p:sp>
      <p:sp>
        <p:nvSpPr>
          <p:cNvPr id="106" name="TextBox 106">
            <a:extLst>
              <a:ext uri="{FF2B5EF4-FFF2-40B4-BE49-F238E27FC236}">
                <a16:creationId xmlns:a16="http://schemas.microsoft.com/office/drawing/2014/main" id="{98211118-8254-4EC1-B1D4-2E5C10BD5EBF}"/>
              </a:ext>
            </a:extLst>
          </p:cNvPr>
          <p:cNvSpPr>
            <a:spLocks noGrp="1"/>
          </p:cNvSpPr>
          <p:nvPr/>
        </p:nvSpPr>
        <p:spPr>
          <a:xfrm>
            <a:off x="10177887" y="5262314"/>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3</a:t>
            </a:r>
            <a:endParaRPr sz="1000"/>
          </a:p>
        </p:txBody>
      </p:sp>
      <p:sp>
        <p:nvSpPr>
          <p:cNvPr id="111" name="Roundrect 2">
            <a:extLst>
              <a:ext uri="{FF2B5EF4-FFF2-40B4-BE49-F238E27FC236}">
                <a16:creationId xmlns:a16="http://schemas.microsoft.com/office/drawing/2014/main" id="{7C3C3F47-F248-6E76-A72E-4DF03E364BFA}"/>
              </a:ext>
            </a:extLst>
          </p:cNvPr>
          <p:cNvSpPr>
            <a:spLocks noGrp="1"/>
          </p:cNvSpPr>
          <p:nvPr/>
        </p:nvSpPr>
        <p:spPr>
          <a:xfrm>
            <a:off x="375391" y="571783"/>
            <a:ext cx="5140945" cy="2262657"/>
          </a:xfrm>
          <a:prstGeom prst="roundRect">
            <a:avLst>
              <a:gd name="adj" fmla="val 1724"/>
            </a:avLst>
          </a:prstGeom>
          <a:solidFill>
            <a:srgbClr val="FFFFFF"/>
          </a:solidFill>
          <a:ln w="15240">
            <a:solidFill>
              <a:srgbClr val="C7D1E0"/>
            </a:solidFill>
          </a:ln>
        </p:spPr>
        <p:txBody>
          <a:bodyPr/>
          <a:lstStyle/>
          <a:p>
            <a:endParaRPr sz="1193"/>
          </a:p>
        </p:txBody>
      </p:sp>
      <p:sp>
        <p:nvSpPr>
          <p:cNvPr id="112" name="Line 5">
            <a:extLst>
              <a:ext uri="{FF2B5EF4-FFF2-40B4-BE49-F238E27FC236}">
                <a16:creationId xmlns:a16="http://schemas.microsoft.com/office/drawing/2014/main" id="{0B480F28-6839-5AEB-4386-D920ECD73968}"/>
              </a:ext>
            </a:extLst>
          </p:cNvPr>
          <p:cNvSpPr>
            <a:spLocks noGrp="1"/>
          </p:cNvSpPr>
          <p:nvPr/>
        </p:nvSpPr>
        <p:spPr>
          <a:xfrm>
            <a:off x="1617875" y="974435"/>
            <a:ext cx="0" cy="1236172"/>
          </a:xfrm>
          <a:prstGeom prst="line">
            <a:avLst/>
          </a:prstGeom>
          <a:noFill/>
          <a:ln w="15240">
            <a:solidFill>
              <a:srgbClr val="9AA6B5"/>
            </a:solidFill>
            <a:prstDash val="solid"/>
          </a:ln>
        </p:spPr>
        <p:txBody>
          <a:bodyPr/>
          <a:lstStyle/>
          <a:p>
            <a:endParaRPr sz="1193"/>
          </a:p>
        </p:txBody>
      </p:sp>
      <p:sp>
        <p:nvSpPr>
          <p:cNvPr id="113" name="Line 6">
            <a:extLst>
              <a:ext uri="{FF2B5EF4-FFF2-40B4-BE49-F238E27FC236}">
                <a16:creationId xmlns:a16="http://schemas.microsoft.com/office/drawing/2014/main" id="{327036AC-69F8-E3C3-8A45-1D9D07CEE9C8}"/>
              </a:ext>
            </a:extLst>
          </p:cNvPr>
          <p:cNvSpPr>
            <a:spLocks noGrp="1"/>
          </p:cNvSpPr>
          <p:nvPr/>
        </p:nvSpPr>
        <p:spPr>
          <a:xfrm>
            <a:off x="2848835" y="974435"/>
            <a:ext cx="0" cy="1236172"/>
          </a:xfrm>
          <a:prstGeom prst="line">
            <a:avLst/>
          </a:prstGeom>
          <a:noFill/>
          <a:ln w="15240">
            <a:solidFill>
              <a:srgbClr val="9AA6B5"/>
            </a:solidFill>
            <a:prstDash val="solid"/>
          </a:ln>
        </p:spPr>
        <p:txBody>
          <a:bodyPr/>
          <a:lstStyle/>
          <a:p>
            <a:endParaRPr sz="1193"/>
          </a:p>
        </p:txBody>
      </p:sp>
      <p:sp>
        <p:nvSpPr>
          <p:cNvPr id="114" name="Line 7">
            <a:extLst>
              <a:ext uri="{FF2B5EF4-FFF2-40B4-BE49-F238E27FC236}">
                <a16:creationId xmlns:a16="http://schemas.microsoft.com/office/drawing/2014/main" id="{16E6D135-93E1-C272-2E77-4EF4D2F0A884}"/>
              </a:ext>
            </a:extLst>
          </p:cNvPr>
          <p:cNvSpPr>
            <a:spLocks noGrp="1"/>
          </p:cNvSpPr>
          <p:nvPr/>
        </p:nvSpPr>
        <p:spPr>
          <a:xfrm>
            <a:off x="4368801" y="974435"/>
            <a:ext cx="0" cy="1236172"/>
          </a:xfrm>
          <a:prstGeom prst="line">
            <a:avLst/>
          </a:prstGeom>
          <a:noFill/>
          <a:ln w="15240">
            <a:solidFill>
              <a:srgbClr val="9AA6B5"/>
            </a:solidFill>
            <a:prstDash val="solid"/>
          </a:ln>
        </p:spPr>
        <p:txBody>
          <a:bodyPr/>
          <a:lstStyle/>
          <a:p>
            <a:endParaRPr sz="1193"/>
          </a:p>
        </p:txBody>
      </p:sp>
      <p:sp>
        <p:nvSpPr>
          <p:cNvPr id="115" name="Line 43">
            <a:extLst>
              <a:ext uri="{FF2B5EF4-FFF2-40B4-BE49-F238E27FC236}">
                <a16:creationId xmlns:a16="http://schemas.microsoft.com/office/drawing/2014/main" id="{12CB5587-B7E5-EC31-4516-E2E5DD11B3F7}"/>
              </a:ext>
            </a:extLst>
          </p:cNvPr>
          <p:cNvSpPr>
            <a:spLocks noGrp="1"/>
          </p:cNvSpPr>
          <p:nvPr/>
        </p:nvSpPr>
        <p:spPr>
          <a:xfrm flipV="1">
            <a:off x="1066619" y="1504461"/>
            <a:ext cx="3105900" cy="1115"/>
          </a:xfrm>
          <a:prstGeom prst="line">
            <a:avLst/>
          </a:prstGeom>
          <a:noFill/>
          <a:ln w="50800">
            <a:solidFill>
              <a:srgbClr val="174EA6"/>
            </a:solidFill>
          </a:ln>
        </p:spPr>
        <p:txBody>
          <a:bodyPr/>
          <a:lstStyle/>
          <a:p>
            <a:endParaRPr sz="1193"/>
          </a:p>
        </p:txBody>
      </p:sp>
      <p:sp>
        <p:nvSpPr>
          <p:cNvPr id="116" name="Line 44">
            <a:extLst>
              <a:ext uri="{FF2B5EF4-FFF2-40B4-BE49-F238E27FC236}">
                <a16:creationId xmlns:a16="http://schemas.microsoft.com/office/drawing/2014/main" id="{1302C2F2-A89E-E745-EC9D-482709AAF8C1}"/>
              </a:ext>
            </a:extLst>
          </p:cNvPr>
          <p:cNvSpPr>
            <a:spLocks noGrp="1"/>
          </p:cNvSpPr>
          <p:nvPr/>
        </p:nvSpPr>
        <p:spPr>
          <a:xfrm>
            <a:off x="1066620" y="1577156"/>
            <a:ext cx="803660" cy="353904"/>
          </a:xfrm>
          <a:prstGeom prst="line">
            <a:avLst/>
          </a:prstGeom>
          <a:noFill/>
          <a:ln w="50800">
            <a:solidFill>
              <a:srgbClr val="174EA6"/>
            </a:solidFill>
          </a:ln>
        </p:spPr>
        <p:txBody>
          <a:bodyPr/>
          <a:lstStyle/>
          <a:p>
            <a:endParaRPr sz="1193"/>
          </a:p>
        </p:txBody>
      </p:sp>
      <p:sp>
        <p:nvSpPr>
          <p:cNvPr id="118" name="Line 46">
            <a:extLst>
              <a:ext uri="{FF2B5EF4-FFF2-40B4-BE49-F238E27FC236}">
                <a16:creationId xmlns:a16="http://schemas.microsoft.com/office/drawing/2014/main" id="{A7851BB8-6400-83D2-6E0C-C3E3A66CDA44}"/>
              </a:ext>
            </a:extLst>
          </p:cNvPr>
          <p:cNvSpPr>
            <a:spLocks noGrp="1"/>
          </p:cNvSpPr>
          <p:nvPr/>
        </p:nvSpPr>
        <p:spPr>
          <a:xfrm>
            <a:off x="2158427" y="1922366"/>
            <a:ext cx="978606" cy="0"/>
          </a:xfrm>
          <a:prstGeom prst="line">
            <a:avLst/>
          </a:prstGeom>
          <a:noFill/>
          <a:ln w="50800">
            <a:solidFill>
              <a:srgbClr val="238443"/>
            </a:solidFill>
          </a:ln>
        </p:spPr>
        <p:txBody>
          <a:bodyPr/>
          <a:lstStyle/>
          <a:p>
            <a:endParaRPr sz="1193"/>
          </a:p>
        </p:txBody>
      </p:sp>
      <p:sp>
        <p:nvSpPr>
          <p:cNvPr id="120" name="Line 48">
            <a:extLst>
              <a:ext uri="{FF2B5EF4-FFF2-40B4-BE49-F238E27FC236}">
                <a16:creationId xmlns:a16="http://schemas.microsoft.com/office/drawing/2014/main" id="{70D04FD6-92CA-C21E-D5B3-7ABD553DC423}"/>
              </a:ext>
            </a:extLst>
          </p:cNvPr>
          <p:cNvSpPr>
            <a:spLocks noGrp="1"/>
          </p:cNvSpPr>
          <p:nvPr/>
        </p:nvSpPr>
        <p:spPr>
          <a:xfrm flipV="1">
            <a:off x="3416146" y="1583358"/>
            <a:ext cx="745951" cy="346025"/>
          </a:xfrm>
          <a:prstGeom prst="line">
            <a:avLst/>
          </a:prstGeom>
          <a:noFill/>
          <a:ln w="50800">
            <a:solidFill>
              <a:srgbClr val="E87518"/>
            </a:solidFill>
          </a:ln>
        </p:spPr>
        <p:txBody>
          <a:bodyPr/>
          <a:lstStyle/>
          <a:p>
            <a:endParaRPr sz="1193"/>
          </a:p>
        </p:txBody>
      </p:sp>
      <p:sp>
        <p:nvSpPr>
          <p:cNvPr id="121" name="Line 49">
            <a:extLst>
              <a:ext uri="{FF2B5EF4-FFF2-40B4-BE49-F238E27FC236}">
                <a16:creationId xmlns:a16="http://schemas.microsoft.com/office/drawing/2014/main" id="{95B49038-8AB1-99F5-F699-CBAED449B46A}"/>
              </a:ext>
            </a:extLst>
          </p:cNvPr>
          <p:cNvSpPr>
            <a:spLocks noGrp="1"/>
          </p:cNvSpPr>
          <p:nvPr/>
        </p:nvSpPr>
        <p:spPr>
          <a:xfrm>
            <a:off x="4518657" y="1545193"/>
            <a:ext cx="584976" cy="0"/>
          </a:xfrm>
          <a:prstGeom prst="line">
            <a:avLst/>
          </a:prstGeom>
          <a:noFill/>
          <a:ln w="50800">
            <a:solidFill>
              <a:srgbClr val="6B2CA3"/>
            </a:solidFill>
          </a:ln>
        </p:spPr>
        <p:txBody>
          <a:bodyPr/>
          <a:lstStyle/>
          <a:p>
            <a:endParaRPr sz="1193"/>
          </a:p>
        </p:txBody>
      </p:sp>
      <p:sp>
        <p:nvSpPr>
          <p:cNvPr id="127" name="Polygon 55">
            <a:extLst>
              <a:ext uri="{FF2B5EF4-FFF2-40B4-BE49-F238E27FC236}">
                <a16:creationId xmlns:a16="http://schemas.microsoft.com/office/drawing/2014/main" id="{24FCE342-084D-B3B8-FAA5-EBA344B59E0E}"/>
              </a:ext>
            </a:extLst>
          </p:cNvPr>
          <p:cNvSpPr>
            <a:spLocks noGrp="1"/>
          </p:cNvSpPr>
          <p:nvPr/>
        </p:nvSpPr>
        <p:spPr>
          <a:xfrm>
            <a:off x="4041260" y="1595420"/>
            <a:ext cx="83097" cy="58254"/>
          </a:xfrm>
          <a:custGeom>
            <a:avLst/>
            <a:gdLst/>
            <a:ahLst/>
            <a:cxnLst/>
            <a:rect l="l" t="t" r="r" b="b"/>
            <a:pathLst>
              <a:path w="21600" h="21600">
                <a:moveTo>
                  <a:pt x="21600" y="0"/>
                </a:moveTo>
                <a:lnTo>
                  <a:pt x="7718" y="21600"/>
                </a:lnTo>
                <a:lnTo>
                  <a:pt x="0" y="1823"/>
                </a:lnTo>
                <a:close/>
              </a:path>
            </a:pathLst>
          </a:custGeom>
          <a:solidFill>
            <a:srgbClr val="E87518"/>
          </a:solidFill>
          <a:ln>
            <a:noFill/>
          </a:ln>
        </p:spPr>
        <p:txBody>
          <a:bodyPr/>
          <a:lstStyle/>
          <a:p>
            <a:endParaRPr sz="1193"/>
          </a:p>
        </p:txBody>
      </p:sp>
      <p:sp>
        <p:nvSpPr>
          <p:cNvPr id="128" name="Polygon 56">
            <a:extLst>
              <a:ext uri="{FF2B5EF4-FFF2-40B4-BE49-F238E27FC236}">
                <a16:creationId xmlns:a16="http://schemas.microsoft.com/office/drawing/2014/main" id="{C6C60351-2851-BC06-D611-FC7737489018}"/>
              </a:ext>
            </a:extLst>
          </p:cNvPr>
          <p:cNvSpPr>
            <a:spLocks noGrp="1"/>
          </p:cNvSpPr>
          <p:nvPr/>
        </p:nvSpPr>
        <p:spPr>
          <a:xfrm>
            <a:off x="5016391" y="1517797"/>
            <a:ext cx="76539" cy="59815"/>
          </a:xfrm>
          <a:custGeom>
            <a:avLst/>
            <a:gdLst/>
            <a:ahLst/>
            <a:cxnLst/>
            <a:rect l="l" t="t" r="r" b="b"/>
            <a:pathLst>
              <a:path w="21600" h="21600">
                <a:moveTo>
                  <a:pt x="21600" y="10800"/>
                </a:moveTo>
                <a:lnTo>
                  <a:pt x="0" y="21600"/>
                </a:lnTo>
                <a:lnTo>
                  <a:pt x="0" y="0"/>
                </a:lnTo>
                <a:close/>
              </a:path>
            </a:pathLst>
          </a:custGeom>
          <a:solidFill>
            <a:srgbClr val="6B2CA3"/>
          </a:solidFill>
          <a:ln>
            <a:noFill/>
          </a:ln>
        </p:spPr>
        <p:txBody>
          <a:bodyPr/>
          <a:lstStyle/>
          <a:p>
            <a:endParaRPr sz="1193"/>
          </a:p>
        </p:txBody>
      </p:sp>
      <p:sp>
        <p:nvSpPr>
          <p:cNvPr id="129" name="Ellipse 57">
            <a:extLst>
              <a:ext uri="{FF2B5EF4-FFF2-40B4-BE49-F238E27FC236}">
                <a16:creationId xmlns:a16="http://schemas.microsoft.com/office/drawing/2014/main" id="{3886C82E-0326-F34E-86BC-33EE086BF899}"/>
              </a:ext>
            </a:extLst>
          </p:cNvPr>
          <p:cNvSpPr>
            <a:spLocks noGrp="1"/>
          </p:cNvSpPr>
          <p:nvPr/>
        </p:nvSpPr>
        <p:spPr>
          <a:xfrm>
            <a:off x="761556" y="1403644"/>
            <a:ext cx="295222" cy="269167"/>
          </a:xfrm>
          <a:prstGeom prst="ellipse">
            <a:avLst/>
          </a:prstGeom>
          <a:solidFill>
            <a:srgbClr val="FFFFFF"/>
          </a:solidFill>
          <a:ln w="25400">
            <a:solidFill>
              <a:srgbClr val="151515"/>
            </a:solidFill>
          </a:ln>
        </p:spPr>
        <p:txBody>
          <a:bodyPr/>
          <a:lstStyle/>
          <a:p>
            <a:endParaRPr sz="1193"/>
          </a:p>
        </p:txBody>
      </p:sp>
      <p:sp>
        <p:nvSpPr>
          <p:cNvPr id="131" name="Ellipse 59">
            <a:extLst>
              <a:ext uri="{FF2B5EF4-FFF2-40B4-BE49-F238E27FC236}">
                <a16:creationId xmlns:a16="http://schemas.microsoft.com/office/drawing/2014/main" id="{D62D2279-3E97-7E55-5F78-89FEEAA782D5}"/>
              </a:ext>
            </a:extLst>
          </p:cNvPr>
          <p:cNvSpPr>
            <a:spLocks noGrp="1"/>
          </p:cNvSpPr>
          <p:nvPr/>
        </p:nvSpPr>
        <p:spPr>
          <a:xfrm>
            <a:off x="1880122" y="1778061"/>
            <a:ext cx="295222" cy="269167"/>
          </a:xfrm>
          <a:prstGeom prst="ellipse">
            <a:avLst/>
          </a:prstGeom>
          <a:solidFill>
            <a:srgbClr val="FFFFFF"/>
          </a:solidFill>
          <a:ln w="25400">
            <a:solidFill>
              <a:srgbClr val="151515"/>
            </a:solidFill>
          </a:ln>
        </p:spPr>
        <p:txBody>
          <a:bodyPr/>
          <a:lstStyle/>
          <a:p>
            <a:endParaRPr sz="1193"/>
          </a:p>
        </p:txBody>
      </p:sp>
      <p:sp>
        <p:nvSpPr>
          <p:cNvPr id="133" name="Ellipse 61">
            <a:extLst>
              <a:ext uri="{FF2B5EF4-FFF2-40B4-BE49-F238E27FC236}">
                <a16:creationId xmlns:a16="http://schemas.microsoft.com/office/drawing/2014/main" id="{5A923D8A-261A-9E8A-92E4-5E1DDD39E372}"/>
              </a:ext>
            </a:extLst>
          </p:cNvPr>
          <p:cNvSpPr>
            <a:spLocks noGrp="1"/>
          </p:cNvSpPr>
          <p:nvPr/>
        </p:nvSpPr>
        <p:spPr>
          <a:xfrm>
            <a:off x="3143194" y="1778061"/>
            <a:ext cx="295222" cy="269167"/>
          </a:xfrm>
          <a:prstGeom prst="ellipse">
            <a:avLst/>
          </a:prstGeom>
          <a:solidFill>
            <a:srgbClr val="FFFFFF"/>
          </a:solidFill>
          <a:ln w="25400">
            <a:solidFill>
              <a:srgbClr val="151515"/>
            </a:solidFill>
          </a:ln>
        </p:spPr>
        <p:txBody>
          <a:bodyPr/>
          <a:lstStyle/>
          <a:p>
            <a:endParaRPr sz="1193"/>
          </a:p>
        </p:txBody>
      </p:sp>
      <p:sp>
        <p:nvSpPr>
          <p:cNvPr id="134" name="Ellipse 62">
            <a:extLst>
              <a:ext uri="{FF2B5EF4-FFF2-40B4-BE49-F238E27FC236}">
                <a16:creationId xmlns:a16="http://schemas.microsoft.com/office/drawing/2014/main" id="{708ECC92-8E71-4F9B-DF82-94BD9DDD2D52}"/>
              </a:ext>
            </a:extLst>
          </p:cNvPr>
          <p:cNvSpPr>
            <a:spLocks noGrp="1"/>
          </p:cNvSpPr>
          <p:nvPr/>
        </p:nvSpPr>
        <p:spPr>
          <a:xfrm>
            <a:off x="4192185" y="1421908"/>
            <a:ext cx="295222" cy="269167"/>
          </a:xfrm>
          <a:prstGeom prst="ellipse">
            <a:avLst/>
          </a:prstGeom>
          <a:solidFill>
            <a:srgbClr val="FFFFFF"/>
          </a:solidFill>
          <a:ln w="25400">
            <a:solidFill>
              <a:srgbClr val="151515"/>
            </a:solidFill>
          </a:ln>
        </p:spPr>
        <p:txBody>
          <a:bodyPr/>
          <a:lstStyle/>
          <a:p>
            <a:endParaRPr sz="1193"/>
          </a:p>
        </p:txBody>
      </p:sp>
      <p:sp>
        <p:nvSpPr>
          <p:cNvPr id="135" name="Ellipse 63">
            <a:extLst>
              <a:ext uri="{FF2B5EF4-FFF2-40B4-BE49-F238E27FC236}">
                <a16:creationId xmlns:a16="http://schemas.microsoft.com/office/drawing/2014/main" id="{3F70A7D7-C80D-E5EA-B2DD-D86AA7D20396}"/>
              </a:ext>
            </a:extLst>
          </p:cNvPr>
          <p:cNvSpPr>
            <a:spLocks noGrp="1"/>
          </p:cNvSpPr>
          <p:nvPr/>
        </p:nvSpPr>
        <p:spPr>
          <a:xfrm>
            <a:off x="5102025" y="1421908"/>
            <a:ext cx="295222" cy="269167"/>
          </a:xfrm>
          <a:prstGeom prst="ellipse">
            <a:avLst/>
          </a:prstGeom>
          <a:solidFill>
            <a:srgbClr val="FFFFFF"/>
          </a:solidFill>
          <a:ln w="25400">
            <a:solidFill>
              <a:srgbClr val="151515"/>
            </a:solidFill>
          </a:ln>
        </p:spPr>
        <p:txBody>
          <a:bodyPr/>
          <a:lstStyle/>
          <a:p>
            <a:endParaRPr sz="1193"/>
          </a:p>
        </p:txBody>
      </p:sp>
      <p:sp>
        <p:nvSpPr>
          <p:cNvPr id="136" name="TextBox 65">
            <a:extLst>
              <a:ext uri="{FF2B5EF4-FFF2-40B4-BE49-F238E27FC236}">
                <a16:creationId xmlns:a16="http://schemas.microsoft.com/office/drawing/2014/main" id="{581859A3-DCF0-0C1D-D66D-4F3F8386732E}"/>
              </a:ext>
            </a:extLst>
          </p:cNvPr>
          <p:cNvSpPr>
            <a:spLocks noGrp="1"/>
          </p:cNvSpPr>
          <p:nvPr/>
        </p:nvSpPr>
        <p:spPr>
          <a:xfrm>
            <a:off x="761556" y="1426476"/>
            <a:ext cx="295222" cy="219321"/>
          </a:xfrm>
          <a:prstGeom prst="rect">
            <a:avLst/>
          </a:prstGeom>
          <a:noFill/>
          <a:ln>
            <a:noFill/>
          </a:ln>
        </p:spPr>
        <p:txBody>
          <a:bodyPr wrap="none" lIns="0" tIns="0" rIns="0" bIns="0" anchor="ctr">
            <a:noAutofit/>
          </a:bodyPr>
          <a:lstStyle/>
          <a:p>
            <a:pPr algn="ctr">
              <a:buNone/>
            </a:pPr>
            <a:r>
              <a:rPr sz="928" b="1">
                <a:latin typeface="Arial"/>
                <a:ea typeface="Arial"/>
                <a:cs typeface="Arial"/>
              </a:rPr>
              <a:t>0</a:t>
            </a:r>
            <a:endParaRPr sz="928"/>
          </a:p>
        </p:txBody>
      </p:sp>
      <p:sp>
        <p:nvSpPr>
          <p:cNvPr id="138" name="TextBox 67">
            <a:extLst>
              <a:ext uri="{FF2B5EF4-FFF2-40B4-BE49-F238E27FC236}">
                <a16:creationId xmlns:a16="http://schemas.microsoft.com/office/drawing/2014/main" id="{5FD45C6B-ABD8-CA72-E608-3DBFB1893851}"/>
              </a:ext>
            </a:extLst>
          </p:cNvPr>
          <p:cNvSpPr>
            <a:spLocks noGrp="1"/>
          </p:cNvSpPr>
          <p:nvPr/>
        </p:nvSpPr>
        <p:spPr>
          <a:xfrm>
            <a:off x="1880122" y="1800893"/>
            <a:ext cx="295222" cy="219321"/>
          </a:xfrm>
          <a:prstGeom prst="rect">
            <a:avLst/>
          </a:prstGeom>
          <a:noFill/>
          <a:ln>
            <a:noFill/>
          </a:ln>
        </p:spPr>
        <p:txBody>
          <a:bodyPr wrap="none" lIns="0" tIns="0" rIns="0" bIns="0" anchor="ctr">
            <a:noAutofit/>
          </a:bodyPr>
          <a:lstStyle/>
          <a:p>
            <a:pPr algn="ctr">
              <a:buNone/>
            </a:pPr>
            <a:r>
              <a:rPr sz="928" b="1">
                <a:latin typeface="Arial"/>
                <a:ea typeface="Arial"/>
                <a:cs typeface="Arial"/>
              </a:rPr>
              <a:t>2</a:t>
            </a:r>
            <a:endParaRPr sz="928"/>
          </a:p>
        </p:txBody>
      </p:sp>
      <p:sp>
        <p:nvSpPr>
          <p:cNvPr id="140" name="TextBox 69">
            <a:extLst>
              <a:ext uri="{FF2B5EF4-FFF2-40B4-BE49-F238E27FC236}">
                <a16:creationId xmlns:a16="http://schemas.microsoft.com/office/drawing/2014/main" id="{7681EEDE-AAD4-B7A5-9F6C-A71EF322F2CD}"/>
              </a:ext>
            </a:extLst>
          </p:cNvPr>
          <p:cNvSpPr>
            <a:spLocks noGrp="1"/>
          </p:cNvSpPr>
          <p:nvPr/>
        </p:nvSpPr>
        <p:spPr>
          <a:xfrm>
            <a:off x="3143194" y="1800893"/>
            <a:ext cx="295222" cy="219321"/>
          </a:xfrm>
          <a:prstGeom prst="rect">
            <a:avLst/>
          </a:prstGeom>
          <a:noFill/>
          <a:ln>
            <a:noFill/>
          </a:ln>
        </p:spPr>
        <p:txBody>
          <a:bodyPr wrap="none" lIns="0" tIns="0" rIns="0" bIns="0" anchor="ctr">
            <a:noAutofit/>
          </a:bodyPr>
          <a:lstStyle/>
          <a:p>
            <a:pPr algn="ctr">
              <a:buNone/>
            </a:pPr>
            <a:r>
              <a:rPr sz="928" b="1">
                <a:latin typeface="Arial"/>
                <a:ea typeface="Arial"/>
                <a:cs typeface="Arial"/>
              </a:rPr>
              <a:t>4</a:t>
            </a:r>
            <a:endParaRPr sz="928"/>
          </a:p>
        </p:txBody>
      </p:sp>
      <p:sp>
        <p:nvSpPr>
          <p:cNvPr id="141" name="TextBox 70">
            <a:extLst>
              <a:ext uri="{FF2B5EF4-FFF2-40B4-BE49-F238E27FC236}">
                <a16:creationId xmlns:a16="http://schemas.microsoft.com/office/drawing/2014/main" id="{BCC0D25E-5980-0F63-EF50-EA5C7735E493}"/>
              </a:ext>
            </a:extLst>
          </p:cNvPr>
          <p:cNvSpPr>
            <a:spLocks noGrp="1"/>
          </p:cNvSpPr>
          <p:nvPr/>
        </p:nvSpPr>
        <p:spPr>
          <a:xfrm>
            <a:off x="4192185" y="1444739"/>
            <a:ext cx="295222" cy="219321"/>
          </a:xfrm>
          <a:prstGeom prst="rect">
            <a:avLst/>
          </a:prstGeom>
          <a:noFill/>
          <a:ln>
            <a:noFill/>
          </a:ln>
        </p:spPr>
        <p:txBody>
          <a:bodyPr wrap="none" lIns="0" tIns="0" rIns="0" bIns="0" anchor="ctr">
            <a:noAutofit/>
          </a:bodyPr>
          <a:lstStyle/>
          <a:p>
            <a:pPr algn="ctr">
              <a:buNone/>
            </a:pPr>
            <a:r>
              <a:rPr sz="928" b="1">
                <a:latin typeface="Arial"/>
                <a:ea typeface="Arial"/>
                <a:cs typeface="Arial"/>
              </a:rPr>
              <a:t>5</a:t>
            </a:r>
            <a:endParaRPr sz="928"/>
          </a:p>
        </p:txBody>
      </p:sp>
      <p:sp>
        <p:nvSpPr>
          <p:cNvPr id="142" name="TextBox 71">
            <a:extLst>
              <a:ext uri="{FF2B5EF4-FFF2-40B4-BE49-F238E27FC236}">
                <a16:creationId xmlns:a16="http://schemas.microsoft.com/office/drawing/2014/main" id="{52E198B9-CBEE-C525-CE24-AF230188CFA8}"/>
              </a:ext>
            </a:extLst>
          </p:cNvPr>
          <p:cNvSpPr>
            <a:spLocks noGrp="1"/>
          </p:cNvSpPr>
          <p:nvPr/>
        </p:nvSpPr>
        <p:spPr>
          <a:xfrm>
            <a:off x="5102025" y="1444739"/>
            <a:ext cx="295222" cy="219321"/>
          </a:xfrm>
          <a:prstGeom prst="rect">
            <a:avLst/>
          </a:prstGeom>
          <a:noFill/>
          <a:ln>
            <a:noFill/>
          </a:ln>
        </p:spPr>
        <p:txBody>
          <a:bodyPr wrap="none" lIns="0" tIns="0" rIns="0" bIns="0" anchor="ctr">
            <a:noAutofit/>
          </a:bodyPr>
          <a:lstStyle/>
          <a:p>
            <a:pPr algn="ctr">
              <a:buNone/>
            </a:pPr>
            <a:r>
              <a:rPr sz="928" b="1">
                <a:latin typeface="Arial"/>
                <a:ea typeface="Arial"/>
                <a:cs typeface="Arial"/>
              </a:rPr>
              <a:t>6</a:t>
            </a:r>
            <a:endParaRPr sz="928"/>
          </a:p>
        </p:txBody>
      </p:sp>
      <p:sp>
        <p:nvSpPr>
          <p:cNvPr id="143" name="TextBox 82">
            <a:extLst>
              <a:ext uri="{FF2B5EF4-FFF2-40B4-BE49-F238E27FC236}">
                <a16:creationId xmlns:a16="http://schemas.microsoft.com/office/drawing/2014/main" id="{37DAAE80-0163-6654-04F5-4FEFB9743E01}"/>
              </a:ext>
            </a:extLst>
          </p:cNvPr>
          <p:cNvSpPr>
            <a:spLocks noGrp="1"/>
          </p:cNvSpPr>
          <p:nvPr/>
        </p:nvSpPr>
        <p:spPr>
          <a:xfrm>
            <a:off x="520716" y="2175309"/>
            <a:ext cx="792725" cy="129599"/>
          </a:xfrm>
          <a:prstGeom prst="rect">
            <a:avLst/>
          </a:prstGeom>
          <a:noFill/>
          <a:ln>
            <a:noFill/>
          </a:ln>
        </p:spPr>
        <p:txBody>
          <a:bodyPr wrap="none" lIns="0" tIns="0" rIns="0" bIns="0" anchor="t">
            <a:noAutofit/>
          </a:bodyPr>
          <a:lstStyle/>
          <a:p>
            <a:pPr algn="ctr">
              <a:buNone/>
            </a:pPr>
            <a:r>
              <a:rPr sz="995" b="1">
                <a:latin typeface="Arial"/>
                <a:ea typeface="Arial"/>
                <a:cs typeface="Arial"/>
              </a:rPr>
              <a:t>Group 0</a:t>
            </a:r>
            <a:endParaRPr sz="995"/>
          </a:p>
        </p:txBody>
      </p:sp>
      <p:sp>
        <p:nvSpPr>
          <p:cNvPr id="144" name="TextBox 83">
            <a:extLst>
              <a:ext uri="{FF2B5EF4-FFF2-40B4-BE49-F238E27FC236}">
                <a16:creationId xmlns:a16="http://schemas.microsoft.com/office/drawing/2014/main" id="{6484ABBD-B765-3CAC-C892-AA6FC5BA97C9}"/>
              </a:ext>
            </a:extLst>
          </p:cNvPr>
          <p:cNvSpPr>
            <a:spLocks noGrp="1"/>
          </p:cNvSpPr>
          <p:nvPr/>
        </p:nvSpPr>
        <p:spPr>
          <a:xfrm>
            <a:off x="424380" y="2321425"/>
            <a:ext cx="984073" cy="12461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{0}</a:t>
            </a:r>
            <a:endParaRPr sz="762"/>
          </a:p>
        </p:txBody>
      </p:sp>
      <p:sp>
        <p:nvSpPr>
          <p:cNvPr id="145" name="TextBox 84">
            <a:extLst>
              <a:ext uri="{FF2B5EF4-FFF2-40B4-BE49-F238E27FC236}">
                <a16:creationId xmlns:a16="http://schemas.microsoft.com/office/drawing/2014/main" id="{C0DD4B28-46B7-D696-CF99-10F1F3B1C6BC}"/>
              </a:ext>
            </a:extLst>
          </p:cNvPr>
          <p:cNvSpPr>
            <a:spLocks noGrp="1"/>
          </p:cNvSpPr>
          <p:nvPr/>
        </p:nvSpPr>
        <p:spPr>
          <a:xfrm>
            <a:off x="1724915" y="2175309"/>
            <a:ext cx="792725" cy="129599"/>
          </a:xfrm>
          <a:prstGeom prst="rect">
            <a:avLst/>
          </a:prstGeom>
          <a:noFill/>
          <a:ln>
            <a:noFill/>
          </a:ln>
        </p:spPr>
        <p:txBody>
          <a:bodyPr wrap="none" lIns="0" tIns="0" rIns="0" bIns="0" anchor="t">
            <a:noAutofit/>
          </a:bodyPr>
          <a:lstStyle/>
          <a:p>
            <a:pPr algn="ctr">
              <a:buNone/>
            </a:pPr>
            <a:r>
              <a:rPr sz="995" b="1">
                <a:latin typeface="Arial"/>
                <a:ea typeface="Arial"/>
                <a:cs typeface="Arial"/>
              </a:rPr>
              <a:t>Group 1</a:t>
            </a:r>
            <a:endParaRPr sz="995"/>
          </a:p>
        </p:txBody>
      </p:sp>
      <p:sp>
        <p:nvSpPr>
          <p:cNvPr id="146" name="TextBox 85">
            <a:extLst>
              <a:ext uri="{FF2B5EF4-FFF2-40B4-BE49-F238E27FC236}">
                <a16:creationId xmlns:a16="http://schemas.microsoft.com/office/drawing/2014/main" id="{6C3EE9F6-9CF5-A970-FE59-D2BAFCC47023}"/>
              </a:ext>
            </a:extLst>
          </p:cNvPr>
          <p:cNvSpPr>
            <a:spLocks noGrp="1"/>
          </p:cNvSpPr>
          <p:nvPr/>
        </p:nvSpPr>
        <p:spPr>
          <a:xfrm>
            <a:off x="1628580" y="2321425"/>
            <a:ext cx="984073" cy="12461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{1, 2}</a:t>
            </a:r>
            <a:endParaRPr sz="762"/>
          </a:p>
        </p:txBody>
      </p:sp>
      <p:sp>
        <p:nvSpPr>
          <p:cNvPr id="147" name="TextBox 86">
            <a:extLst>
              <a:ext uri="{FF2B5EF4-FFF2-40B4-BE49-F238E27FC236}">
                <a16:creationId xmlns:a16="http://schemas.microsoft.com/office/drawing/2014/main" id="{20E2F28C-E2E3-70EB-F67B-70FBA634E31C}"/>
              </a:ext>
            </a:extLst>
          </p:cNvPr>
          <p:cNvSpPr>
            <a:spLocks noGrp="1"/>
          </p:cNvSpPr>
          <p:nvPr/>
        </p:nvSpPr>
        <p:spPr>
          <a:xfrm>
            <a:off x="2902354" y="2175309"/>
            <a:ext cx="792725" cy="129599"/>
          </a:xfrm>
          <a:prstGeom prst="rect">
            <a:avLst/>
          </a:prstGeom>
          <a:noFill/>
          <a:ln>
            <a:noFill/>
          </a:ln>
        </p:spPr>
        <p:txBody>
          <a:bodyPr wrap="none" lIns="0" tIns="0" rIns="0" bIns="0" anchor="t">
            <a:noAutofit/>
          </a:bodyPr>
          <a:lstStyle/>
          <a:p>
            <a:pPr algn="ctr">
              <a:buNone/>
            </a:pPr>
            <a:r>
              <a:rPr sz="995" b="1">
                <a:latin typeface="Arial"/>
                <a:ea typeface="Arial"/>
                <a:cs typeface="Arial"/>
              </a:rPr>
              <a:t>Group 2</a:t>
            </a:r>
            <a:endParaRPr sz="995"/>
          </a:p>
        </p:txBody>
      </p:sp>
      <p:sp>
        <p:nvSpPr>
          <p:cNvPr id="148" name="TextBox 87">
            <a:extLst>
              <a:ext uri="{FF2B5EF4-FFF2-40B4-BE49-F238E27FC236}">
                <a16:creationId xmlns:a16="http://schemas.microsoft.com/office/drawing/2014/main" id="{F4B4B2E6-944F-8D52-C6C0-3D904AA0CDF6}"/>
              </a:ext>
            </a:extLst>
          </p:cNvPr>
          <p:cNvSpPr>
            <a:spLocks noGrp="1"/>
          </p:cNvSpPr>
          <p:nvPr/>
        </p:nvSpPr>
        <p:spPr>
          <a:xfrm>
            <a:off x="2806018" y="2321425"/>
            <a:ext cx="984073" cy="12461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{3, 4}</a:t>
            </a:r>
            <a:endParaRPr sz="762"/>
          </a:p>
        </p:txBody>
      </p:sp>
      <p:sp>
        <p:nvSpPr>
          <p:cNvPr id="149" name="TextBox 88">
            <a:extLst>
              <a:ext uri="{FF2B5EF4-FFF2-40B4-BE49-F238E27FC236}">
                <a16:creationId xmlns:a16="http://schemas.microsoft.com/office/drawing/2014/main" id="{3193A35B-9C54-9A27-1FE2-34013878517A}"/>
              </a:ext>
            </a:extLst>
          </p:cNvPr>
          <p:cNvSpPr>
            <a:spLocks noGrp="1"/>
          </p:cNvSpPr>
          <p:nvPr/>
        </p:nvSpPr>
        <p:spPr>
          <a:xfrm>
            <a:off x="4240353" y="2175309"/>
            <a:ext cx="792725" cy="129599"/>
          </a:xfrm>
          <a:prstGeom prst="rect">
            <a:avLst/>
          </a:prstGeom>
          <a:noFill/>
          <a:ln>
            <a:noFill/>
          </a:ln>
        </p:spPr>
        <p:txBody>
          <a:bodyPr wrap="none" lIns="0" tIns="0" rIns="0" bIns="0" anchor="t">
            <a:noAutofit/>
          </a:bodyPr>
          <a:lstStyle/>
          <a:p>
            <a:pPr algn="ctr">
              <a:buNone/>
            </a:pPr>
            <a:r>
              <a:rPr sz="995" b="1">
                <a:latin typeface="Arial"/>
                <a:ea typeface="Arial"/>
                <a:cs typeface="Arial"/>
              </a:rPr>
              <a:t>Group 3</a:t>
            </a:r>
            <a:endParaRPr sz="995"/>
          </a:p>
        </p:txBody>
      </p:sp>
      <p:sp>
        <p:nvSpPr>
          <p:cNvPr id="150" name="TextBox 89">
            <a:extLst>
              <a:ext uri="{FF2B5EF4-FFF2-40B4-BE49-F238E27FC236}">
                <a16:creationId xmlns:a16="http://schemas.microsoft.com/office/drawing/2014/main" id="{7DAE4897-7616-2537-AB06-FCA37F6381EE}"/>
              </a:ext>
            </a:extLst>
          </p:cNvPr>
          <p:cNvSpPr>
            <a:spLocks noGrp="1"/>
          </p:cNvSpPr>
          <p:nvPr/>
        </p:nvSpPr>
        <p:spPr>
          <a:xfrm>
            <a:off x="4144018" y="2321425"/>
            <a:ext cx="984073" cy="124614"/>
          </a:xfrm>
          <a:prstGeom prst="rect">
            <a:avLst/>
          </a:prstGeom>
          <a:noFill/>
          <a:ln>
            <a:noFill/>
          </a:ln>
        </p:spPr>
        <p:txBody>
          <a:bodyPr wrap="none" lIns="0" tIns="0" rIns="0" bIns="0" anchor="t">
            <a:noAutofit/>
          </a:bodyPr>
          <a:lstStyle/>
          <a:p>
            <a:pPr algn="ctr">
              <a:buNone/>
            </a:pPr>
            <a:r>
              <a:rPr sz="762">
                <a:latin typeface="Arial"/>
                <a:ea typeface="Arial"/>
                <a:cs typeface="Arial"/>
              </a:rPr>
              <a:t>Frontier nodes: {5}</a:t>
            </a:r>
            <a:endParaRPr sz="762"/>
          </a:p>
        </p:txBody>
      </p:sp>
      <p:sp>
        <p:nvSpPr>
          <p:cNvPr id="152" name="Right Arrow 151">
            <a:extLst>
              <a:ext uri="{FF2B5EF4-FFF2-40B4-BE49-F238E27FC236}">
                <a16:creationId xmlns:a16="http://schemas.microsoft.com/office/drawing/2014/main" id="{59802DF8-87AD-CBF4-51D4-CD77CA1A2CBE}"/>
              </a:ext>
            </a:extLst>
          </p:cNvPr>
          <p:cNvSpPr>
            <a:spLocks noGrp="1"/>
          </p:cNvSpPr>
          <p:nvPr/>
        </p:nvSpPr>
        <p:spPr>
          <a:xfrm>
            <a:off x="5662502" y="1536961"/>
            <a:ext cx="666208" cy="403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56" name="TextBox 155">
            <a:extLst>
              <a:ext uri="{FF2B5EF4-FFF2-40B4-BE49-F238E27FC236}">
                <a16:creationId xmlns:a16="http://schemas.microsoft.com/office/drawing/2014/main" id="{29178950-BF03-F60B-609E-2C4434D41246}"/>
              </a:ext>
            </a:extLst>
          </p:cNvPr>
          <p:cNvSpPr>
            <a:spLocks noGrp="1"/>
          </p:cNvSpPr>
          <p:nvPr/>
        </p:nvSpPr>
        <p:spPr>
          <a:xfrm>
            <a:off x="131016" y="132681"/>
            <a:ext cx="3783724" cy="369332"/>
          </a:xfrm>
          <a:prstGeom prst="rect">
            <a:avLst/>
          </a:prstGeom>
          <a:noFill/>
        </p:spPr>
        <p:txBody>
          <a:bodyPr wrap="square">
            <a:spAutoFit/>
          </a:bodyPr>
          <a:lstStyle/>
          <a:p>
            <a:r>
              <a:rPr dirty="0"/>
              <a:t>Preprocessing before entering solver </a:t>
            </a:r>
          </a:p>
        </p:txBody>
      </p:sp>
      <p:sp>
        <p:nvSpPr>
          <p:cNvPr id="158" name="Roundrect 12">
            <a:extLst>
              <a:ext uri="{FF2B5EF4-FFF2-40B4-BE49-F238E27FC236}">
                <a16:creationId xmlns:a16="http://schemas.microsoft.com/office/drawing/2014/main" id="{AF1A0F42-D175-45CB-29C7-26022C4323BB}"/>
              </a:ext>
            </a:extLst>
          </p:cNvPr>
          <p:cNvSpPr>
            <a:spLocks noGrp="1"/>
          </p:cNvSpPr>
          <p:nvPr/>
        </p:nvSpPr>
        <p:spPr>
          <a:xfrm>
            <a:off x="520716" y="3513082"/>
            <a:ext cx="1199834" cy="309431"/>
          </a:xfrm>
          <a:prstGeom prst="roundRect">
            <a:avLst>
              <a:gd name="adj" fmla="val 16327"/>
            </a:avLst>
          </a:prstGeom>
          <a:noFill/>
          <a:ln w="20320">
            <a:solidFill>
              <a:srgbClr val="174EA6"/>
            </a:solidFill>
          </a:ln>
        </p:spPr>
        <p:txBody>
          <a:bodyPr/>
          <a:lstStyle/>
          <a:p>
            <a:endParaRPr sz="1400"/>
          </a:p>
        </p:txBody>
      </p:sp>
      <p:sp>
        <p:nvSpPr>
          <p:cNvPr id="159" name="Roundrect 13">
            <a:extLst>
              <a:ext uri="{FF2B5EF4-FFF2-40B4-BE49-F238E27FC236}">
                <a16:creationId xmlns:a16="http://schemas.microsoft.com/office/drawing/2014/main" id="{4DFB6742-0799-DDAE-B12D-FEBF190A1C74}"/>
              </a:ext>
            </a:extLst>
          </p:cNvPr>
          <p:cNvSpPr>
            <a:spLocks noGrp="1"/>
          </p:cNvSpPr>
          <p:nvPr/>
        </p:nvSpPr>
        <p:spPr>
          <a:xfrm>
            <a:off x="1846849" y="3513082"/>
            <a:ext cx="2241796" cy="309431"/>
          </a:xfrm>
          <a:prstGeom prst="roundRect">
            <a:avLst>
              <a:gd name="adj" fmla="val 16327"/>
            </a:avLst>
          </a:prstGeom>
          <a:noFill/>
          <a:ln w="17780">
            <a:solidFill>
              <a:srgbClr val="174EA6"/>
            </a:solidFill>
          </a:ln>
        </p:spPr>
        <p:txBody>
          <a:bodyPr/>
          <a:lstStyle/>
          <a:p>
            <a:endParaRPr sz="1400"/>
          </a:p>
        </p:txBody>
      </p:sp>
      <p:sp>
        <p:nvSpPr>
          <p:cNvPr id="160" name="Roundrect 14">
            <a:extLst>
              <a:ext uri="{FF2B5EF4-FFF2-40B4-BE49-F238E27FC236}">
                <a16:creationId xmlns:a16="http://schemas.microsoft.com/office/drawing/2014/main" id="{2AAD7E5A-401D-D772-602C-522D661B9822}"/>
              </a:ext>
            </a:extLst>
          </p:cNvPr>
          <p:cNvSpPr>
            <a:spLocks noGrp="1"/>
          </p:cNvSpPr>
          <p:nvPr/>
        </p:nvSpPr>
        <p:spPr>
          <a:xfrm>
            <a:off x="4214943" y="3513082"/>
            <a:ext cx="789365" cy="309431"/>
          </a:xfrm>
          <a:prstGeom prst="roundRect">
            <a:avLst>
              <a:gd name="adj" fmla="val 16327"/>
            </a:avLst>
          </a:prstGeom>
          <a:noFill/>
          <a:ln w="17780">
            <a:solidFill>
              <a:srgbClr val="174EA6"/>
            </a:solidFill>
          </a:ln>
        </p:spPr>
        <p:txBody>
          <a:bodyPr/>
          <a:lstStyle/>
          <a:p>
            <a:endParaRPr sz="1400"/>
          </a:p>
        </p:txBody>
      </p:sp>
      <p:sp>
        <p:nvSpPr>
          <p:cNvPr id="161" name="Roundrect 15">
            <a:extLst>
              <a:ext uri="{FF2B5EF4-FFF2-40B4-BE49-F238E27FC236}">
                <a16:creationId xmlns:a16="http://schemas.microsoft.com/office/drawing/2014/main" id="{7A6EFA7C-7CC3-8FC9-6C59-A44E1BFEB391}"/>
              </a:ext>
            </a:extLst>
          </p:cNvPr>
          <p:cNvSpPr>
            <a:spLocks noGrp="1"/>
          </p:cNvSpPr>
          <p:nvPr/>
        </p:nvSpPr>
        <p:spPr>
          <a:xfrm>
            <a:off x="5117976" y="3513082"/>
            <a:ext cx="663066" cy="309431"/>
          </a:xfrm>
          <a:prstGeom prst="roundRect">
            <a:avLst>
              <a:gd name="adj" fmla="val 16327"/>
            </a:avLst>
          </a:prstGeom>
          <a:noFill/>
          <a:ln w="20320">
            <a:solidFill>
              <a:srgbClr val="174EA6"/>
            </a:solidFill>
          </a:ln>
        </p:spPr>
        <p:txBody>
          <a:bodyPr/>
          <a:lstStyle/>
          <a:p>
            <a:endParaRPr sz="1400"/>
          </a:p>
        </p:txBody>
      </p:sp>
      <p:sp>
        <p:nvSpPr>
          <p:cNvPr id="162" name="Roundrect 16">
            <a:extLst>
              <a:ext uri="{FF2B5EF4-FFF2-40B4-BE49-F238E27FC236}">
                <a16:creationId xmlns:a16="http://schemas.microsoft.com/office/drawing/2014/main" id="{295B5392-FD41-BFB4-79DA-503C24DED92B}"/>
              </a:ext>
            </a:extLst>
          </p:cNvPr>
          <p:cNvSpPr>
            <a:spLocks noGrp="1"/>
          </p:cNvSpPr>
          <p:nvPr/>
        </p:nvSpPr>
        <p:spPr>
          <a:xfrm>
            <a:off x="520716" y="4081425"/>
            <a:ext cx="1389282" cy="309431"/>
          </a:xfrm>
          <a:prstGeom prst="roundRect">
            <a:avLst>
              <a:gd name="adj" fmla="val 16327"/>
            </a:avLst>
          </a:prstGeom>
          <a:noFill/>
          <a:ln w="20320">
            <a:solidFill>
              <a:srgbClr val="238443"/>
            </a:solidFill>
          </a:ln>
        </p:spPr>
        <p:txBody>
          <a:bodyPr/>
          <a:lstStyle/>
          <a:p>
            <a:endParaRPr sz="1400"/>
          </a:p>
        </p:txBody>
      </p:sp>
      <p:sp>
        <p:nvSpPr>
          <p:cNvPr id="163" name="Roundrect 17">
            <a:extLst>
              <a:ext uri="{FF2B5EF4-FFF2-40B4-BE49-F238E27FC236}">
                <a16:creationId xmlns:a16="http://schemas.microsoft.com/office/drawing/2014/main" id="{9583A195-1572-812F-3CF8-C63EACFF9ED1}"/>
              </a:ext>
            </a:extLst>
          </p:cNvPr>
          <p:cNvSpPr>
            <a:spLocks noGrp="1"/>
          </p:cNvSpPr>
          <p:nvPr/>
        </p:nvSpPr>
        <p:spPr>
          <a:xfrm>
            <a:off x="2118390" y="4081425"/>
            <a:ext cx="1894475" cy="309431"/>
          </a:xfrm>
          <a:prstGeom prst="roundRect">
            <a:avLst>
              <a:gd name="adj" fmla="val 16327"/>
            </a:avLst>
          </a:prstGeom>
          <a:noFill/>
          <a:ln w="17780">
            <a:solidFill>
              <a:srgbClr val="238443"/>
            </a:solidFill>
          </a:ln>
        </p:spPr>
        <p:txBody>
          <a:bodyPr/>
          <a:lstStyle/>
          <a:p>
            <a:endParaRPr sz="1400"/>
          </a:p>
        </p:txBody>
      </p:sp>
      <p:sp>
        <p:nvSpPr>
          <p:cNvPr id="164" name="Roundrect 18">
            <a:extLst>
              <a:ext uri="{FF2B5EF4-FFF2-40B4-BE49-F238E27FC236}">
                <a16:creationId xmlns:a16="http://schemas.microsoft.com/office/drawing/2014/main" id="{FC4B5CBF-4EC0-A7B6-759C-9647B76D9634}"/>
              </a:ext>
            </a:extLst>
          </p:cNvPr>
          <p:cNvSpPr>
            <a:spLocks noGrp="1"/>
          </p:cNvSpPr>
          <p:nvPr/>
        </p:nvSpPr>
        <p:spPr>
          <a:xfrm>
            <a:off x="4202313" y="4081425"/>
            <a:ext cx="1578729" cy="309431"/>
          </a:xfrm>
          <a:prstGeom prst="roundRect">
            <a:avLst>
              <a:gd name="adj" fmla="val 16327"/>
            </a:avLst>
          </a:prstGeom>
          <a:noFill/>
          <a:ln w="20320">
            <a:solidFill>
              <a:srgbClr val="238443"/>
            </a:solidFill>
          </a:ln>
        </p:spPr>
        <p:txBody>
          <a:bodyPr/>
          <a:lstStyle/>
          <a:p>
            <a:endParaRPr sz="1400"/>
          </a:p>
        </p:txBody>
      </p:sp>
      <p:sp>
        <p:nvSpPr>
          <p:cNvPr id="165" name="Roundrect 19">
            <a:extLst>
              <a:ext uri="{FF2B5EF4-FFF2-40B4-BE49-F238E27FC236}">
                <a16:creationId xmlns:a16="http://schemas.microsoft.com/office/drawing/2014/main" id="{D183986B-FD23-C9C6-7700-138459D06EFD}"/>
              </a:ext>
            </a:extLst>
          </p:cNvPr>
          <p:cNvSpPr>
            <a:spLocks noGrp="1"/>
          </p:cNvSpPr>
          <p:nvPr/>
        </p:nvSpPr>
        <p:spPr>
          <a:xfrm>
            <a:off x="520716" y="4649768"/>
            <a:ext cx="1389282" cy="309431"/>
          </a:xfrm>
          <a:prstGeom prst="roundRect">
            <a:avLst>
              <a:gd name="adj" fmla="val 16327"/>
            </a:avLst>
          </a:prstGeom>
          <a:noFill/>
          <a:ln w="20320">
            <a:solidFill>
              <a:srgbClr val="E87518"/>
            </a:solidFill>
          </a:ln>
        </p:spPr>
        <p:txBody>
          <a:bodyPr/>
          <a:lstStyle/>
          <a:p>
            <a:endParaRPr sz="1400"/>
          </a:p>
        </p:txBody>
      </p:sp>
      <p:sp>
        <p:nvSpPr>
          <p:cNvPr id="166" name="Roundrect 20">
            <a:extLst>
              <a:ext uri="{FF2B5EF4-FFF2-40B4-BE49-F238E27FC236}">
                <a16:creationId xmlns:a16="http://schemas.microsoft.com/office/drawing/2014/main" id="{B9A83443-F251-B042-0B43-0A869A33A69F}"/>
              </a:ext>
            </a:extLst>
          </p:cNvPr>
          <p:cNvSpPr>
            <a:spLocks noGrp="1"/>
          </p:cNvSpPr>
          <p:nvPr/>
        </p:nvSpPr>
        <p:spPr>
          <a:xfrm>
            <a:off x="2118390" y="4649768"/>
            <a:ext cx="1894475" cy="309431"/>
          </a:xfrm>
          <a:prstGeom prst="roundRect">
            <a:avLst>
              <a:gd name="adj" fmla="val 16327"/>
            </a:avLst>
          </a:prstGeom>
          <a:noFill/>
          <a:ln w="17780">
            <a:solidFill>
              <a:srgbClr val="E87518"/>
            </a:solidFill>
          </a:ln>
        </p:spPr>
        <p:txBody>
          <a:bodyPr/>
          <a:lstStyle/>
          <a:p>
            <a:endParaRPr sz="1400"/>
          </a:p>
        </p:txBody>
      </p:sp>
      <p:sp>
        <p:nvSpPr>
          <p:cNvPr id="167" name="Roundrect 21">
            <a:extLst>
              <a:ext uri="{FF2B5EF4-FFF2-40B4-BE49-F238E27FC236}">
                <a16:creationId xmlns:a16="http://schemas.microsoft.com/office/drawing/2014/main" id="{B417B861-14B2-0EAF-D0D3-D012398795CF}"/>
              </a:ext>
            </a:extLst>
          </p:cNvPr>
          <p:cNvSpPr>
            <a:spLocks noGrp="1"/>
          </p:cNvSpPr>
          <p:nvPr/>
        </p:nvSpPr>
        <p:spPr>
          <a:xfrm>
            <a:off x="4202313" y="4649768"/>
            <a:ext cx="1578729" cy="309431"/>
          </a:xfrm>
          <a:prstGeom prst="roundRect">
            <a:avLst>
              <a:gd name="adj" fmla="val 16327"/>
            </a:avLst>
          </a:prstGeom>
          <a:noFill/>
          <a:ln w="20320">
            <a:solidFill>
              <a:srgbClr val="E87518"/>
            </a:solidFill>
          </a:ln>
        </p:spPr>
        <p:txBody>
          <a:bodyPr/>
          <a:lstStyle/>
          <a:p>
            <a:endParaRPr sz="1400"/>
          </a:p>
        </p:txBody>
      </p:sp>
      <p:sp>
        <p:nvSpPr>
          <p:cNvPr id="168" name="Roundrect 22">
            <a:extLst>
              <a:ext uri="{FF2B5EF4-FFF2-40B4-BE49-F238E27FC236}">
                <a16:creationId xmlns:a16="http://schemas.microsoft.com/office/drawing/2014/main" id="{448496B8-68AA-80C2-5A34-B1DB5E8B6908}"/>
              </a:ext>
            </a:extLst>
          </p:cNvPr>
          <p:cNvSpPr>
            <a:spLocks noGrp="1"/>
          </p:cNvSpPr>
          <p:nvPr/>
        </p:nvSpPr>
        <p:spPr>
          <a:xfrm>
            <a:off x="520716" y="5218110"/>
            <a:ext cx="1389282" cy="309431"/>
          </a:xfrm>
          <a:prstGeom prst="roundRect">
            <a:avLst>
              <a:gd name="adj" fmla="val 16327"/>
            </a:avLst>
          </a:prstGeom>
          <a:noFill/>
          <a:ln w="20320">
            <a:solidFill>
              <a:srgbClr val="6B2CA3"/>
            </a:solidFill>
          </a:ln>
        </p:spPr>
        <p:txBody>
          <a:bodyPr/>
          <a:lstStyle/>
          <a:p>
            <a:endParaRPr sz="1400"/>
          </a:p>
        </p:txBody>
      </p:sp>
      <p:sp>
        <p:nvSpPr>
          <p:cNvPr id="169" name="Roundrect 23">
            <a:extLst>
              <a:ext uri="{FF2B5EF4-FFF2-40B4-BE49-F238E27FC236}">
                <a16:creationId xmlns:a16="http://schemas.microsoft.com/office/drawing/2014/main" id="{1F7E5257-0078-B733-9344-70D7E3DB67FB}"/>
              </a:ext>
            </a:extLst>
          </p:cNvPr>
          <p:cNvSpPr>
            <a:spLocks noGrp="1"/>
          </p:cNvSpPr>
          <p:nvPr/>
        </p:nvSpPr>
        <p:spPr>
          <a:xfrm>
            <a:off x="2118390" y="5218110"/>
            <a:ext cx="1894475" cy="309431"/>
          </a:xfrm>
          <a:prstGeom prst="roundRect">
            <a:avLst>
              <a:gd name="adj" fmla="val 16327"/>
            </a:avLst>
          </a:prstGeom>
          <a:noFill/>
          <a:ln w="17780">
            <a:solidFill>
              <a:srgbClr val="6B2CA3"/>
            </a:solidFill>
          </a:ln>
        </p:spPr>
        <p:txBody>
          <a:bodyPr/>
          <a:lstStyle/>
          <a:p>
            <a:endParaRPr sz="1400"/>
          </a:p>
        </p:txBody>
      </p:sp>
      <p:sp>
        <p:nvSpPr>
          <p:cNvPr id="170" name="Roundrect 24">
            <a:extLst>
              <a:ext uri="{FF2B5EF4-FFF2-40B4-BE49-F238E27FC236}">
                <a16:creationId xmlns:a16="http://schemas.microsoft.com/office/drawing/2014/main" id="{6F4A26C3-E785-4734-3C8F-7E061FBA2050}"/>
              </a:ext>
            </a:extLst>
          </p:cNvPr>
          <p:cNvSpPr>
            <a:spLocks noGrp="1"/>
          </p:cNvSpPr>
          <p:nvPr/>
        </p:nvSpPr>
        <p:spPr>
          <a:xfrm>
            <a:off x="4202313" y="5218110"/>
            <a:ext cx="1578729" cy="309431"/>
          </a:xfrm>
          <a:prstGeom prst="roundRect">
            <a:avLst>
              <a:gd name="adj" fmla="val 16327"/>
            </a:avLst>
          </a:prstGeom>
          <a:noFill/>
          <a:ln w="20320">
            <a:solidFill>
              <a:srgbClr val="6B2CA3"/>
            </a:solidFill>
          </a:ln>
        </p:spPr>
        <p:txBody>
          <a:bodyPr/>
          <a:lstStyle/>
          <a:p>
            <a:endParaRPr sz="1400"/>
          </a:p>
        </p:txBody>
      </p:sp>
      <p:sp>
        <p:nvSpPr>
          <p:cNvPr id="171" name="Line 25">
            <a:extLst>
              <a:ext uri="{FF2B5EF4-FFF2-40B4-BE49-F238E27FC236}">
                <a16:creationId xmlns:a16="http://schemas.microsoft.com/office/drawing/2014/main" id="{C0562A0E-336A-3CBA-D6B0-DC22E74292AD}"/>
              </a:ext>
            </a:extLst>
          </p:cNvPr>
          <p:cNvSpPr>
            <a:spLocks noGrp="1"/>
          </p:cNvSpPr>
          <p:nvPr/>
        </p:nvSpPr>
        <p:spPr>
          <a:xfrm>
            <a:off x="1764755" y="3664640"/>
            <a:ext cx="31575" cy="0"/>
          </a:xfrm>
          <a:prstGeom prst="line">
            <a:avLst/>
          </a:prstGeom>
          <a:noFill/>
          <a:ln w="31750">
            <a:solidFill>
              <a:srgbClr val="151515"/>
            </a:solidFill>
          </a:ln>
        </p:spPr>
        <p:txBody>
          <a:bodyPr/>
          <a:lstStyle/>
          <a:p>
            <a:endParaRPr sz="1400"/>
          </a:p>
        </p:txBody>
      </p:sp>
      <p:sp>
        <p:nvSpPr>
          <p:cNvPr id="172" name="Line 26">
            <a:extLst>
              <a:ext uri="{FF2B5EF4-FFF2-40B4-BE49-F238E27FC236}">
                <a16:creationId xmlns:a16="http://schemas.microsoft.com/office/drawing/2014/main" id="{39D89114-0B54-71DF-C585-456036628CAA}"/>
              </a:ext>
            </a:extLst>
          </p:cNvPr>
          <p:cNvSpPr>
            <a:spLocks noGrp="1"/>
          </p:cNvSpPr>
          <p:nvPr/>
        </p:nvSpPr>
        <p:spPr>
          <a:xfrm>
            <a:off x="4120219" y="3664640"/>
            <a:ext cx="44204" cy="0"/>
          </a:xfrm>
          <a:prstGeom prst="line">
            <a:avLst/>
          </a:prstGeom>
          <a:noFill/>
          <a:ln w="31750">
            <a:solidFill>
              <a:srgbClr val="151515"/>
            </a:solidFill>
          </a:ln>
        </p:spPr>
        <p:txBody>
          <a:bodyPr/>
          <a:lstStyle/>
          <a:p>
            <a:endParaRPr sz="1400"/>
          </a:p>
        </p:txBody>
      </p:sp>
      <p:sp>
        <p:nvSpPr>
          <p:cNvPr id="173" name="Line 27">
            <a:extLst>
              <a:ext uri="{FF2B5EF4-FFF2-40B4-BE49-F238E27FC236}">
                <a16:creationId xmlns:a16="http://schemas.microsoft.com/office/drawing/2014/main" id="{07BC76E4-5181-1C01-B6E5-C7B7650DB814}"/>
              </a:ext>
            </a:extLst>
          </p:cNvPr>
          <p:cNvSpPr>
            <a:spLocks noGrp="1"/>
          </p:cNvSpPr>
          <p:nvPr/>
        </p:nvSpPr>
        <p:spPr>
          <a:xfrm>
            <a:off x="5035882" y="3664640"/>
            <a:ext cx="31575" cy="0"/>
          </a:xfrm>
          <a:prstGeom prst="line">
            <a:avLst/>
          </a:prstGeom>
          <a:noFill/>
          <a:ln w="31750">
            <a:solidFill>
              <a:srgbClr val="151515"/>
            </a:solidFill>
          </a:ln>
        </p:spPr>
        <p:txBody>
          <a:bodyPr/>
          <a:lstStyle/>
          <a:p>
            <a:endParaRPr sz="1400"/>
          </a:p>
        </p:txBody>
      </p:sp>
      <p:sp>
        <p:nvSpPr>
          <p:cNvPr id="174" name="Line 28">
            <a:extLst>
              <a:ext uri="{FF2B5EF4-FFF2-40B4-BE49-F238E27FC236}">
                <a16:creationId xmlns:a16="http://schemas.microsoft.com/office/drawing/2014/main" id="{CECCAC9C-13BA-7FB2-1333-3A9C8A398207}"/>
              </a:ext>
            </a:extLst>
          </p:cNvPr>
          <p:cNvSpPr>
            <a:spLocks noGrp="1"/>
          </p:cNvSpPr>
          <p:nvPr/>
        </p:nvSpPr>
        <p:spPr>
          <a:xfrm>
            <a:off x="1954202" y="4232983"/>
            <a:ext cx="113669" cy="0"/>
          </a:xfrm>
          <a:prstGeom prst="line">
            <a:avLst/>
          </a:prstGeom>
          <a:noFill/>
          <a:ln w="31750">
            <a:solidFill>
              <a:srgbClr val="151515"/>
            </a:solidFill>
          </a:ln>
        </p:spPr>
        <p:txBody>
          <a:bodyPr/>
          <a:lstStyle/>
          <a:p>
            <a:endParaRPr sz="1400"/>
          </a:p>
        </p:txBody>
      </p:sp>
      <p:sp>
        <p:nvSpPr>
          <p:cNvPr id="175" name="Line 29">
            <a:extLst>
              <a:ext uri="{FF2B5EF4-FFF2-40B4-BE49-F238E27FC236}">
                <a16:creationId xmlns:a16="http://schemas.microsoft.com/office/drawing/2014/main" id="{7BD1454D-8FED-9884-0584-22E9FDD9BB85}"/>
              </a:ext>
            </a:extLst>
          </p:cNvPr>
          <p:cNvSpPr>
            <a:spLocks noGrp="1"/>
          </p:cNvSpPr>
          <p:nvPr/>
        </p:nvSpPr>
        <p:spPr>
          <a:xfrm>
            <a:off x="4057070" y="4232983"/>
            <a:ext cx="94724" cy="0"/>
          </a:xfrm>
          <a:prstGeom prst="line">
            <a:avLst/>
          </a:prstGeom>
          <a:noFill/>
          <a:ln w="31750">
            <a:solidFill>
              <a:srgbClr val="151515"/>
            </a:solidFill>
          </a:ln>
        </p:spPr>
        <p:txBody>
          <a:bodyPr/>
          <a:lstStyle/>
          <a:p>
            <a:endParaRPr sz="1400"/>
          </a:p>
        </p:txBody>
      </p:sp>
      <p:sp>
        <p:nvSpPr>
          <p:cNvPr id="176" name="Line 30">
            <a:extLst>
              <a:ext uri="{FF2B5EF4-FFF2-40B4-BE49-F238E27FC236}">
                <a16:creationId xmlns:a16="http://schemas.microsoft.com/office/drawing/2014/main" id="{FE420724-0994-0C53-1B79-9B8C04F4B628}"/>
              </a:ext>
            </a:extLst>
          </p:cNvPr>
          <p:cNvSpPr>
            <a:spLocks noGrp="1"/>
          </p:cNvSpPr>
          <p:nvPr/>
        </p:nvSpPr>
        <p:spPr>
          <a:xfrm>
            <a:off x="1954202" y="4801325"/>
            <a:ext cx="113669" cy="0"/>
          </a:xfrm>
          <a:prstGeom prst="line">
            <a:avLst/>
          </a:prstGeom>
          <a:noFill/>
          <a:ln w="31750">
            <a:solidFill>
              <a:srgbClr val="151515"/>
            </a:solidFill>
          </a:ln>
        </p:spPr>
        <p:txBody>
          <a:bodyPr/>
          <a:lstStyle/>
          <a:p>
            <a:endParaRPr sz="1400"/>
          </a:p>
        </p:txBody>
      </p:sp>
      <p:sp>
        <p:nvSpPr>
          <p:cNvPr id="177" name="Line 31">
            <a:extLst>
              <a:ext uri="{FF2B5EF4-FFF2-40B4-BE49-F238E27FC236}">
                <a16:creationId xmlns:a16="http://schemas.microsoft.com/office/drawing/2014/main" id="{3043E37F-9417-8764-E5EA-AF820FDA28E6}"/>
              </a:ext>
            </a:extLst>
          </p:cNvPr>
          <p:cNvSpPr>
            <a:spLocks noGrp="1"/>
          </p:cNvSpPr>
          <p:nvPr/>
        </p:nvSpPr>
        <p:spPr>
          <a:xfrm>
            <a:off x="4057070" y="4801325"/>
            <a:ext cx="94724" cy="0"/>
          </a:xfrm>
          <a:prstGeom prst="line">
            <a:avLst/>
          </a:prstGeom>
          <a:noFill/>
          <a:ln w="31750">
            <a:solidFill>
              <a:srgbClr val="151515"/>
            </a:solidFill>
          </a:ln>
        </p:spPr>
        <p:txBody>
          <a:bodyPr/>
          <a:lstStyle/>
          <a:p>
            <a:endParaRPr sz="1400"/>
          </a:p>
        </p:txBody>
      </p:sp>
      <p:sp>
        <p:nvSpPr>
          <p:cNvPr id="178" name="Line 32">
            <a:extLst>
              <a:ext uri="{FF2B5EF4-FFF2-40B4-BE49-F238E27FC236}">
                <a16:creationId xmlns:a16="http://schemas.microsoft.com/office/drawing/2014/main" id="{3C6038EC-D613-81CF-F12F-7CCFBE218679}"/>
              </a:ext>
            </a:extLst>
          </p:cNvPr>
          <p:cNvSpPr>
            <a:spLocks noGrp="1"/>
          </p:cNvSpPr>
          <p:nvPr/>
        </p:nvSpPr>
        <p:spPr>
          <a:xfrm>
            <a:off x="1954202" y="5369668"/>
            <a:ext cx="113669" cy="0"/>
          </a:xfrm>
          <a:prstGeom prst="line">
            <a:avLst/>
          </a:prstGeom>
          <a:noFill/>
          <a:ln w="31750">
            <a:solidFill>
              <a:srgbClr val="151515"/>
            </a:solidFill>
          </a:ln>
        </p:spPr>
        <p:txBody>
          <a:bodyPr/>
          <a:lstStyle/>
          <a:p>
            <a:endParaRPr sz="1400"/>
          </a:p>
        </p:txBody>
      </p:sp>
      <p:sp>
        <p:nvSpPr>
          <p:cNvPr id="179" name="Line 33">
            <a:extLst>
              <a:ext uri="{FF2B5EF4-FFF2-40B4-BE49-F238E27FC236}">
                <a16:creationId xmlns:a16="http://schemas.microsoft.com/office/drawing/2014/main" id="{EAB45431-5EFD-D60F-46EF-15FA93FDCDE3}"/>
              </a:ext>
            </a:extLst>
          </p:cNvPr>
          <p:cNvSpPr>
            <a:spLocks noGrp="1"/>
          </p:cNvSpPr>
          <p:nvPr/>
        </p:nvSpPr>
        <p:spPr>
          <a:xfrm>
            <a:off x="4057070" y="5369668"/>
            <a:ext cx="94724" cy="0"/>
          </a:xfrm>
          <a:prstGeom prst="line">
            <a:avLst/>
          </a:prstGeom>
          <a:noFill/>
          <a:ln w="31750">
            <a:solidFill>
              <a:srgbClr val="151515"/>
            </a:solidFill>
          </a:ln>
        </p:spPr>
        <p:txBody>
          <a:bodyPr/>
          <a:lstStyle/>
          <a:p>
            <a:endParaRPr sz="1400"/>
          </a:p>
        </p:txBody>
      </p:sp>
      <p:sp>
        <p:nvSpPr>
          <p:cNvPr id="180" name="Polygon 34">
            <a:extLst>
              <a:ext uri="{FF2B5EF4-FFF2-40B4-BE49-F238E27FC236}">
                <a16:creationId xmlns:a16="http://schemas.microsoft.com/office/drawing/2014/main" id="{5F7E250E-A0F8-3F3D-46F0-2DE38D8DC1EB}"/>
              </a:ext>
            </a:extLst>
          </p:cNvPr>
          <p:cNvSpPr>
            <a:spLocks noGrp="1"/>
          </p:cNvSpPr>
          <p:nvPr/>
        </p:nvSpPr>
        <p:spPr>
          <a:xfrm>
            <a:off x="1707920" y="3626751"/>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181" name="Polygon 37">
            <a:extLst>
              <a:ext uri="{FF2B5EF4-FFF2-40B4-BE49-F238E27FC236}">
                <a16:creationId xmlns:a16="http://schemas.microsoft.com/office/drawing/2014/main" id="{97422600-E94C-09EE-E286-A3F87E8F123F}"/>
              </a:ext>
            </a:extLst>
          </p:cNvPr>
          <p:cNvSpPr>
            <a:spLocks noGrp="1"/>
          </p:cNvSpPr>
          <p:nvPr/>
        </p:nvSpPr>
        <p:spPr>
          <a:xfrm>
            <a:off x="1979462" y="4195093"/>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182" name="Polygon 39">
            <a:extLst>
              <a:ext uri="{FF2B5EF4-FFF2-40B4-BE49-F238E27FC236}">
                <a16:creationId xmlns:a16="http://schemas.microsoft.com/office/drawing/2014/main" id="{FF7459ED-A2F5-948D-4316-CF9613253401}"/>
              </a:ext>
            </a:extLst>
          </p:cNvPr>
          <p:cNvSpPr>
            <a:spLocks noGrp="1"/>
          </p:cNvSpPr>
          <p:nvPr/>
        </p:nvSpPr>
        <p:spPr>
          <a:xfrm>
            <a:off x="1979462" y="4763436"/>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183" name="Polygon 41">
            <a:extLst>
              <a:ext uri="{FF2B5EF4-FFF2-40B4-BE49-F238E27FC236}">
                <a16:creationId xmlns:a16="http://schemas.microsoft.com/office/drawing/2014/main" id="{24B953C3-18D1-ED0E-AC7B-C306C1BDFE02}"/>
              </a:ext>
            </a:extLst>
          </p:cNvPr>
          <p:cNvSpPr>
            <a:spLocks noGrp="1"/>
          </p:cNvSpPr>
          <p:nvPr/>
        </p:nvSpPr>
        <p:spPr>
          <a:xfrm>
            <a:off x="1979462" y="5331778"/>
            <a:ext cx="88409" cy="75779"/>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400"/>
          </a:p>
        </p:txBody>
      </p:sp>
      <p:sp>
        <p:nvSpPr>
          <p:cNvPr id="184" name="Ellipse 72">
            <a:extLst>
              <a:ext uri="{FF2B5EF4-FFF2-40B4-BE49-F238E27FC236}">
                <a16:creationId xmlns:a16="http://schemas.microsoft.com/office/drawing/2014/main" id="{7FDE180A-EE49-E8B4-F66D-2AFD34B55E1E}"/>
              </a:ext>
            </a:extLst>
          </p:cNvPr>
          <p:cNvSpPr>
            <a:spLocks noGrp="1"/>
          </p:cNvSpPr>
          <p:nvPr/>
        </p:nvSpPr>
        <p:spPr>
          <a:xfrm>
            <a:off x="141821" y="3525712"/>
            <a:ext cx="277856" cy="277856"/>
          </a:xfrm>
          <a:prstGeom prst="ellipse">
            <a:avLst/>
          </a:prstGeom>
          <a:noFill/>
          <a:ln w="12700">
            <a:solidFill>
              <a:srgbClr val="174EA6"/>
            </a:solidFill>
          </a:ln>
        </p:spPr>
        <p:txBody>
          <a:bodyPr/>
          <a:lstStyle/>
          <a:p>
            <a:endParaRPr sz="1400"/>
          </a:p>
        </p:txBody>
      </p:sp>
      <p:sp>
        <p:nvSpPr>
          <p:cNvPr id="185" name="Ellipse 73">
            <a:extLst>
              <a:ext uri="{FF2B5EF4-FFF2-40B4-BE49-F238E27FC236}">
                <a16:creationId xmlns:a16="http://schemas.microsoft.com/office/drawing/2014/main" id="{DD9DC277-4F32-7CA0-1800-8E0008A85D5C}"/>
              </a:ext>
            </a:extLst>
          </p:cNvPr>
          <p:cNvSpPr>
            <a:spLocks noGrp="1"/>
          </p:cNvSpPr>
          <p:nvPr/>
        </p:nvSpPr>
        <p:spPr>
          <a:xfrm>
            <a:off x="141821" y="4094055"/>
            <a:ext cx="277856" cy="277856"/>
          </a:xfrm>
          <a:prstGeom prst="ellipse">
            <a:avLst/>
          </a:prstGeom>
          <a:noFill/>
          <a:ln w="12700">
            <a:solidFill>
              <a:srgbClr val="238443"/>
            </a:solidFill>
          </a:ln>
        </p:spPr>
        <p:txBody>
          <a:bodyPr/>
          <a:lstStyle/>
          <a:p>
            <a:endParaRPr sz="1400"/>
          </a:p>
        </p:txBody>
      </p:sp>
      <p:sp>
        <p:nvSpPr>
          <p:cNvPr id="186" name="Ellipse 74">
            <a:extLst>
              <a:ext uri="{FF2B5EF4-FFF2-40B4-BE49-F238E27FC236}">
                <a16:creationId xmlns:a16="http://schemas.microsoft.com/office/drawing/2014/main" id="{49403F9F-939F-A457-8880-FD4BBC744631}"/>
              </a:ext>
            </a:extLst>
          </p:cNvPr>
          <p:cNvSpPr>
            <a:spLocks noGrp="1"/>
          </p:cNvSpPr>
          <p:nvPr/>
        </p:nvSpPr>
        <p:spPr>
          <a:xfrm>
            <a:off x="141821" y="4662397"/>
            <a:ext cx="277856" cy="277856"/>
          </a:xfrm>
          <a:prstGeom prst="ellipse">
            <a:avLst/>
          </a:prstGeom>
          <a:noFill/>
          <a:ln w="12700">
            <a:solidFill>
              <a:srgbClr val="E87518"/>
            </a:solidFill>
          </a:ln>
        </p:spPr>
        <p:txBody>
          <a:bodyPr/>
          <a:lstStyle/>
          <a:p>
            <a:endParaRPr sz="1400"/>
          </a:p>
        </p:txBody>
      </p:sp>
      <p:sp>
        <p:nvSpPr>
          <p:cNvPr id="187" name="Ellipse 75">
            <a:extLst>
              <a:ext uri="{FF2B5EF4-FFF2-40B4-BE49-F238E27FC236}">
                <a16:creationId xmlns:a16="http://schemas.microsoft.com/office/drawing/2014/main" id="{21AC76B5-C0F8-F3BA-BB23-B949485CE692}"/>
              </a:ext>
            </a:extLst>
          </p:cNvPr>
          <p:cNvSpPr>
            <a:spLocks noGrp="1"/>
          </p:cNvSpPr>
          <p:nvPr/>
        </p:nvSpPr>
        <p:spPr>
          <a:xfrm>
            <a:off x="141821" y="5230740"/>
            <a:ext cx="277856" cy="277856"/>
          </a:xfrm>
          <a:prstGeom prst="ellipse">
            <a:avLst/>
          </a:prstGeom>
          <a:noFill/>
          <a:ln w="12700">
            <a:solidFill>
              <a:srgbClr val="6B2CA3"/>
            </a:solidFill>
          </a:ln>
        </p:spPr>
        <p:txBody>
          <a:bodyPr/>
          <a:lstStyle/>
          <a:p>
            <a:endParaRPr sz="1400"/>
          </a:p>
        </p:txBody>
      </p:sp>
      <p:sp>
        <p:nvSpPr>
          <p:cNvPr id="188" name="TextBox 76">
            <a:extLst>
              <a:ext uri="{FF2B5EF4-FFF2-40B4-BE49-F238E27FC236}">
                <a16:creationId xmlns:a16="http://schemas.microsoft.com/office/drawing/2014/main" id="{76F59C98-AE43-B6F4-F230-6A1F328C94CC}"/>
              </a:ext>
            </a:extLst>
          </p:cNvPr>
          <p:cNvSpPr>
            <a:spLocks noGrp="1"/>
          </p:cNvSpPr>
          <p:nvPr/>
        </p:nvSpPr>
        <p:spPr>
          <a:xfrm>
            <a:off x="141821" y="3588861"/>
            <a:ext cx="277856" cy="176818"/>
          </a:xfrm>
          <a:prstGeom prst="rect">
            <a:avLst/>
          </a:prstGeom>
          <a:noFill/>
          <a:ln>
            <a:noFill/>
          </a:ln>
        </p:spPr>
        <p:txBody>
          <a:bodyPr wrap="none" lIns="0" tIns="0" rIns="0" bIns="0" anchor="ctr">
            <a:noAutofit/>
          </a:bodyPr>
          <a:lstStyle/>
          <a:p>
            <a:pPr algn="ctr">
              <a:buNone/>
            </a:pPr>
            <a:r>
              <a:rPr sz="1050" b="1">
                <a:latin typeface="Arial"/>
                <a:ea typeface="Arial"/>
                <a:cs typeface="Arial"/>
              </a:rPr>
              <a:t>1</a:t>
            </a:r>
            <a:endParaRPr sz="1050"/>
          </a:p>
        </p:txBody>
      </p:sp>
      <p:sp>
        <p:nvSpPr>
          <p:cNvPr id="189" name="TextBox 77">
            <a:extLst>
              <a:ext uri="{FF2B5EF4-FFF2-40B4-BE49-F238E27FC236}">
                <a16:creationId xmlns:a16="http://schemas.microsoft.com/office/drawing/2014/main" id="{68755051-D1D1-BFC6-2EBD-E971E8A30B98}"/>
              </a:ext>
            </a:extLst>
          </p:cNvPr>
          <p:cNvSpPr>
            <a:spLocks noGrp="1"/>
          </p:cNvSpPr>
          <p:nvPr/>
        </p:nvSpPr>
        <p:spPr>
          <a:xfrm>
            <a:off x="141821" y="4157204"/>
            <a:ext cx="277856" cy="176818"/>
          </a:xfrm>
          <a:prstGeom prst="rect">
            <a:avLst/>
          </a:prstGeom>
          <a:noFill/>
          <a:ln>
            <a:noFill/>
          </a:ln>
        </p:spPr>
        <p:txBody>
          <a:bodyPr wrap="none" lIns="0" tIns="0" rIns="0" bIns="0" anchor="ctr">
            <a:noAutofit/>
          </a:bodyPr>
          <a:lstStyle/>
          <a:p>
            <a:pPr algn="ctr">
              <a:buNone/>
            </a:pPr>
            <a:r>
              <a:rPr sz="1050" b="1">
                <a:latin typeface="Arial"/>
                <a:ea typeface="Arial"/>
                <a:cs typeface="Arial"/>
              </a:rPr>
              <a:t>2</a:t>
            </a:r>
            <a:endParaRPr sz="1050"/>
          </a:p>
        </p:txBody>
      </p:sp>
      <p:sp>
        <p:nvSpPr>
          <p:cNvPr id="190" name="TextBox 78">
            <a:extLst>
              <a:ext uri="{FF2B5EF4-FFF2-40B4-BE49-F238E27FC236}">
                <a16:creationId xmlns:a16="http://schemas.microsoft.com/office/drawing/2014/main" id="{26AD6CF8-08FD-AAD1-B273-7B6363F2E22E}"/>
              </a:ext>
            </a:extLst>
          </p:cNvPr>
          <p:cNvSpPr>
            <a:spLocks noGrp="1"/>
          </p:cNvSpPr>
          <p:nvPr/>
        </p:nvSpPr>
        <p:spPr>
          <a:xfrm>
            <a:off x="141821" y="4725546"/>
            <a:ext cx="277856" cy="176818"/>
          </a:xfrm>
          <a:prstGeom prst="rect">
            <a:avLst/>
          </a:prstGeom>
          <a:noFill/>
          <a:ln>
            <a:noFill/>
          </a:ln>
        </p:spPr>
        <p:txBody>
          <a:bodyPr wrap="none" lIns="0" tIns="0" rIns="0" bIns="0" anchor="ctr">
            <a:noAutofit/>
          </a:bodyPr>
          <a:lstStyle/>
          <a:p>
            <a:pPr algn="ctr">
              <a:buNone/>
            </a:pPr>
            <a:r>
              <a:rPr sz="1050" b="1">
                <a:latin typeface="Arial"/>
                <a:ea typeface="Arial"/>
                <a:cs typeface="Arial"/>
              </a:rPr>
              <a:t>3</a:t>
            </a:r>
            <a:endParaRPr sz="1050"/>
          </a:p>
        </p:txBody>
      </p:sp>
      <p:sp>
        <p:nvSpPr>
          <p:cNvPr id="191" name="TextBox 79">
            <a:extLst>
              <a:ext uri="{FF2B5EF4-FFF2-40B4-BE49-F238E27FC236}">
                <a16:creationId xmlns:a16="http://schemas.microsoft.com/office/drawing/2014/main" id="{108D2EA0-35FF-9A25-ADFF-B2EAAAC4F4AE}"/>
              </a:ext>
            </a:extLst>
          </p:cNvPr>
          <p:cNvSpPr>
            <a:spLocks noGrp="1"/>
          </p:cNvSpPr>
          <p:nvPr/>
        </p:nvSpPr>
        <p:spPr>
          <a:xfrm>
            <a:off x="141821" y="5293889"/>
            <a:ext cx="277856" cy="176818"/>
          </a:xfrm>
          <a:prstGeom prst="rect">
            <a:avLst/>
          </a:prstGeom>
          <a:noFill/>
          <a:ln>
            <a:noFill/>
          </a:ln>
        </p:spPr>
        <p:txBody>
          <a:bodyPr wrap="none" lIns="0" tIns="0" rIns="0" bIns="0" anchor="ctr">
            <a:noAutofit/>
          </a:bodyPr>
          <a:lstStyle/>
          <a:p>
            <a:pPr algn="ctr">
              <a:buNone/>
            </a:pPr>
            <a:r>
              <a:rPr sz="1050" b="1">
                <a:latin typeface="Arial"/>
                <a:ea typeface="Arial"/>
                <a:cs typeface="Arial"/>
              </a:rPr>
              <a:t>4</a:t>
            </a:r>
            <a:endParaRPr sz="1050"/>
          </a:p>
        </p:txBody>
      </p:sp>
      <p:sp>
        <p:nvSpPr>
          <p:cNvPr id="192" name="TextBox 94">
            <a:extLst>
              <a:ext uri="{FF2B5EF4-FFF2-40B4-BE49-F238E27FC236}">
                <a16:creationId xmlns:a16="http://schemas.microsoft.com/office/drawing/2014/main" id="{0795D25E-9255-E82D-7014-6CF3B1452CA0}"/>
              </a:ext>
            </a:extLst>
          </p:cNvPr>
          <p:cNvSpPr>
            <a:spLocks noGrp="1"/>
          </p:cNvSpPr>
          <p:nvPr/>
        </p:nvSpPr>
        <p:spPr>
          <a:xfrm>
            <a:off x="571235" y="3569917"/>
            <a:ext cx="109879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Frontier = {0}</a:t>
            </a:r>
            <a:endParaRPr sz="900"/>
          </a:p>
        </p:txBody>
      </p:sp>
      <p:sp>
        <p:nvSpPr>
          <p:cNvPr id="193" name="TextBox 95">
            <a:extLst>
              <a:ext uri="{FF2B5EF4-FFF2-40B4-BE49-F238E27FC236}">
                <a16:creationId xmlns:a16="http://schemas.microsoft.com/office/drawing/2014/main" id="{BF922E52-F00F-4401-7BCF-3D08756A4B27}"/>
              </a:ext>
            </a:extLst>
          </p:cNvPr>
          <p:cNvSpPr>
            <a:spLocks noGrp="1"/>
          </p:cNvSpPr>
          <p:nvPr/>
        </p:nvSpPr>
        <p:spPr>
          <a:xfrm>
            <a:off x="1897368" y="3569917"/>
            <a:ext cx="2140757" cy="183133"/>
          </a:xfrm>
          <a:prstGeom prst="rect">
            <a:avLst/>
          </a:prstGeom>
          <a:noFill/>
          <a:ln>
            <a:noFill/>
          </a:ln>
        </p:spPr>
        <p:txBody>
          <a:bodyPr wrap="none" lIns="0" tIns="0" rIns="0" bIns="0" anchor="ctr">
            <a:noAutofit/>
          </a:bodyPr>
          <a:lstStyle/>
          <a:p>
            <a:pPr algn="ctr">
              <a:buNone/>
            </a:pPr>
            <a:r>
              <a:rPr sz="800" b="1">
                <a:latin typeface="Arial"/>
                <a:ea typeface="Arial"/>
                <a:cs typeface="Arial"/>
              </a:rPr>
              <a:t>Take all terminal nodes of arcs on the frontier</a:t>
            </a:r>
            <a:endParaRPr sz="800"/>
          </a:p>
        </p:txBody>
      </p:sp>
      <p:sp>
        <p:nvSpPr>
          <p:cNvPr id="194" name="TextBox 96">
            <a:extLst>
              <a:ext uri="{FF2B5EF4-FFF2-40B4-BE49-F238E27FC236}">
                <a16:creationId xmlns:a16="http://schemas.microsoft.com/office/drawing/2014/main" id="{DBBE4A54-E140-AB78-7361-7D49E5374938}"/>
              </a:ext>
            </a:extLst>
          </p:cNvPr>
          <p:cNvSpPr>
            <a:spLocks noGrp="1"/>
          </p:cNvSpPr>
          <p:nvPr/>
        </p:nvSpPr>
        <p:spPr>
          <a:xfrm>
            <a:off x="4252832" y="3569917"/>
            <a:ext cx="71358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(0,2), (0,5)</a:t>
            </a:r>
            <a:endParaRPr sz="900"/>
          </a:p>
        </p:txBody>
      </p:sp>
      <p:sp>
        <p:nvSpPr>
          <p:cNvPr id="195" name="TextBox 97">
            <a:extLst>
              <a:ext uri="{FF2B5EF4-FFF2-40B4-BE49-F238E27FC236}">
                <a16:creationId xmlns:a16="http://schemas.microsoft.com/office/drawing/2014/main" id="{93E04331-1061-77A8-B529-4E465E52C75A}"/>
              </a:ext>
            </a:extLst>
          </p:cNvPr>
          <p:cNvSpPr>
            <a:spLocks noGrp="1"/>
          </p:cNvSpPr>
          <p:nvPr/>
        </p:nvSpPr>
        <p:spPr>
          <a:xfrm>
            <a:off x="5149551" y="3569917"/>
            <a:ext cx="599917"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Group 0</a:t>
            </a:r>
            <a:endParaRPr sz="900"/>
          </a:p>
        </p:txBody>
      </p:sp>
      <p:sp>
        <p:nvSpPr>
          <p:cNvPr id="196" name="TextBox 98">
            <a:extLst>
              <a:ext uri="{FF2B5EF4-FFF2-40B4-BE49-F238E27FC236}">
                <a16:creationId xmlns:a16="http://schemas.microsoft.com/office/drawing/2014/main" id="{508F3ADC-A342-3B58-D153-2CD6F1C1234C}"/>
              </a:ext>
            </a:extLst>
          </p:cNvPr>
          <p:cNvSpPr>
            <a:spLocks noGrp="1"/>
          </p:cNvSpPr>
          <p:nvPr/>
        </p:nvSpPr>
        <p:spPr>
          <a:xfrm>
            <a:off x="571236" y="4138259"/>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{2,5}</a:t>
            </a:r>
            <a:endParaRPr sz="900"/>
          </a:p>
        </p:txBody>
      </p:sp>
      <p:sp>
        <p:nvSpPr>
          <p:cNvPr id="197" name="TextBox 99">
            <a:extLst>
              <a:ext uri="{FF2B5EF4-FFF2-40B4-BE49-F238E27FC236}">
                <a16:creationId xmlns:a16="http://schemas.microsoft.com/office/drawing/2014/main" id="{BF7148BD-2EB8-E22C-D22F-191DF57DA971}"/>
              </a:ext>
            </a:extLst>
          </p:cNvPr>
          <p:cNvSpPr>
            <a:spLocks noGrp="1"/>
          </p:cNvSpPr>
          <p:nvPr/>
        </p:nvSpPr>
        <p:spPr>
          <a:xfrm>
            <a:off x="2168910" y="4138259"/>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(0,2), (5,6)</a:t>
            </a:r>
            <a:endParaRPr sz="900"/>
          </a:p>
        </p:txBody>
      </p:sp>
      <p:sp>
        <p:nvSpPr>
          <p:cNvPr id="198" name="TextBox 100">
            <a:extLst>
              <a:ext uri="{FF2B5EF4-FFF2-40B4-BE49-F238E27FC236}">
                <a16:creationId xmlns:a16="http://schemas.microsoft.com/office/drawing/2014/main" id="{0E5C2274-6C93-65D1-C3CF-7FB3CA90A68B}"/>
              </a:ext>
            </a:extLst>
          </p:cNvPr>
          <p:cNvSpPr>
            <a:spLocks noGrp="1"/>
          </p:cNvSpPr>
          <p:nvPr/>
        </p:nvSpPr>
        <p:spPr>
          <a:xfrm>
            <a:off x="4265462" y="4138259"/>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1</a:t>
            </a:r>
            <a:endParaRPr sz="1000"/>
          </a:p>
        </p:txBody>
      </p:sp>
      <p:sp>
        <p:nvSpPr>
          <p:cNvPr id="199" name="TextBox 101">
            <a:extLst>
              <a:ext uri="{FF2B5EF4-FFF2-40B4-BE49-F238E27FC236}">
                <a16:creationId xmlns:a16="http://schemas.microsoft.com/office/drawing/2014/main" id="{6CB7E984-15DE-0B1B-6F34-92DCB61A03DF}"/>
              </a:ext>
            </a:extLst>
          </p:cNvPr>
          <p:cNvSpPr>
            <a:spLocks noGrp="1"/>
          </p:cNvSpPr>
          <p:nvPr/>
        </p:nvSpPr>
        <p:spPr>
          <a:xfrm>
            <a:off x="571236" y="4706602"/>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{4}</a:t>
            </a:r>
            <a:endParaRPr sz="900"/>
          </a:p>
        </p:txBody>
      </p:sp>
      <p:sp>
        <p:nvSpPr>
          <p:cNvPr id="200" name="TextBox 102">
            <a:extLst>
              <a:ext uri="{FF2B5EF4-FFF2-40B4-BE49-F238E27FC236}">
                <a16:creationId xmlns:a16="http://schemas.microsoft.com/office/drawing/2014/main" id="{8A2561FB-6FEB-4CFE-1BE8-8C6E6E689962}"/>
              </a:ext>
            </a:extLst>
          </p:cNvPr>
          <p:cNvSpPr>
            <a:spLocks noGrp="1"/>
          </p:cNvSpPr>
          <p:nvPr/>
        </p:nvSpPr>
        <p:spPr>
          <a:xfrm>
            <a:off x="2168910" y="4706602"/>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(2,4)</a:t>
            </a:r>
            <a:endParaRPr sz="900"/>
          </a:p>
        </p:txBody>
      </p:sp>
      <p:sp>
        <p:nvSpPr>
          <p:cNvPr id="201" name="TextBox 103">
            <a:extLst>
              <a:ext uri="{FF2B5EF4-FFF2-40B4-BE49-F238E27FC236}">
                <a16:creationId xmlns:a16="http://schemas.microsoft.com/office/drawing/2014/main" id="{E0BA767C-C1C2-1CE7-39AF-E20D3C06CBD3}"/>
              </a:ext>
            </a:extLst>
          </p:cNvPr>
          <p:cNvSpPr>
            <a:spLocks noGrp="1"/>
          </p:cNvSpPr>
          <p:nvPr/>
        </p:nvSpPr>
        <p:spPr>
          <a:xfrm>
            <a:off x="4265462" y="4706602"/>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2</a:t>
            </a:r>
            <a:endParaRPr sz="1000"/>
          </a:p>
        </p:txBody>
      </p:sp>
      <p:sp>
        <p:nvSpPr>
          <p:cNvPr id="202" name="TextBox 104">
            <a:extLst>
              <a:ext uri="{FF2B5EF4-FFF2-40B4-BE49-F238E27FC236}">
                <a16:creationId xmlns:a16="http://schemas.microsoft.com/office/drawing/2014/main" id="{B3410622-E78C-5FE4-09F5-97B2642CE581}"/>
              </a:ext>
            </a:extLst>
          </p:cNvPr>
          <p:cNvSpPr>
            <a:spLocks noGrp="1"/>
          </p:cNvSpPr>
          <p:nvPr/>
        </p:nvSpPr>
        <p:spPr>
          <a:xfrm>
            <a:off x="571236" y="5274944"/>
            <a:ext cx="1288243"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New frontier = {5}</a:t>
            </a:r>
            <a:endParaRPr sz="900"/>
          </a:p>
        </p:txBody>
      </p:sp>
      <p:sp>
        <p:nvSpPr>
          <p:cNvPr id="203" name="TextBox 105">
            <a:extLst>
              <a:ext uri="{FF2B5EF4-FFF2-40B4-BE49-F238E27FC236}">
                <a16:creationId xmlns:a16="http://schemas.microsoft.com/office/drawing/2014/main" id="{DBD801FE-323C-5974-3A88-5F835569954B}"/>
              </a:ext>
            </a:extLst>
          </p:cNvPr>
          <p:cNvSpPr>
            <a:spLocks noGrp="1"/>
          </p:cNvSpPr>
          <p:nvPr/>
        </p:nvSpPr>
        <p:spPr>
          <a:xfrm>
            <a:off x="2168910" y="5274944"/>
            <a:ext cx="1793436" cy="183133"/>
          </a:xfrm>
          <a:prstGeom prst="rect">
            <a:avLst/>
          </a:prstGeom>
          <a:noFill/>
          <a:ln>
            <a:noFill/>
          </a:ln>
        </p:spPr>
        <p:txBody>
          <a:bodyPr wrap="none" lIns="0" tIns="0" rIns="0" bIns="0" anchor="ctr">
            <a:noAutofit/>
          </a:bodyPr>
          <a:lstStyle/>
          <a:p>
            <a:pPr algn="ctr">
              <a:buNone/>
            </a:pPr>
            <a:r>
              <a:rPr sz="900" b="1">
                <a:latin typeface="Arial"/>
                <a:ea typeface="Arial"/>
                <a:cs typeface="Arial"/>
              </a:rPr>
              <a:t>(5,6)</a:t>
            </a:r>
            <a:endParaRPr sz="900"/>
          </a:p>
        </p:txBody>
      </p:sp>
      <p:sp>
        <p:nvSpPr>
          <p:cNvPr id="204" name="TextBox 106">
            <a:extLst>
              <a:ext uri="{FF2B5EF4-FFF2-40B4-BE49-F238E27FC236}">
                <a16:creationId xmlns:a16="http://schemas.microsoft.com/office/drawing/2014/main" id="{EDFDEC9E-6DDB-E04B-73B2-10AE24B8B814}"/>
              </a:ext>
            </a:extLst>
          </p:cNvPr>
          <p:cNvSpPr>
            <a:spLocks noGrp="1"/>
          </p:cNvSpPr>
          <p:nvPr/>
        </p:nvSpPr>
        <p:spPr>
          <a:xfrm>
            <a:off x="4265462" y="5274944"/>
            <a:ext cx="1452431" cy="183133"/>
          </a:xfrm>
          <a:prstGeom prst="rect">
            <a:avLst/>
          </a:prstGeom>
          <a:noFill/>
          <a:ln>
            <a:noFill/>
          </a:ln>
        </p:spPr>
        <p:txBody>
          <a:bodyPr wrap="none" lIns="0" tIns="0" rIns="0" bIns="0" anchor="ctr">
            <a:noAutofit/>
          </a:bodyPr>
          <a:lstStyle/>
          <a:p>
            <a:pPr algn="ctr">
              <a:buNone/>
            </a:pPr>
            <a:r>
              <a:rPr sz="1000" b="1">
                <a:latin typeface="Arial"/>
                <a:ea typeface="Arial"/>
                <a:cs typeface="Arial"/>
              </a:rPr>
              <a:t>Group 3</a:t>
            </a:r>
            <a:endParaRPr sz="1000"/>
          </a:p>
        </p:txBody>
      </p:sp>
      <p:sp>
        <p:nvSpPr>
          <p:cNvPr id="205" name="Right Arrow 204">
            <a:extLst>
              <a:ext uri="{FF2B5EF4-FFF2-40B4-BE49-F238E27FC236}">
                <a16:creationId xmlns:a16="http://schemas.microsoft.com/office/drawing/2014/main" id="{8D011206-C1A4-7E4A-5AC9-C9C582CC5944}"/>
              </a:ext>
            </a:extLst>
          </p:cNvPr>
          <p:cNvSpPr>
            <a:spLocks noGrp="1"/>
          </p:cNvSpPr>
          <p:nvPr/>
        </p:nvSpPr>
        <p:spPr>
          <a:xfrm>
            <a:off x="5865945" y="4176356"/>
            <a:ext cx="482293" cy="403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2400">
              <a:solidFill>
                <a:schemeClr val="tx1"/>
              </a:solidFill>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8680013-7344-E8F3-4FA2-B1F03A9EAF79}"/>
                  </a:ext>
                </a:extLst>
              </p14:cNvPr>
              <p14:cNvContentPartPr/>
              <p14:nvPr/>
            </p14:nvContentPartPr>
            <p14:xfrm>
              <a:off x="940320" y="997560"/>
              <a:ext cx="8320680" cy="3327120"/>
            </p14:xfrm>
          </p:contentPart>
        </mc:Choice>
        <mc:Fallback>
          <p:pic>
            <p:nvPicPr>
              <p:cNvPr id="3" name="Ink 2">
                <a:extLst>
                  <a:ext uri="{FF2B5EF4-FFF2-40B4-BE49-F238E27FC236}">
                    <a16:creationId xmlns:a16="http://schemas.microsoft.com/office/drawing/2014/main" id="{48680013-7344-E8F3-4FA2-B1F03A9EAF79}"/>
                  </a:ext>
                </a:extLst>
              </p:cNvPr>
              <p:cNvPicPr/>
              <p:nvPr/>
            </p:nvPicPr>
            <p:blipFill>
              <a:blip r:embed="rId4"/>
              <a:stretch>
                <a:fillRect/>
              </a:stretch>
            </p:blipFill>
            <p:spPr>
              <a:xfrm>
                <a:off x="930960" y="988200"/>
                <a:ext cx="8339400" cy="3345840"/>
              </a:xfrm>
              <a:prstGeom prst="rect">
                <a:avLst/>
              </a:prstGeom>
            </p:spPr>
          </p:pic>
        </mc:Fallback>
      </mc:AlternateContent>
    </p:spTree>
    <p:extLst>
      <p:ext uri="{BB962C8B-B14F-4D97-AF65-F5344CB8AC3E}">
        <p14:creationId xmlns:p14="http://schemas.microsoft.com/office/powerpoint/2010/main" val="117100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65EB95-D3B3-A7AD-59C0-56CEBCAB3D0E}"/>
              </a:ext>
            </a:extLst>
          </p:cNvPr>
          <p:cNvSpPr>
            <a:spLocks noGrp="1"/>
          </p:cNvSpPr>
          <p:nvPr/>
        </p:nvSpPr>
        <p:spPr>
          <a:xfrm>
            <a:off x="351596" y="207019"/>
            <a:ext cx="11069260" cy="646331"/>
          </a:xfrm>
          <a:prstGeom prst="rect">
            <a:avLst/>
          </a:prstGeom>
          <a:noFill/>
        </p:spPr>
        <p:txBody>
          <a:bodyPr wrap="square">
            <a:spAutoFit/>
          </a:bodyPr>
          <a:lstStyle/>
          <a:p>
            <a:r>
              <a:rPr lang="en-US" b="1" dirty="0"/>
              <a:t>MILP/CPLEX as One Solution Approach</a:t>
            </a:r>
            <a:r>
              <a:rPr b="1" dirty="0"/>
              <a:t>: </a:t>
            </a:r>
            <a:r>
              <a:rPr dirty="0"/>
              <a:t>Mixed-Integer Linear Programming (MILP/MIP) + CPLEX Solver, combined with a Rolling-Horizon Approach and Heuristic Variable Fixing.</a:t>
            </a:r>
          </a:p>
        </p:txBody>
      </p:sp>
      <p:sp>
        <p:nvSpPr>
          <p:cNvPr id="11" name="TextBox 10">
            <a:extLst>
              <a:ext uri="{FF2B5EF4-FFF2-40B4-BE49-F238E27FC236}">
                <a16:creationId xmlns:a16="http://schemas.microsoft.com/office/drawing/2014/main" id="{F8B3A17A-0018-74BE-0152-9999E8038E1C}"/>
              </a:ext>
            </a:extLst>
          </p:cNvPr>
          <p:cNvSpPr>
            <a:spLocks noGrp="1"/>
          </p:cNvSpPr>
          <p:nvPr/>
        </p:nvSpPr>
        <p:spPr>
          <a:xfrm>
            <a:off x="1888101" y="1180364"/>
            <a:ext cx="6654066" cy="307777"/>
          </a:xfrm>
          <a:prstGeom prst="rect">
            <a:avLst/>
          </a:prstGeom>
          <a:noFill/>
        </p:spPr>
        <p:txBody>
          <a:bodyPr wrap="none">
            <a:spAutoFit/>
          </a:bodyPr>
          <a:lstStyle/>
          <a:p>
            <a:pPr algn="l">
              <a:buNone/>
            </a:pPr>
            <a:r>
              <a:rPr sz="1400" b="1">
                <a:solidFill>
                  <a:srgbClr val="FFFFFF"/>
                </a:solidFill>
                <a:latin typeface="Arial"/>
                <a:ea typeface="Arial"/>
                <a:cs typeface="Arial"/>
              </a:rPr>
              <a:t>MILP/MIP + CPLEX Solver with Rolling Horizon and Heuristic Variable Fixing</a:t>
            </a:r>
          </a:p>
        </p:txBody>
      </p:sp>
      <p:sp>
        <p:nvSpPr>
          <p:cNvPr id="13" name="Rounded Rectangle 12">
            <a:extLst>
              <a:ext uri="{FF2B5EF4-FFF2-40B4-BE49-F238E27FC236}">
                <a16:creationId xmlns:a16="http://schemas.microsoft.com/office/drawing/2014/main" id="{055F216A-37C2-EF02-81E2-F881B39E68D2}"/>
              </a:ext>
            </a:extLst>
          </p:cNvPr>
          <p:cNvSpPr>
            <a:spLocks noGrp="1"/>
          </p:cNvSpPr>
          <p:nvPr/>
        </p:nvSpPr>
        <p:spPr>
          <a:xfrm>
            <a:off x="1084731" y="992459"/>
            <a:ext cx="1982551" cy="3203638"/>
          </a:xfrm>
          <a:prstGeom prst="roundRect">
            <a:avLst>
              <a:gd name="adj" fmla="val 3728"/>
            </a:avLst>
          </a:prstGeom>
          <a:noFill/>
          <a:ln w="6072">
            <a:solidFill>
              <a:srgbClr val="5C96EA"/>
            </a:solidFill>
            <a:prstDash val="solid"/>
          </a:ln>
        </p:spPr>
        <p:txBody>
          <a:bodyPr/>
          <a:lstStyle/>
          <a:p>
            <a:endParaRPr sz="1050"/>
          </a:p>
        </p:txBody>
      </p:sp>
      <p:sp>
        <p:nvSpPr>
          <p:cNvPr id="14" name="TextBox 13">
            <a:extLst>
              <a:ext uri="{FF2B5EF4-FFF2-40B4-BE49-F238E27FC236}">
                <a16:creationId xmlns:a16="http://schemas.microsoft.com/office/drawing/2014/main" id="{8614EAD3-B979-8DC5-48E1-C7F50373123F}"/>
              </a:ext>
            </a:extLst>
          </p:cNvPr>
          <p:cNvSpPr>
            <a:spLocks noGrp="1"/>
          </p:cNvSpPr>
          <p:nvPr/>
        </p:nvSpPr>
        <p:spPr>
          <a:xfrm>
            <a:off x="1704762" y="1011622"/>
            <a:ext cx="713130" cy="270363"/>
          </a:xfrm>
          <a:prstGeom prst="rect">
            <a:avLst/>
          </a:prstGeom>
          <a:noFill/>
        </p:spPr>
        <p:txBody>
          <a:bodyPr wrap="none">
            <a:spAutoFit/>
          </a:bodyPr>
          <a:lstStyle/>
          <a:p>
            <a:pPr algn="l">
              <a:buNone/>
            </a:pPr>
            <a:r>
              <a:rPr sz="1000" b="1">
                <a:solidFill>
                  <a:srgbClr val="123B78"/>
                </a:solidFill>
                <a:latin typeface="Arial"/>
                <a:ea typeface="Arial"/>
                <a:cs typeface="Arial"/>
              </a:rPr>
              <a:t>INPUTS</a:t>
            </a:r>
          </a:p>
        </p:txBody>
      </p:sp>
      <p:sp>
        <p:nvSpPr>
          <p:cNvPr id="16" name="Freeform 15">
            <a:extLst>
              <a:ext uri="{FF2B5EF4-FFF2-40B4-BE49-F238E27FC236}">
                <a16:creationId xmlns:a16="http://schemas.microsoft.com/office/drawing/2014/main" id="{5C7451FB-202E-F856-C139-151C363A25D3}"/>
              </a:ext>
            </a:extLst>
          </p:cNvPr>
          <p:cNvSpPr>
            <a:spLocks noGrp="1"/>
          </p:cNvSpPr>
          <p:nvPr/>
        </p:nvSpPr>
        <p:spPr>
          <a:xfrm>
            <a:off x="1281893" y="1796235"/>
            <a:ext cx="288980" cy="301597"/>
          </a:xfrm>
          <a:custGeom>
            <a:avLst/>
            <a:gdLst>
              <a:gd name="csX0" fmla="*/ 43 w 217586"/>
              <a:gd name="csY0" fmla="*/ 227857 h 227707"/>
              <a:gd name="csX1" fmla="*/ 25344 w 217586"/>
              <a:gd name="csY1" fmla="*/ 30511 h 227707"/>
              <a:gd name="csX2" fmla="*/ 60765 w 217586"/>
              <a:gd name="csY2" fmla="*/ 150 h 227707"/>
              <a:gd name="csX3" fmla="*/ 156908 w 217586"/>
              <a:gd name="csY3" fmla="*/ 150 h 227707"/>
              <a:gd name="csX4" fmla="*/ 192329 w 217586"/>
              <a:gd name="csY4" fmla="*/ 30511 h 227707"/>
              <a:gd name="csX5" fmla="*/ 217630 w 217586"/>
              <a:gd name="csY5" fmla="*/ 227857 h 227707"/>
            </a:gdLst>
            <a:ahLst/>
            <a:cxnLst/>
            <a:rect l="l" t="t" r="r" b="b"/>
            <a:pathLst>
              <a:path w="217586" h="227707">
                <a:moveTo>
                  <a:pt x="43" y="227857"/>
                </a:moveTo>
                <a:lnTo>
                  <a:pt x="25344" y="30511"/>
                </a:lnTo>
                <a:cubicBezTo>
                  <a:pt x="28717" y="10270"/>
                  <a:pt x="40524" y="150"/>
                  <a:pt x="60765" y="150"/>
                </a:cubicBezTo>
                <a:lnTo>
                  <a:pt x="156908" y="150"/>
                </a:lnTo>
                <a:cubicBezTo>
                  <a:pt x="177148" y="150"/>
                  <a:pt x="188956" y="10270"/>
                  <a:pt x="192329" y="30511"/>
                </a:cubicBezTo>
                <a:lnTo>
                  <a:pt x="217630" y="227857"/>
                </a:lnTo>
                <a:close/>
              </a:path>
            </a:pathLst>
          </a:custGeom>
          <a:solidFill>
            <a:srgbClr val="153F7B"/>
          </a:solidFill>
          <a:ln w="25301">
            <a:solidFill>
              <a:srgbClr val="153F7B"/>
            </a:solidFill>
            <a:prstDash val="solid"/>
          </a:ln>
        </p:spPr>
        <p:txBody>
          <a:bodyPr/>
          <a:lstStyle/>
          <a:p>
            <a:endParaRPr sz="1050"/>
          </a:p>
        </p:txBody>
      </p:sp>
      <p:sp>
        <p:nvSpPr>
          <p:cNvPr id="17" name="Rounded Rectangle 16">
            <a:extLst>
              <a:ext uri="{FF2B5EF4-FFF2-40B4-BE49-F238E27FC236}">
                <a16:creationId xmlns:a16="http://schemas.microsoft.com/office/drawing/2014/main" id="{3BB87032-E69C-2474-64C2-2CB05AFCBA89}"/>
              </a:ext>
            </a:extLst>
          </p:cNvPr>
          <p:cNvSpPr>
            <a:spLocks noGrp="1"/>
          </p:cNvSpPr>
          <p:nvPr/>
        </p:nvSpPr>
        <p:spPr>
          <a:xfrm>
            <a:off x="1349098" y="1863256"/>
            <a:ext cx="181453" cy="127339"/>
          </a:xfrm>
          <a:prstGeom prst="roundRect">
            <a:avLst>
              <a:gd name="adj" fmla="val 10526"/>
            </a:avLst>
          </a:prstGeom>
          <a:solidFill>
            <a:srgbClr val="FFFFFF"/>
          </a:solidFill>
          <a:ln w="25301">
            <a:noFill/>
            <a:prstDash val="solid"/>
          </a:ln>
        </p:spPr>
        <p:txBody>
          <a:bodyPr/>
          <a:lstStyle/>
          <a:p>
            <a:endParaRPr sz="1050"/>
          </a:p>
        </p:txBody>
      </p:sp>
      <p:sp>
        <p:nvSpPr>
          <p:cNvPr id="18" name="Oval 17">
            <a:extLst>
              <a:ext uri="{FF2B5EF4-FFF2-40B4-BE49-F238E27FC236}">
                <a16:creationId xmlns:a16="http://schemas.microsoft.com/office/drawing/2014/main" id="{35F28CCF-D6B6-1B25-01DA-2A1D4EF66FB4}"/>
              </a:ext>
            </a:extLst>
          </p:cNvPr>
          <p:cNvSpPr>
            <a:spLocks noGrp="1"/>
          </p:cNvSpPr>
          <p:nvPr/>
        </p:nvSpPr>
        <p:spPr>
          <a:xfrm>
            <a:off x="1315495" y="2017407"/>
            <a:ext cx="67204" cy="67020"/>
          </a:xfrm>
          <a:prstGeom prst="ellipse">
            <a:avLst/>
          </a:prstGeom>
          <a:solidFill>
            <a:srgbClr val="FFFFFF"/>
          </a:solidFill>
          <a:ln w="25301">
            <a:noFill/>
            <a:prstDash val="solid"/>
          </a:ln>
        </p:spPr>
        <p:txBody>
          <a:bodyPr/>
          <a:lstStyle/>
          <a:p>
            <a:endParaRPr sz="1050"/>
          </a:p>
        </p:txBody>
      </p:sp>
      <p:sp>
        <p:nvSpPr>
          <p:cNvPr id="19" name="Oval 18">
            <a:extLst>
              <a:ext uri="{FF2B5EF4-FFF2-40B4-BE49-F238E27FC236}">
                <a16:creationId xmlns:a16="http://schemas.microsoft.com/office/drawing/2014/main" id="{74C71930-7D91-5716-92CE-6D1CDDC59AB1}"/>
              </a:ext>
            </a:extLst>
          </p:cNvPr>
          <p:cNvSpPr>
            <a:spLocks noGrp="1"/>
          </p:cNvSpPr>
          <p:nvPr/>
        </p:nvSpPr>
        <p:spPr>
          <a:xfrm>
            <a:off x="1476788" y="2017407"/>
            <a:ext cx="67204" cy="67020"/>
          </a:xfrm>
          <a:prstGeom prst="ellipse">
            <a:avLst/>
          </a:prstGeom>
          <a:solidFill>
            <a:srgbClr val="FFFFFF"/>
          </a:solidFill>
          <a:ln w="25301">
            <a:noFill/>
            <a:prstDash val="solid"/>
          </a:ln>
        </p:spPr>
        <p:txBody>
          <a:bodyPr/>
          <a:lstStyle/>
          <a:p>
            <a:endParaRPr sz="1050"/>
          </a:p>
        </p:txBody>
      </p:sp>
      <p:sp>
        <p:nvSpPr>
          <p:cNvPr id="20" name="Freeform 19">
            <a:extLst>
              <a:ext uri="{FF2B5EF4-FFF2-40B4-BE49-F238E27FC236}">
                <a16:creationId xmlns:a16="http://schemas.microsoft.com/office/drawing/2014/main" id="{5E0FB684-5E86-1708-449F-6096F1861BBA}"/>
              </a:ext>
            </a:extLst>
          </p:cNvPr>
          <p:cNvSpPr>
            <a:spLocks noGrp="1"/>
          </p:cNvSpPr>
          <p:nvPr/>
        </p:nvSpPr>
        <p:spPr>
          <a:xfrm>
            <a:off x="1194526" y="2097833"/>
            <a:ext cx="463713" cy="127339"/>
          </a:xfrm>
          <a:custGeom>
            <a:avLst/>
            <a:gdLst>
              <a:gd name="csX0" fmla="*/ 40524 w 349150"/>
              <a:gd name="csY0" fmla="*/ 40631 h 96142"/>
              <a:gd name="csX1" fmla="*/ 308713 w 349150"/>
              <a:gd name="csY1" fmla="*/ 40631 h 96142"/>
              <a:gd name="csX2" fmla="*/ 10163 w 349150"/>
              <a:gd name="csY2" fmla="*/ 96293 h 96142"/>
              <a:gd name="csX3" fmla="*/ 339073 w 349150"/>
              <a:gd name="csY3" fmla="*/ 96293 h 96142"/>
              <a:gd name="csX4" fmla="*/ 75945 w 349150"/>
              <a:gd name="csY4" fmla="*/ 150 h 96142"/>
              <a:gd name="csX5" fmla="*/ 43 w 349150"/>
              <a:gd name="csY5" fmla="*/ 96293 h 96142"/>
              <a:gd name="csX6" fmla="*/ 273291 w 349150"/>
              <a:gd name="csY6" fmla="*/ 150 h 96142"/>
              <a:gd name="csX7" fmla="*/ 349194 w 349150"/>
              <a:gd name="csY7" fmla="*/ 96293 h 96142"/>
            </a:gdLst>
            <a:ahLst/>
            <a:cxnLst/>
            <a:rect l="l" t="t" r="r" b="b"/>
            <a:pathLst>
              <a:path w="349150" h="96142">
                <a:moveTo>
                  <a:pt x="40524" y="40631"/>
                </a:moveTo>
                <a:lnTo>
                  <a:pt x="308713" y="40631"/>
                </a:lnTo>
                <a:moveTo>
                  <a:pt x="10163" y="96293"/>
                </a:moveTo>
                <a:lnTo>
                  <a:pt x="339073" y="96293"/>
                </a:lnTo>
                <a:moveTo>
                  <a:pt x="75945" y="150"/>
                </a:moveTo>
                <a:lnTo>
                  <a:pt x="43" y="96293"/>
                </a:lnTo>
                <a:moveTo>
                  <a:pt x="273291" y="150"/>
                </a:moveTo>
                <a:lnTo>
                  <a:pt x="349194" y="96293"/>
                </a:lnTo>
              </a:path>
            </a:pathLst>
          </a:custGeom>
          <a:noFill/>
          <a:ln w="25301">
            <a:solidFill>
              <a:srgbClr val="153F7B"/>
            </a:solidFill>
            <a:prstDash val="solid"/>
          </a:ln>
        </p:spPr>
        <p:txBody>
          <a:bodyPr/>
          <a:lstStyle/>
          <a:p>
            <a:endParaRPr sz="1050"/>
          </a:p>
        </p:txBody>
      </p:sp>
      <p:sp>
        <p:nvSpPr>
          <p:cNvPr id="21" name="Freeform 20">
            <a:extLst>
              <a:ext uri="{FF2B5EF4-FFF2-40B4-BE49-F238E27FC236}">
                <a16:creationId xmlns:a16="http://schemas.microsoft.com/office/drawing/2014/main" id="{59E3F011-12F0-EE28-057D-2EFC148F3D30}"/>
              </a:ext>
            </a:extLst>
          </p:cNvPr>
          <p:cNvSpPr>
            <a:spLocks noGrp="1"/>
          </p:cNvSpPr>
          <p:nvPr/>
        </p:nvSpPr>
        <p:spPr>
          <a:xfrm>
            <a:off x="1389421" y="1749319"/>
            <a:ext cx="80644" cy="6701"/>
          </a:xfrm>
          <a:custGeom>
            <a:avLst/>
            <a:gdLst>
              <a:gd name="csX0" fmla="*/ 43 w 60721"/>
              <a:gd name="csY0" fmla="*/ 150 h 5060"/>
              <a:gd name="csX1" fmla="*/ 60765 w 60721"/>
              <a:gd name="csY1" fmla="*/ 150 h 5060"/>
            </a:gdLst>
            <a:ahLst/>
            <a:cxnLst/>
            <a:rect l="l" t="t" r="r" b="b"/>
            <a:pathLst>
              <a:path w="60721" h="5060">
                <a:moveTo>
                  <a:pt x="43" y="150"/>
                </a:moveTo>
                <a:lnTo>
                  <a:pt x="60765" y="150"/>
                </a:lnTo>
              </a:path>
            </a:pathLst>
          </a:custGeom>
          <a:noFill/>
          <a:ln w="25301">
            <a:solidFill>
              <a:srgbClr val="153F7B"/>
            </a:solidFill>
            <a:prstDash val="solid"/>
          </a:ln>
        </p:spPr>
        <p:txBody>
          <a:bodyPr/>
          <a:lstStyle/>
          <a:p>
            <a:endParaRPr sz="1050"/>
          </a:p>
        </p:txBody>
      </p:sp>
      <p:sp>
        <p:nvSpPr>
          <p:cNvPr id="23" name="TextBox 22">
            <a:extLst>
              <a:ext uri="{FF2B5EF4-FFF2-40B4-BE49-F238E27FC236}">
                <a16:creationId xmlns:a16="http://schemas.microsoft.com/office/drawing/2014/main" id="{A1054A59-603A-48FB-4651-0E2CB0975ABF}"/>
              </a:ext>
            </a:extLst>
          </p:cNvPr>
          <p:cNvSpPr>
            <a:spLocks noGrp="1"/>
          </p:cNvSpPr>
          <p:nvPr/>
        </p:nvSpPr>
        <p:spPr>
          <a:xfrm>
            <a:off x="1681489" y="1677728"/>
            <a:ext cx="1426116" cy="1047658"/>
          </a:xfrm>
          <a:prstGeom prst="rect">
            <a:avLst/>
          </a:prstGeom>
          <a:noFill/>
        </p:spPr>
        <p:txBody>
          <a:bodyPr wrap="square">
            <a:spAutoFit/>
          </a:bodyPr>
          <a:lstStyle/>
          <a:p>
            <a:r>
              <a:rPr sz="800" b="1">
                <a:solidFill>
                  <a:srgbClr val="123B78"/>
                </a:solidFill>
                <a:latin typeface="Arial"/>
                <a:ea typeface="Arial"/>
                <a:cs typeface="Arial"/>
              </a:rPr>
              <a:t>Train Data</a:t>
            </a:r>
            <a:endParaRPr sz="800" spc="0" baseline="0">
              <a:solidFill>
                <a:srgbClr val="000000"/>
              </a:solidFill>
              <a:latin typeface="Arial"/>
              <a:ea typeface="Arial"/>
              <a:cs typeface="Arial"/>
            </a:endParaRPr>
          </a:p>
          <a:p>
            <a:endParaRPr sz="800" spc="0" baseline="0">
              <a:solidFill>
                <a:srgbClr val="000000"/>
              </a:solidFill>
              <a:latin typeface="Arial"/>
              <a:ea typeface="Arial"/>
              <a:cs typeface="Arial"/>
            </a:endParaRPr>
          </a:p>
          <a:p>
            <a:r>
              <a:rPr sz="800">
                <a:solidFill>
                  <a:srgbClr val="000000"/>
                </a:solidFill>
                <a:latin typeface="Arial"/>
                <a:ea typeface="Arial"/>
                <a:cs typeface="Arial"/>
              </a:rPr>
              <a:t>IDs, type, entry time, length, hazardous, Scheduled Arrival (SA), Terminal Want Time (TWT),etc.</a:t>
            </a:r>
          </a:p>
        </p:txBody>
      </p:sp>
      <p:sp>
        <p:nvSpPr>
          <p:cNvPr id="26" name="Freeform 25">
            <a:extLst>
              <a:ext uri="{FF2B5EF4-FFF2-40B4-BE49-F238E27FC236}">
                <a16:creationId xmlns:a16="http://schemas.microsoft.com/office/drawing/2014/main" id="{BF35DF6B-4851-ED3A-BABA-CE554701E782}"/>
              </a:ext>
            </a:extLst>
          </p:cNvPr>
          <p:cNvSpPr>
            <a:spLocks noGrp="1"/>
          </p:cNvSpPr>
          <p:nvPr/>
        </p:nvSpPr>
        <p:spPr>
          <a:xfrm>
            <a:off x="1267930" y="3117936"/>
            <a:ext cx="423391" cy="449044"/>
          </a:xfrm>
          <a:custGeom>
            <a:avLst/>
            <a:gdLst>
              <a:gd name="csX0" fmla="*/ 50642 w 318789"/>
              <a:gd name="csY0" fmla="*/ 246 h 339030"/>
              <a:gd name="csX1" fmla="*/ 40 w 318789"/>
              <a:gd name="csY1" fmla="*/ 339276 h 339030"/>
              <a:gd name="csX2" fmla="*/ 268228 w 318789"/>
              <a:gd name="csY2" fmla="*/ 246 h 339030"/>
              <a:gd name="csX3" fmla="*/ 318830 w 318789"/>
              <a:gd name="csY3" fmla="*/ 339276 h 339030"/>
            </a:gdLst>
            <a:ahLst/>
            <a:cxnLst/>
            <a:rect l="l" t="t" r="r" b="b"/>
            <a:pathLst>
              <a:path w="318789" h="339030">
                <a:moveTo>
                  <a:pt x="50642" y="246"/>
                </a:moveTo>
                <a:lnTo>
                  <a:pt x="40" y="339276"/>
                </a:lnTo>
                <a:moveTo>
                  <a:pt x="268228" y="246"/>
                </a:moveTo>
                <a:lnTo>
                  <a:pt x="318830" y="339276"/>
                </a:lnTo>
              </a:path>
            </a:pathLst>
          </a:custGeom>
          <a:noFill/>
          <a:ln w="30361">
            <a:solidFill>
              <a:srgbClr val="353535"/>
            </a:solidFill>
            <a:prstDash val="solid"/>
          </a:ln>
        </p:spPr>
        <p:txBody>
          <a:bodyPr/>
          <a:lstStyle/>
          <a:p>
            <a:endParaRPr sz="1050"/>
          </a:p>
        </p:txBody>
      </p:sp>
      <p:sp>
        <p:nvSpPr>
          <p:cNvPr id="27" name="Freeform 26">
            <a:extLst>
              <a:ext uri="{FF2B5EF4-FFF2-40B4-BE49-F238E27FC236}">
                <a16:creationId xmlns:a16="http://schemas.microsoft.com/office/drawing/2014/main" id="{418AE6E7-7446-1D1C-78BA-FE688AE010CF}"/>
              </a:ext>
            </a:extLst>
          </p:cNvPr>
          <p:cNvSpPr>
            <a:spLocks noGrp="1"/>
          </p:cNvSpPr>
          <p:nvPr/>
        </p:nvSpPr>
        <p:spPr>
          <a:xfrm>
            <a:off x="1214166" y="3178255"/>
            <a:ext cx="490596" cy="321703"/>
          </a:xfrm>
          <a:custGeom>
            <a:avLst/>
            <a:gdLst>
              <a:gd name="csX0" fmla="*/ 40521 w 369391"/>
              <a:gd name="csY0" fmla="*/ 246 h 242887"/>
              <a:gd name="csX1" fmla="*/ 323890 w 369391"/>
              <a:gd name="csY1" fmla="*/ 246 h 242887"/>
              <a:gd name="csX2" fmla="*/ 25341 w 369391"/>
              <a:gd name="csY2" fmla="*/ 81209 h 242887"/>
              <a:gd name="csX3" fmla="*/ 339070 w 369391"/>
              <a:gd name="csY3" fmla="*/ 81209 h 242887"/>
              <a:gd name="csX4" fmla="*/ 10160 w 369391"/>
              <a:gd name="csY4" fmla="*/ 162171 h 242887"/>
              <a:gd name="csX5" fmla="*/ 354251 w 369391"/>
              <a:gd name="csY5" fmla="*/ 162171 h 242887"/>
              <a:gd name="csX6" fmla="*/ 40 w 369391"/>
              <a:gd name="csY6" fmla="*/ 243134 h 242887"/>
              <a:gd name="csX7" fmla="*/ 369431 w 369391"/>
              <a:gd name="csY7" fmla="*/ 243134 h 242887"/>
            </a:gdLst>
            <a:ahLst/>
            <a:cxnLst/>
            <a:rect l="l" t="t" r="r" b="b"/>
            <a:pathLst>
              <a:path w="369391" h="242887">
                <a:moveTo>
                  <a:pt x="40521" y="246"/>
                </a:moveTo>
                <a:lnTo>
                  <a:pt x="323890" y="246"/>
                </a:lnTo>
                <a:moveTo>
                  <a:pt x="25341" y="81209"/>
                </a:moveTo>
                <a:lnTo>
                  <a:pt x="339070" y="81209"/>
                </a:lnTo>
                <a:moveTo>
                  <a:pt x="10160" y="162171"/>
                </a:moveTo>
                <a:lnTo>
                  <a:pt x="354251" y="162171"/>
                </a:lnTo>
                <a:moveTo>
                  <a:pt x="40" y="243134"/>
                </a:moveTo>
                <a:lnTo>
                  <a:pt x="369431" y="243134"/>
                </a:lnTo>
              </a:path>
            </a:pathLst>
          </a:custGeom>
          <a:noFill/>
          <a:ln w="20241">
            <a:solidFill>
              <a:srgbClr val="353535"/>
            </a:solidFill>
            <a:prstDash val="solid"/>
          </a:ln>
        </p:spPr>
        <p:txBody>
          <a:bodyPr/>
          <a:lstStyle/>
          <a:p>
            <a:endParaRPr sz="1050"/>
          </a:p>
        </p:txBody>
      </p:sp>
      <p:sp>
        <p:nvSpPr>
          <p:cNvPr id="28" name="Freeform 27">
            <a:extLst>
              <a:ext uri="{FF2B5EF4-FFF2-40B4-BE49-F238E27FC236}">
                <a16:creationId xmlns:a16="http://schemas.microsoft.com/office/drawing/2014/main" id="{9CA176AC-CF70-F325-3D78-2EB00A1B2020}"/>
              </a:ext>
            </a:extLst>
          </p:cNvPr>
          <p:cNvSpPr>
            <a:spLocks noGrp="1"/>
          </p:cNvSpPr>
          <p:nvPr/>
        </p:nvSpPr>
        <p:spPr>
          <a:xfrm>
            <a:off x="1294813" y="3117936"/>
            <a:ext cx="369627" cy="449044"/>
          </a:xfrm>
          <a:custGeom>
            <a:avLst/>
            <a:gdLst>
              <a:gd name="csX0" fmla="*/ 50642 w 278308"/>
              <a:gd name="csY0" fmla="*/ 246 h 339030"/>
              <a:gd name="csX1" fmla="*/ 40 w 278308"/>
              <a:gd name="csY1" fmla="*/ 339276 h 339030"/>
              <a:gd name="csX2" fmla="*/ 227747 w 278308"/>
              <a:gd name="csY2" fmla="*/ 246 h 339030"/>
              <a:gd name="csX3" fmla="*/ 278349 w 278308"/>
              <a:gd name="csY3" fmla="*/ 339276 h 339030"/>
            </a:gdLst>
            <a:ahLst/>
            <a:cxnLst/>
            <a:rect l="l" t="t" r="r" b="b"/>
            <a:pathLst>
              <a:path w="278308" h="339030">
                <a:moveTo>
                  <a:pt x="50642" y="246"/>
                </a:moveTo>
                <a:lnTo>
                  <a:pt x="40" y="339276"/>
                </a:lnTo>
                <a:moveTo>
                  <a:pt x="227747" y="246"/>
                </a:moveTo>
                <a:lnTo>
                  <a:pt x="278349" y="339276"/>
                </a:lnTo>
              </a:path>
            </a:pathLst>
          </a:custGeom>
          <a:noFill/>
          <a:ln w="10120">
            <a:solidFill>
              <a:srgbClr val="9B9B9B"/>
            </a:solidFill>
            <a:prstDash val="solid"/>
          </a:ln>
        </p:spPr>
        <p:txBody>
          <a:bodyPr/>
          <a:lstStyle/>
          <a:p>
            <a:endParaRPr sz="1050"/>
          </a:p>
        </p:txBody>
      </p:sp>
      <p:sp>
        <p:nvSpPr>
          <p:cNvPr id="30" name="TextBox 29">
            <a:extLst>
              <a:ext uri="{FF2B5EF4-FFF2-40B4-BE49-F238E27FC236}">
                <a16:creationId xmlns:a16="http://schemas.microsoft.com/office/drawing/2014/main" id="{56AF2830-6CEF-9178-DA02-858AD3C52E37}"/>
              </a:ext>
            </a:extLst>
          </p:cNvPr>
          <p:cNvSpPr>
            <a:spLocks noGrp="1"/>
          </p:cNvSpPr>
          <p:nvPr/>
        </p:nvSpPr>
        <p:spPr>
          <a:xfrm>
            <a:off x="1704762" y="2968868"/>
            <a:ext cx="1228872" cy="912477"/>
          </a:xfrm>
          <a:prstGeom prst="rect">
            <a:avLst/>
          </a:prstGeom>
          <a:noFill/>
        </p:spPr>
        <p:txBody>
          <a:bodyPr wrap="square">
            <a:spAutoFit/>
          </a:bodyPr>
          <a:lstStyle/>
          <a:p>
            <a:r>
              <a:rPr sz="800" b="1">
                <a:solidFill>
                  <a:srgbClr val="123B78"/>
                </a:solidFill>
                <a:latin typeface="Arial"/>
                <a:ea typeface="Arial"/>
                <a:cs typeface="Arial"/>
              </a:rPr>
              <a:t>Network Data</a:t>
            </a:r>
          </a:p>
          <a:p>
            <a:endParaRPr sz="800" spc="0" baseline="0">
              <a:solidFill>
                <a:srgbClr val="000000"/>
              </a:solidFill>
              <a:latin typeface="Arial"/>
              <a:ea typeface="Arial"/>
              <a:cs typeface="Arial"/>
            </a:endParaRPr>
          </a:p>
          <a:p>
            <a:r>
              <a:rPr sz="800">
                <a:solidFill>
                  <a:srgbClr val="000000"/>
                </a:solidFill>
                <a:latin typeface="Arial"/>
                <a:ea typeface="Arial"/>
                <a:cs typeface="Arial"/>
              </a:rPr>
              <a:t>tracks/arcs, (main, siding, crossover),</a:t>
            </a:r>
          </a:p>
          <a:p>
            <a:r>
              <a:rPr sz="800">
                <a:solidFill>
                  <a:srgbClr val="000000"/>
                </a:solidFill>
                <a:latin typeface="Arial"/>
                <a:ea typeface="Arial"/>
                <a:cs typeface="Arial"/>
              </a:rPr>
              <a:t>length, speed, MOW Windows</a:t>
            </a:r>
          </a:p>
        </p:txBody>
      </p:sp>
      <p:sp>
        <p:nvSpPr>
          <p:cNvPr id="50" name="Freeform 49">
            <a:extLst>
              <a:ext uri="{FF2B5EF4-FFF2-40B4-BE49-F238E27FC236}">
                <a16:creationId xmlns:a16="http://schemas.microsoft.com/office/drawing/2014/main" id="{A69D3956-591D-D337-751A-37936B855572}"/>
              </a:ext>
            </a:extLst>
          </p:cNvPr>
          <p:cNvSpPr>
            <a:spLocks noGrp="1"/>
          </p:cNvSpPr>
          <p:nvPr/>
        </p:nvSpPr>
        <p:spPr>
          <a:xfrm>
            <a:off x="3147930" y="2440129"/>
            <a:ext cx="248657" cy="6702"/>
          </a:xfrm>
          <a:custGeom>
            <a:avLst/>
            <a:gdLst>
              <a:gd name="csX0" fmla="*/ 0 w 187225"/>
              <a:gd name="csY0" fmla="*/ 0 h 5060"/>
              <a:gd name="csX1" fmla="*/ 187226 w 187225"/>
              <a:gd name="csY1" fmla="*/ 0 h 5060"/>
            </a:gdLst>
            <a:ahLst/>
            <a:cxnLst/>
            <a:rect l="l" t="t" r="r" b="b"/>
            <a:pathLst>
              <a:path w="187225" h="5060">
                <a:moveTo>
                  <a:pt x="0" y="0"/>
                </a:moveTo>
                <a:lnTo>
                  <a:pt x="187226" y="0"/>
                </a:lnTo>
              </a:path>
            </a:pathLst>
          </a:custGeom>
          <a:solidFill>
            <a:srgbClr val="000000"/>
          </a:solidFill>
          <a:ln w="45541">
            <a:solidFill>
              <a:srgbClr val="333D47"/>
            </a:solidFill>
            <a:prstDash val="solid"/>
          </a:ln>
        </p:spPr>
        <p:txBody>
          <a:bodyPr/>
          <a:lstStyle/>
          <a:p>
            <a:endParaRPr sz="1050"/>
          </a:p>
        </p:txBody>
      </p:sp>
      <p:sp>
        <p:nvSpPr>
          <p:cNvPr id="52" name="Rounded Rectangle 51">
            <a:extLst>
              <a:ext uri="{FF2B5EF4-FFF2-40B4-BE49-F238E27FC236}">
                <a16:creationId xmlns:a16="http://schemas.microsoft.com/office/drawing/2014/main" id="{45335E7E-163B-8683-E848-B18613C33299}"/>
              </a:ext>
            </a:extLst>
          </p:cNvPr>
          <p:cNvSpPr>
            <a:spLocks noGrp="1"/>
          </p:cNvSpPr>
          <p:nvPr/>
        </p:nvSpPr>
        <p:spPr>
          <a:xfrm>
            <a:off x="3510840" y="992460"/>
            <a:ext cx="4969593" cy="3203638"/>
          </a:xfrm>
          <a:prstGeom prst="roundRect">
            <a:avLst>
              <a:gd name="adj" fmla="val 2301"/>
            </a:avLst>
          </a:prstGeom>
          <a:noFill/>
          <a:ln w="6072">
            <a:solidFill>
              <a:srgbClr val="9299A1"/>
            </a:solidFill>
            <a:prstDash val="solid"/>
          </a:ln>
        </p:spPr>
        <p:txBody>
          <a:bodyPr/>
          <a:lstStyle/>
          <a:p>
            <a:endParaRPr sz="1050"/>
          </a:p>
        </p:txBody>
      </p:sp>
      <p:sp>
        <p:nvSpPr>
          <p:cNvPr id="53" name="TextBox 52">
            <a:extLst>
              <a:ext uri="{FF2B5EF4-FFF2-40B4-BE49-F238E27FC236}">
                <a16:creationId xmlns:a16="http://schemas.microsoft.com/office/drawing/2014/main" id="{DCBA2A9C-DF99-E206-2D6C-0F8358905281}"/>
              </a:ext>
            </a:extLst>
          </p:cNvPr>
          <p:cNvSpPr>
            <a:spLocks noGrp="1"/>
          </p:cNvSpPr>
          <p:nvPr/>
        </p:nvSpPr>
        <p:spPr>
          <a:xfrm>
            <a:off x="5216371" y="1011623"/>
            <a:ext cx="1364766" cy="270363"/>
          </a:xfrm>
          <a:prstGeom prst="rect">
            <a:avLst/>
          </a:prstGeom>
          <a:noFill/>
        </p:spPr>
        <p:txBody>
          <a:bodyPr wrap="none">
            <a:spAutoFit/>
          </a:bodyPr>
          <a:lstStyle/>
          <a:p>
            <a:pPr algn="l">
              <a:buNone/>
            </a:pPr>
            <a:r>
              <a:rPr sz="1000" b="1">
                <a:solidFill>
                  <a:srgbClr val="123B78"/>
                </a:solidFill>
                <a:latin typeface="Arial"/>
                <a:ea typeface="Arial"/>
                <a:cs typeface="Arial"/>
              </a:rPr>
              <a:t>MILP/MIP MODEL</a:t>
            </a:r>
          </a:p>
        </p:txBody>
      </p:sp>
      <p:sp>
        <p:nvSpPr>
          <p:cNvPr id="54" name="Rounded Rectangle 53">
            <a:extLst>
              <a:ext uri="{FF2B5EF4-FFF2-40B4-BE49-F238E27FC236}">
                <a16:creationId xmlns:a16="http://schemas.microsoft.com/office/drawing/2014/main" id="{80338D00-7830-C98F-3E85-E79F286F00F0}"/>
              </a:ext>
            </a:extLst>
          </p:cNvPr>
          <p:cNvSpPr>
            <a:spLocks noGrp="1"/>
          </p:cNvSpPr>
          <p:nvPr/>
        </p:nvSpPr>
        <p:spPr>
          <a:xfrm>
            <a:off x="3618367" y="1307462"/>
            <a:ext cx="1881743" cy="2888636"/>
          </a:xfrm>
          <a:prstGeom prst="roundRect">
            <a:avLst>
              <a:gd name="adj" fmla="val 3928"/>
            </a:avLst>
          </a:prstGeom>
          <a:noFill/>
          <a:ln w="5819">
            <a:solidFill>
              <a:srgbClr val="4E8FEA"/>
            </a:solidFill>
            <a:prstDash val="solid"/>
          </a:ln>
        </p:spPr>
        <p:txBody>
          <a:bodyPr/>
          <a:lstStyle/>
          <a:p>
            <a:endParaRPr sz="1050"/>
          </a:p>
        </p:txBody>
      </p:sp>
      <p:sp>
        <p:nvSpPr>
          <p:cNvPr id="55" name="TextBox 54">
            <a:extLst>
              <a:ext uri="{FF2B5EF4-FFF2-40B4-BE49-F238E27FC236}">
                <a16:creationId xmlns:a16="http://schemas.microsoft.com/office/drawing/2014/main" id="{CBC8C208-3EB3-DA5F-8467-953A24C56C47}"/>
              </a:ext>
            </a:extLst>
          </p:cNvPr>
          <p:cNvSpPr>
            <a:spLocks noGrp="1"/>
          </p:cNvSpPr>
          <p:nvPr/>
        </p:nvSpPr>
        <p:spPr>
          <a:xfrm>
            <a:off x="3819943" y="1331423"/>
            <a:ext cx="1570913" cy="253465"/>
          </a:xfrm>
          <a:prstGeom prst="rect">
            <a:avLst/>
          </a:prstGeom>
          <a:noFill/>
        </p:spPr>
        <p:txBody>
          <a:bodyPr wrap="none">
            <a:spAutoFit/>
          </a:bodyPr>
          <a:lstStyle/>
          <a:p>
            <a:pPr algn="l">
              <a:buNone/>
            </a:pPr>
            <a:r>
              <a:rPr sz="900" b="1">
                <a:solidFill>
                  <a:srgbClr val="123B78"/>
                </a:solidFill>
                <a:latin typeface="Arial"/>
                <a:ea typeface="Arial"/>
                <a:cs typeface="Arial"/>
              </a:rPr>
              <a:t>DECISION VARIABLES</a:t>
            </a:r>
          </a:p>
        </p:txBody>
      </p:sp>
      <p:sp>
        <p:nvSpPr>
          <p:cNvPr id="56" name="Oval 55">
            <a:extLst>
              <a:ext uri="{FF2B5EF4-FFF2-40B4-BE49-F238E27FC236}">
                <a16:creationId xmlns:a16="http://schemas.microsoft.com/office/drawing/2014/main" id="{DA7C5F01-81EB-C56F-ECA4-31C5F8AB348C}"/>
              </a:ext>
            </a:extLst>
          </p:cNvPr>
          <p:cNvSpPr>
            <a:spLocks noGrp="1"/>
          </p:cNvSpPr>
          <p:nvPr/>
        </p:nvSpPr>
        <p:spPr>
          <a:xfrm>
            <a:off x="3735977" y="1666029"/>
            <a:ext cx="47043" cy="46915"/>
          </a:xfrm>
          <a:prstGeom prst="ellipse">
            <a:avLst/>
          </a:prstGeom>
          <a:noFill/>
          <a:ln w="5060">
            <a:noFill/>
            <a:prstDash val="solid"/>
          </a:ln>
        </p:spPr>
        <p:txBody>
          <a:bodyPr/>
          <a:lstStyle/>
          <a:p>
            <a:endParaRPr sz="1050"/>
          </a:p>
        </p:txBody>
      </p:sp>
      <p:sp>
        <p:nvSpPr>
          <p:cNvPr id="57" name="TextBox 56">
            <a:extLst>
              <a:ext uri="{FF2B5EF4-FFF2-40B4-BE49-F238E27FC236}">
                <a16:creationId xmlns:a16="http://schemas.microsoft.com/office/drawing/2014/main" id="{99E1586E-EDFB-1FF3-A9EF-94054C0CFE74}"/>
              </a:ext>
            </a:extLst>
          </p:cNvPr>
          <p:cNvSpPr>
            <a:spLocks noGrp="1"/>
          </p:cNvSpPr>
          <p:nvPr/>
        </p:nvSpPr>
        <p:spPr>
          <a:xfrm>
            <a:off x="3725422" y="1565364"/>
            <a:ext cx="833674" cy="236568"/>
          </a:xfrm>
          <a:prstGeom prst="rect">
            <a:avLst/>
          </a:prstGeom>
          <a:noFill/>
        </p:spPr>
        <p:txBody>
          <a:bodyPr wrap="none">
            <a:spAutoFit/>
          </a:bodyPr>
          <a:lstStyle/>
          <a:p>
            <a:pPr algn="l">
              <a:buNone/>
            </a:pPr>
            <a:r>
              <a:rPr sz="800" i="1">
                <a:solidFill>
                  <a:srgbClr val="123B78"/>
                </a:solidFill>
                <a:latin typeface="Arial"/>
                <a:ea typeface="Arial"/>
                <a:cs typeface="Arial"/>
              </a:rPr>
              <a:t>x_begin[i][j]</a:t>
            </a:r>
            <a:r>
              <a:rPr sz="800" i="1">
                <a:solidFill>
                  <a:srgbClr val="000000"/>
                </a:solidFill>
                <a:latin typeface="Arial"/>
                <a:ea typeface="Arial"/>
                <a:cs typeface="Arial"/>
              </a:rPr>
              <a:t> :</a:t>
            </a:r>
          </a:p>
        </p:txBody>
      </p:sp>
      <p:sp>
        <p:nvSpPr>
          <p:cNvPr id="58" name="TextBox 57">
            <a:extLst>
              <a:ext uri="{FF2B5EF4-FFF2-40B4-BE49-F238E27FC236}">
                <a16:creationId xmlns:a16="http://schemas.microsoft.com/office/drawing/2014/main" id="{98903BF3-9D44-42A4-4FFA-2D0C4F59CC9D}"/>
              </a:ext>
            </a:extLst>
          </p:cNvPr>
          <p:cNvSpPr>
            <a:spLocks noGrp="1"/>
          </p:cNvSpPr>
          <p:nvPr/>
        </p:nvSpPr>
        <p:spPr>
          <a:xfrm>
            <a:off x="3725422" y="1712811"/>
            <a:ext cx="1062533" cy="236568"/>
          </a:xfrm>
          <a:prstGeom prst="rect">
            <a:avLst/>
          </a:prstGeom>
          <a:noFill/>
        </p:spPr>
        <p:txBody>
          <a:bodyPr wrap="none">
            <a:spAutoFit/>
          </a:bodyPr>
          <a:lstStyle/>
          <a:p>
            <a:pPr algn="l">
              <a:buNone/>
            </a:pPr>
            <a:r>
              <a:rPr sz="800">
                <a:solidFill>
                  <a:srgbClr val="000000"/>
                </a:solidFill>
                <a:latin typeface="Arial"/>
                <a:ea typeface="Arial"/>
                <a:cs typeface="Arial"/>
              </a:rPr>
              <a:t>time train </a:t>
            </a:r>
            <a:r>
              <a:rPr sz="800" i="1">
                <a:solidFill>
                  <a:srgbClr val="000000"/>
                </a:solidFill>
                <a:latin typeface="Arial"/>
                <a:ea typeface="Arial"/>
                <a:cs typeface="Arial"/>
              </a:rPr>
              <a:t>i enters</a:t>
            </a:r>
          </a:p>
        </p:txBody>
      </p:sp>
      <p:sp>
        <p:nvSpPr>
          <p:cNvPr id="59" name="TextBox 58">
            <a:extLst>
              <a:ext uri="{FF2B5EF4-FFF2-40B4-BE49-F238E27FC236}">
                <a16:creationId xmlns:a16="http://schemas.microsoft.com/office/drawing/2014/main" id="{58C5FBDD-9F6E-88A1-E689-02F2266BF3FD}"/>
              </a:ext>
            </a:extLst>
          </p:cNvPr>
          <p:cNvSpPr>
            <a:spLocks noGrp="1"/>
          </p:cNvSpPr>
          <p:nvPr/>
        </p:nvSpPr>
        <p:spPr>
          <a:xfrm>
            <a:off x="3725422" y="1853557"/>
            <a:ext cx="688672" cy="236568"/>
          </a:xfrm>
          <a:prstGeom prst="rect">
            <a:avLst/>
          </a:prstGeom>
          <a:noFill/>
        </p:spPr>
        <p:txBody>
          <a:bodyPr wrap="none">
            <a:spAutoFit/>
          </a:bodyPr>
          <a:lstStyle/>
          <a:p>
            <a:pPr algn="l">
              <a:buNone/>
            </a:pPr>
            <a:r>
              <a:rPr sz="800">
                <a:solidFill>
                  <a:srgbClr val="000000"/>
                </a:solidFill>
                <a:latin typeface="Arial"/>
                <a:ea typeface="Arial"/>
                <a:cs typeface="Arial"/>
              </a:rPr>
              <a:t>segment </a:t>
            </a:r>
            <a:r>
              <a:rPr sz="800" i="1">
                <a:solidFill>
                  <a:srgbClr val="000000"/>
                </a:solidFill>
                <a:latin typeface="Arial"/>
                <a:ea typeface="Arial"/>
                <a:cs typeface="Arial"/>
              </a:rPr>
              <a:t>j</a:t>
            </a:r>
          </a:p>
        </p:txBody>
      </p:sp>
      <p:sp>
        <p:nvSpPr>
          <p:cNvPr id="60" name="Oval 59">
            <a:extLst>
              <a:ext uri="{FF2B5EF4-FFF2-40B4-BE49-F238E27FC236}">
                <a16:creationId xmlns:a16="http://schemas.microsoft.com/office/drawing/2014/main" id="{46A8D2AE-4BC4-C91A-0D33-2486154D3038}"/>
              </a:ext>
            </a:extLst>
          </p:cNvPr>
          <p:cNvSpPr>
            <a:spLocks noGrp="1"/>
          </p:cNvSpPr>
          <p:nvPr/>
        </p:nvSpPr>
        <p:spPr>
          <a:xfrm>
            <a:off x="3735977" y="2175393"/>
            <a:ext cx="47043" cy="46915"/>
          </a:xfrm>
          <a:prstGeom prst="ellipse">
            <a:avLst/>
          </a:prstGeom>
          <a:noFill/>
          <a:ln w="5060">
            <a:noFill/>
            <a:prstDash val="solid"/>
          </a:ln>
        </p:spPr>
        <p:txBody>
          <a:bodyPr/>
          <a:lstStyle/>
          <a:p>
            <a:endParaRPr sz="1050"/>
          </a:p>
        </p:txBody>
      </p:sp>
      <p:sp>
        <p:nvSpPr>
          <p:cNvPr id="61" name="TextBox 60">
            <a:extLst>
              <a:ext uri="{FF2B5EF4-FFF2-40B4-BE49-F238E27FC236}">
                <a16:creationId xmlns:a16="http://schemas.microsoft.com/office/drawing/2014/main" id="{2A9B10F2-BC97-7853-BFD0-9FAC9E97A6C2}"/>
              </a:ext>
            </a:extLst>
          </p:cNvPr>
          <p:cNvSpPr>
            <a:spLocks noGrp="1"/>
          </p:cNvSpPr>
          <p:nvPr/>
        </p:nvSpPr>
        <p:spPr>
          <a:xfrm>
            <a:off x="3725422" y="2074729"/>
            <a:ext cx="746324" cy="236568"/>
          </a:xfrm>
          <a:prstGeom prst="rect">
            <a:avLst/>
          </a:prstGeom>
          <a:noFill/>
        </p:spPr>
        <p:txBody>
          <a:bodyPr wrap="none">
            <a:spAutoFit/>
          </a:bodyPr>
          <a:lstStyle/>
          <a:p>
            <a:pPr algn="l">
              <a:buNone/>
            </a:pPr>
            <a:r>
              <a:rPr sz="800" i="1">
                <a:solidFill>
                  <a:srgbClr val="123B78"/>
                </a:solidFill>
                <a:latin typeface="Arial"/>
                <a:ea typeface="Arial"/>
                <a:cs typeface="Arial"/>
              </a:rPr>
              <a:t>x_end[i][j]</a:t>
            </a:r>
            <a:r>
              <a:rPr sz="800" i="1">
                <a:solidFill>
                  <a:srgbClr val="000000"/>
                </a:solidFill>
                <a:latin typeface="Arial"/>
                <a:ea typeface="Arial"/>
                <a:cs typeface="Arial"/>
              </a:rPr>
              <a:t> :</a:t>
            </a:r>
          </a:p>
        </p:txBody>
      </p:sp>
      <p:sp>
        <p:nvSpPr>
          <p:cNvPr id="62" name="TextBox 61">
            <a:extLst>
              <a:ext uri="{FF2B5EF4-FFF2-40B4-BE49-F238E27FC236}">
                <a16:creationId xmlns:a16="http://schemas.microsoft.com/office/drawing/2014/main" id="{E6334A5F-1531-790B-1D0E-6EE508007921}"/>
              </a:ext>
            </a:extLst>
          </p:cNvPr>
          <p:cNvSpPr>
            <a:spLocks noGrp="1"/>
          </p:cNvSpPr>
          <p:nvPr/>
        </p:nvSpPr>
        <p:spPr>
          <a:xfrm>
            <a:off x="3725422" y="2222177"/>
            <a:ext cx="980423" cy="236568"/>
          </a:xfrm>
          <a:prstGeom prst="rect">
            <a:avLst/>
          </a:prstGeom>
          <a:noFill/>
        </p:spPr>
        <p:txBody>
          <a:bodyPr wrap="none">
            <a:spAutoFit/>
          </a:bodyPr>
          <a:lstStyle/>
          <a:p>
            <a:pPr algn="l">
              <a:buNone/>
            </a:pPr>
            <a:r>
              <a:rPr sz="800">
                <a:solidFill>
                  <a:srgbClr val="000000"/>
                </a:solidFill>
                <a:latin typeface="Arial"/>
                <a:ea typeface="Arial"/>
                <a:cs typeface="Arial"/>
              </a:rPr>
              <a:t>time train </a:t>
            </a:r>
            <a:r>
              <a:rPr sz="800" i="1">
                <a:solidFill>
                  <a:srgbClr val="000000"/>
                </a:solidFill>
                <a:latin typeface="Arial"/>
                <a:ea typeface="Arial"/>
                <a:cs typeface="Arial"/>
              </a:rPr>
              <a:t>i exits</a:t>
            </a:r>
          </a:p>
        </p:txBody>
      </p:sp>
      <p:sp>
        <p:nvSpPr>
          <p:cNvPr id="63" name="TextBox 62">
            <a:extLst>
              <a:ext uri="{FF2B5EF4-FFF2-40B4-BE49-F238E27FC236}">
                <a16:creationId xmlns:a16="http://schemas.microsoft.com/office/drawing/2014/main" id="{4825E639-05C9-638E-C6BF-224604482F4D}"/>
              </a:ext>
            </a:extLst>
          </p:cNvPr>
          <p:cNvSpPr>
            <a:spLocks noGrp="1"/>
          </p:cNvSpPr>
          <p:nvPr/>
        </p:nvSpPr>
        <p:spPr>
          <a:xfrm>
            <a:off x="3725422" y="2362922"/>
            <a:ext cx="688672" cy="236568"/>
          </a:xfrm>
          <a:prstGeom prst="rect">
            <a:avLst/>
          </a:prstGeom>
          <a:noFill/>
        </p:spPr>
        <p:txBody>
          <a:bodyPr wrap="none">
            <a:spAutoFit/>
          </a:bodyPr>
          <a:lstStyle/>
          <a:p>
            <a:pPr algn="l">
              <a:buNone/>
            </a:pPr>
            <a:r>
              <a:rPr sz="800">
                <a:solidFill>
                  <a:srgbClr val="000000"/>
                </a:solidFill>
                <a:latin typeface="Arial"/>
                <a:ea typeface="Arial"/>
                <a:cs typeface="Arial"/>
              </a:rPr>
              <a:t>segment </a:t>
            </a:r>
            <a:r>
              <a:rPr sz="800" i="1">
                <a:solidFill>
                  <a:srgbClr val="000000"/>
                </a:solidFill>
                <a:latin typeface="Arial"/>
                <a:ea typeface="Arial"/>
                <a:cs typeface="Arial"/>
              </a:rPr>
              <a:t>j</a:t>
            </a:r>
          </a:p>
        </p:txBody>
      </p:sp>
      <p:sp>
        <p:nvSpPr>
          <p:cNvPr id="64" name="Oval 63">
            <a:extLst>
              <a:ext uri="{FF2B5EF4-FFF2-40B4-BE49-F238E27FC236}">
                <a16:creationId xmlns:a16="http://schemas.microsoft.com/office/drawing/2014/main" id="{641A3FA0-1E3B-4809-8199-39DE093EDAF0}"/>
              </a:ext>
            </a:extLst>
          </p:cNvPr>
          <p:cNvSpPr>
            <a:spLocks noGrp="1"/>
          </p:cNvSpPr>
          <p:nvPr/>
        </p:nvSpPr>
        <p:spPr>
          <a:xfrm>
            <a:off x="3735977" y="2678056"/>
            <a:ext cx="47043" cy="46915"/>
          </a:xfrm>
          <a:prstGeom prst="ellipse">
            <a:avLst/>
          </a:prstGeom>
          <a:noFill/>
          <a:ln w="5060">
            <a:noFill/>
            <a:prstDash val="solid"/>
          </a:ln>
        </p:spPr>
        <p:txBody>
          <a:bodyPr/>
          <a:lstStyle/>
          <a:p>
            <a:endParaRPr sz="1050"/>
          </a:p>
        </p:txBody>
      </p:sp>
      <p:sp>
        <p:nvSpPr>
          <p:cNvPr id="65" name="TextBox 64">
            <a:extLst>
              <a:ext uri="{FF2B5EF4-FFF2-40B4-BE49-F238E27FC236}">
                <a16:creationId xmlns:a16="http://schemas.microsoft.com/office/drawing/2014/main" id="{397ECC62-0CBD-1136-E698-F2F3FA840A36}"/>
              </a:ext>
            </a:extLst>
          </p:cNvPr>
          <p:cNvSpPr>
            <a:spLocks noGrp="1"/>
          </p:cNvSpPr>
          <p:nvPr/>
        </p:nvSpPr>
        <p:spPr>
          <a:xfrm>
            <a:off x="3725422" y="2577392"/>
            <a:ext cx="620539" cy="236568"/>
          </a:xfrm>
          <a:prstGeom prst="rect">
            <a:avLst/>
          </a:prstGeom>
          <a:noFill/>
        </p:spPr>
        <p:txBody>
          <a:bodyPr wrap="none">
            <a:spAutoFit/>
          </a:bodyPr>
          <a:lstStyle/>
          <a:p>
            <a:pPr algn="l">
              <a:buNone/>
            </a:pPr>
            <a:r>
              <a:rPr sz="800" i="1">
                <a:solidFill>
                  <a:srgbClr val="123B78"/>
                </a:solidFill>
                <a:latin typeface="Arial"/>
                <a:ea typeface="Arial"/>
                <a:cs typeface="Arial"/>
              </a:rPr>
              <a:t>q[i][j][k]</a:t>
            </a:r>
            <a:r>
              <a:rPr sz="800" i="1">
                <a:solidFill>
                  <a:srgbClr val="000000"/>
                </a:solidFill>
                <a:latin typeface="Arial"/>
                <a:ea typeface="Arial"/>
                <a:cs typeface="Arial"/>
              </a:rPr>
              <a:t> :</a:t>
            </a:r>
          </a:p>
        </p:txBody>
      </p:sp>
      <p:sp>
        <p:nvSpPr>
          <p:cNvPr id="66" name="TextBox 65">
            <a:extLst>
              <a:ext uri="{FF2B5EF4-FFF2-40B4-BE49-F238E27FC236}">
                <a16:creationId xmlns:a16="http://schemas.microsoft.com/office/drawing/2014/main" id="{147E938B-E529-DA0B-C7A3-E92AB447BE99}"/>
              </a:ext>
            </a:extLst>
          </p:cNvPr>
          <p:cNvSpPr>
            <a:spLocks noGrp="1"/>
          </p:cNvSpPr>
          <p:nvPr/>
        </p:nvSpPr>
        <p:spPr>
          <a:xfrm>
            <a:off x="3725422" y="2724840"/>
            <a:ext cx="1225005" cy="236568"/>
          </a:xfrm>
          <a:prstGeom prst="rect">
            <a:avLst/>
          </a:prstGeom>
          <a:noFill/>
        </p:spPr>
        <p:txBody>
          <a:bodyPr wrap="none">
            <a:spAutoFit/>
          </a:bodyPr>
          <a:lstStyle/>
          <a:p>
            <a:pPr algn="l">
              <a:buNone/>
            </a:pPr>
            <a:r>
              <a:rPr sz="800">
                <a:solidFill>
                  <a:srgbClr val="000000"/>
                </a:solidFill>
                <a:latin typeface="Arial"/>
                <a:ea typeface="Arial"/>
                <a:cs typeface="Arial"/>
              </a:rPr>
              <a:t>binary, train </a:t>
            </a:r>
            <a:r>
              <a:rPr sz="800" i="1">
                <a:solidFill>
                  <a:srgbClr val="000000"/>
                </a:solidFill>
                <a:latin typeface="Arial"/>
                <a:ea typeface="Arial"/>
                <a:cs typeface="Arial"/>
              </a:rPr>
              <a:t>i selects</a:t>
            </a:r>
          </a:p>
        </p:txBody>
      </p:sp>
      <p:sp>
        <p:nvSpPr>
          <p:cNvPr id="67" name="TextBox 66">
            <a:extLst>
              <a:ext uri="{FF2B5EF4-FFF2-40B4-BE49-F238E27FC236}">
                <a16:creationId xmlns:a16="http://schemas.microsoft.com/office/drawing/2014/main" id="{C1DFDB2E-6CA5-28A9-8008-92392BEEE8B5}"/>
              </a:ext>
            </a:extLst>
          </p:cNvPr>
          <p:cNvSpPr>
            <a:spLocks noGrp="1"/>
          </p:cNvSpPr>
          <p:nvPr/>
        </p:nvSpPr>
        <p:spPr>
          <a:xfrm>
            <a:off x="3725422" y="2865585"/>
            <a:ext cx="1363019" cy="236568"/>
          </a:xfrm>
          <a:prstGeom prst="rect">
            <a:avLst/>
          </a:prstGeom>
          <a:noFill/>
        </p:spPr>
        <p:txBody>
          <a:bodyPr wrap="none">
            <a:spAutoFit/>
          </a:bodyPr>
          <a:lstStyle/>
          <a:p>
            <a:pPr algn="l">
              <a:buNone/>
            </a:pPr>
            <a:r>
              <a:rPr sz="800">
                <a:solidFill>
                  <a:srgbClr val="000000"/>
                </a:solidFill>
                <a:latin typeface="Arial"/>
                <a:ea typeface="Arial"/>
                <a:cs typeface="Arial"/>
              </a:rPr>
              <a:t>track/arc </a:t>
            </a:r>
            <a:r>
              <a:rPr sz="800" i="1">
                <a:solidFill>
                  <a:srgbClr val="000000"/>
                </a:solidFill>
                <a:latin typeface="Arial"/>
                <a:ea typeface="Arial"/>
                <a:cs typeface="Arial"/>
              </a:rPr>
              <a:t>k at segment j</a:t>
            </a:r>
          </a:p>
        </p:txBody>
      </p:sp>
      <p:sp>
        <p:nvSpPr>
          <p:cNvPr id="68" name="Oval 67">
            <a:extLst>
              <a:ext uri="{FF2B5EF4-FFF2-40B4-BE49-F238E27FC236}">
                <a16:creationId xmlns:a16="http://schemas.microsoft.com/office/drawing/2014/main" id="{052C78BF-EEE3-4582-DCC2-5B3C299CACD2}"/>
              </a:ext>
            </a:extLst>
          </p:cNvPr>
          <p:cNvSpPr>
            <a:spLocks noGrp="1"/>
          </p:cNvSpPr>
          <p:nvPr/>
        </p:nvSpPr>
        <p:spPr>
          <a:xfrm>
            <a:off x="3735977" y="3180720"/>
            <a:ext cx="47043" cy="46915"/>
          </a:xfrm>
          <a:prstGeom prst="ellipse">
            <a:avLst/>
          </a:prstGeom>
          <a:noFill/>
          <a:ln w="5060">
            <a:noFill/>
            <a:prstDash val="solid"/>
          </a:ln>
        </p:spPr>
        <p:txBody>
          <a:bodyPr/>
          <a:lstStyle/>
          <a:p>
            <a:endParaRPr sz="1050"/>
          </a:p>
        </p:txBody>
      </p:sp>
      <p:sp>
        <p:nvSpPr>
          <p:cNvPr id="69" name="TextBox 68">
            <a:extLst>
              <a:ext uri="{FF2B5EF4-FFF2-40B4-BE49-F238E27FC236}">
                <a16:creationId xmlns:a16="http://schemas.microsoft.com/office/drawing/2014/main" id="{94D9B7B8-AB0F-5ED9-AAD3-CE1402E80DE1}"/>
              </a:ext>
            </a:extLst>
          </p:cNvPr>
          <p:cNvSpPr>
            <a:spLocks noGrp="1"/>
          </p:cNvSpPr>
          <p:nvPr/>
        </p:nvSpPr>
        <p:spPr>
          <a:xfrm>
            <a:off x="3725422" y="3080055"/>
            <a:ext cx="407403" cy="236568"/>
          </a:xfrm>
          <a:prstGeom prst="rect">
            <a:avLst/>
          </a:prstGeom>
          <a:noFill/>
        </p:spPr>
        <p:txBody>
          <a:bodyPr wrap="none">
            <a:spAutoFit/>
          </a:bodyPr>
          <a:lstStyle/>
          <a:p>
            <a:pPr algn="l">
              <a:buNone/>
            </a:pPr>
            <a:r>
              <a:rPr sz="800" i="1">
                <a:solidFill>
                  <a:srgbClr val="123B78"/>
                </a:solidFill>
                <a:latin typeface="Arial"/>
                <a:ea typeface="Arial"/>
                <a:cs typeface="Arial"/>
              </a:rPr>
              <a:t>λ/γ</a:t>
            </a:r>
            <a:r>
              <a:rPr sz="800" i="1">
                <a:solidFill>
                  <a:srgbClr val="000000"/>
                </a:solidFill>
                <a:latin typeface="Arial"/>
                <a:ea typeface="Arial"/>
                <a:cs typeface="Arial"/>
              </a:rPr>
              <a:t> :</a:t>
            </a:r>
          </a:p>
        </p:txBody>
      </p:sp>
      <p:sp>
        <p:nvSpPr>
          <p:cNvPr id="70" name="TextBox 69">
            <a:extLst>
              <a:ext uri="{FF2B5EF4-FFF2-40B4-BE49-F238E27FC236}">
                <a16:creationId xmlns:a16="http://schemas.microsoft.com/office/drawing/2014/main" id="{04853218-1E7B-D733-8C22-A1E641E2C21F}"/>
              </a:ext>
            </a:extLst>
          </p:cNvPr>
          <p:cNvSpPr>
            <a:spLocks noGrp="1"/>
          </p:cNvSpPr>
          <p:nvPr/>
        </p:nvSpPr>
        <p:spPr>
          <a:xfrm>
            <a:off x="3725422" y="3227502"/>
            <a:ext cx="1576155" cy="236568"/>
          </a:xfrm>
          <a:prstGeom prst="rect">
            <a:avLst/>
          </a:prstGeom>
          <a:noFill/>
        </p:spPr>
        <p:txBody>
          <a:bodyPr wrap="none">
            <a:spAutoFit/>
          </a:bodyPr>
          <a:lstStyle/>
          <a:p>
            <a:pPr algn="l">
              <a:buNone/>
            </a:pPr>
            <a:r>
              <a:rPr sz="800">
                <a:solidFill>
                  <a:srgbClr val="000000"/>
                </a:solidFill>
                <a:latin typeface="Arial"/>
                <a:ea typeface="Arial"/>
                <a:cs typeface="Arial"/>
              </a:rPr>
              <a:t>sequencing (who goes first)</a:t>
            </a:r>
          </a:p>
        </p:txBody>
      </p:sp>
      <p:sp>
        <p:nvSpPr>
          <p:cNvPr id="71" name="TextBox 70">
            <a:extLst>
              <a:ext uri="{FF2B5EF4-FFF2-40B4-BE49-F238E27FC236}">
                <a16:creationId xmlns:a16="http://schemas.microsoft.com/office/drawing/2014/main" id="{2AF4DFB9-6109-3731-D75C-014E2F69D2B8}"/>
              </a:ext>
            </a:extLst>
          </p:cNvPr>
          <p:cNvSpPr>
            <a:spLocks noGrp="1"/>
          </p:cNvSpPr>
          <p:nvPr/>
        </p:nvSpPr>
        <p:spPr>
          <a:xfrm>
            <a:off x="3725422" y="3368249"/>
            <a:ext cx="1770074" cy="236568"/>
          </a:xfrm>
          <a:prstGeom prst="rect">
            <a:avLst/>
          </a:prstGeom>
          <a:noFill/>
        </p:spPr>
        <p:txBody>
          <a:bodyPr wrap="none">
            <a:spAutoFit/>
          </a:bodyPr>
          <a:lstStyle/>
          <a:p>
            <a:pPr algn="l">
              <a:buNone/>
            </a:pPr>
            <a:r>
              <a:rPr sz="800">
                <a:solidFill>
                  <a:srgbClr val="000000"/>
                </a:solidFill>
                <a:latin typeface="Arial"/>
                <a:ea typeface="Arial"/>
                <a:cs typeface="Arial"/>
              </a:rPr>
              <a:t>for two trains on same segment</a:t>
            </a:r>
          </a:p>
        </p:txBody>
      </p:sp>
      <p:sp>
        <p:nvSpPr>
          <p:cNvPr id="72" name="Oval 71">
            <a:extLst>
              <a:ext uri="{FF2B5EF4-FFF2-40B4-BE49-F238E27FC236}">
                <a16:creationId xmlns:a16="http://schemas.microsoft.com/office/drawing/2014/main" id="{577F0582-0532-A53D-41B5-BD52F7D329AE}"/>
              </a:ext>
            </a:extLst>
          </p:cNvPr>
          <p:cNvSpPr>
            <a:spLocks noGrp="1"/>
          </p:cNvSpPr>
          <p:nvPr/>
        </p:nvSpPr>
        <p:spPr>
          <a:xfrm>
            <a:off x="3735977" y="3669978"/>
            <a:ext cx="47043" cy="46915"/>
          </a:xfrm>
          <a:prstGeom prst="ellipse">
            <a:avLst/>
          </a:prstGeom>
          <a:noFill/>
          <a:ln w="5060">
            <a:noFill/>
            <a:prstDash val="solid"/>
          </a:ln>
        </p:spPr>
        <p:txBody>
          <a:bodyPr/>
          <a:lstStyle/>
          <a:p>
            <a:endParaRPr sz="1050"/>
          </a:p>
        </p:txBody>
      </p:sp>
      <p:sp>
        <p:nvSpPr>
          <p:cNvPr id="73" name="TextBox 72">
            <a:extLst>
              <a:ext uri="{FF2B5EF4-FFF2-40B4-BE49-F238E27FC236}">
                <a16:creationId xmlns:a16="http://schemas.microsoft.com/office/drawing/2014/main" id="{63A891AF-CFDB-C309-E350-756CCFAE9BF6}"/>
              </a:ext>
            </a:extLst>
          </p:cNvPr>
          <p:cNvSpPr>
            <a:spLocks noGrp="1"/>
          </p:cNvSpPr>
          <p:nvPr/>
        </p:nvSpPr>
        <p:spPr>
          <a:xfrm>
            <a:off x="3725422" y="3569313"/>
            <a:ext cx="931507" cy="236568"/>
          </a:xfrm>
          <a:prstGeom prst="rect">
            <a:avLst/>
          </a:prstGeom>
          <a:noFill/>
        </p:spPr>
        <p:txBody>
          <a:bodyPr wrap="none" anchor="t">
            <a:spAutoFit/>
          </a:bodyPr>
          <a:lstStyle/>
          <a:p>
            <a:pPr algn="l">
              <a:buNone/>
            </a:pPr>
            <a:r>
              <a:rPr sz="800" i="1">
                <a:solidFill>
                  <a:srgbClr val="123B78"/>
                </a:solidFill>
                <a:latin typeface="Arial"/>
                <a:ea typeface="Arial"/>
                <a:cs typeface="Arial"/>
              </a:rPr>
              <a:t>D</a:t>
            </a:r>
            <a:r>
              <a:rPr sz="900" i="1">
                <a:solidFill>
                  <a:srgbClr val="123B78"/>
                </a:solidFill>
                <a:latin typeface="Arial"/>
                <a:ea typeface="Arial"/>
                <a:cs typeface="Arial"/>
              </a:rPr>
              <a:t>delay</a:t>
            </a:r>
            <a:r>
              <a:rPr sz="800" i="1">
                <a:solidFill>
                  <a:srgbClr val="123B78"/>
                </a:solidFill>
                <a:latin typeface="Arial"/>
                <a:ea typeface="Arial"/>
                <a:cs typeface="Arial"/>
              </a:rPr>
              <a:t>, D</a:t>
            </a:r>
            <a:r>
              <a:rPr sz="900" i="1">
                <a:solidFill>
                  <a:srgbClr val="123B78"/>
                </a:solidFill>
                <a:latin typeface="Arial"/>
                <a:ea typeface="Arial"/>
                <a:cs typeface="Arial"/>
              </a:rPr>
              <a:t>SAdev</a:t>
            </a:r>
            <a:r>
              <a:rPr sz="800" i="1">
                <a:solidFill>
                  <a:srgbClr val="000000"/>
                </a:solidFill>
                <a:latin typeface="Arial"/>
                <a:ea typeface="Arial"/>
                <a:cs typeface="Arial"/>
              </a:rPr>
              <a:t> ,</a:t>
            </a:r>
          </a:p>
        </p:txBody>
      </p:sp>
      <p:sp>
        <p:nvSpPr>
          <p:cNvPr id="74" name="TextBox 73">
            <a:extLst>
              <a:ext uri="{FF2B5EF4-FFF2-40B4-BE49-F238E27FC236}">
                <a16:creationId xmlns:a16="http://schemas.microsoft.com/office/drawing/2014/main" id="{53482D78-6679-BA1E-3DBF-D060B91B8C94}"/>
              </a:ext>
            </a:extLst>
          </p:cNvPr>
          <p:cNvSpPr>
            <a:spLocks noGrp="1"/>
          </p:cNvSpPr>
          <p:nvPr/>
        </p:nvSpPr>
        <p:spPr>
          <a:xfrm>
            <a:off x="3725422" y="3710060"/>
            <a:ext cx="989158" cy="236568"/>
          </a:xfrm>
          <a:prstGeom prst="rect">
            <a:avLst/>
          </a:prstGeom>
          <a:noFill/>
        </p:spPr>
        <p:txBody>
          <a:bodyPr wrap="none" anchor="t">
            <a:spAutoFit/>
          </a:bodyPr>
          <a:lstStyle/>
          <a:p>
            <a:pPr algn="l">
              <a:buNone/>
            </a:pPr>
            <a:r>
              <a:rPr sz="800" i="1">
                <a:solidFill>
                  <a:srgbClr val="123B78"/>
                </a:solidFill>
                <a:latin typeface="Arial"/>
                <a:ea typeface="Arial"/>
                <a:cs typeface="Arial"/>
              </a:rPr>
              <a:t>D</a:t>
            </a:r>
            <a:r>
              <a:rPr sz="900" i="1">
                <a:solidFill>
                  <a:srgbClr val="123B78"/>
                </a:solidFill>
                <a:latin typeface="Arial"/>
                <a:ea typeface="Arial"/>
                <a:cs typeface="Arial"/>
              </a:rPr>
              <a:t>twant_plus/minus</a:t>
            </a:r>
            <a:r>
              <a:rPr sz="800" i="1">
                <a:solidFill>
                  <a:srgbClr val="000000"/>
                </a:solidFill>
                <a:latin typeface="Arial"/>
                <a:ea typeface="Arial"/>
                <a:cs typeface="Arial"/>
              </a:rPr>
              <a:t> :</a:t>
            </a:r>
          </a:p>
        </p:txBody>
      </p:sp>
      <p:sp>
        <p:nvSpPr>
          <p:cNvPr id="75" name="TextBox 74">
            <a:extLst>
              <a:ext uri="{FF2B5EF4-FFF2-40B4-BE49-F238E27FC236}">
                <a16:creationId xmlns:a16="http://schemas.microsoft.com/office/drawing/2014/main" id="{B880EAE0-9A38-4213-9022-C174DA6CB541}"/>
              </a:ext>
            </a:extLst>
          </p:cNvPr>
          <p:cNvSpPr>
            <a:spLocks noGrp="1"/>
          </p:cNvSpPr>
          <p:nvPr/>
        </p:nvSpPr>
        <p:spPr>
          <a:xfrm>
            <a:off x="3725422" y="3850805"/>
            <a:ext cx="1653024" cy="236568"/>
          </a:xfrm>
          <a:prstGeom prst="rect">
            <a:avLst/>
          </a:prstGeom>
          <a:noFill/>
        </p:spPr>
        <p:txBody>
          <a:bodyPr wrap="none">
            <a:spAutoFit/>
          </a:bodyPr>
          <a:lstStyle/>
          <a:p>
            <a:pPr algn="l">
              <a:buNone/>
            </a:pPr>
            <a:r>
              <a:rPr sz="800">
                <a:solidFill>
                  <a:srgbClr val="000000"/>
                </a:solidFill>
                <a:latin typeface="Arial"/>
                <a:ea typeface="Arial"/>
                <a:cs typeface="Arial"/>
              </a:rPr>
              <a:t>delay and deviation variables</a:t>
            </a:r>
          </a:p>
        </p:txBody>
      </p:sp>
      <p:sp>
        <p:nvSpPr>
          <p:cNvPr id="76" name="Rounded Rectangle 75">
            <a:extLst>
              <a:ext uri="{FF2B5EF4-FFF2-40B4-BE49-F238E27FC236}">
                <a16:creationId xmlns:a16="http://schemas.microsoft.com/office/drawing/2014/main" id="{DB08CC99-3EA2-BBA2-49F2-85B4289E4797}"/>
              </a:ext>
            </a:extLst>
          </p:cNvPr>
          <p:cNvSpPr>
            <a:spLocks noGrp="1"/>
          </p:cNvSpPr>
          <p:nvPr/>
        </p:nvSpPr>
        <p:spPr>
          <a:xfrm>
            <a:off x="5600919" y="1307462"/>
            <a:ext cx="2737076" cy="2888636"/>
          </a:xfrm>
          <a:prstGeom prst="roundRect">
            <a:avLst>
              <a:gd name="adj" fmla="val 2894"/>
            </a:avLst>
          </a:prstGeom>
          <a:noFill/>
          <a:ln w="5819">
            <a:solidFill>
              <a:srgbClr val="76AD75"/>
            </a:solidFill>
            <a:prstDash val="solid"/>
          </a:ln>
        </p:spPr>
        <p:txBody>
          <a:bodyPr/>
          <a:lstStyle/>
          <a:p>
            <a:endParaRPr sz="1050"/>
          </a:p>
        </p:txBody>
      </p:sp>
      <p:sp>
        <p:nvSpPr>
          <p:cNvPr id="77" name="TextBox 76">
            <a:extLst>
              <a:ext uri="{FF2B5EF4-FFF2-40B4-BE49-F238E27FC236}">
                <a16:creationId xmlns:a16="http://schemas.microsoft.com/office/drawing/2014/main" id="{2F914381-9DBD-54BA-5D20-3C8EF8D1D979}"/>
              </a:ext>
            </a:extLst>
          </p:cNvPr>
          <p:cNvSpPr>
            <a:spLocks noGrp="1"/>
          </p:cNvSpPr>
          <p:nvPr/>
        </p:nvSpPr>
        <p:spPr>
          <a:xfrm>
            <a:off x="6211516" y="1331423"/>
            <a:ext cx="1403200" cy="253465"/>
          </a:xfrm>
          <a:prstGeom prst="rect">
            <a:avLst/>
          </a:prstGeom>
          <a:noFill/>
        </p:spPr>
        <p:txBody>
          <a:bodyPr wrap="none">
            <a:spAutoFit/>
          </a:bodyPr>
          <a:lstStyle/>
          <a:p>
            <a:pPr algn="l">
              <a:buNone/>
            </a:pPr>
            <a:r>
              <a:rPr sz="900" b="1">
                <a:solidFill>
                  <a:srgbClr val="245E2B"/>
                </a:solidFill>
                <a:latin typeface="Arial"/>
                <a:ea typeface="Arial"/>
                <a:cs typeface="Arial"/>
              </a:rPr>
              <a:t>KEY CONSTRAINTS</a:t>
            </a:r>
          </a:p>
        </p:txBody>
      </p:sp>
      <p:sp>
        <p:nvSpPr>
          <p:cNvPr id="79" name="Oval 78">
            <a:extLst>
              <a:ext uri="{FF2B5EF4-FFF2-40B4-BE49-F238E27FC236}">
                <a16:creationId xmlns:a16="http://schemas.microsoft.com/office/drawing/2014/main" id="{E7BBD2D0-9D9D-6189-9659-C12E2D6BE88D}"/>
              </a:ext>
            </a:extLst>
          </p:cNvPr>
          <p:cNvSpPr>
            <a:spLocks noGrp="1"/>
          </p:cNvSpPr>
          <p:nvPr/>
        </p:nvSpPr>
        <p:spPr>
          <a:xfrm>
            <a:off x="5708448" y="1622465"/>
            <a:ext cx="120968" cy="120638"/>
          </a:xfrm>
          <a:prstGeom prst="ellipse">
            <a:avLst/>
          </a:prstGeom>
          <a:noFill/>
          <a:ln w="5060">
            <a:solidFill>
              <a:srgbClr val="2D7D3D"/>
            </a:solidFill>
            <a:prstDash val="solid"/>
          </a:ln>
        </p:spPr>
        <p:txBody>
          <a:bodyPr/>
          <a:lstStyle/>
          <a:p>
            <a:endParaRPr sz="1050"/>
          </a:p>
        </p:txBody>
      </p:sp>
      <p:sp>
        <p:nvSpPr>
          <p:cNvPr id="80" name="Oval 79">
            <a:extLst>
              <a:ext uri="{FF2B5EF4-FFF2-40B4-BE49-F238E27FC236}">
                <a16:creationId xmlns:a16="http://schemas.microsoft.com/office/drawing/2014/main" id="{43FEE96C-ABBC-25DE-220A-AAEB98C870A6}"/>
              </a:ext>
            </a:extLst>
          </p:cNvPr>
          <p:cNvSpPr>
            <a:spLocks noGrp="1"/>
          </p:cNvSpPr>
          <p:nvPr/>
        </p:nvSpPr>
        <p:spPr>
          <a:xfrm>
            <a:off x="5708448" y="1830231"/>
            <a:ext cx="120968" cy="120638"/>
          </a:xfrm>
          <a:prstGeom prst="ellipse">
            <a:avLst/>
          </a:prstGeom>
          <a:noFill/>
          <a:ln w="5060">
            <a:solidFill>
              <a:srgbClr val="2D7D3D"/>
            </a:solidFill>
            <a:prstDash val="solid"/>
          </a:ln>
        </p:spPr>
        <p:txBody>
          <a:bodyPr/>
          <a:lstStyle/>
          <a:p>
            <a:endParaRPr sz="1050"/>
          </a:p>
        </p:txBody>
      </p:sp>
      <p:sp>
        <p:nvSpPr>
          <p:cNvPr id="81" name="Oval 80">
            <a:extLst>
              <a:ext uri="{FF2B5EF4-FFF2-40B4-BE49-F238E27FC236}">
                <a16:creationId xmlns:a16="http://schemas.microsoft.com/office/drawing/2014/main" id="{D7208773-61F6-4DB3-1FB8-19E8332C8AFA}"/>
              </a:ext>
            </a:extLst>
          </p:cNvPr>
          <p:cNvSpPr>
            <a:spLocks noGrp="1"/>
          </p:cNvSpPr>
          <p:nvPr/>
        </p:nvSpPr>
        <p:spPr>
          <a:xfrm>
            <a:off x="5708448" y="2037998"/>
            <a:ext cx="120968" cy="120638"/>
          </a:xfrm>
          <a:prstGeom prst="ellipse">
            <a:avLst/>
          </a:prstGeom>
          <a:noFill/>
          <a:ln w="5060">
            <a:solidFill>
              <a:srgbClr val="2D7D3D"/>
            </a:solidFill>
            <a:prstDash val="solid"/>
          </a:ln>
        </p:spPr>
        <p:txBody>
          <a:bodyPr/>
          <a:lstStyle/>
          <a:p>
            <a:endParaRPr sz="1050"/>
          </a:p>
        </p:txBody>
      </p:sp>
      <p:sp>
        <p:nvSpPr>
          <p:cNvPr id="82" name="Oval 81">
            <a:extLst>
              <a:ext uri="{FF2B5EF4-FFF2-40B4-BE49-F238E27FC236}">
                <a16:creationId xmlns:a16="http://schemas.microsoft.com/office/drawing/2014/main" id="{DDF78E80-5F33-F4CC-8CBF-4251499C442A}"/>
              </a:ext>
            </a:extLst>
          </p:cNvPr>
          <p:cNvSpPr>
            <a:spLocks noGrp="1"/>
          </p:cNvSpPr>
          <p:nvPr/>
        </p:nvSpPr>
        <p:spPr>
          <a:xfrm>
            <a:off x="5708448" y="2245766"/>
            <a:ext cx="120968" cy="120638"/>
          </a:xfrm>
          <a:prstGeom prst="ellipse">
            <a:avLst/>
          </a:prstGeom>
          <a:noFill/>
          <a:ln w="5060">
            <a:solidFill>
              <a:srgbClr val="2D7D3D"/>
            </a:solidFill>
            <a:prstDash val="solid"/>
          </a:ln>
        </p:spPr>
        <p:txBody>
          <a:bodyPr/>
          <a:lstStyle/>
          <a:p>
            <a:endParaRPr sz="1050"/>
          </a:p>
        </p:txBody>
      </p:sp>
      <p:sp>
        <p:nvSpPr>
          <p:cNvPr id="83" name="Oval 82">
            <a:extLst>
              <a:ext uri="{FF2B5EF4-FFF2-40B4-BE49-F238E27FC236}">
                <a16:creationId xmlns:a16="http://schemas.microsoft.com/office/drawing/2014/main" id="{D4D1D2EE-B186-AE40-3AAC-4648F0D2F65E}"/>
              </a:ext>
            </a:extLst>
          </p:cNvPr>
          <p:cNvSpPr>
            <a:spLocks noGrp="1"/>
          </p:cNvSpPr>
          <p:nvPr/>
        </p:nvSpPr>
        <p:spPr>
          <a:xfrm>
            <a:off x="5708448" y="2453534"/>
            <a:ext cx="120968" cy="120638"/>
          </a:xfrm>
          <a:prstGeom prst="ellipse">
            <a:avLst/>
          </a:prstGeom>
          <a:noFill/>
          <a:ln w="5060">
            <a:solidFill>
              <a:srgbClr val="2D7D3D"/>
            </a:solidFill>
            <a:prstDash val="solid"/>
          </a:ln>
        </p:spPr>
        <p:txBody>
          <a:bodyPr/>
          <a:lstStyle/>
          <a:p>
            <a:endParaRPr sz="1050"/>
          </a:p>
        </p:txBody>
      </p:sp>
      <p:sp>
        <p:nvSpPr>
          <p:cNvPr id="84" name="Oval 83">
            <a:extLst>
              <a:ext uri="{FF2B5EF4-FFF2-40B4-BE49-F238E27FC236}">
                <a16:creationId xmlns:a16="http://schemas.microsoft.com/office/drawing/2014/main" id="{0089BDD7-6509-5A78-3C90-515318E17A13}"/>
              </a:ext>
            </a:extLst>
          </p:cNvPr>
          <p:cNvSpPr>
            <a:spLocks noGrp="1"/>
          </p:cNvSpPr>
          <p:nvPr/>
        </p:nvSpPr>
        <p:spPr>
          <a:xfrm>
            <a:off x="5708448" y="2661301"/>
            <a:ext cx="120968" cy="120638"/>
          </a:xfrm>
          <a:prstGeom prst="ellipse">
            <a:avLst/>
          </a:prstGeom>
          <a:noFill/>
          <a:ln w="5060">
            <a:solidFill>
              <a:srgbClr val="2D7D3D"/>
            </a:solidFill>
            <a:prstDash val="solid"/>
          </a:ln>
        </p:spPr>
        <p:txBody>
          <a:bodyPr/>
          <a:lstStyle/>
          <a:p>
            <a:endParaRPr sz="1050"/>
          </a:p>
        </p:txBody>
      </p:sp>
      <p:sp>
        <p:nvSpPr>
          <p:cNvPr id="85" name="Oval 84">
            <a:extLst>
              <a:ext uri="{FF2B5EF4-FFF2-40B4-BE49-F238E27FC236}">
                <a16:creationId xmlns:a16="http://schemas.microsoft.com/office/drawing/2014/main" id="{0B0E2338-1163-BF5D-FCF2-7B6207060874}"/>
              </a:ext>
            </a:extLst>
          </p:cNvPr>
          <p:cNvSpPr>
            <a:spLocks noGrp="1"/>
          </p:cNvSpPr>
          <p:nvPr/>
        </p:nvSpPr>
        <p:spPr>
          <a:xfrm>
            <a:off x="5708448" y="2869069"/>
            <a:ext cx="120968" cy="120638"/>
          </a:xfrm>
          <a:prstGeom prst="ellipse">
            <a:avLst/>
          </a:prstGeom>
          <a:noFill/>
          <a:ln w="5060">
            <a:solidFill>
              <a:srgbClr val="2D7D3D"/>
            </a:solidFill>
            <a:prstDash val="solid"/>
          </a:ln>
        </p:spPr>
        <p:txBody>
          <a:bodyPr/>
          <a:lstStyle/>
          <a:p>
            <a:endParaRPr sz="1050"/>
          </a:p>
        </p:txBody>
      </p:sp>
      <p:sp>
        <p:nvSpPr>
          <p:cNvPr id="86" name="Oval 85">
            <a:extLst>
              <a:ext uri="{FF2B5EF4-FFF2-40B4-BE49-F238E27FC236}">
                <a16:creationId xmlns:a16="http://schemas.microsoft.com/office/drawing/2014/main" id="{49521E66-543A-4E34-5B3C-5B0763D35149}"/>
              </a:ext>
            </a:extLst>
          </p:cNvPr>
          <p:cNvSpPr>
            <a:spLocks noGrp="1"/>
          </p:cNvSpPr>
          <p:nvPr/>
        </p:nvSpPr>
        <p:spPr>
          <a:xfrm>
            <a:off x="5708448" y="3076835"/>
            <a:ext cx="120968" cy="120638"/>
          </a:xfrm>
          <a:prstGeom prst="ellipse">
            <a:avLst/>
          </a:prstGeom>
          <a:noFill/>
          <a:ln w="5060">
            <a:solidFill>
              <a:srgbClr val="2D7D3D"/>
            </a:solidFill>
            <a:prstDash val="solid"/>
          </a:ln>
        </p:spPr>
        <p:txBody>
          <a:bodyPr/>
          <a:lstStyle/>
          <a:p>
            <a:endParaRPr sz="1050"/>
          </a:p>
        </p:txBody>
      </p:sp>
      <p:sp>
        <p:nvSpPr>
          <p:cNvPr id="87" name="Oval 86">
            <a:extLst>
              <a:ext uri="{FF2B5EF4-FFF2-40B4-BE49-F238E27FC236}">
                <a16:creationId xmlns:a16="http://schemas.microsoft.com/office/drawing/2014/main" id="{386C76C4-573E-0D3C-BAB3-C354E3FB1A88}"/>
              </a:ext>
            </a:extLst>
          </p:cNvPr>
          <p:cNvSpPr>
            <a:spLocks noGrp="1"/>
          </p:cNvSpPr>
          <p:nvPr/>
        </p:nvSpPr>
        <p:spPr>
          <a:xfrm>
            <a:off x="5708448" y="3284603"/>
            <a:ext cx="120968" cy="120638"/>
          </a:xfrm>
          <a:prstGeom prst="ellipse">
            <a:avLst/>
          </a:prstGeom>
          <a:noFill/>
          <a:ln w="5060">
            <a:solidFill>
              <a:srgbClr val="2D7D3D"/>
            </a:solidFill>
            <a:prstDash val="solid"/>
          </a:ln>
        </p:spPr>
        <p:txBody>
          <a:bodyPr/>
          <a:lstStyle/>
          <a:p>
            <a:endParaRPr sz="1050"/>
          </a:p>
        </p:txBody>
      </p:sp>
      <p:sp>
        <p:nvSpPr>
          <p:cNvPr id="88" name="Oval 87">
            <a:extLst>
              <a:ext uri="{FF2B5EF4-FFF2-40B4-BE49-F238E27FC236}">
                <a16:creationId xmlns:a16="http://schemas.microsoft.com/office/drawing/2014/main" id="{017F4CCC-9DF4-2445-EEA5-5586A4605984}"/>
              </a:ext>
            </a:extLst>
          </p:cNvPr>
          <p:cNvSpPr>
            <a:spLocks noGrp="1"/>
          </p:cNvSpPr>
          <p:nvPr/>
        </p:nvSpPr>
        <p:spPr>
          <a:xfrm>
            <a:off x="5708448" y="3492370"/>
            <a:ext cx="120968" cy="120638"/>
          </a:xfrm>
          <a:prstGeom prst="ellipse">
            <a:avLst/>
          </a:prstGeom>
          <a:noFill/>
          <a:ln w="5060">
            <a:solidFill>
              <a:srgbClr val="2D7D3D"/>
            </a:solidFill>
            <a:prstDash val="solid"/>
          </a:ln>
        </p:spPr>
        <p:txBody>
          <a:bodyPr/>
          <a:lstStyle/>
          <a:p>
            <a:endParaRPr sz="1050"/>
          </a:p>
        </p:txBody>
      </p:sp>
      <p:sp>
        <p:nvSpPr>
          <p:cNvPr id="89" name="Oval 88">
            <a:extLst>
              <a:ext uri="{FF2B5EF4-FFF2-40B4-BE49-F238E27FC236}">
                <a16:creationId xmlns:a16="http://schemas.microsoft.com/office/drawing/2014/main" id="{8CF62586-0371-A730-7645-F178A40CFF35}"/>
              </a:ext>
            </a:extLst>
          </p:cNvPr>
          <p:cNvSpPr>
            <a:spLocks noGrp="1"/>
          </p:cNvSpPr>
          <p:nvPr/>
        </p:nvSpPr>
        <p:spPr>
          <a:xfrm>
            <a:off x="5708448" y="3700138"/>
            <a:ext cx="120968" cy="120638"/>
          </a:xfrm>
          <a:prstGeom prst="ellipse">
            <a:avLst/>
          </a:prstGeom>
          <a:noFill/>
          <a:ln w="5060">
            <a:solidFill>
              <a:srgbClr val="2D7D3D"/>
            </a:solidFill>
            <a:prstDash val="solid"/>
          </a:ln>
        </p:spPr>
        <p:txBody>
          <a:bodyPr/>
          <a:lstStyle/>
          <a:p>
            <a:endParaRPr sz="1050"/>
          </a:p>
        </p:txBody>
      </p:sp>
      <p:sp>
        <p:nvSpPr>
          <p:cNvPr id="91" name="Freeform 90">
            <a:extLst>
              <a:ext uri="{FF2B5EF4-FFF2-40B4-BE49-F238E27FC236}">
                <a16:creationId xmlns:a16="http://schemas.microsoft.com/office/drawing/2014/main" id="{44FA6465-8103-F2CC-4FBA-1B42111EEED4}"/>
              </a:ext>
            </a:extLst>
          </p:cNvPr>
          <p:cNvSpPr>
            <a:spLocks noGrp="1"/>
          </p:cNvSpPr>
          <p:nvPr/>
        </p:nvSpPr>
        <p:spPr>
          <a:xfrm>
            <a:off x="5742051" y="1655974"/>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2" name="Freeform 91">
            <a:extLst>
              <a:ext uri="{FF2B5EF4-FFF2-40B4-BE49-F238E27FC236}">
                <a16:creationId xmlns:a16="http://schemas.microsoft.com/office/drawing/2014/main" id="{8567026F-C20F-35B9-3790-CD1DE973C5DF}"/>
              </a:ext>
            </a:extLst>
          </p:cNvPr>
          <p:cNvSpPr>
            <a:spLocks noGrp="1"/>
          </p:cNvSpPr>
          <p:nvPr/>
        </p:nvSpPr>
        <p:spPr>
          <a:xfrm>
            <a:off x="5742051" y="1863742"/>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3" name="Freeform 92">
            <a:extLst>
              <a:ext uri="{FF2B5EF4-FFF2-40B4-BE49-F238E27FC236}">
                <a16:creationId xmlns:a16="http://schemas.microsoft.com/office/drawing/2014/main" id="{8E374B20-532B-1E60-6E25-B251D391450D}"/>
              </a:ext>
            </a:extLst>
          </p:cNvPr>
          <p:cNvSpPr>
            <a:spLocks noGrp="1"/>
          </p:cNvSpPr>
          <p:nvPr/>
        </p:nvSpPr>
        <p:spPr>
          <a:xfrm>
            <a:off x="5742051" y="2071510"/>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4" name="Freeform 93">
            <a:extLst>
              <a:ext uri="{FF2B5EF4-FFF2-40B4-BE49-F238E27FC236}">
                <a16:creationId xmlns:a16="http://schemas.microsoft.com/office/drawing/2014/main" id="{A2FD657D-4984-FFEB-07DA-311ABD9C0C4A}"/>
              </a:ext>
            </a:extLst>
          </p:cNvPr>
          <p:cNvSpPr>
            <a:spLocks noGrp="1"/>
          </p:cNvSpPr>
          <p:nvPr/>
        </p:nvSpPr>
        <p:spPr>
          <a:xfrm>
            <a:off x="5742051" y="2279277"/>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5" name="Freeform 94">
            <a:extLst>
              <a:ext uri="{FF2B5EF4-FFF2-40B4-BE49-F238E27FC236}">
                <a16:creationId xmlns:a16="http://schemas.microsoft.com/office/drawing/2014/main" id="{C595027A-EE8A-03F2-E1D7-A44A48E18D57}"/>
              </a:ext>
            </a:extLst>
          </p:cNvPr>
          <p:cNvSpPr>
            <a:spLocks noGrp="1"/>
          </p:cNvSpPr>
          <p:nvPr/>
        </p:nvSpPr>
        <p:spPr>
          <a:xfrm>
            <a:off x="5742051" y="2487045"/>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6" name="Freeform 95">
            <a:extLst>
              <a:ext uri="{FF2B5EF4-FFF2-40B4-BE49-F238E27FC236}">
                <a16:creationId xmlns:a16="http://schemas.microsoft.com/office/drawing/2014/main" id="{C4AB97B1-E884-E614-DF22-A6665F9EB62A}"/>
              </a:ext>
            </a:extLst>
          </p:cNvPr>
          <p:cNvSpPr>
            <a:spLocks noGrp="1"/>
          </p:cNvSpPr>
          <p:nvPr/>
        </p:nvSpPr>
        <p:spPr>
          <a:xfrm>
            <a:off x="5742051" y="2694812"/>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7" name="Freeform 96">
            <a:extLst>
              <a:ext uri="{FF2B5EF4-FFF2-40B4-BE49-F238E27FC236}">
                <a16:creationId xmlns:a16="http://schemas.microsoft.com/office/drawing/2014/main" id="{822E9A0F-8399-AA31-E60F-4D33A9BF32CC}"/>
              </a:ext>
            </a:extLst>
          </p:cNvPr>
          <p:cNvSpPr>
            <a:spLocks noGrp="1"/>
          </p:cNvSpPr>
          <p:nvPr/>
        </p:nvSpPr>
        <p:spPr>
          <a:xfrm>
            <a:off x="5742051" y="2902579"/>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8" name="Freeform 97">
            <a:extLst>
              <a:ext uri="{FF2B5EF4-FFF2-40B4-BE49-F238E27FC236}">
                <a16:creationId xmlns:a16="http://schemas.microsoft.com/office/drawing/2014/main" id="{96863EDB-6DCC-CC7E-A8B3-24B7F17ABAEB}"/>
              </a:ext>
            </a:extLst>
          </p:cNvPr>
          <p:cNvSpPr>
            <a:spLocks noGrp="1"/>
          </p:cNvSpPr>
          <p:nvPr/>
        </p:nvSpPr>
        <p:spPr>
          <a:xfrm>
            <a:off x="5742051" y="3110346"/>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99" name="Freeform 98">
            <a:extLst>
              <a:ext uri="{FF2B5EF4-FFF2-40B4-BE49-F238E27FC236}">
                <a16:creationId xmlns:a16="http://schemas.microsoft.com/office/drawing/2014/main" id="{8877F08A-12F2-DB68-0FBD-2573D0A4E8C9}"/>
              </a:ext>
            </a:extLst>
          </p:cNvPr>
          <p:cNvSpPr>
            <a:spLocks noGrp="1"/>
          </p:cNvSpPr>
          <p:nvPr/>
        </p:nvSpPr>
        <p:spPr>
          <a:xfrm>
            <a:off x="5742051" y="3318114"/>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100" name="Freeform 99">
            <a:extLst>
              <a:ext uri="{FF2B5EF4-FFF2-40B4-BE49-F238E27FC236}">
                <a16:creationId xmlns:a16="http://schemas.microsoft.com/office/drawing/2014/main" id="{7164ABB6-DB37-4E6D-E805-D2D319C1DE40}"/>
              </a:ext>
            </a:extLst>
          </p:cNvPr>
          <p:cNvSpPr>
            <a:spLocks noGrp="1"/>
          </p:cNvSpPr>
          <p:nvPr/>
        </p:nvSpPr>
        <p:spPr>
          <a:xfrm>
            <a:off x="5742051" y="3525882"/>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101" name="Freeform 100">
            <a:extLst>
              <a:ext uri="{FF2B5EF4-FFF2-40B4-BE49-F238E27FC236}">
                <a16:creationId xmlns:a16="http://schemas.microsoft.com/office/drawing/2014/main" id="{DE2B0ADD-9A44-A4CD-8E48-356B59E0F44C}"/>
              </a:ext>
            </a:extLst>
          </p:cNvPr>
          <p:cNvSpPr>
            <a:spLocks noGrp="1"/>
          </p:cNvSpPr>
          <p:nvPr/>
        </p:nvSpPr>
        <p:spPr>
          <a:xfrm>
            <a:off x="5742051" y="3733649"/>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FFFFFF"/>
            </a:solidFill>
            <a:prstDash val="solid"/>
          </a:ln>
        </p:spPr>
        <p:txBody>
          <a:bodyPr/>
          <a:lstStyle/>
          <a:p>
            <a:endParaRPr sz="1050"/>
          </a:p>
        </p:txBody>
      </p:sp>
      <p:sp>
        <p:nvSpPr>
          <p:cNvPr id="102" name="TextBox 101">
            <a:extLst>
              <a:ext uri="{FF2B5EF4-FFF2-40B4-BE49-F238E27FC236}">
                <a16:creationId xmlns:a16="http://schemas.microsoft.com/office/drawing/2014/main" id="{344CF1A5-D1D6-4F52-C5B8-318995B25C9E}"/>
              </a:ext>
            </a:extLst>
          </p:cNvPr>
          <p:cNvSpPr>
            <a:spLocks noGrp="1"/>
          </p:cNvSpPr>
          <p:nvPr/>
        </p:nvSpPr>
        <p:spPr>
          <a:xfrm>
            <a:off x="5802061" y="1565364"/>
            <a:ext cx="1686216" cy="236568"/>
          </a:xfrm>
          <a:prstGeom prst="rect">
            <a:avLst/>
          </a:prstGeom>
          <a:noFill/>
        </p:spPr>
        <p:txBody>
          <a:bodyPr wrap="none">
            <a:spAutoFit/>
          </a:bodyPr>
          <a:lstStyle/>
          <a:p>
            <a:pPr algn="l">
              <a:buNone/>
            </a:pPr>
            <a:r>
              <a:rPr sz="800">
                <a:solidFill>
                  <a:srgbClr val="000000"/>
                </a:solidFill>
                <a:latin typeface="Arial"/>
                <a:ea typeface="Arial"/>
                <a:cs typeface="Arial"/>
              </a:rPr>
              <a:t>No entry before ENTRY TIME</a:t>
            </a:r>
          </a:p>
        </p:txBody>
      </p:sp>
      <p:sp>
        <p:nvSpPr>
          <p:cNvPr id="103" name="TextBox 102">
            <a:extLst>
              <a:ext uri="{FF2B5EF4-FFF2-40B4-BE49-F238E27FC236}">
                <a16:creationId xmlns:a16="http://schemas.microsoft.com/office/drawing/2014/main" id="{02ACAB84-EF65-4031-30F5-314400AD383A}"/>
              </a:ext>
            </a:extLst>
          </p:cNvPr>
          <p:cNvSpPr>
            <a:spLocks noGrp="1"/>
          </p:cNvSpPr>
          <p:nvPr/>
        </p:nvSpPr>
        <p:spPr>
          <a:xfrm>
            <a:off x="5802061" y="1773130"/>
            <a:ext cx="2557976" cy="236568"/>
          </a:xfrm>
          <a:prstGeom prst="rect">
            <a:avLst/>
          </a:prstGeom>
          <a:noFill/>
        </p:spPr>
        <p:txBody>
          <a:bodyPr wrap="none">
            <a:spAutoFit/>
          </a:bodyPr>
          <a:lstStyle/>
          <a:p>
            <a:pPr algn="l">
              <a:buNone/>
            </a:pPr>
            <a:r>
              <a:rPr sz="800">
                <a:solidFill>
                  <a:srgbClr val="000000"/>
                </a:solidFill>
                <a:latin typeface="Arial"/>
                <a:ea typeface="Arial"/>
                <a:cs typeface="Arial"/>
              </a:rPr>
              <a:t>Time continuity between consecutive segments</a:t>
            </a:r>
          </a:p>
        </p:txBody>
      </p:sp>
      <p:sp>
        <p:nvSpPr>
          <p:cNvPr id="104" name="TextBox 103">
            <a:extLst>
              <a:ext uri="{FF2B5EF4-FFF2-40B4-BE49-F238E27FC236}">
                <a16:creationId xmlns:a16="http://schemas.microsoft.com/office/drawing/2014/main" id="{F9B412DC-21C2-CC5B-FD3C-54990867FE37}"/>
              </a:ext>
            </a:extLst>
          </p:cNvPr>
          <p:cNvSpPr>
            <a:spLocks noGrp="1"/>
          </p:cNvSpPr>
          <p:nvPr/>
        </p:nvSpPr>
        <p:spPr>
          <a:xfrm>
            <a:off x="5802061" y="1980898"/>
            <a:ext cx="2140440" cy="236568"/>
          </a:xfrm>
          <a:prstGeom prst="rect">
            <a:avLst/>
          </a:prstGeom>
          <a:noFill/>
        </p:spPr>
        <p:txBody>
          <a:bodyPr wrap="none">
            <a:spAutoFit/>
          </a:bodyPr>
          <a:lstStyle/>
          <a:p>
            <a:pPr algn="l">
              <a:buNone/>
            </a:pPr>
            <a:r>
              <a:rPr sz="800">
                <a:solidFill>
                  <a:srgbClr val="000000"/>
                </a:solidFill>
                <a:latin typeface="Arial"/>
                <a:ea typeface="Arial"/>
                <a:cs typeface="Arial"/>
              </a:rPr>
              <a:t>Minimum running time = length / speed</a:t>
            </a:r>
          </a:p>
        </p:txBody>
      </p:sp>
      <p:sp>
        <p:nvSpPr>
          <p:cNvPr id="105" name="TextBox 104">
            <a:extLst>
              <a:ext uri="{FF2B5EF4-FFF2-40B4-BE49-F238E27FC236}">
                <a16:creationId xmlns:a16="http://schemas.microsoft.com/office/drawing/2014/main" id="{E31665D3-2885-B9D6-7C56-9EF8F9E73F9F}"/>
              </a:ext>
            </a:extLst>
          </p:cNvPr>
          <p:cNvSpPr>
            <a:spLocks noGrp="1"/>
          </p:cNvSpPr>
          <p:nvPr/>
        </p:nvSpPr>
        <p:spPr>
          <a:xfrm>
            <a:off x="5802061" y="2188666"/>
            <a:ext cx="2233032" cy="236568"/>
          </a:xfrm>
          <a:prstGeom prst="rect">
            <a:avLst/>
          </a:prstGeom>
          <a:noFill/>
        </p:spPr>
        <p:txBody>
          <a:bodyPr wrap="none">
            <a:spAutoFit/>
          </a:bodyPr>
          <a:lstStyle/>
          <a:p>
            <a:pPr algn="l">
              <a:buNone/>
            </a:pPr>
            <a:r>
              <a:rPr sz="800">
                <a:solidFill>
                  <a:srgbClr val="000000"/>
                </a:solidFill>
                <a:latin typeface="Arial"/>
                <a:ea typeface="Arial"/>
                <a:cs typeface="Arial"/>
              </a:rPr>
              <a:t>Select exactly one track/arc per segment</a:t>
            </a:r>
          </a:p>
        </p:txBody>
      </p:sp>
      <p:sp>
        <p:nvSpPr>
          <p:cNvPr id="106" name="TextBox 105">
            <a:extLst>
              <a:ext uri="{FF2B5EF4-FFF2-40B4-BE49-F238E27FC236}">
                <a16:creationId xmlns:a16="http://schemas.microsoft.com/office/drawing/2014/main" id="{FAD81F98-7F36-5036-B184-81D45B3B55CE}"/>
              </a:ext>
            </a:extLst>
          </p:cNvPr>
          <p:cNvSpPr>
            <a:spLocks noGrp="1"/>
          </p:cNvSpPr>
          <p:nvPr/>
        </p:nvSpPr>
        <p:spPr>
          <a:xfrm>
            <a:off x="5802061" y="2396433"/>
            <a:ext cx="2682013" cy="236568"/>
          </a:xfrm>
          <a:prstGeom prst="rect">
            <a:avLst/>
          </a:prstGeom>
          <a:noFill/>
        </p:spPr>
        <p:txBody>
          <a:bodyPr wrap="none">
            <a:spAutoFit/>
          </a:bodyPr>
          <a:lstStyle/>
          <a:p>
            <a:pPr algn="l">
              <a:buNone/>
            </a:pPr>
            <a:r>
              <a:rPr sz="800">
                <a:solidFill>
                  <a:srgbClr val="000000"/>
                </a:solidFill>
                <a:latin typeface="Arial"/>
                <a:ea typeface="Arial"/>
                <a:cs typeface="Arial"/>
              </a:rPr>
              <a:t>Minimum 300-second headway on same segment</a:t>
            </a:r>
          </a:p>
        </p:txBody>
      </p:sp>
      <p:sp>
        <p:nvSpPr>
          <p:cNvPr id="107" name="TextBox 106">
            <a:extLst>
              <a:ext uri="{FF2B5EF4-FFF2-40B4-BE49-F238E27FC236}">
                <a16:creationId xmlns:a16="http://schemas.microsoft.com/office/drawing/2014/main" id="{D98C7260-7C2B-6867-21E6-A95F62EEA18D}"/>
              </a:ext>
            </a:extLst>
          </p:cNvPr>
          <p:cNvSpPr>
            <a:spLocks noGrp="1"/>
          </p:cNvSpPr>
          <p:nvPr/>
        </p:nvSpPr>
        <p:spPr>
          <a:xfrm>
            <a:off x="5802061" y="2604201"/>
            <a:ext cx="1712422" cy="236568"/>
          </a:xfrm>
          <a:prstGeom prst="rect">
            <a:avLst/>
          </a:prstGeom>
          <a:noFill/>
        </p:spPr>
        <p:txBody>
          <a:bodyPr wrap="none">
            <a:spAutoFit/>
          </a:bodyPr>
          <a:lstStyle/>
          <a:p>
            <a:pPr algn="l">
              <a:buNone/>
            </a:pPr>
            <a:r>
              <a:rPr sz="800">
                <a:solidFill>
                  <a:srgbClr val="000000"/>
                </a:solidFill>
                <a:latin typeface="Arial"/>
                <a:ea typeface="Arial"/>
                <a:cs typeface="Arial"/>
              </a:rPr>
              <a:t>MOW time-window restrictions</a:t>
            </a:r>
          </a:p>
        </p:txBody>
      </p:sp>
      <p:sp>
        <p:nvSpPr>
          <p:cNvPr id="108" name="TextBox 107">
            <a:extLst>
              <a:ext uri="{FF2B5EF4-FFF2-40B4-BE49-F238E27FC236}">
                <a16:creationId xmlns:a16="http://schemas.microsoft.com/office/drawing/2014/main" id="{0053940C-3551-077C-82B3-230F664571F6}"/>
              </a:ext>
            </a:extLst>
          </p:cNvPr>
          <p:cNvSpPr>
            <a:spLocks noGrp="1"/>
          </p:cNvSpPr>
          <p:nvPr/>
        </p:nvSpPr>
        <p:spPr>
          <a:xfrm>
            <a:off x="5802061" y="2811968"/>
            <a:ext cx="1375248" cy="236568"/>
          </a:xfrm>
          <a:prstGeom prst="rect">
            <a:avLst/>
          </a:prstGeom>
          <a:noFill/>
        </p:spPr>
        <p:txBody>
          <a:bodyPr wrap="none">
            <a:spAutoFit/>
          </a:bodyPr>
          <a:lstStyle/>
          <a:p>
            <a:pPr algn="l">
              <a:buNone/>
            </a:pPr>
            <a:r>
              <a:rPr sz="800">
                <a:solidFill>
                  <a:srgbClr val="000000"/>
                </a:solidFill>
                <a:latin typeface="Arial"/>
                <a:ea typeface="Arial"/>
                <a:cs typeface="Arial"/>
              </a:rPr>
              <a:t>Length limits for sidings</a:t>
            </a:r>
          </a:p>
        </p:txBody>
      </p:sp>
      <p:sp>
        <p:nvSpPr>
          <p:cNvPr id="109" name="TextBox 108">
            <a:extLst>
              <a:ext uri="{FF2B5EF4-FFF2-40B4-BE49-F238E27FC236}">
                <a16:creationId xmlns:a16="http://schemas.microsoft.com/office/drawing/2014/main" id="{AB5C4E81-D9DA-890B-6D09-C356AAE6A088}"/>
              </a:ext>
            </a:extLst>
          </p:cNvPr>
          <p:cNvSpPr>
            <a:spLocks noGrp="1"/>
          </p:cNvSpPr>
          <p:nvPr/>
        </p:nvSpPr>
        <p:spPr>
          <a:xfrm>
            <a:off x="5802061" y="3019736"/>
            <a:ext cx="1857423" cy="236568"/>
          </a:xfrm>
          <a:prstGeom prst="rect">
            <a:avLst/>
          </a:prstGeom>
          <a:noFill/>
        </p:spPr>
        <p:txBody>
          <a:bodyPr wrap="none">
            <a:spAutoFit/>
          </a:bodyPr>
          <a:lstStyle/>
          <a:p>
            <a:pPr algn="l">
              <a:buNone/>
            </a:pPr>
            <a:r>
              <a:rPr sz="800">
                <a:solidFill>
                  <a:srgbClr val="000000"/>
                </a:solidFill>
                <a:latin typeface="Arial"/>
                <a:ea typeface="Arial"/>
                <a:cs typeface="Arial"/>
              </a:rPr>
              <a:t>Hazmat trains cannot use sidings</a:t>
            </a:r>
          </a:p>
        </p:txBody>
      </p:sp>
      <p:sp>
        <p:nvSpPr>
          <p:cNvPr id="110" name="TextBox 109">
            <a:extLst>
              <a:ext uri="{FF2B5EF4-FFF2-40B4-BE49-F238E27FC236}">
                <a16:creationId xmlns:a16="http://schemas.microsoft.com/office/drawing/2014/main" id="{BF0A0E12-D6DE-8059-BAC2-D013315D5F4E}"/>
              </a:ext>
            </a:extLst>
          </p:cNvPr>
          <p:cNvSpPr>
            <a:spLocks noGrp="1"/>
          </p:cNvSpPr>
          <p:nvPr/>
        </p:nvSpPr>
        <p:spPr>
          <a:xfrm>
            <a:off x="5802061" y="3227502"/>
            <a:ext cx="1950015" cy="236568"/>
          </a:xfrm>
          <a:prstGeom prst="rect">
            <a:avLst/>
          </a:prstGeom>
          <a:noFill/>
        </p:spPr>
        <p:txBody>
          <a:bodyPr wrap="none">
            <a:spAutoFit/>
          </a:bodyPr>
          <a:lstStyle/>
          <a:p>
            <a:pPr algn="l">
              <a:buNone/>
            </a:pPr>
            <a:r>
              <a:rPr sz="800">
                <a:solidFill>
                  <a:srgbClr val="000000"/>
                </a:solidFill>
                <a:latin typeface="Arial"/>
                <a:ea typeface="Arial"/>
                <a:cs typeface="Arial"/>
              </a:rPr>
              <a:t>No overtaking for certain train pairs</a:t>
            </a:r>
          </a:p>
        </p:txBody>
      </p:sp>
      <p:sp>
        <p:nvSpPr>
          <p:cNvPr id="111" name="TextBox 110">
            <a:extLst>
              <a:ext uri="{FF2B5EF4-FFF2-40B4-BE49-F238E27FC236}">
                <a16:creationId xmlns:a16="http://schemas.microsoft.com/office/drawing/2014/main" id="{3BAA14B3-907C-268D-D101-D7F011517A5C}"/>
              </a:ext>
            </a:extLst>
          </p:cNvPr>
          <p:cNvSpPr>
            <a:spLocks noGrp="1"/>
          </p:cNvSpPr>
          <p:nvPr/>
        </p:nvSpPr>
        <p:spPr>
          <a:xfrm>
            <a:off x="5802061" y="3435270"/>
            <a:ext cx="2039112" cy="236568"/>
          </a:xfrm>
          <a:prstGeom prst="rect">
            <a:avLst/>
          </a:prstGeom>
          <a:noFill/>
        </p:spPr>
        <p:txBody>
          <a:bodyPr wrap="none">
            <a:spAutoFit/>
          </a:bodyPr>
          <a:lstStyle/>
          <a:p>
            <a:pPr algn="l">
              <a:buNone/>
            </a:pPr>
            <a:r>
              <a:rPr sz="800">
                <a:solidFill>
                  <a:srgbClr val="000000"/>
                </a:solidFill>
                <a:latin typeface="Arial"/>
                <a:ea typeface="Arial"/>
                <a:cs typeface="Arial"/>
              </a:rPr>
              <a:t>Penalties for SA and TWT deviations</a:t>
            </a:r>
          </a:p>
        </p:txBody>
      </p:sp>
      <p:sp>
        <p:nvSpPr>
          <p:cNvPr id="112" name="TextBox 111">
            <a:extLst>
              <a:ext uri="{FF2B5EF4-FFF2-40B4-BE49-F238E27FC236}">
                <a16:creationId xmlns:a16="http://schemas.microsoft.com/office/drawing/2014/main" id="{1EE8C641-8751-EC0E-F059-8F2094B426CA}"/>
              </a:ext>
            </a:extLst>
          </p:cNvPr>
          <p:cNvSpPr>
            <a:spLocks noGrp="1"/>
          </p:cNvSpPr>
          <p:nvPr/>
        </p:nvSpPr>
        <p:spPr>
          <a:xfrm>
            <a:off x="5802061" y="3643037"/>
            <a:ext cx="2213814" cy="236568"/>
          </a:xfrm>
          <a:prstGeom prst="rect">
            <a:avLst/>
          </a:prstGeom>
          <a:noFill/>
        </p:spPr>
        <p:txBody>
          <a:bodyPr wrap="none">
            <a:spAutoFit/>
          </a:bodyPr>
          <a:lstStyle/>
          <a:p>
            <a:pPr algn="l">
              <a:buNone/>
            </a:pPr>
            <a:r>
              <a:rPr sz="800">
                <a:solidFill>
                  <a:srgbClr val="000000"/>
                </a:solidFill>
                <a:latin typeface="Arial"/>
                <a:ea typeface="Arial"/>
                <a:cs typeface="Arial"/>
              </a:rPr>
              <a:t>Maximum delay limit (for some datasets)</a:t>
            </a:r>
          </a:p>
        </p:txBody>
      </p:sp>
      <p:sp>
        <p:nvSpPr>
          <p:cNvPr id="113" name="Freeform 112">
            <a:extLst>
              <a:ext uri="{FF2B5EF4-FFF2-40B4-BE49-F238E27FC236}">
                <a16:creationId xmlns:a16="http://schemas.microsoft.com/office/drawing/2014/main" id="{D6529E79-5976-6819-1978-D8C19E287422}"/>
              </a:ext>
            </a:extLst>
          </p:cNvPr>
          <p:cNvSpPr>
            <a:spLocks noGrp="1"/>
          </p:cNvSpPr>
          <p:nvPr/>
        </p:nvSpPr>
        <p:spPr>
          <a:xfrm>
            <a:off x="8480432" y="2562572"/>
            <a:ext cx="262099" cy="6702"/>
          </a:xfrm>
          <a:custGeom>
            <a:avLst/>
            <a:gdLst>
              <a:gd name="csX0" fmla="*/ 0 w 197346"/>
              <a:gd name="csY0" fmla="*/ 0 h 5060"/>
              <a:gd name="csX1" fmla="*/ 197346 w 197346"/>
              <a:gd name="csY1" fmla="*/ 0 h 5060"/>
            </a:gdLst>
            <a:ahLst/>
            <a:cxnLst/>
            <a:rect l="l" t="t" r="r" b="b"/>
            <a:pathLst>
              <a:path w="197346" h="5060">
                <a:moveTo>
                  <a:pt x="0" y="0"/>
                </a:moveTo>
                <a:lnTo>
                  <a:pt x="197346" y="0"/>
                </a:lnTo>
              </a:path>
            </a:pathLst>
          </a:custGeom>
          <a:solidFill>
            <a:srgbClr val="000000"/>
          </a:solidFill>
          <a:ln w="45541">
            <a:solidFill>
              <a:srgbClr val="333D47"/>
            </a:solidFill>
            <a:prstDash val="solid"/>
          </a:ln>
        </p:spPr>
        <p:txBody>
          <a:bodyPr/>
          <a:lstStyle/>
          <a:p>
            <a:endParaRPr sz="1050"/>
          </a:p>
        </p:txBody>
      </p:sp>
      <p:sp>
        <p:nvSpPr>
          <p:cNvPr id="115" name="Rounded Rectangle 114">
            <a:extLst>
              <a:ext uri="{FF2B5EF4-FFF2-40B4-BE49-F238E27FC236}">
                <a16:creationId xmlns:a16="http://schemas.microsoft.com/office/drawing/2014/main" id="{207E80CE-735C-89B7-AD23-341965491A54}"/>
              </a:ext>
            </a:extLst>
          </p:cNvPr>
          <p:cNvSpPr>
            <a:spLocks noGrp="1"/>
          </p:cNvSpPr>
          <p:nvPr/>
        </p:nvSpPr>
        <p:spPr>
          <a:xfrm>
            <a:off x="8746119" y="992460"/>
            <a:ext cx="2385781" cy="743940"/>
          </a:xfrm>
          <a:prstGeom prst="roundRect">
            <a:avLst>
              <a:gd name="adj" fmla="val 9909"/>
            </a:avLst>
          </a:prstGeom>
          <a:noFill/>
          <a:ln w="6072">
            <a:solidFill>
              <a:srgbClr val="9299A1"/>
            </a:solidFill>
            <a:prstDash val="solid"/>
          </a:ln>
        </p:spPr>
        <p:txBody>
          <a:bodyPr/>
          <a:lstStyle/>
          <a:p>
            <a:endParaRPr sz="1050"/>
          </a:p>
        </p:txBody>
      </p:sp>
      <p:sp>
        <p:nvSpPr>
          <p:cNvPr id="116" name="TextBox 115">
            <a:extLst>
              <a:ext uri="{FF2B5EF4-FFF2-40B4-BE49-F238E27FC236}">
                <a16:creationId xmlns:a16="http://schemas.microsoft.com/office/drawing/2014/main" id="{C68553B3-BD56-76CE-4ECC-5E3C4BCF310D}"/>
              </a:ext>
            </a:extLst>
          </p:cNvPr>
          <p:cNvSpPr>
            <a:spLocks noGrp="1"/>
          </p:cNvSpPr>
          <p:nvPr/>
        </p:nvSpPr>
        <p:spPr>
          <a:xfrm>
            <a:off x="9529625" y="1011621"/>
            <a:ext cx="774276" cy="270363"/>
          </a:xfrm>
          <a:prstGeom prst="rect">
            <a:avLst/>
          </a:prstGeom>
          <a:noFill/>
        </p:spPr>
        <p:txBody>
          <a:bodyPr wrap="none">
            <a:spAutoFit/>
          </a:bodyPr>
          <a:lstStyle/>
          <a:p>
            <a:pPr algn="l">
              <a:buNone/>
            </a:pPr>
            <a:r>
              <a:rPr sz="1000" b="1">
                <a:solidFill>
                  <a:srgbClr val="123B78"/>
                </a:solidFill>
                <a:latin typeface="Arial"/>
                <a:ea typeface="Arial"/>
                <a:cs typeface="Arial"/>
              </a:rPr>
              <a:t>SOLVER</a:t>
            </a:r>
          </a:p>
        </p:txBody>
      </p:sp>
      <p:sp>
        <p:nvSpPr>
          <p:cNvPr id="117" name="Rounded Rectangle 116">
            <a:extLst>
              <a:ext uri="{FF2B5EF4-FFF2-40B4-BE49-F238E27FC236}">
                <a16:creationId xmlns:a16="http://schemas.microsoft.com/office/drawing/2014/main" id="{1EB3FB18-3F4A-471E-B58C-2DD8AF422163}"/>
              </a:ext>
            </a:extLst>
          </p:cNvPr>
          <p:cNvSpPr>
            <a:spLocks noGrp="1"/>
          </p:cNvSpPr>
          <p:nvPr/>
        </p:nvSpPr>
        <p:spPr>
          <a:xfrm>
            <a:off x="9187533" y="1224841"/>
            <a:ext cx="1458350" cy="408831"/>
          </a:xfrm>
          <a:prstGeom prst="roundRect">
            <a:avLst>
              <a:gd name="adj" fmla="val 13114"/>
            </a:avLst>
          </a:prstGeom>
          <a:noFill/>
          <a:ln w="6072">
            <a:solidFill>
              <a:srgbClr val="244374"/>
            </a:solidFill>
            <a:prstDash val="solid"/>
          </a:ln>
        </p:spPr>
        <p:txBody>
          <a:bodyPr/>
          <a:lstStyle/>
          <a:p>
            <a:endParaRPr sz="1050"/>
          </a:p>
        </p:txBody>
      </p:sp>
      <p:sp>
        <p:nvSpPr>
          <p:cNvPr id="119" name="TextBox 118">
            <a:extLst>
              <a:ext uri="{FF2B5EF4-FFF2-40B4-BE49-F238E27FC236}">
                <a16:creationId xmlns:a16="http://schemas.microsoft.com/office/drawing/2014/main" id="{D1B59569-02EA-A495-1EEE-E32277830350}"/>
              </a:ext>
            </a:extLst>
          </p:cNvPr>
          <p:cNvSpPr>
            <a:spLocks noGrp="1"/>
          </p:cNvSpPr>
          <p:nvPr/>
        </p:nvSpPr>
        <p:spPr>
          <a:xfrm>
            <a:off x="9457051" y="1326590"/>
            <a:ext cx="1000595" cy="246220"/>
          </a:xfrm>
          <a:prstGeom prst="rect">
            <a:avLst/>
          </a:prstGeom>
          <a:noFill/>
        </p:spPr>
        <p:txBody>
          <a:bodyPr wrap="none">
            <a:spAutoFit/>
          </a:bodyPr>
          <a:lstStyle/>
          <a:p>
            <a:pPr algn="l">
              <a:buNone/>
            </a:pPr>
            <a:r>
              <a:rPr sz="1000">
                <a:solidFill>
                  <a:srgbClr val="000000"/>
                </a:solidFill>
                <a:latin typeface="Arial"/>
                <a:ea typeface="Arial"/>
                <a:cs typeface="Arial"/>
              </a:rPr>
              <a:t>CPLEX Solver</a:t>
            </a:r>
            <a:endParaRPr sz="1000" spc="0" baseline="0">
              <a:solidFill>
                <a:srgbClr val="000000"/>
              </a:solidFill>
              <a:latin typeface="Arial"/>
              <a:ea typeface="Arial"/>
              <a:cs typeface="Arial"/>
            </a:endParaRPr>
          </a:p>
        </p:txBody>
      </p:sp>
      <p:sp>
        <p:nvSpPr>
          <p:cNvPr id="120" name="Rounded Rectangle 119">
            <a:extLst>
              <a:ext uri="{FF2B5EF4-FFF2-40B4-BE49-F238E27FC236}">
                <a16:creationId xmlns:a16="http://schemas.microsoft.com/office/drawing/2014/main" id="{894965D1-58B4-476F-F935-24B4F13AE89A}"/>
              </a:ext>
            </a:extLst>
          </p:cNvPr>
          <p:cNvSpPr>
            <a:spLocks noGrp="1"/>
          </p:cNvSpPr>
          <p:nvPr/>
        </p:nvSpPr>
        <p:spPr>
          <a:xfrm>
            <a:off x="8773002" y="1843636"/>
            <a:ext cx="2372341" cy="851174"/>
          </a:xfrm>
          <a:prstGeom prst="roundRect">
            <a:avLst>
              <a:gd name="adj" fmla="val 10236"/>
            </a:avLst>
          </a:prstGeom>
          <a:noFill/>
          <a:ln w="8096">
            <a:solidFill>
              <a:srgbClr val="2B6FDE"/>
            </a:solidFill>
          </a:ln>
        </p:spPr>
        <p:txBody>
          <a:bodyPr/>
          <a:lstStyle/>
          <a:p>
            <a:endParaRPr sz="1050"/>
          </a:p>
        </p:txBody>
      </p:sp>
      <p:sp>
        <p:nvSpPr>
          <p:cNvPr id="122" name="Freeform 121">
            <a:extLst>
              <a:ext uri="{FF2B5EF4-FFF2-40B4-BE49-F238E27FC236}">
                <a16:creationId xmlns:a16="http://schemas.microsoft.com/office/drawing/2014/main" id="{50F0F156-67CD-82AE-8947-B57B9025DF41}"/>
              </a:ext>
            </a:extLst>
          </p:cNvPr>
          <p:cNvSpPr>
            <a:spLocks noGrp="1"/>
          </p:cNvSpPr>
          <p:nvPr/>
        </p:nvSpPr>
        <p:spPr>
          <a:xfrm>
            <a:off x="9021661" y="1970977"/>
            <a:ext cx="1969109" cy="160851"/>
          </a:xfrm>
          <a:custGeom>
            <a:avLst/>
            <a:gdLst>
              <a:gd name="csX0" fmla="*/ 0 w 1482625"/>
              <a:gd name="csY0" fmla="*/ 0 h 121443"/>
              <a:gd name="csX1" fmla="*/ 237827 w 1482625"/>
              <a:gd name="csY1" fmla="*/ 0 h 121443"/>
              <a:gd name="csX2" fmla="*/ 521196 w 1482625"/>
              <a:gd name="csY2" fmla="*/ 121444 h 121443"/>
              <a:gd name="csX3" fmla="*/ 931069 w 1482625"/>
              <a:gd name="csY3" fmla="*/ 121444 h 121443"/>
              <a:gd name="csX4" fmla="*/ 1285280 w 1482625"/>
              <a:gd name="csY4" fmla="*/ 121444 h 121443"/>
              <a:gd name="csX5" fmla="*/ 1482626 w 1482625"/>
              <a:gd name="csY5" fmla="*/ 121444 h 121443"/>
            </a:gdLst>
            <a:ahLst/>
            <a:cxnLst/>
            <a:rect l="l" t="t" r="r" b="b"/>
            <a:pathLst>
              <a:path w="1482625" h="121443">
                <a:moveTo>
                  <a:pt x="0" y="0"/>
                </a:moveTo>
                <a:lnTo>
                  <a:pt x="237827" y="0"/>
                </a:lnTo>
                <a:lnTo>
                  <a:pt x="521196" y="121444"/>
                </a:lnTo>
                <a:lnTo>
                  <a:pt x="931069" y="121444"/>
                </a:lnTo>
                <a:lnTo>
                  <a:pt x="1285280" y="121444"/>
                </a:lnTo>
                <a:lnTo>
                  <a:pt x="1482626" y="121444"/>
                </a:lnTo>
              </a:path>
            </a:pathLst>
          </a:custGeom>
          <a:noFill/>
          <a:ln w="10120">
            <a:solidFill>
              <a:srgbClr val="347A3C"/>
            </a:solidFill>
            <a:prstDash val="solid"/>
          </a:ln>
        </p:spPr>
        <p:txBody>
          <a:bodyPr/>
          <a:lstStyle/>
          <a:p>
            <a:endParaRPr sz="1050"/>
          </a:p>
        </p:txBody>
      </p:sp>
      <p:sp>
        <p:nvSpPr>
          <p:cNvPr id="123" name="Freeform 122">
            <a:extLst>
              <a:ext uri="{FF2B5EF4-FFF2-40B4-BE49-F238E27FC236}">
                <a16:creationId xmlns:a16="http://schemas.microsoft.com/office/drawing/2014/main" id="{9697D0E6-7FDA-9D80-535A-179CA430414B}"/>
              </a:ext>
            </a:extLst>
          </p:cNvPr>
          <p:cNvSpPr>
            <a:spLocks noGrp="1"/>
          </p:cNvSpPr>
          <p:nvPr/>
        </p:nvSpPr>
        <p:spPr>
          <a:xfrm>
            <a:off x="9021661" y="1970977"/>
            <a:ext cx="1969109" cy="428939"/>
          </a:xfrm>
          <a:custGeom>
            <a:avLst/>
            <a:gdLst>
              <a:gd name="csX0" fmla="*/ 0 w 1482625"/>
              <a:gd name="csY0" fmla="*/ 242888 h 323850"/>
              <a:gd name="csX1" fmla="*/ 237827 w 1482625"/>
              <a:gd name="csY1" fmla="*/ 242888 h 323850"/>
              <a:gd name="csX2" fmla="*/ 602159 w 1482625"/>
              <a:gd name="csY2" fmla="*/ 323850 h 323850"/>
              <a:gd name="csX3" fmla="*/ 931069 w 1482625"/>
              <a:gd name="csY3" fmla="*/ 0 h 323850"/>
              <a:gd name="csX4" fmla="*/ 1285280 w 1482625"/>
              <a:gd name="csY4" fmla="*/ 0 h 323850"/>
              <a:gd name="csX5" fmla="*/ 1482626 w 1482625"/>
              <a:gd name="csY5" fmla="*/ 0 h 323850"/>
            </a:gdLst>
            <a:ahLst/>
            <a:cxnLst/>
            <a:rect l="l" t="t" r="r" b="b"/>
            <a:pathLst>
              <a:path w="1482625" h="323850">
                <a:moveTo>
                  <a:pt x="0" y="242888"/>
                </a:moveTo>
                <a:lnTo>
                  <a:pt x="237827" y="242888"/>
                </a:lnTo>
                <a:lnTo>
                  <a:pt x="602159" y="323850"/>
                </a:lnTo>
                <a:lnTo>
                  <a:pt x="931069" y="0"/>
                </a:lnTo>
                <a:lnTo>
                  <a:pt x="1285280" y="0"/>
                </a:lnTo>
                <a:lnTo>
                  <a:pt x="1482626" y="0"/>
                </a:lnTo>
              </a:path>
            </a:pathLst>
          </a:custGeom>
          <a:noFill/>
          <a:ln w="10120">
            <a:solidFill>
              <a:srgbClr val="163F91"/>
            </a:solidFill>
            <a:prstDash val="solid"/>
          </a:ln>
        </p:spPr>
        <p:txBody>
          <a:bodyPr/>
          <a:lstStyle/>
          <a:p>
            <a:endParaRPr sz="1050"/>
          </a:p>
        </p:txBody>
      </p:sp>
      <p:sp>
        <p:nvSpPr>
          <p:cNvPr id="124" name="Freeform 123">
            <a:extLst>
              <a:ext uri="{FF2B5EF4-FFF2-40B4-BE49-F238E27FC236}">
                <a16:creationId xmlns:a16="http://schemas.microsoft.com/office/drawing/2014/main" id="{ED295BCF-9B3A-37F7-C5C5-45BEB991B4B3}"/>
              </a:ext>
            </a:extLst>
          </p:cNvPr>
          <p:cNvSpPr>
            <a:spLocks noGrp="1"/>
          </p:cNvSpPr>
          <p:nvPr/>
        </p:nvSpPr>
        <p:spPr>
          <a:xfrm>
            <a:off x="9021661" y="2292681"/>
            <a:ext cx="1969109" cy="254681"/>
          </a:xfrm>
          <a:custGeom>
            <a:avLst/>
            <a:gdLst>
              <a:gd name="csX0" fmla="*/ 0 w 1482625"/>
              <a:gd name="csY0" fmla="*/ 0 h 192285"/>
              <a:gd name="csX1" fmla="*/ 237827 w 1482625"/>
              <a:gd name="csY1" fmla="*/ 0 h 192285"/>
              <a:gd name="csX2" fmla="*/ 602159 w 1482625"/>
              <a:gd name="csY2" fmla="*/ 80963 h 192285"/>
              <a:gd name="csX3" fmla="*/ 931069 w 1482625"/>
              <a:gd name="csY3" fmla="*/ 192286 h 192285"/>
              <a:gd name="csX4" fmla="*/ 1285280 w 1482625"/>
              <a:gd name="csY4" fmla="*/ 192286 h 192285"/>
              <a:gd name="csX5" fmla="*/ 1482626 w 1482625"/>
              <a:gd name="csY5" fmla="*/ 192286 h 192285"/>
            </a:gdLst>
            <a:ahLst/>
            <a:cxnLst/>
            <a:rect l="l" t="t" r="r" b="b"/>
            <a:pathLst>
              <a:path w="1482625" h="192285">
                <a:moveTo>
                  <a:pt x="0" y="0"/>
                </a:moveTo>
                <a:lnTo>
                  <a:pt x="237827" y="0"/>
                </a:lnTo>
                <a:lnTo>
                  <a:pt x="602159" y="80963"/>
                </a:lnTo>
                <a:lnTo>
                  <a:pt x="931069" y="192286"/>
                </a:lnTo>
                <a:lnTo>
                  <a:pt x="1285280" y="192286"/>
                </a:lnTo>
                <a:lnTo>
                  <a:pt x="1482626" y="192286"/>
                </a:lnTo>
              </a:path>
            </a:pathLst>
          </a:custGeom>
          <a:noFill/>
          <a:ln w="10120">
            <a:solidFill>
              <a:srgbClr val="163F91"/>
            </a:solidFill>
            <a:prstDash val="solid"/>
          </a:ln>
        </p:spPr>
        <p:txBody>
          <a:bodyPr/>
          <a:lstStyle/>
          <a:p>
            <a:endParaRPr sz="1050"/>
          </a:p>
        </p:txBody>
      </p:sp>
      <p:sp>
        <p:nvSpPr>
          <p:cNvPr id="125" name="Freeform 124">
            <a:extLst>
              <a:ext uri="{FF2B5EF4-FFF2-40B4-BE49-F238E27FC236}">
                <a16:creationId xmlns:a16="http://schemas.microsoft.com/office/drawing/2014/main" id="{A3D17A2F-D009-9644-0E8D-D0F9A7169D17}"/>
              </a:ext>
            </a:extLst>
          </p:cNvPr>
          <p:cNvSpPr>
            <a:spLocks noGrp="1"/>
          </p:cNvSpPr>
          <p:nvPr/>
        </p:nvSpPr>
        <p:spPr>
          <a:xfrm>
            <a:off x="9505538" y="2399917"/>
            <a:ext cx="315863" cy="167553"/>
          </a:xfrm>
          <a:custGeom>
            <a:avLst/>
            <a:gdLst>
              <a:gd name="csX0" fmla="*/ 237827 w 237827"/>
              <a:gd name="csY0" fmla="*/ 0 h 126503"/>
              <a:gd name="csX1" fmla="*/ 0 w 237827"/>
              <a:gd name="csY1" fmla="*/ 126504 h 126503"/>
            </a:gdLst>
            <a:ahLst/>
            <a:cxnLst/>
            <a:rect l="l" t="t" r="r" b="b"/>
            <a:pathLst>
              <a:path w="237827" h="126503">
                <a:moveTo>
                  <a:pt x="237827" y="0"/>
                </a:moveTo>
                <a:lnTo>
                  <a:pt x="0" y="126504"/>
                </a:lnTo>
              </a:path>
            </a:pathLst>
          </a:custGeom>
          <a:noFill/>
          <a:ln w="10120">
            <a:solidFill>
              <a:srgbClr val="34209E"/>
            </a:solidFill>
            <a:prstDash val="solid"/>
          </a:ln>
        </p:spPr>
        <p:txBody>
          <a:bodyPr/>
          <a:lstStyle/>
          <a:p>
            <a:endParaRPr sz="1050"/>
          </a:p>
        </p:txBody>
      </p:sp>
      <p:sp>
        <p:nvSpPr>
          <p:cNvPr id="126" name="Freeform 125">
            <a:extLst>
              <a:ext uri="{FF2B5EF4-FFF2-40B4-BE49-F238E27FC236}">
                <a16:creationId xmlns:a16="http://schemas.microsoft.com/office/drawing/2014/main" id="{F6DFDD35-08A7-2AE9-189A-C7F812E66C66}"/>
              </a:ext>
            </a:extLst>
          </p:cNvPr>
          <p:cNvSpPr>
            <a:spLocks noGrp="1"/>
          </p:cNvSpPr>
          <p:nvPr/>
        </p:nvSpPr>
        <p:spPr>
          <a:xfrm>
            <a:off x="10258236" y="1970977"/>
            <a:ext cx="470434" cy="576583"/>
          </a:xfrm>
          <a:custGeom>
            <a:avLst/>
            <a:gdLst>
              <a:gd name="csX0" fmla="*/ 0 w 354210"/>
              <a:gd name="csY0" fmla="*/ 435173 h 435322"/>
              <a:gd name="csX1" fmla="*/ 354211 w 354210"/>
              <a:gd name="csY1" fmla="*/ 273248 h 435322"/>
              <a:gd name="csX2" fmla="*/ 354211 w 354210"/>
              <a:gd name="csY2" fmla="*/ 0 h 435322"/>
            </a:gdLst>
            <a:ahLst/>
            <a:cxnLst/>
            <a:rect l="l" t="t" r="r" b="b"/>
            <a:pathLst>
              <a:path w="354210" h="435322">
                <a:moveTo>
                  <a:pt x="0" y="435173"/>
                </a:moveTo>
                <a:cubicBezTo>
                  <a:pt x="151805" y="438547"/>
                  <a:pt x="269875" y="384572"/>
                  <a:pt x="354211" y="273248"/>
                </a:cubicBezTo>
                <a:lnTo>
                  <a:pt x="354211" y="0"/>
                </a:lnTo>
              </a:path>
            </a:pathLst>
          </a:custGeom>
          <a:noFill/>
          <a:ln w="10120">
            <a:solidFill>
              <a:srgbClr val="F07B21"/>
            </a:solidFill>
            <a:prstDash val="solid"/>
          </a:ln>
        </p:spPr>
        <p:txBody>
          <a:bodyPr/>
          <a:lstStyle/>
          <a:p>
            <a:endParaRPr sz="1050"/>
          </a:p>
        </p:txBody>
      </p:sp>
      <p:sp>
        <p:nvSpPr>
          <p:cNvPr id="128" name="Oval 127">
            <a:extLst>
              <a:ext uri="{FF2B5EF4-FFF2-40B4-BE49-F238E27FC236}">
                <a16:creationId xmlns:a16="http://schemas.microsoft.com/office/drawing/2014/main" id="{9C9E9B00-16C8-8DFB-4B0C-5CC821DD1DC1}"/>
              </a:ext>
            </a:extLst>
          </p:cNvPr>
          <p:cNvSpPr>
            <a:spLocks noGrp="1"/>
          </p:cNvSpPr>
          <p:nvPr/>
        </p:nvSpPr>
        <p:spPr>
          <a:xfrm>
            <a:off x="8981338" y="1930764"/>
            <a:ext cx="80645" cy="80424"/>
          </a:xfrm>
          <a:prstGeom prst="ellipse">
            <a:avLst/>
          </a:prstGeom>
          <a:noFill/>
          <a:ln w="10120">
            <a:solidFill>
              <a:srgbClr val="347A3C"/>
            </a:solidFill>
            <a:prstDash val="solid"/>
          </a:ln>
        </p:spPr>
        <p:txBody>
          <a:bodyPr/>
          <a:lstStyle/>
          <a:p>
            <a:endParaRPr sz="1050"/>
          </a:p>
        </p:txBody>
      </p:sp>
      <p:sp>
        <p:nvSpPr>
          <p:cNvPr id="129" name="Oval 128">
            <a:extLst>
              <a:ext uri="{FF2B5EF4-FFF2-40B4-BE49-F238E27FC236}">
                <a16:creationId xmlns:a16="http://schemas.microsoft.com/office/drawing/2014/main" id="{751AEC4C-6EDE-7A31-6D40-FA4B10331C24}"/>
              </a:ext>
            </a:extLst>
          </p:cNvPr>
          <p:cNvSpPr>
            <a:spLocks noGrp="1"/>
          </p:cNvSpPr>
          <p:nvPr/>
        </p:nvSpPr>
        <p:spPr>
          <a:xfrm>
            <a:off x="9297202" y="1930764"/>
            <a:ext cx="80645" cy="80424"/>
          </a:xfrm>
          <a:prstGeom prst="ellipse">
            <a:avLst/>
          </a:prstGeom>
          <a:noFill/>
          <a:ln w="10120">
            <a:solidFill>
              <a:srgbClr val="347A3C"/>
            </a:solidFill>
            <a:prstDash val="solid"/>
          </a:ln>
        </p:spPr>
        <p:txBody>
          <a:bodyPr/>
          <a:lstStyle/>
          <a:p>
            <a:endParaRPr sz="1050"/>
          </a:p>
        </p:txBody>
      </p:sp>
      <p:sp>
        <p:nvSpPr>
          <p:cNvPr id="130" name="Oval 129">
            <a:extLst>
              <a:ext uri="{FF2B5EF4-FFF2-40B4-BE49-F238E27FC236}">
                <a16:creationId xmlns:a16="http://schemas.microsoft.com/office/drawing/2014/main" id="{5530364B-AD50-7271-EB02-BAEA6EC5FBB9}"/>
              </a:ext>
            </a:extLst>
          </p:cNvPr>
          <p:cNvSpPr>
            <a:spLocks noGrp="1"/>
          </p:cNvSpPr>
          <p:nvPr/>
        </p:nvSpPr>
        <p:spPr>
          <a:xfrm>
            <a:off x="9673551" y="2091616"/>
            <a:ext cx="80645" cy="80424"/>
          </a:xfrm>
          <a:prstGeom prst="ellipse">
            <a:avLst/>
          </a:prstGeom>
          <a:noFill/>
          <a:ln w="10120">
            <a:solidFill>
              <a:srgbClr val="347A3C"/>
            </a:solidFill>
            <a:prstDash val="solid"/>
          </a:ln>
        </p:spPr>
        <p:txBody>
          <a:bodyPr/>
          <a:lstStyle/>
          <a:p>
            <a:endParaRPr sz="1050"/>
          </a:p>
        </p:txBody>
      </p:sp>
      <p:sp>
        <p:nvSpPr>
          <p:cNvPr id="131" name="Oval 130">
            <a:extLst>
              <a:ext uri="{FF2B5EF4-FFF2-40B4-BE49-F238E27FC236}">
                <a16:creationId xmlns:a16="http://schemas.microsoft.com/office/drawing/2014/main" id="{28B08F65-D168-5968-D920-885CC1DCBE6E}"/>
              </a:ext>
            </a:extLst>
          </p:cNvPr>
          <p:cNvSpPr>
            <a:spLocks noGrp="1"/>
          </p:cNvSpPr>
          <p:nvPr/>
        </p:nvSpPr>
        <p:spPr>
          <a:xfrm>
            <a:off x="8981338" y="2252468"/>
            <a:ext cx="80645" cy="80424"/>
          </a:xfrm>
          <a:prstGeom prst="ellipse">
            <a:avLst/>
          </a:prstGeom>
          <a:noFill/>
          <a:ln w="10120">
            <a:solidFill>
              <a:srgbClr val="163F91"/>
            </a:solidFill>
            <a:prstDash val="solid"/>
          </a:ln>
        </p:spPr>
        <p:txBody>
          <a:bodyPr/>
          <a:lstStyle/>
          <a:p>
            <a:endParaRPr sz="1050"/>
          </a:p>
        </p:txBody>
      </p:sp>
      <p:sp>
        <p:nvSpPr>
          <p:cNvPr id="132" name="Oval 131">
            <a:extLst>
              <a:ext uri="{FF2B5EF4-FFF2-40B4-BE49-F238E27FC236}">
                <a16:creationId xmlns:a16="http://schemas.microsoft.com/office/drawing/2014/main" id="{5ADBE3B8-8F53-700A-759D-CDD227553429}"/>
              </a:ext>
            </a:extLst>
          </p:cNvPr>
          <p:cNvSpPr>
            <a:spLocks noGrp="1"/>
          </p:cNvSpPr>
          <p:nvPr/>
        </p:nvSpPr>
        <p:spPr>
          <a:xfrm>
            <a:off x="9297202" y="2252468"/>
            <a:ext cx="80645" cy="80424"/>
          </a:xfrm>
          <a:prstGeom prst="ellipse">
            <a:avLst/>
          </a:prstGeom>
          <a:noFill/>
          <a:ln w="10120">
            <a:solidFill>
              <a:srgbClr val="163F91"/>
            </a:solidFill>
            <a:prstDash val="solid"/>
          </a:ln>
        </p:spPr>
        <p:txBody>
          <a:bodyPr/>
          <a:lstStyle/>
          <a:p>
            <a:endParaRPr sz="1050"/>
          </a:p>
        </p:txBody>
      </p:sp>
      <p:sp>
        <p:nvSpPr>
          <p:cNvPr id="133" name="Oval 132">
            <a:extLst>
              <a:ext uri="{FF2B5EF4-FFF2-40B4-BE49-F238E27FC236}">
                <a16:creationId xmlns:a16="http://schemas.microsoft.com/office/drawing/2014/main" id="{188B814C-7B32-96A6-3837-FBECC9563112}"/>
              </a:ext>
            </a:extLst>
          </p:cNvPr>
          <p:cNvSpPr>
            <a:spLocks noGrp="1"/>
          </p:cNvSpPr>
          <p:nvPr/>
        </p:nvSpPr>
        <p:spPr>
          <a:xfrm>
            <a:off x="9781080" y="2359703"/>
            <a:ext cx="80645" cy="80424"/>
          </a:xfrm>
          <a:prstGeom prst="ellipse">
            <a:avLst/>
          </a:prstGeom>
          <a:noFill/>
          <a:ln w="10120">
            <a:solidFill>
              <a:srgbClr val="34209E"/>
            </a:solidFill>
            <a:prstDash val="solid"/>
          </a:ln>
        </p:spPr>
        <p:txBody>
          <a:bodyPr/>
          <a:lstStyle/>
          <a:p>
            <a:endParaRPr sz="1050"/>
          </a:p>
        </p:txBody>
      </p:sp>
      <p:sp>
        <p:nvSpPr>
          <p:cNvPr id="134" name="Oval 133">
            <a:extLst>
              <a:ext uri="{FF2B5EF4-FFF2-40B4-BE49-F238E27FC236}">
                <a16:creationId xmlns:a16="http://schemas.microsoft.com/office/drawing/2014/main" id="{207FC867-D530-6EE6-7FEE-A1A502580AF7}"/>
              </a:ext>
            </a:extLst>
          </p:cNvPr>
          <p:cNvSpPr>
            <a:spLocks noGrp="1"/>
          </p:cNvSpPr>
          <p:nvPr/>
        </p:nvSpPr>
        <p:spPr>
          <a:xfrm>
            <a:off x="10217913" y="1930764"/>
            <a:ext cx="80645" cy="80424"/>
          </a:xfrm>
          <a:prstGeom prst="ellipse">
            <a:avLst/>
          </a:prstGeom>
          <a:noFill/>
          <a:ln w="10120">
            <a:solidFill>
              <a:srgbClr val="34209E"/>
            </a:solidFill>
            <a:prstDash val="solid"/>
          </a:ln>
        </p:spPr>
        <p:txBody>
          <a:bodyPr/>
          <a:lstStyle/>
          <a:p>
            <a:endParaRPr sz="1050"/>
          </a:p>
        </p:txBody>
      </p:sp>
      <p:sp>
        <p:nvSpPr>
          <p:cNvPr id="135" name="Oval 134">
            <a:extLst>
              <a:ext uri="{FF2B5EF4-FFF2-40B4-BE49-F238E27FC236}">
                <a16:creationId xmlns:a16="http://schemas.microsoft.com/office/drawing/2014/main" id="{D7722DC6-2AC8-A4FF-0CA1-CE39A41F1FA6}"/>
              </a:ext>
            </a:extLst>
          </p:cNvPr>
          <p:cNvSpPr>
            <a:spLocks noGrp="1"/>
          </p:cNvSpPr>
          <p:nvPr/>
        </p:nvSpPr>
        <p:spPr>
          <a:xfrm>
            <a:off x="10217913" y="2507151"/>
            <a:ext cx="80645" cy="80424"/>
          </a:xfrm>
          <a:prstGeom prst="ellipse">
            <a:avLst/>
          </a:prstGeom>
          <a:noFill/>
          <a:ln w="10120">
            <a:solidFill>
              <a:srgbClr val="F07B21"/>
            </a:solidFill>
            <a:prstDash val="solid"/>
          </a:ln>
        </p:spPr>
        <p:txBody>
          <a:bodyPr/>
          <a:lstStyle/>
          <a:p>
            <a:endParaRPr sz="1050"/>
          </a:p>
        </p:txBody>
      </p:sp>
      <p:sp>
        <p:nvSpPr>
          <p:cNvPr id="136" name="Oval 135">
            <a:extLst>
              <a:ext uri="{FF2B5EF4-FFF2-40B4-BE49-F238E27FC236}">
                <a16:creationId xmlns:a16="http://schemas.microsoft.com/office/drawing/2014/main" id="{B3406E90-7849-9B41-1071-08802F89C128}"/>
              </a:ext>
            </a:extLst>
          </p:cNvPr>
          <p:cNvSpPr>
            <a:spLocks noGrp="1"/>
          </p:cNvSpPr>
          <p:nvPr/>
        </p:nvSpPr>
        <p:spPr>
          <a:xfrm>
            <a:off x="10688349" y="1930764"/>
            <a:ext cx="80645" cy="80424"/>
          </a:xfrm>
          <a:prstGeom prst="ellipse">
            <a:avLst/>
          </a:prstGeom>
          <a:noFill/>
          <a:ln w="10120">
            <a:solidFill>
              <a:srgbClr val="F07B21"/>
            </a:solidFill>
            <a:prstDash val="solid"/>
          </a:ln>
        </p:spPr>
        <p:txBody>
          <a:bodyPr/>
          <a:lstStyle/>
          <a:p>
            <a:endParaRPr sz="1050"/>
          </a:p>
        </p:txBody>
      </p:sp>
      <p:sp>
        <p:nvSpPr>
          <p:cNvPr id="137" name="Oval 136">
            <a:extLst>
              <a:ext uri="{FF2B5EF4-FFF2-40B4-BE49-F238E27FC236}">
                <a16:creationId xmlns:a16="http://schemas.microsoft.com/office/drawing/2014/main" id="{2FC87E3E-8B5A-B328-596B-4A66DA613013}"/>
              </a:ext>
            </a:extLst>
          </p:cNvPr>
          <p:cNvSpPr>
            <a:spLocks noGrp="1"/>
          </p:cNvSpPr>
          <p:nvPr/>
        </p:nvSpPr>
        <p:spPr>
          <a:xfrm>
            <a:off x="10688349" y="2292681"/>
            <a:ext cx="80645" cy="80424"/>
          </a:xfrm>
          <a:prstGeom prst="ellipse">
            <a:avLst/>
          </a:prstGeom>
          <a:noFill/>
          <a:ln w="10120">
            <a:solidFill>
              <a:srgbClr val="F07B21"/>
            </a:solidFill>
            <a:prstDash val="solid"/>
          </a:ln>
        </p:spPr>
        <p:txBody>
          <a:bodyPr/>
          <a:lstStyle/>
          <a:p>
            <a:endParaRPr sz="1050"/>
          </a:p>
        </p:txBody>
      </p:sp>
      <p:sp>
        <p:nvSpPr>
          <p:cNvPr id="138" name="Rounded Rectangle 137">
            <a:extLst>
              <a:ext uri="{FF2B5EF4-FFF2-40B4-BE49-F238E27FC236}">
                <a16:creationId xmlns:a16="http://schemas.microsoft.com/office/drawing/2014/main" id="{0605EA2D-2FC3-65AE-9772-95605153E335}"/>
              </a:ext>
            </a:extLst>
          </p:cNvPr>
          <p:cNvSpPr>
            <a:spLocks noGrp="1"/>
          </p:cNvSpPr>
          <p:nvPr/>
        </p:nvSpPr>
        <p:spPr>
          <a:xfrm>
            <a:off x="8746119" y="2755131"/>
            <a:ext cx="2385781" cy="1447668"/>
          </a:xfrm>
          <a:prstGeom prst="roundRect">
            <a:avLst>
              <a:gd name="adj" fmla="val 5092"/>
            </a:avLst>
          </a:prstGeom>
          <a:noFill/>
          <a:ln w="6072">
            <a:solidFill>
              <a:srgbClr val="244F8A"/>
            </a:solidFill>
            <a:prstDash val="solid"/>
          </a:ln>
        </p:spPr>
        <p:txBody>
          <a:bodyPr/>
          <a:lstStyle/>
          <a:p>
            <a:endParaRPr sz="1050"/>
          </a:p>
        </p:txBody>
      </p:sp>
      <p:sp>
        <p:nvSpPr>
          <p:cNvPr id="139" name="TextBox 138">
            <a:extLst>
              <a:ext uri="{FF2B5EF4-FFF2-40B4-BE49-F238E27FC236}">
                <a16:creationId xmlns:a16="http://schemas.microsoft.com/office/drawing/2014/main" id="{BCEE898F-6D2A-2317-B652-82FA08C29AD1}"/>
              </a:ext>
            </a:extLst>
          </p:cNvPr>
          <p:cNvSpPr>
            <a:spLocks noGrp="1"/>
          </p:cNvSpPr>
          <p:nvPr/>
        </p:nvSpPr>
        <p:spPr>
          <a:xfrm>
            <a:off x="9230272" y="2772390"/>
            <a:ext cx="1487057" cy="253465"/>
          </a:xfrm>
          <a:prstGeom prst="rect">
            <a:avLst/>
          </a:prstGeom>
          <a:noFill/>
        </p:spPr>
        <p:txBody>
          <a:bodyPr wrap="none">
            <a:spAutoFit/>
          </a:bodyPr>
          <a:lstStyle/>
          <a:p>
            <a:pPr algn="l">
              <a:buNone/>
            </a:pPr>
            <a:r>
              <a:rPr sz="900" b="1">
                <a:solidFill>
                  <a:srgbClr val="123B78"/>
                </a:solidFill>
                <a:latin typeface="Arial"/>
                <a:ea typeface="Arial"/>
                <a:cs typeface="Arial"/>
              </a:rPr>
              <a:t>SOLUTION OUTPUTS</a:t>
            </a:r>
          </a:p>
        </p:txBody>
      </p:sp>
      <p:sp>
        <p:nvSpPr>
          <p:cNvPr id="141" name="TextBox 140">
            <a:extLst>
              <a:ext uri="{FF2B5EF4-FFF2-40B4-BE49-F238E27FC236}">
                <a16:creationId xmlns:a16="http://schemas.microsoft.com/office/drawing/2014/main" id="{EA455DD1-8E5B-0500-B0B0-8B2E5F716443}"/>
              </a:ext>
            </a:extLst>
          </p:cNvPr>
          <p:cNvSpPr>
            <a:spLocks noGrp="1"/>
          </p:cNvSpPr>
          <p:nvPr/>
        </p:nvSpPr>
        <p:spPr>
          <a:xfrm>
            <a:off x="8725484" y="2904083"/>
            <a:ext cx="311318" cy="278812"/>
          </a:xfrm>
          <a:prstGeom prst="rect">
            <a:avLst/>
          </a:prstGeom>
          <a:noFill/>
        </p:spPr>
        <p:txBody>
          <a:bodyPr wrap="none">
            <a:spAutoFit/>
          </a:bodyPr>
          <a:lstStyle/>
          <a:p>
            <a:pPr algn="l">
              <a:buNone/>
            </a:pPr>
            <a:r>
              <a:rPr sz="1050">
                <a:solidFill>
                  <a:srgbClr val="111827"/>
                </a:solidFill>
                <a:latin typeface="Segoe UI Symbol"/>
                <a:ea typeface="Segoe UI Symbol"/>
                <a:cs typeface="Segoe UI Symbol"/>
              </a:rPr>
              <a:t>✓</a:t>
            </a:r>
          </a:p>
        </p:txBody>
      </p:sp>
      <p:sp>
        <p:nvSpPr>
          <p:cNvPr id="142" name="TextBox 141">
            <a:extLst>
              <a:ext uri="{FF2B5EF4-FFF2-40B4-BE49-F238E27FC236}">
                <a16:creationId xmlns:a16="http://schemas.microsoft.com/office/drawing/2014/main" id="{3797F76E-E80D-4096-4E96-2F580B6BD9E0}"/>
              </a:ext>
            </a:extLst>
          </p:cNvPr>
          <p:cNvSpPr>
            <a:spLocks noGrp="1"/>
          </p:cNvSpPr>
          <p:nvPr/>
        </p:nvSpPr>
        <p:spPr>
          <a:xfrm>
            <a:off x="8886777" y="2966118"/>
            <a:ext cx="1268681" cy="236568"/>
          </a:xfrm>
          <a:prstGeom prst="rect">
            <a:avLst/>
          </a:prstGeom>
          <a:noFill/>
        </p:spPr>
        <p:txBody>
          <a:bodyPr wrap="none">
            <a:spAutoFit/>
          </a:bodyPr>
          <a:lstStyle/>
          <a:p>
            <a:pPr algn="l">
              <a:buNone/>
            </a:pPr>
            <a:r>
              <a:rPr sz="800">
                <a:solidFill>
                  <a:srgbClr val="000000"/>
                </a:solidFill>
                <a:latin typeface="Arial"/>
                <a:ea typeface="Arial"/>
                <a:cs typeface="Arial"/>
              </a:rPr>
              <a:t>Train departure times</a:t>
            </a:r>
          </a:p>
        </p:txBody>
      </p:sp>
      <p:sp>
        <p:nvSpPr>
          <p:cNvPr id="143" name="TextBox 142">
            <a:extLst>
              <a:ext uri="{FF2B5EF4-FFF2-40B4-BE49-F238E27FC236}">
                <a16:creationId xmlns:a16="http://schemas.microsoft.com/office/drawing/2014/main" id="{01A26531-2ECC-12C7-07DC-F21C746BAA3E}"/>
              </a:ext>
            </a:extLst>
          </p:cNvPr>
          <p:cNvSpPr>
            <a:spLocks noGrp="1"/>
          </p:cNvSpPr>
          <p:nvPr/>
        </p:nvSpPr>
        <p:spPr>
          <a:xfrm>
            <a:off x="8725484" y="3111851"/>
            <a:ext cx="311318" cy="278812"/>
          </a:xfrm>
          <a:prstGeom prst="rect">
            <a:avLst/>
          </a:prstGeom>
          <a:noFill/>
        </p:spPr>
        <p:txBody>
          <a:bodyPr wrap="none">
            <a:spAutoFit/>
          </a:bodyPr>
          <a:lstStyle/>
          <a:p>
            <a:pPr algn="l">
              <a:buNone/>
            </a:pPr>
            <a:r>
              <a:rPr sz="1050">
                <a:solidFill>
                  <a:srgbClr val="111827"/>
                </a:solidFill>
                <a:latin typeface="Segoe UI Symbol"/>
                <a:ea typeface="Segoe UI Symbol"/>
                <a:cs typeface="Segoe UI Symbol"/>
              </a:rPr>
              <a:t>✓</a:t>
            </a:r>
          </a:p>
        </p:txBody>
      </p:sp>
      <p:sp>
        <p:nvSpPr>
          <p:cNvPr id="144" name="TextBox 143">
            <a:extLst>
              <a:ext uri="{FF2B5EF4-FFF2-40B4-BE49-F238E27FC236}">
                <a16:creationId xmlns:a16="http://schemas.microsoft.com/office/drawing/2014/main" id="{20BC5491-E398-9690-D2A8-6517D3D46A09}"/>
              </a:ext>
            </a:extLst>
          </p:cNvPr>
          <p:cNvSpPr>
            <a:spLocks noGrp="1"/>
          </p:cNvSpPr>
          <p:nvPr/>
        </p:nvSpPr>
        <p:spPr>
          <a:xfrm>
            <a:off x="8886777" y="3173885"/>
            <a:ext cx="2084535" cy="236568"/>
          </a:xfrm>
          <a:prstGeom prst="rect">
            <a:avLst/>
          </a:prstGeom>
          <a:noFill/>
        </p:spPr>
        <p:txBody>
          <a:bodyPr wrap="none">
            <a:spAutoFit/>
          </a:bodyPr>
          <a:lstStyle/>
          <a:p>
            <a:pPr algn="l">
              <a:buNone/>
            </a:pPr>
            <a:r>
              <a:rPr sz="800">
                <a:solidFill>
                  <a:srgbClr val="000000"/>
                </a:solidFill>
                <a:latin typeface="Arial"/>
                <a:ea typeface="Arial"/>
                <a:cs typeface="Arial"/>
              </a:rPr>
              <a:t>Entry and exit times on each segment</a:t>
            </a:r>
          </a:p>
        </p:txBody>
      </p:sp>
      <p:sp>
        <p:nvSpPr>
          <p:cNvPr id="145" name="TextBox 144">
            <a:extLst>
              <a:ext uri="{FF2B5EF4-FFF2-40B4-BE49-F238E27FC236}">
                <a16:creationId xmlns:a16="http://schemas.microsoft.com/office/drawing/2014/main" id="{BBAC2813-0660-3C72-4CEF-93BEEC32B597}"/>
              </a:ext>
            </a:extLst>
          </p:cNvPr>
          <p:cNvSpPr>
            <a:spLocks noGrp="1"/>
          </p:cNvSpPr>
          <p:nvPr/>
        </p:nvSpPr>
        <p:spPr>
          <a:xfrm>
            <a:off x="8725484" y="3319619"/>
            <a:ext cx="311318" cy="278812"/>
          </a:xfrm>
          <a:prstGeom prst="rect">
            <a:avLst/>
          </a:prstGeom>
          <a:noFill/>
        </p:spPr>
        <p:txBody>
          <a:bodyPr wrap="none">
            <a:spAutoFit/>
          </a:bodyPr>
          <a:lstStyle/>
          <a:p>
            <a:pPr algn="l">
              <a:buNone/>
            </a:pPr>
            <a:r>
              <a:rPr sz="1050">
                <a:solidFill>
                  <a:srgbClr val="111827"/>
                </a:solidFill>
                <a:latin typeface="Segoe UI Symbol"/>
                <a:ea typeface="Segoe UI Symbol"/>
                <a:cs typeface="Segoe UI Symbol"/>
              </a:rPr>
              <a:t>✓</a:t>
            </a:r>
          </a:p>
        </p:txBody>
      </p:sp>
      <p:sp>
        <p:nvSpPr>
          <p:cNvPr id="146" name="TextBox 145">
            <a:extLst>
              <a:ext uri="{FF2B5EF4-FFF2-40B4-BE49-F238E27FC236}">
                <a16:creationId xmlns:a16="http://schemas.microsoft.com/office/drawing/2014/main" id="{2E1C3A6D-5325-07E9-DBEA-FD2E3FD8D91C}"/>
              </a:ext>
            </a:extLst>
          </p:cNvPr>
          <p:cNvSpPr>
            <a:spLocks noGrp="1"/>
          </p:cNvSpPr>
          <p:nvPr/>
        </p:nvSpPr>
        <p:spPr>
          <a:xfrm>
            <a:off x="8886777" y="3381653"/>
            <a:ext cx="1675733" cy="236568"/>
          </a:xfrm>
          <a:prstGeom prst="rect">
            <a:avLst/>
          </a:prstGeom>
          <a:noFill/>
        </p:spPr>
        <p:txBody>
          <a:bodyPr wrap="none">
            <a:spAutoFit/>
          </a:bodyPr>
          <a:lstStyle/>
          <a:p>
            <a:pPr algn="l">
              <a:buNone/>
            </a:pPr>
            <a:r>
              <a:rPr sz="800">
                <a:solidFill>
                  <a:srgbClr val="000000"/>
                </a:solidFill>
                <a:latin typeface="Arial"/>
                <a:ea typeface="Arial"/>
                <a:cs typeface="Arial"/>
              </a:rPr>
              <a:t>Selected track (main / siding /</a:t>
            </a:r>
          </a:p>
        </p:txBody>
      </p:sp>
      <p:sp>
        <p:nvSpPr>
          <p:cNvPr id="147" name="TextBox 146">
            <a:extLst>
              <a:ext uri="{FF2B5EF4-FFF2-40B4-BE49-F238E27FC236}">
                <a16:creationId xmlns:a16="http://schemas.microsoft.com/office/drawing/2014/main" id="{E8038986-4F1C-6337-8591-422411ADF7C7}"/>
              </a:ext>
            </a:extLst>
          </p:cNvPr>
          <p:cNvSpPr>
            <a:spLocks noGrp="1"/>
          </p:cNvSpPr>
          <p:nvPr/>
        </p:nvSpPr>
        <p:spPr>
          <a:xfrm>
            <a:off x="8886777" y="3522398"/>
            <a:ext cx="723612" cy="236568"/>
          </a:xfrm>
          <a:prstGeom prst="rect">
            <a:avLst/>
          </a:prstGeom>
          <a:noFill/>
        </p:spPr>
        <p:txBody>
          <a:bodyPr wrap="none">
            <a:spAutoFit/>
          </a:bodyPr>
          <a:lstStyle/>
          <a:p>
            <a:pPr algn="l">
              <a:buNone/>
            </a:pPr>
            <a:r>
              <a:rPr sz="800">
                <a:solidFill>
                  <a:srgbClr val="000000"/>
                </a:solidFill>
                <a:latin typeface="Arial"/>
                <a:ea typeface="Arial"/>
                <a:cs typeface="Arial"/>
              </a:rPr>
              <a:t>crossover)</a:t>
            </a:r>
          </a:p>
        </p:txBody>
      </p:sp>
      <p:sp>
        <p:nvSpPr>
          <p:cNvPr id="148" name="TextBox 147">
            <a:extLst>
              <a:ext uri="{FF2B5EF4-FFF2-40B4-BE49-F238E27FC236}">
                <a16:creationId xmlns:a16="http://schemas.microsoft.com/office/drawing/2014/main" id="{E874E277-17DC-53C1-6602-1AB2C331D970}"/>
              </a:ext>
            </a:extLst>
          </p:cNvPr>
          <p:cNvSpPr>
            <a:spLocks noGrp="1"/>
          </p:cNvSpPr>
          <p:nvPr/>
        </p:nvSpPr>
        <p:spPr>
          <a:xfrm>
            <a:off x="8725484" y="3668131"/>
            <a:ext cx="311318" cy="278812"/>
          </a:xfrm>
          <a:prstGeom prst="rect">
            <a:avLst/>
          </a:prstGeom>
          <a:noFill/>
        </p:spPr>
        <p:txBody>
          <a:bodyPr wrap="none">
            <a:spAutoFit/>
          </a:bodyPr>
          <a:lstStyle/>
          <a:p>
            <a:pPr algn="l">
              <a:buNone/>
            </a:pPr>
            <a:r>
              <a:rPr sz="1050">
                <a:solidFill>
                  <a:srgbClr val="111827"/>
                </a:solidFill>
                <a:latin typeface="Segoe UI Symbol"/>
                <a:ea typeface="Segoe UI Symbol"/>
                <a:cs typeface="Segoe UI Symbol"/>
              </a:rPr>
              <a:t>✓</a:t>
            </a:r>
          </a:p>
        </p:txBody>
      </p:sp>
      <p:sp>
        <p:nvSpPr>
          <p:cNvPr id="149" name="TextBox 148">
            <a:extLst>
              <a:ext uri="{FF2B5EF4-FFF2-40B4-BE49-F238E27FC236}">
                <a16:creationId xmlns:a16="http://schemas.microsoft.com/office/drawing/2014/main" id="{A0277247-7351-F688-D8E6-43908A356CE5}"/>
              </a:ext>
            </a:extLst>
          </p:cNvPr>
          <p:cNvSpPr>
            <a:spLocks noGrp="1"/>
          </p:cNvSpPr>
          <p:nvPr/>
        </p:nvSpPr>
        <p:spPr>
          <a:xfrm>
            <a:off x="8886777" y="3730166"/>
            <a:ext cx="1658263" cy="236568"/>
          </a:xfrm>
          <a:prstGeom prst="rect">
            <a:avLst/>
          </a:prstGeom>
          <a:noFill/>
        </p:spPr>
        <p:txBody>
          <a:bodyPr wrap="none">
            <a:spAutoFit/>
          </a:bodyPr>
          <a:lstStyle/>
          <a:p>
            <a:pPr algn="l">
              <a:buNone/>
            </a:pPr>
            <a:r>
              <a:rPr sz="800">
                <a:solidFill>
                  <a:srgbClr val="000000"/>
                </a:solidFill>
                <a:latin typeface="Arial"/>
                <a:ea typeface="Arial"/>
                <a:cs typeface="Arial"/>
              </a:rPr>
              <a:t>Train sequencing on conflicts</a:t>
            </a:r>
          </a:p>
        </p:txBody>
      </p:sp>
      <p:sp>
        <p:nvSpPr>
          <p:cNvPr id="150" name="TextBox 149">
            <a:extLst>
              <a:ext uri="{FF2B5EF4-FFF2-40B4-BE49-F238E27FC236}">
                <a16:creationId xmlns:a16="http://schemas.microsoft.com/office/drawing/2014/main" id="{628B79E0-7E6C-1E95-7944-30C92FDD549C}"/>
              </a:ext>
            </a:extLst>
          </p:cNvPr>
          <p:cNvSpPr>
            <a:spLocks noGrp="1"/>
          </p:cNvSpPr>
          <p:nvPr/>
        </p:nvSpPr>
        <p:spPr>
          <a:xfrm>
            <a:off x="8725484" y="3835686"/>
            <a:ext cx="311318" cy="278812"/>
          </a:xfrm>
          <a:prstGeom prst="rect">
            <a:avLst/>
          </a:prstGeom>
          <a:noFill/>
        </p:spPr>
        <p:txBody>
          <a:bodyPr wrap="none">
            <a:spAutoFit/>
          </a:bodyPr>
          <a:lstStyle/>
          <a:p>
            <a:pPr algn="l">
              <a:buNone/>
            </a:pPr>
            <a:r>
              <a:rPr sz="1050">
                <a:solidFill>
                  <a:srgbClr val="111827"/>
                </a:solidFill>
                <a:latin typeface="Segoe UI Symbol"/>
                <a:ea typeface="Segoe UI Symbol"/>
                <a:cs typeface="Segoe UI Symbol"/>
              </a:rPr>
              <a:t>✓</a:t>
            </a:r>
          </a:p>
        </p:txBody>
      </p:sp>
      <p:sp>
        <p:nvSpPr>
          <p:cNvPr id="151" name="TextBox 150">
            <a:extLst>
              <a:ext uri="{FF2B5EF4-FFF2-40B4-BE49-F238E27FC236}">
                <a16:creationId xmlns:a16="http://schemas.microsoft.com/office/drawing/2014/main" id="{51A7B1DD-41FD-372F-7448-8E3FC8F3F347}"/>
              </a:ext>
            </a:extLst>
          </p:cNvPr>
          <p:cNvSpPr>
            <a:spLocks noGrp="1"/>
          </p:cNvSpPr>
          <p:nvPr/>
        </p:nvSpPr>
        <p:spPr>
          <a:xfrm>
            <a:off x="8886777" y="3897720"/>
            <a:ext cx="1226752" cy="236568"/>
          </a:xfrm>
          <a:prstGeom prst="rect">
            <a:avLst/>
          </a:prstGeom>
          <a:noFill/>
        </p:spPr>
        <p:txBody>
          <a:bodyPr wrap="none">
            <a:spAutoFit/>
          </a:bodyPr>
          <a:lstStyle/>
          <a:p>
            <a:pPr algn="l">
              <a:buNone/>
            </a:pPr>
            <a:r>
              <a:rPr sz="800">
                <a:solidFill>
                  <a:srgbClr val="000000"/>
                </a:solidFill>
                <a:latin typeface="Arial"/>
                <a:ea typeface="Arial"/>
                <a:cs typeface="Arial"/>
              </a:rPr>
              <a:t>Total objective value</a:t>
            </a:r>
          </a:p>
        </p:txBody>
      </p:sp>
      <p:sp>
        <p:nvSpPr>
          <p:cNvPr id="152" name="TextBox 151">
            <a:extLst>
              <a:ext uri="{FF2B5EF4-FFF2-40B4-BE49-F238E27FC236}">
                <a16:creationId xmlns:a16="http://schemas.microsoft.com/office/drawing/2014/main" id="{B4FB7B28-7CA3-1604-2F55-519E35DA8AF7}"/>
              </a:ext>
            </a:extLst>
          </p:cNvPr>
          <p:cNvSpPr>
            <a:spLocks noGrp="1"/>
          </p:cNvSpPr>
          <p:nvPr/>
        </p:nvSpPr>
        <p:spPr>
          <a:xfrm>
            <a:off x="8886777" y="4031763"/>
            <a:ext cx="1728144" cy="236568"/>
          </a:xfrm>
          <a:prstGeom prst="rect">
            <a:avLst/>
          </a:prstGeom>
          <a:noFill/>
        </p:spPr>
        <p:txBody>
          <a:bodyPr wrap="none">
            <a:spAutoFit/>
          </a:bodyPr>
          <a:lstStyle/>
          <a:p>
            <a:pPr algn="l">
              <a:buNone/>
            </a:pPr>
            <a:r>
              <a:rPr sz="800">
                <a:solidFill>
                  <a:srgbClr val="000000"/>
                </a:solidFill>
                <a:latin typeface="Arial"/>
                <a:ea typeface="Arial"/>
                <a:cs typeface="Arial"/>
              </a:rPr>
              <a:t>(delay and deviation penalties)</a:t>
            </a:r>
          </a:p>
        </p:txBody>
      </p:sp>
      <p:sp>
        <p:nvSpPr>
          <p:cNvPr id="154" name="Rounded Rectangle 153">
            <a:extLst>
              <a:ext uri="{FF2B5EF4-FFF2-40B4-BE49-F238E27FC236}">
                <a16:creationId xmlns:a16="http://schemas.microsoft.com/office/drawing/2014/main" id="{EBF24944-C404-FF41-1AB4-8FC7E115A93F}"/>
              </a:ext>
            </a:extLst>
          </p:cNvPr>
          <p:cNvSpPr>
            <a:spLocks noGrp="1"/>
          </p:cNvSpPr>
          <p:nvPr/>
        </p:nvSpPr>
        <p:spPr>
          <a:xfrm>
            <a:off x="1078013" y="4370356"/>
            <a:ext cx="6854923" cy="1977141"/>
          </a:xfrm>
          <a:prstGeom prst="roundRect">
            <a:avLst>
              <a:gd name="adj" fmla="val 4067"/>
            </a:avLst>
          </a:prstGeom>
          <a:solidFill>
            <a:srgbClr val="FFFFFF"/>
          </a:solidFill>
          <a:ln w="7590">
            <a:solidFill>
              <a:srgbClr val="2E72D6"/>
            </a:solidFill>
          </a:ln>
        </p:spPr>
        <p:txBody>
          <a:bodyPr/>
          <a:lstStyle/>
          <a:p>
            <a:endParaRPr sz="1050"/>
          </a:p>
        </p:txBody>
      </p:sp>
      <p:sp>
        <p:nvSpPr>
          <p:cNvPr id="155" name="TextBox 154">
            <a:extLst>
              <a:ext uri="{FF2B5EF4-FFF2-40B4-BE49-F238E27FC236}">
                <a16:creationId xmlns:a16="http://schemas.microsoft.com/office/drawing/2014/main" id="{752D360D-8D6E-3193-B673-B791EB4F7BA0}"/>
              </a:ext>
            </a:extLst>
          </p:cNvPr>
          <p:cNvSpPr>
            <a:spLocks noGrp="1"/>
          </p:cNvSpPr>
          <p:nvPr/>
        </p:nvSpPr>
        <p:spPr>
          <a:xfrm>
            <a:off x="3352328" y="4376114"/>
            <a:ext cx="2351828" cy="270363"/>
          </a:xfrm>
          <a:prstGeom prst="rect">
            <a:avLst/>
          </a:prstGeom>
          <a:noFill/>
        </p:spPr>
        <p:txBody>
          <a:bodyPr wrap="none">
            <a:spAutoFit/>
          </a:bodyPr>
          <a:lstStyle/>
          <a:p>
            <a:pPr algn="l">
              <a:buNone/>
            </a:pPr>
            <a:r>
              <a:rPr sz="1000" b="1">
                <a:solidFill>
                  <a:srgbClr val="123B78"/>
                </a:solidFill>
                <a:latin typeface="Arial"/>
                <a:ea typeface="Arial"/>
                <a:cs typeface="Arial"/>
              </a:rPr>
              <a:t>ROLLING HORIZON APPROACH</a:t>
            </a:r>
          </a:p>
        </p:txBody>
      </p:sp>
      <p:sp>
        <p:nvSpPr>
          <p:cNvPr id="156" name="TextBox 155">
            <a:extLst>
              <a:ext uri="{FF2B5EF4-FFF2-40B4-BE49-F238E27FC236}">
                <a16:creationId xmlns:a16="http://schemas.microsoft.com/office/drawing/2014/main" id="{246C3022-DFD8-2EDD-3A50-2023D1DB1ECF}"/>
              </a:ext>
            </a:extLst>
          </p:cNvPr>
          <p:cNvSpPr>
            <a:spLocks noGrp="1"/>
          </p:cNvSpPr>
          <p:nvPr/>
        </p:nvSpPr>
        <p:spPr>
          <a:xfrm>
            <a:off x="1144745" y="4701982"/>
            <a:ext cx="1352537" cy="236568"/>
          </a:xfrm>
          <a:prstGeom prst="rect">
            <a:avLst/>
          </a:prstGeom>
          <a:noFill/>
        </p:spPr>
        <p:txBody>
          <a:bodyPr wrap="none">
            <a:spAutoFit/>
          </a:bodyPr>
          <a:lstStyle/>
          <a:p>
            <a:pPr algn="l">
              <a:buNone/>
            </a:pPr>
            <a:r>
              <a:rPr sz="800" b="1">
                <a:solidFill>
                  <a:srgbClr val="000000"/>
                </a:solidFill>
                <a:latin typeface="Arial"/>
                <a:ea typeface="Arial"/>
                <a:cs typeface="Arial"/>
              </a:rPr>
              <a:t>Full Planning Horizon</a:t>
            </a:r>
          </a:p>
        </p:txBody>
      </p:sp>
      <p:sp>
        <p:nvSpPr>
          <p:cNvPr id="158" name="Freeform 157">
            <a:extLst>
              <a:ext uri="{FF2B5EF4-FFF2-40B4-BE49-F238E27FC236}">
                <a16:creationId xmlns:a16="http://schemas.microsoft.com/office/drawing/2014/main" id="{901B4236-E95C-3B3B-C270-C118D84DA755}"/>
              </a:ext>
            </a:extLst>
          </p:cNvPr>
          <p:cNvSpPr>
            <a:spLocks noGrp="1"/>
          </p:cNvSpPr>
          <p:nvPr/>
        </p:nvSpPr>
        <p:spPr>
          <a:xfrm>
            <a:off x="1279629" y="5060680"/>
            <a:ext cx="961033" cy="6701"/>
          </a:xfrm>
          <a:custGeom>
            <a:avLst/>
            <a:gdLst>
              <a:gd name="csX0" fmla="*/ 47 w 723602"/>
              <a:gd name="csY0" fmla="*/ 700 h 5060"/>
              <a:gd name="csX1" fmla="*/ 723649 w 723602"/>
              <a:gd name="csY1" fmla="*/ 700 h 5060"/>
            </a:gdLst>
            <a:ahLst/>
            <a:cxnLst/>
            <a:rect l="l" t="t" r="r" b="b"/>
            <a:pathLst>
              <a:path w="723602" h="5060">
                <a:moveTo>
                  <a:pt x="47" y="700"/>
                </a:moveTo>
                <a:lnTo>
                  <a:pt x="723649" y="700"/>
                </a:lnTo>
              </a:path>
            </a:pathLst>
          </a:custGeom>
          <a:solidFill>
            <a:srgbClr val="FFFFFF"/>
          </a:solidFill>
          <a:ln w="7590">
            <a:solidFill>
              <a:srgbClr val="5D6B7D"/>
            </a:solidFill>
          </a:ln>
        </p:spPr>
        <p:txBody>
          <a:bodyPr/>
          <a:lstStyle/>
          <a:p>
            <a:endParaRPr sz="1050"/>
          </a:p>
        </p:txBody>
      </p:sp>
      <p:sp>
        <p:nvSpPr>
          <p:cNvPr id="159" name="Oval 158">
            <a:extLst>
              <a:ext uri="{FF2B5EF4-FFF2-40B4-BE49-F238E27FC236}">
                <a16:creationId xmlns:a16="http://schemas.microsoft.com/office/drawing/2014/main" id="{93DFB600-EE5D-24B0-6371-71E98F88EA7F}"/>
              </a:ext>
            </a:extLst>
          </p:cNvPr>
          <p:cNvSpPr>
            <a:spLocks noGrp="1"/>
          </p:cNvSpPr>
          <p:nvPr/>
        </p:nvSpPr>
        <p:spPr>
          <a:xfrm>
            <a:off x="1256107" y="5037222"/>
            <a:ext cx="47043" cy="46915"/>
          </a:xfrm>
          <a:prstGeom prst="ellipse">
            <a:avLst/>
          </a:prstGeom>
          <a:solidFill>
            <a:srgbClr val="FFFFFF"/>
          </a:solidFill>
          <a:ln w="7590">
            <a:solidFill>
              <a:srgbClr val="143E81"/>
            </a:solidFill>
            <a:prstDash val="solid"/>
          </a:ln>
        </p:spPr>
        <p:txBody>
          <a:bodyPr/>
          <a:lstStyle/>
          <a:p>
            <a:endParaRPr sz="1050"/>
          </a:p>
        </p:txBody>
      </p:sp>
      <p:sp>
        <p:nvSpPr>
          <p:cNvPr id="160" name="Oval 159">
            <a:extLst>
              <a:ext uri="{FF2B5EF4-FFF2-40B4-BE49-F238E27FC236}">
                <a16:creationId xmlns:a16="http://schemas.microsoft.com/office/drawing/2014/main" id="{6D62191E-AAFC-7259-2722-8E7F88C6CE30}"/>
              </a:ext>
            </a:extLst>
          </p:cNvPr>
          <p:cNvSpPr>
            <a:spLocks noGrp="1"/>
          </p:cNvSpPr>
          <p:nvPr/>
        </p:nvSpPr>
        <p:spPr>
          <a:xfrm>
            <a:off x="1484605" y="5037222"/>
            <a:ext cx="47043" cy="46915"/>
          </a:xfrm>
          <a:prstGeom prst="ellipse">
            <a:avLst/>
          </a:prstGeom>
          <a:solidFill>
            <a:srgbClr val="FFFFFF"/>
          </a:solidFill>
          <a:ln w="7590">
            <a:solidFill>
              <a:srgbClr val="143E81"/>
            </a:solidFill>
            <a:prstDash val="solid"/>
          </a:ln>
        </p:spPr>
        <p:txBody>
          <a:bodyPr/>
          <a:lstStyle/>
          <a:p>
            <a:endParaRPr sz="1050"/>
          </a:p>
        </p:txBody>
      </p:sp>
      <p:sp>
        <p:nvSpPr>
          <p:cNvPr id="161" name="Oval 160">
            <a:extLst>
              <a:ext uri="{FF2B5EF4-FFF2-40B4-BE49-F238E27FC236}">
                <a16:creationId xmlns:a16="http://schemas.microsoft.com/office/drawing/2014/main" id="{AE53F940-4ACC-9EE1-9FDF-66A6F9ED8137}"/>
              </a:ext>
            </a:extLst>
          </p:cNvPr>
          <p:cNvSpPr>
            <a:spLocks noGrp="1"/>
          </p:cNvSpPr>
          <p:nvPr/>
        </p:nvSpPr>
        <p:spPr>
          <a:xfrm>
            <a:off x="1719822" y="5037222"/>
            <a:ext cx="47043" cy="46915"/>
          </a:xfrm>
          <a:prstGeom prst="ellipse">
            <a:avLst/>
          </a:prstGeom>
          <a:solidFill>
            <a:srgbClr val="2C649D"/>
          </a:solidFill>
          <a:ln w="7590">
            <a:solidFill>
              <a:srgbClr val="143E81"/>
            </a:solidFill>
            <a:prstDash val="solid"/>
          </a:ln>
        </p:spPr>
        <p:txBody>
          <a:bodyPr/>
          <a:lstStyle/>
          <a:p>
            <a:endParaRPr sz="1050"/>
          </a:p>
        </p:txBody>
      </p:sp>
      <p:sp>
        <p:nvSpPr>
          <p:cNvPr id="162" name="Oval 161">
            <a:extLst>
              <a:ext uri="{FF2B5EF4-FFF2-40B4-BE49-F238E27FC236}">
                <a16:creationId xmlns:a16="http://schemas.microsoft.com/office/drawing/2014/main" id="{460138F8-1D46-0940-7821-B475226A2402}"/>
              </a:ext>
            </a:extLst>
          </p:cNvPr>
          <p:cNvSpPr>
            <a:spLocks noGrp="1"/>
          </p:cNvSpPr>
          <p:nvPr/>
        </p:nvSpPr>
        <p:spPr>
          <a:xfrm>
            <a:off x="1914718" y="5037222"/>
            <a:ext cx="47043" cy="46915"/>
          </a:xfrm>
          <a:prstGeom prst="ellipse">
            <a:avLst/>
          </a:prstGeom>
          <a:solidFill>
            <a:srgbClr val="FFFFFF"/>
          </a:solidFill>
          <a:ln w="7590">
            <a:solidFill>
              <a:srgbClr val="143E81"/>
            </a:solidFill>
            <a:prstDash val="solid"/>
          </a:ln>
        </p:spPr>
        <p:txBody>
          <a:bodyPr/>
          <a:lstStyle/>
          <a:p>
            <a:endParaRPr sz="1050"/>
          </a:p>
        </p:txBody>
      </p:sp>
      <p:sp>
        <p:nvSpPr>
          <p:cNvPr id="163" name="Freeform 162">
            <a:extLst>
              <a:ext uri="{FF2B5EF4-FFF2-40B4-BE49-F238E27FC236}">
                <a16:creationId xmlns:a16="http://schemas.microsoft.com/office/drawing/2014/main" id="{8C9F85FF-671C-942D-D6D8-7C2D6E226069}"/>
              </a:ext>
            </a:extLst>
          </p:cNvPr>
          <p:cNvSpPr>
            <a:spLocks noGrp="1"/>
          </p:cNvSpPr>
          <p:nvPr/>
        </p:nvSpPr>
        <p:spPr>
          <a:xfrm>
            <a:off x="2294426" y="5060680"/>
            <a:ext cx="228497" cy="6701"/>
          </a:xfrm>
          <a:custGeom>
            <a:avLst/>
            <a:gdLst>
              <a:gd name="csX0" fmla="*/ 47 w 172045"/>
              <a:gd name="csY0" fmla="*/ 700 h 5060"/>
              <a:gd name="csX1" fmla="*/ 172092 w 172045"/>
              <a:gd name="csY1" fmla="*/ 700 h 5060"/>
            </a:gdLst>
            <a:ahLst/>
            <a:cxnLst/>
            <a:rect l="l" t="t" r="r" b="b"/>
            <a:pathLst>
              <a:path w="172045" h="5060">
                <a:moveTo>
                  <a:pt x="47" y="700"/>
                </a:moveTo>
                <a:lnTo>
                  <a:pt x="172092" y="700"/>
                </a:lnTo>
              </a:path>
            </a:pathLst>
          </a:custGeom>
          <a:solidFill>
            <a:srgbClr val="FFFFFF"/>
          </a:solidFill>
          <a:ln w="10120">
            <a:solidFill>
              <a:srgbClr val="1C396E"/>
            </a:solidFill>
            <a:prstDash val="solid"/>
          </a:ln>
        </p:spPr>
        <p:txBody>
          <a:bodyPr/>
          <a:lstStyle/>
          <a:p>
            <a:endParaRPr sz="1050"/>
          </a:p>
        </p:txBody>
      </p:sp>
      <p:sp>
        <p:nvSpPr>
          <p:cNvPr id="164" name="Rounded Rectangle 163">
            <a:extLst>
              <a:ext uri="{FF2B5EF4-FFF2-40B4-BE49-F238E27FC236}">
                <a16:creationId xmlns:a16="http://schemas.microsoft.com/office/drawing/2014/main" id="{B3350EED-AEFF-4D97-A9AD-920AA525227F}"/>
              </a:ext>
            </a:extLst>
          </p:cNvPr>
          <p:cNvSpPr>
            <a:spLocks noGrp="1"/>
          </p:cNvSpPr>
          <p:nvPr/>
        </p:nvSpPr>
        <p:spPr>
          <a:xfrm>
            <a:off x="2536365" y="4651847"/>
            <a:ext cx="1108883" cy="851175"/>
          </a:xfrm>
          <a:prstGeom prst="roundRect">
            <a:avLst>
              <a:gd name="adj" fmla="val 4724"/>
            </a:avLst>
          </a:prstGeom>
          <a:solidFill>
            <a:srgbClr val="FBFDFF"/>
          </a:solidFill>
          <a:ln w="6072">
            <a:solidFill>
              <a:srgbClr val="4E8FEA"/>
            </a:solidFill>
            <a:prstDash val="solid"/>
          </a:ln>
        </p:spPr>
        <p:txBody>
          <a:bodyPr/>
          <a:lstStyle/>
          <a:p>
            <a:endParaRPr sz="1050"/>
          </a:p>
        </p:txBody>
      </p:sp>
      <p:sp>
        <p:nvSpPr>
          <p:cNvPr id="165" name="TextBox 164">
            <a:extLst>
              <a:ext uri="{FF2B5EF4-FFF2-40B4-BE49-F238E27FC236}">
                <a16:creationId xmlns:a16="http://schemas.microsoft.com/office/drawing/2014/main" id="{F1C11531-A783-ECAD-F369-8264EECF2A99}"/>
              </a:ext>
            </a:extLst>
          </p:cNvPr>
          <p:cNvSpPr>
            <a:spLocks noGrp="1"/>
          </p:cNvSpPr>
          <p:nvPr/>
        </p:nvSpPr>
        <p:spPr>
          <a:xfrm>
            <a:off x="2727609" y="4661769"/>
            <a:ext cx="697407" cy="236568"/>
          </a:xfrm>
          <a:prstGeom prst="rect">
            <a:avLst/>
          </a:prstGeom>
          <a:noFill/>
        </p:spPr>
        <p:txBody>
          <a:bodyPr wrap="none">
            <a:spAutoFit/>
          </a:bodyPr>
          <a:lstStyle/>
          <a:p>
            <a:pPr algn="l">
              <a:buNone/>
            </a:pPr>
            <a:r>
              <a:rPr sz="800" b="1">
                <a:solidFill>
                  <a:srgbClr val="1F4683"/>
                </a:solidFill>
                <a:latin typeface="Arial"/>
                <a:ea typeface="Arial"/>
                <a:cs typeface="Arial"/>
              </a:rPr>
              <a:t>Window t</a:t>
            </a:r>
          </a:p>
        </p:txBody>
      </p:sp>
      <p:sp>
        <p:nvSpPr>
          <p:cNvPr id="166" name="TextBox 165">
            <a:extLst>
              <a:ext uri="{FF2B5EF4-FFF2-40B4-BE49-F238E27FC236}">
                <a16:creationId xmlns:a16="http://schemas.microsoft.com/office/drawing/2014/main" id="{E338C4CD-3AF1-4299-FA34-D0168C39365F}"/>
              </a:ext>
            </a:extLst>
          </p:cNvPr>
          <p:cNvSpPr>
            <a:spLocks noGrp="1"/>
          </p:cNvSpPr>
          <p:nvPr/>
        </p:nvSpPr>
        <p:spPr>
          <a:xfrm>
            <a:off x="2749071" y="4814649"/>
            <a:ext cx="589093" cy="202772"/>
          </a:xfrm>
          <a:prstGeom prst="rect">
            <a:avLst/>
          </a:prstGeom>
          <a:noFill/>
        </p:spPr>
        <p:txBody>
          <a:bodyPr wrap="none">
            <a:spAutoFit/>
          </a:bodyPr>
          <a:lstStyle/>
          <a:p>
            <a:pPr algn="l">
              <a:buNone/>
            </a:pPr>
            <a:r>
              <a:rPr sz="600">
                <a:solidFill>
                  <a:srgbClr val="000000"/>
                </a:solidFill>
                <a:latin typeface="Arial"/>
                <a:ea typeface="Arial"/>
                <a:cs typeface="Arial"/>
              </a:rPr>
              <a:t>(Optimize)</a:t>
            </a:r>
          </a:p>
        </p:txBody>
      </p:sp>
      <p:sp>
        <p:nvSpPr>
          <p:cNvPr id="167" name="Rectangle 166">
            <a:extLst>
              <a:ext uri="{FF2B5EF4-FFF2-40B4-BE49-F238E27FC236}">
                <a16:creationId xmlns:a16="http://schemas.microsoft.com/office/drawing/2014/main" id="{DC6151FA-2A83-C098-9E35-88E699F89B59}"/>
              </a:ext>
            </a:extLst>
          </p:cNvPr>
          <p:cNvSpPr>
            <a:spLocks noGrp="1"/>
          </p:cNvSpPr>
          <p:nvPr/>
        </p:nvSpPr>
        <p:spPr>
          <a:xfrm>
            <a:off x="2704378" y="5114297"/>
            <a:ext cx="537640" cy="308299"/>
          </a:xfrm>
          <a:prstGeom prst="rect">
            <a:avLst/>
          </a:prstGeom>
          <a:solidFill>
            <a:srgbClr val="DCECFF">
              <a:alpha val="95000"/>
            </a:srgbClr>
          </a:solidFill>
          <a:ln w="5060">
            <a:noFill/>
            <a:prstDash val="solid"/>
          </a:ln>
        </p:spPr>
        <p:txBody>
          <a:bodyPr/>
          <a:lstStyle/>
          <a:p>
            <a:endParaRPr sz="1050"/>
          </a:p>
        </p:txBody>
      </p:sp>
      <p:sp>
        <p:nvSpPr>
          <p:cNvPr id="168" name="Freeform 167">
            <a:extLst>
              <a:ext uri="{FF2B5EF4-FFF2-40B4-BE49-F238E27FC236}">
                <a16:creationId xmlns:a16="http://schemas.microsoft.com/office/drawing/2014/main" id="{7037F6BC-9768-EBA2-47A1-D72E8FEDA739}"/>
              </a:ext>
            </a:extLst>
          </p:cNvPr>
          <p:cNvSpPr>
            <a:spLocks noGrp="1"/>
          </p:cNvSpPr>
          <p:nvPr/>
        </p:nvSpPr>
        <p:spPr>
          <a:xfrm>
            <a:off x="2623732" y="5174616"/>
            <a:ext cx="866946" cy="6701"/>
          </a:xfrm>
          <a:custGeom>
            <a:avLst/>
            <a:gdLst>
              <a:gd name="csX0" fmla="*/ 0 w 652760"/>
              <a:gd name="csY0" fmla="*/ 0 h 5060"/>
              <a:gd name="csX1" fmla="*/ 652760 w 652760"/>
              <a:gd name="csY1" fmla="*/ 0 h 5060"/>
            </a:gdLst>
            <a:ahLst/>
            <a:cxnLst/>
            <a:rect l="l" t="t" r="r" b="b"/>
            <a:pathLst>
              <a:path w="652760" h="5060">
                <a:moveTo>
                  <a:pt x="0" y="0"/>
                </a:moveTo>
                <a:lnTo>
                  <a:pt x="652760" y="0"/>
                </a:lnTo>
              </a:path>
            </a:pathLst>
          </a:custGeom>
          <a:solidFill>
            <a:srgbClr val="000000"/>
          </a:solidFill>
          <a:ln w="7084">
            <a:solidFill>
              <a:srgbClr val="27364F"/>
            </a:solidFill>
          </a:ln>
        </p:spPr>
        <p:txBody>
          <a:bodyPr/>
          <a:lstStyle/>
          <a:p>
            <a:endParaRPr sz="1050"/>
          </a:p>
        </p:txBody>
      </p:sp>
      <p:sp>
        <p:nvSpPr>
          <p:cNvPr id="170" name="Oval 169">
            <a:extLst>
              <a:ext uri="{FF2B5EF4-FFF2-40B4-BE49-F238E27FC236}">
                <a16:creationId xmlns:a16="http://schemas.microsoft.com/office/drawing/2014/main" id="{43FDA49C-1C66-2C9E-66C2-BAF6288D3D86}"/>
              </a:ext>
            </a:extLst>
          </p:cNvPr>
          <p:cNvSpPr>
            <a:spLocks noGrp="1"/>
          </p:cNvSpPr>
          <p:nvPr/>
        </p:nvSpPr>
        <p:spPr>
          <a:xfrm>
            <a:off x="2680856"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71" name="Oval 170">
            <a:extLst>
              <a:ext uri="{FF2B5EF4-FFF2-40B4-BE49-F238E27FC236}">
                <a16:creationId xmlns:a16="http://schemas.microsoft.com/office/drawing/2014/main" id="{12FDCD7F-6297-399F-88E7-6AD3B8CA0C9F}"/>
              </a:ext>
            </a:extLst>
          </p:cNvPr>
          <p:cNvSpPr>
            <a:spLocks noGrp="1"/>
          </p:cNvSpPr>
          <p:nvPr/>
        </p:nvSpPr>
        <p:spPr>
          <a:xfrm>
            <a:off x="2895912"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72" name="Oval 171">
            <a:extLst>
              <a:ext uri="{FF2B5EF4-FFF2-40B4-BE49-F238E27FC236}">
                <a16:creationId xmlns:a16="http://schemas.microsoft.com/office/drawing/2014/main" id="{2D159CFE-F710-C056-CEEC-0E865E5404C1}"/>
              </a:ext>
            </a:extLst>
          </p:cNvPr>
          <p:cNvSpPr>
            <a:spLocks noGrp="1"/>
          </p:cNvSpPr>
          <p:nvPr/>
        </p:nvSpPr>
        <p:spPr>
          <a:xfrm>
            <a:off x="3137851"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73" name="Oval 172">
            <a:extLst>
              <a:ext uri="{FF2B5EF4-FFF2-40B4-BE49-F238E27FC236}">
                <a16:creationId xmlns:a16="http://schemas.microsoft.com/office/drawing/2014/main" id="{7DA7D65F-8ED7-2EC3-47E9-BD184F8DA366}"/>
              </a:ext>
            </a:extLst>
          </p:cNvPr>
          <p:cNvSpPr>
            <a:spLocks noGrp="1"/>
          </p:cNvSpPr>
          <p:nvPr/>
        </p:nvSpPr>
        <p:spPr>
          <a:xfrm>
            <a:off x="3326025"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74" name="TextBox 173">
            <a:extLst>
              <a:ext uri="{FF2B5EF4-FFF2-40B4-BE49-F238E27FC236}">
                <a16:creationId xmlns:a16="http://schemas.microsoft.com/office/drawing/2014/main" id="{194C96AD-577A-2CC4-8DF7-5D85CEA4AB4F}"/>
              </a:ext>
            </a:extLst>
          </p:cNvPr>
          <p:cNvSpPr>
            <a:spLocks noGrp="1"/>
          </p:cNvSpPr>
          <p:nvPr/>
        </p:nvSpPr>
        <p:spPr>
          <a:xfrm>
            <a:off x="2390271" y="5486136"/>
            <a:ext cx="1406694" cy="236568"/>
          </a:xfrm>
          <a:prstGeom prst="rect">
            <a:avLst/>
          </a:prstGeom>
          <a:noFill/>
        </p:spPr>
        <p:txBody>
          <a:bodyPr wrap="none">
            <a:spAutoFit/>
          </a:bodyPr>
          <a:lstStyle/>
          <a:p>
            <a:pPr algn="l">
              <a:buNone/>
            </a:pPr>
            <a:r>
              <a:rPr sz="800">
                <a:solidFill>
                  <a:srgbClr val="000000"/>
                </a:solidFill>
                <a:latin typeface="Arial"/>
                <a:ea typeface="Arial"/>
                <a:cs typeface="Arial"/>
              </a:rPr>
              <a:t>Solve MILP with CPLEX</a:t>
            </a:r>
          </a:p>
        </p:txBody>
      </p:sp>
      <p:sp>
        <p:nvSpPr>
          <p:cNvPr id="175" name="Freeform 174">
            <a:extLst>
              <a:ext uri="{FF2B5EF4-FFF2-40B4-BE49-F238E27FC236}">
                <a16:creationId xmlns:a16="http://schemas.microsoft.com/office/drawing/2014/main" id="{5D3B7ED0-9C96-B7DF-B500-967F8A71C366}"/>
              </a:ext>
            </a:extLst>
          </p:cNvPr>
          <p:cNvSpPr>
            <a:spLocks noGrp="1"/>
          </p:cNvSpPr>
          <p:nvPr/>
        </p:nvSpPr>
        <p:spPr>
          <a:xfrm>
            <a:off x="3699014" y="5074084"/>
            <a:ext cx="127688" cy="6701"/>
          </a:xfrm>
          <a:custGeom>
            <a:avLst/>
            <a:gdLst>
              <a:gd name="csX0" fmla="*/ 0 w 96142"/>
              <a:gd name="csY0" fmla="*/ 0 h 5060"/>
              <a:gd name="csX1" fmla="*/ 96143 w 96142"/>
              <a:gd name="csY1" fmla="*/ 0 h 5060"/>
            </a:gdLst>
            <a:ahLst/>
            <a:cxnLst/>
            <a:rect l="l" t="t" r="r" b="b"/>
            <a:pathLst>
              <a:path w="96142" h="5060">
                <a:moveTo>
                  <a:pt x="0" y="0"/>
                </a:moveTo>
                <a:lnTo>
                  <a:pt x="96143" y="0"/>
                </a:lnTo>
              </a:path>
            </a:pathLst>
          </a:custGeom>
          <a:solidFill>
            <a:srgbClr val="000000"/>
          </a:solidFill>
          <a:ln w="12650">
            <a:solidFill>
              <a:srgbClr val="1C396E"/>
            </a:solidFill>
            <a:prstDash val="solid"/>
          </a:ln>
        </p:spPr>
        <p:txBody>
          <a:bodyPr/>
          <a:lstStyle/>
          <a:p>
            <a:endParaRPr sz="1050"/>
          </a:p>
        </p:txBody>
      </p:sp>
      <p:sp>
        <p:nvSpPr>
          <p:cNvPr id="176" name="Rounded Rectangle 175">
            <a:extLst>
              <a:ext uri="{FF2B5EF4-FFF2-40B4-BE49-F238E27FC236}">
                <a16:creationId xmlns:a16="http://schemas.microsoft.com/office/drawing/2014/main" id="{ADAB60C4-7535-B277-D1C4-90A2BF1AD998}"/>
              </a:ext>
            </a:extLst>
          </p:cNvPr>
          <p:cNvSpPr>
            <a:spLocks noGrp="1"/>
          </p:cNvSpPr>
          <p:nvPr/>
        </p:nvSpPr>
        <p:spPr>
          <a:xfrm>
            <a:off x="3873747" y="4651847"/>
            <a:ext cx="1256735" cy="851175"/>
          </a:xfrm>
          <a:prstGeom prst="roundRect">
            <a:avLst>
              <a:gd name="adj" fmla="val 4724"/>
            </a:avLst>
          </a:prstGeom>
          <a:solidFill>
            <a:srgbClr val="FFFDFA"/>
          </a:solidFill>
          <a:ln w="6072">
            <a:solidFill>
              <a:srgbClr val="F1A331"/>
            </a:solidFill>
            <a:prstDash val="solid"/>
          </a:ln>
        </p:spPr>
        <p:txBody>
          <a:bodyPr/>
          <a:lstStyle/>
          <a:p>
            <a:endParaRPr sz="1050"/>
          </a:p>
        </p:txBody>
      </p:sp>
      <p:sp>
        <p:nvSpPr>
          <p:cNvPr id="177" name="TextBox 176">
            <a:extLst>
              <a:ext uri="{FF2B5EF4-FFF2-40B4-BE49-F238E27FC236}">
                <a16:creationId xmlns:a16="http://schemas.microsoft.com/office/drawing/2014/main" id="{0886A628-F46E-85D6-4890-991790523381}"/>
              </a:ext>
            </a:extLst>
          </p:cNvPr>
          <p:cNvSpPr>
            <a:spLocks noGrp="1"/>
          </p:cNvSpPr>
          <p:nvPr/>
        </p:nvSpPr>
        <p:spPr>
          <a:xfrm>
            <a:off x="3752828" y="4655067"/>
            <a:ext cx="1513262" cy="236568"/>
          </a:xfrm>
          <a:prstGeom prst="rect">
            <a:avLst/>
          </a:prstGeom>
          <a:noFill/>
        </p:spPr>
        <p:txBody>
          <a:bodyPr wrap="none">
            <a:spAutoFit/>
          </a:bodyPr>
          <a:lstStyle/>
          <a:p>
            <a:pPr algn="l">
              <a:buNone/>
            </a:pPr>
            <a:r>
              <a:rPr sz="800" b="1">
                <a:solidFill>
                  <a:srgbClr val="9B4812"/>
                </a:solidFill>
                <a:latin typeface="Arial"/>
                <a:ea typeface="Arial"/>
                <a:cs typeface="Arial"/>
              </a:rPr>
              <a:t>Heuristic Variable Fixing</a:t>
            </a:r>
          </a:p>
        </p:txBody>
      </p:sp>
      <p:sp>
        <p:nvSpPr>
          <p:cNvPr id="178" name="TextBox 177">
            <a:extLst>
              <a:ext uri="{FF2B5EF4-FFF2-40B4-BE49-F238E27FC236}">
                <a16:creationId xmlns:a16="http://schemas.microsoft.com/office/drawing/2014/main" id="{A1CAC8EE-04FE-684F-9B85-66ADC784C244}"/>
              </a:ext>
            </a:extLst>
          </p:cNvPr>
          <p:cNvSpPr>
            <a:spLocks noGrp="1"/>
          </p:cNvSpPr>
          <p:nvPr/>
        </p:nvSpPr>
        <p:spPr>
          <a:xfrm>
            <a:off x="4183946" y="4807947"/>
            <a:ext cx="547164" cy="202772"/>
          </a:xfrm>
          <a:prstGeom prst="rect">
            <a:avLst/>
          </a:prstGeom>
          <a:noFill/>
        </p:spPr>
        <p:txBody>
          <a:bodyPr wrap="none">
            <a:spAutoFit/>
          </a:bodyPr>
          <a:lstStyle/>
          <a:p>
            <a:pPr algn="l">
              <a:buNone/>
            </a:pPr>
            <a:r>
              <a:rPr sz="600">
                <a:solidFill>
                  <a:srgbClr val="000000"/>
                </a:solidFill>
                <a:latin typeface="Arial"/>
                <a:ea typeface="Arial"/>
                <a:cs typeface="Arial"/>
              </a:rPr>
              <a:t>(Commit)</a:t>
            </a:r>
          </a:p>
        </p:txBody>
      </p:sp>
      <p:sp>
        <p:nvSpPr>
          <p:cNvPr id="179" name="Rectangle 178">
            <a:extLst>
              <a:ext uri="{FF2B5EF4-FFF2-40B4-BE49-F238E27FC236}">
                <a16:creationId xmlns:a16="http://schemas.microsoft.com/office/drawing/2014/main" id="{A9E3DBEB-F98C-886A-BAC3-6AE539FA74FD}"/>
              </a:ext>
            </a:extLst>
          </p:cNvPr>
          <p:cNvSpPr>
            <a:spLocks noGrp="1"/>
          </p:cNvSpPr>
          <p:nvPr/>
        </p:nvSpPr>
        <p:spPr>
          <a:xfrm>
            <a:off x="4102244" y="5114297"/>
            <a:ext cx="840063" cy="308299"/>
          </a:xfrm>
          <a:prstGeom prst="rect">
            <a:avLst/>
          </a:prstGeom>
          <a:solidFill>
            <a:srgbClr val="FFE9AE">
              <a:alpha val="95000"/>
            </a:srgbClr>
          </a:solidFill>
          <a:ln w="5060">
            <a:noFill/>
            <a:prstDash val="solid"/>
          </a:ln>
        </p:spPr>
        <p:txBody>
          <a:bodyPr/>
          <a:lstStyle/>
          <a:p>
            <a:endParaRPr sz="1050"/>
          </a:p>
        </p:txBody>
      </p:sp>
      <p:sp>
        <p:nvSpPr>
          <p:cNvPr id="180" name="Freeform 179">
            <a:extLst>
              <a:ext uri="{FF2B5EF4-FFF2-40B4-BE49-F238E27FC236}">
                <a16:creationId xmlns:a16="http://schemas.microsoft.com/office/drawing/2014/main" id="{54AFD3D0-F91E-6F10-B331-59FAA19837B3}"/>
              </a:ext>
            </a:extLst>
          </p:cNvPr>
          <p:cNvSpPr>
            <a:spLocks noGrp="1"/>
          </p:cNvSpPr>
          <p:nvPr/>
        </p:nvSpPr>
        <p:spPr>
          <a:xfrm>
            <a:off x="3967834" y="5174616"/>
            <a:ext cx="1061840" cy="6701"/>
          </a:xfrm>
          <a:custGeom>
            <a:avLst/>
            <a:gdLst>
              <a:gd name="csX0" fmla="*/ 0 w 799504"/>
              <a:gd name="csY0" fmla="*/ 0 h 5060"/>
              <a:gd name="csX1" fmla="*/ 799505 w 799504"/>
              <a:gd name="csY1" fmla="*/ 0 h 5060"/>
            </a:gdLst>
            <a:ahLst/>
            <a:cxnLst/>
            <a:rect l="l" t="t" r="r" b="b"/>
            <a:pathLst>
              <a:path w="799504" h="5060">
                <a:moveTo>
                  <a:pt x="0" y="0"/>
                </a:moveTo>
                <a:lnTo>
                  <a:pt x="799505" y="0"/>
                </a:lnTo>
              </a:path>
            </a:pathLst>
          </a:custGeom>
          <a:solidFill>
            <a:srgbClr val="000000"/>
          </a:solidFill>
          <a:ln w="7084">
            <a:solidFill>
              <a:srgbClr val="27364F"/>
            </a:solidFill>
          </a:ln>
        </p:spPr>
        <p:txBody>
          <a:bodyPr/>
          <a:lstStyle/>
          <a:p>
            <a:endParaRPr sz="1050"/>
          </a:p>
        </p:txBody>
      </p:sp>
      <p:sp>
        <p:nvSpPr>
          <p:cNvPr id="182" name="Oval 181">
            <a:extLst>
              <a:ext uri="{FF2B5EF4-FFF2-40B4-BE49-F238E27FC236}">
                <a16:creationId xmlns:a16="http://schemas.microsoft.com/office/drawing/2014/main" id="{5F176D66-4164-45EC-22B5-25DFCB207B52}"/>
              </a:ext>
            </a:extLst>
          </p:cNvPr>
          <p:cNvSpPr>
            <a:spLocks noGrp="1"/>
          </p:cNvSpPr>
          <p:nvPr/>
        </p:nvSpPr>
        <p:spPr>
          <a:xfrm>
            <a:off x="4105606"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83" name="Oval 182">
            <a:extLst>
              <a:ext uri="{FF2B5EF4-FFF2-40B4-BE49-F238E27FC236}">
                <a16:creationId xmlns:a16="http://schemas.microsoft.com/office/drawing/2014/main" id="{D6907DFD-0202-8DC4-2564-CEB03AE0E279}"/>
              </a:ext>
            </a:extLst>
          </p:cNvPr>
          <p:cNvSpPr>
            <a:spLocks noGrp="1"/>
          </p:cNvSpPr>
          <p:nvPr/>
        </p:nvSpPr>
        <p:spPr>
          <a:xfrm>
            <a:off x="4381146"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84" name="Oval 183">
            <a:extLst>
              <a:ext uri="{FF2B5EF4-FFF2-40B4-BE49-F238E27FC236}">
                <a16:creationId xmlns:a16="http://schemas.microsoft.com/office/drawing/2014/main" id="{884FE128-3C9E-DD21-E0F6-C7993BDE0D01}"/>
              </a:ext>
            </a:extLst>
          </p:cNvPr>
          <p:cNvSpPr>
            <a:spLocks noGrp="1"/>
          </p:cNvSpPr>
          <p:nvPr/>
        </p:nvSpPr>
        <p:spPr>
          <a:xfrm>
            <a:off x="4623085"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85" name="Oval 184">
            <a:extLst>
              <a:ext uri="{FF2B5EF4-FFF2-40B4-BE49-F238E27FC236}">
                <a16:creationId xmlns:a16="http://schemas.microsoft.com/office/drawing/2014/main" id="{7506E03E-1BE5-7529-9262-AD50296C15D0}"/>
              </a:ext>
            </a:extLst>
          </p:cNvPr>
          <p:cNvSpPr>
            <a:spLocks noGrp="1"/>
          </p:cNvSpPr>
          <p:nvPr/>
        </p:nvSpPr>
        <p:spPr>
          <a:xfrm>
            <a:off x="4891905"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187" name="Oval 186">
            <a:extLst>
              <a:ext uri="{FF2B5EF4-FFF2-40B4-BE49-F238E27FC236}">
                <a16:creationId xmlns:a16="http://schemas.microsoft.com/office/drawing/2014/main" id="{615FEE7F-351F-B828-6BAA-D449B0F0928A}"/>
              </a:ext>
            </a:extLst>
          </p:cNvPr>
          <p:cNvSpPr>
            <a:spLocks noGrp="1"/>
          </p:cNvSpPr>
          <p:nvPr/>
        </p:nvSpPr>
        <p:spPr>
          <a:xfrm>
            <a:off x="4088804" y="5007062"/>
            <a:ext cx="80645" cy="80424"/>
          </a:xfrm>
          <a:prstGeom prst="ellipse">
            <a:avLst/>
          </a:prstGeom>
          <a:solidFill>
            <a:srgbClr val="2D7D3D"/>
          </a:solidFill>
          <a:ln w="5060">
            <a:solidFill>
              <a:srgbClr val="2D7D3D"/>
            </a:solidFill>
            <a:prstDash val="solid"/>
          </a:ln>
        </p:spPr>
        <p:txBody>
          <a:bodyPr/>
          <a:lstStyle/>
          <a:p>
            <a:endParaRPr sz="1050"/>
          </a:p>
        </p:txBody>
      </p:sp>
      <p:sp>
        <p:nvSpPr>
          <p:cNvPr id="188" name="Oval 187">
            <a:extLst>
              <a:ext uri="{FF2B5EF4-FFF2-40B4-BE49-F238E27FC236}">
                <a16:creationId xmlns:a16="http://schemas.microsoft.com/office/drawing/2014/main" id="{B3EC459A-E78E-3AC6-9C05-BD486030AE23}"/>
              </a:ext>
            </a:extLst>
          </p:cNvPr>
          <p:cNvSpPr>
            <a:spLocks noGrp="1"/>
          </p:cNvSpPr>
          <p:nvPr/>
        </p:nvSpPr>
        <p:spPr>
          <a:xfrm>
            <a:off x="4364345" y="5007062"/>
            <a:ext cx="80645" cy="80424"/>
          </a:xfrm>
          <a:prstGeom prst="ellipse">
            <a:avLst/>
          </a:prstGeom>
          <a:solidFill>
            <a:srgbClr val="2D7D3D"/>
          </a:solidFill>
          <a:ln w="5060">
            <a:solidFill>
              <a:srgbClr val="2D7D3D"/>
            </a:solidFill>
            <a:prstDash val="solid"/>
          </a:ln>
        </p:spPr>
        <p:txBody>
          <a:bodyPr/>
          <a:lstStyle/>
          <a:p>
            <a:endParaRPr sz="1050"/>
          </a:p>
        </p:txBody>
      </p:sp>
      <p:sp>
        <p:nvSpPr>
          <p:cNvPr id="189" name="Oval 188">
            <a:extLst>
              <a:ext uri="{FF2B5EF4-FFF2-40B4-BE49-F238E27FC236}">
                <a16:creationId xmlns:a16="http://schemas.microsoft.com/office/drawing/2014/main" id="{F488A6D5-E171-F084-ED99-663ABB9253F7}"/>
              </a:ext>
            </a:extLst>
          </p:cNvPr>
          <p:cNvSpPr>
            <a:spLocks noGrp="1"/>
          </p:cNvSpPr>
          <p:nvPr/>
        </p:nvSpPr>
        <p:spPr>
          <a:xfrm>
            <a:off x="4606283" y="5007062"/>
            <a:ext cx="80645" cy="80424"/>
          </a:xfrm>
          <a:prstGeom prst="ellipse">
            <a:avLst/>
          </a:prstGeom>
          <a:solidFill>
            <a:srgbClr val="2D7D3D"/>
          </a:solidFill>
          <a:ln w="5060">
            <a:solidFill>
              <a:srgbClr val="2D7D3D"/>
            </a:solidFill>
            <a:prstDash val="solid"/>
          </a:ln>
        </p:spPr>
        <p:txBody>
          <a:bodyPr/>
          <a:lstStyle/>
          <a:p>
            <a:endParaRPr sz="1050"/>
          </a:p>
        </p:txBody>
      </p:sp>
      <p:sp>
        <p:nvSpPr>
          <p:cNvPr id="190" name="Oval 189">
            <a:extLst>
              <a:ext uri="{FF2B5EF4-FFF2-40B4-BE49-F238E27FC236}">
                <a16:creationId xmlns:a16="http://schemas.microsoft.com/office/drawing/2014/main" id="{0022ABC3-26C3-C64A-BE72-0BA3BEBD54E0}"/>
              </a:ext>
            </a:extLst>
          </p:cNvPr>
          <p:cNvSpPr>
            <a:spLocks noGrp="1"/>
          </p:cNvSpPr>
          <p:nvPr/>
        </p:nvSpPr>
        <p:spPr>
          <a:xfrm>
            <a:off x="4875103" y="5007062"/>
            <a:ext cx="80645" cy="80424"/>
          </a:xfrm>
          <a:prstGeom prst="ellipse">
            <a:avLst/>
          </a:prstGeom>
          <a:solidFill>
            <a:srgbClr val="2D7D3D"/>
          </a:solidFill>
          <a:ln w="5060">
            <a:solidFill>
              <a:srgbClr val="2D7D3D"/>
            </a:solidFill>
            <a:prstDash val="solid"/>
          </a:ln>
        </p:spPr>
        <p:txBody>
          <a:bodyPr/>
          <a:lstStyle/>
          <a:p>
            <a:endParaRPr sz="1050"/>
          </a:p>
        </p:txBody>
      </p:sp>
      <p:sp>
        <p:nvSpPr>
          <p:cNvPr id="192" name="Freeform 191">
            <a:extLst>
              <a:ext uri="{FF2B5EF4-FFF2-40B4-BE49-F238E27FC236}">
                <a16:creationId xmlns:a16="http://schemas.microsoft.com/office/drawing/2014/main" id="{642481D1-D006-8C0E-06B3-A2A123B89FF9}"/>
              </a:ext>
            </a:extLst>
          </p:cNvPr>
          <p:cNvSpPr>
            <a:spLocks noGrp="1"/>
          </p:cNvSpPr>
          <p:nvPr/>
        </p:nvSpPr>
        <p:spPr>
          <a:xfrm>
            <a:off x="4108966" y="5027169"/>
            <a:ext cx="40321" cy="33509"/>
          </a:xfrm>
          <a:custGeom>
            <a:avLst/>
            <a:gdLst>
              <a:gd name="csX0" fmla="*/ 0 w 30360"/>
              <a:gd name="csY0" fmla="*/ 15180 h 25300"/>
              <a:gd name="csX1" fmla="*/ 10120 w 30360"/>
              <a:gd name="csY1" fmla="*/ 25301 h 25300"/>
              <a:gd name="csX2" fmla="*/ 30361 w 30360"/>
              <a:gd name="csY2" fmla="*/ 0 h 25300"/>
            </a:gdLst>
            <a:ahLst/>
            <a:cxnLst/>
            <a:rect l="l" t="t" r="r" b="b"/>
            <a:pathLst>
              <a:path w="30360" h="25300">
                <a:moveTo>
                  <a:pt x="0" y="15180"/>
                </a:moveTo>
                <a:lnTo>
                  <a:pt x="10120" y="25301"/>
                </a:lnTo>
                <a:lnTo>
                  <a:pt x="30361" y="0"/>
                </a:lnTo>
              </a:path>
            </a:pathLst>
          </a:custGeom>
          <a:noFill/>
          <a:ln w="7590">
            <a:solidFill>
              <a:srgbClr val="FFFFFF"/>
            </a:solidFill>
            <a:prstDash val="solid"/>
          </a:ln>
        </p:spPr>
        <p:txBody>
          <a:bodyPr/>
          <a:lstStyle/>
          <a:p>
            <a:endParaRPr sz="1050"/>
          </a:p>
        </p:txBody>
      </p:sp>
      <p:sp>
        <p:nvSpPr>
          <p:cNvPr id="193" name="Freeform 192">
            <a:extLst>
              <a:ext uri="{FF2B5EF4-FFF2-40B4-BE49-F238E27FC236}">
                <a16:creationId xmlns:a16="http://schemas.microsoft.com/office/drawing/2014/main" id="{562DAF39-4040-8C15-4D93-6DC562B4D9FD}"/>
              </a:ext>
            </a:extLst>
          </p:cNvPr>
          <p:cNvSpPr>
            <a:spLocks noGrp="1"/>
          </p:cNvSpPr>
          <p:nvPr/>
        </p:nvSpPr>
        <p:spPr>
          <a:xfrm>
            <a:off x="4384506" y="5027169"/>
            <a:ext cx="40321" cy="33509"/>
          </a:xfrm>
          <a:custGeom>
            <a:avLst/>
            <a:gdLst>
              <a:gd name="csX0" fmla="*/ 0 w 30360"/>
              <a:gd name="csY0" fmla="*/ 15180 h 25300"/>
              <a:gd name="csX1" fmla="*/ 10120 w 30360"/>
              <a:gd name="csY1" fmla="*/ 25301 h 25300"/>
              <a:gd name="csX2" fmla="*/ 30361 w 30360"/>
              <a:gd name="csY2" fmla="*/ 0 h 25300"/>
            </a:gdLst>
            <a:ahLst/>
            <a:cxnLst/>
            <a:rect l="l" t="t" r="r" b="b"/>
            <a:pathLst>
              <a:path w="30360" h="25300">
                <a:moveTo>
                  <a:pt x="0" y="15180"/>
                </a:moveTo>
                <a:lnTo>
                  <a:pt x="10120" y="25301"/>
                </a:lnTo>
                <a:lnTo>
                  <a:pt x="30361" y="0"/>
                </a:lnTo>
              </a:path>
            </a:pathLst>
          </a:custGeom>
          <a:noFill/>
          <a:ln w="7590">
            <a:solidFill>
              <a:srgbClr val="FFFFFF"/>
            </a:solidFill>
            <a:prstDash val="solid"/>
          </a:ln>
        </p:spPr>
        <p:txBody>
          <a:bodyPr/>
          <a:lstStyle/>
          <a:p>
            <a:endParaRPr sz="1050"/>
          </a:p>
        </p:txBody>
      </p:sp>
      <p:sp>
        <p:nvSpPr>
          <p:cNvPr id="194" name="Freeform 193">
            <a:extLst>
              <a:ext uri="{FF2B5EF4-FFF2-40B4-BE49-F238E27FC236}">
                <a16:creationId xmlns:a16="http://schemas.microsoft.com/office/drawing/2014/main" id="{F47C6327-0F6D-1868-691E-96E5490432E0}"/>
              </a:ext>
            </a:extLst>
          </p:cNvPr>
          <p:cNvSpPr>
            <a:spLocks noGrp="1"/>
          </p:cNvSpPr>
          <p:nvPr/>
        </p:nvSpPr>
        <p:spPr>
          <a:xfrm>
            <a:off x="4626445" y="5027169"/>
            <a:ext cx="40321" cy="33509"/>
          </a:xfrm>
          <a:custGeom>
            <a:avLst/>
            <a:gdLst>
              <a:gd name="csX0" fmla="*/ 0 w 30360"/>
              <a:gd name="csY0" fmla="*/ 15180 h 25300"/>
              <a:gd name="csX1" fmla="*/ 10120 w 30360"/>
              <a:gd name="csY1" fmla="*/ 25301 h 25300"/>
              <a:gd name="csX2" fmla="*/ 30361 w 30360"/>
              <a:gd name="csY2" fmla="*/ 0 h 25300"/>
            </a:gdLst>
            <a:ahLst/>
            <a:cxnLst/>
            <a:rect l="l" t="t" r="r" b="b"/>
            <a:pathLst>
              <a:path w="30360" h="25300">
                <a:moveTo>
                  <a:pt x="0" y="15180"/>
                </a:moveTo>
                <a:lnTo>
                  <a:pt x="10120" y="25301"/>
                </a:lnTo>
                <a:lnTo>
                  <a:pt x="30361" y="0"/>
                </a:lnTo>
              </a:path>
            </a:pathLst>
          </a:custGeom>
          <a:noFill/>
          <a:ln w="7590">
            <a:solidFill>
              <a:srgbClr val="FFFFFF"/>
            </a:solidFill>
            <a:prstDash val="solid"/>
          </a:ln>
        </p:spPr>
        <p:txBody>
          <a:bodyPr/>
          <a:lstStyle/>
          <a:p>
            <a:endParaRPr sz="1050"/>
          </a:p>
        </p:txBody>
      </p:sp>
      <p:sp>
        <p:nvSpPr>
          <p:cNvPr id="195" name="Freeform 194">
            <a:extLst>
              <a:ext uri="{FF2B5EF4-FFF2-40B4-BE49-F238E27FC236}">
                <a16:creationId xmlns:a16="http://schemas.microsoft.com/office/drawing/2014/main" id="{E19B9268-74E6-213C-643D-9A118036131D}"/>
              </a:ext>
            </a:extLst>
          </p:cNvPr>
          <p:cNvSpPr>
            <a:spLocks noGrp="1"/>
          </p:cNvSpPr>
          <p:nvPr/>
        </p:nvSpPr>
        <p:spPr>
          <a:xfrm>
            <a:off x="4895266" y="5027169"/>
            <a:ext cx="40321" cy="33509"/>
          </a:xfrm>
          <a:custGeom>
            <a:avLst/>
            <a:gdLst>
              <a:gd name="csX0" fmla="*/ 0 w 30360"/>
              <a:gd name="csY0" fmla="*/ 15180 h 25300"/>
              <a:gd name="csX1" fmla="*/ 10120 w 30360"/>
              <a:gd name="csY1" fmla="*/ 25301 h 25300"/>
              <a:gd name="csX2" fmla="*/ 30361 w 30360"/>
              <a:gd name="csY2" fmla="*/ 0 h 25300"/>
            </a:gdLst>
            <a:ahLst/>
            <a:cxnLst/>
            <a:rect l="l" t="t" r="r" b="b"/>
            <a:pathLst>
              <a:path w="30360" h="25300">
                <a:moveTo>
                  <a:pt x="0" y="15180"/>
                </a:moveTo>
                <a:lnTo>
                  <a:pt x="10120" y="25301"/>
                </a:lnTo>
                <a:lnTo>
                  <a:pt x="30361" y="0"/>
                </a:lnTo>
              </a:path>
            </a:pathLst>
          </a:custGeom>
          <a:noFill/>
          <a:ln w="7590">
            <a:solidFill>
              <a:srgbClr val="FFFFFF"/>
            </a:solidFill>
            <a:prstDash val="solid"/>
          </a:ln>
        </p:spPr>
        <p:txBody>
          <a:bodyPr/>
          <a:lstStyle/>
          <a:p>
            <a:endParaRPr sz="1050"/>
          </a:p>
        </p:txBody>
      </p:sp>
      <p:sp>
        <p:nvSpPr>
          <p:cNvPr id="196" name="TextBox 195">
            <a:extLst>
              <a:ext uri="{FF2B5EF4-FFF2-40B4-BE49-F238E27FC236}">
                <a16:creationId xmlns:a16="http://schemas.microsoft.com/office/drawing/2014/main" id="{AB393FCE-54D2-17DA-ECB1-0B977F239F33}"/>
              </a:ext>
            </a:extLst>
          </p:cNvPr>
          <p:cNvSpPr>
            <a:spLocks noGrp="1"/>
          </p:cNvSpPr>
          <p:nvPr/>
        </p:nvSpPr>
        <p:spPr>
          <a:xfrm>
            <a:off x="3749757" y="5479434"/>
            <a:ext cx="1513262" cy="236568"/>
          </a:xfrm>
          <a:prstGeom prst="rect">
            <a:avLst/>
          </a:prstGeom>
          <a:noFill/>
        </p:spPr>
        <p:txBody>
          <a:bodyPr wrap="none">
            <a:spAutoFit/>
          </a:bodyPr>
          <a:lstStyle/>
          <a:p>
            <a:pPr algn="l">
              <a:buNone/>
            </a:pPr>
            <a:r>
              <a:rPr sz="800">
                <a:solidFill>
                  <a:srgbClr val="000000"/>
                </a:solidFill>
                <a:latin typeface="Arial"/>
                <a:ea typeface="Arial"/>
                <a:cs typeface="Arial"/>
              </a:rPr>
              <a:t>Fix decisions in the solved</a:t>
            </a:r>
          </a:p>
        </p:txBody>
      </p:sp>
      <p:sp>
        <p:nvSpPr>
          <p:cNvPr id="197" name="TextBox 196">
            <a:extLst>
              <a:ext uri="{FF2B5EF4-FFF2-40B4-BE49-F238E27FC236}">
                <a16:creationId xmlns:a16="http://schemas.microsoft.com/office/drawing/2014/main" id="{27F550C3-653A-8FE9-6B78-3CE8A43AEA71}"/>
              </a:ext>
            </a:extLst>
          </p:cNvPr>
          <p:cNvSpPr>
            <a:spLocks noGrp="1"/>
          </p:cNvSpPr>
          <p:nvPr/>
        </p:nvSpPr>
        <p:spPr>
          <a:xfrm>
            <a:off x="4198010" y="5620179"/>
            <a:ext cx="575117" cy="236568"/>
          </a:xfrm>
          <a:prstGeom prst="rect">
            <a:avLst/>
          </a:prstGeom>
          <a:noFill/>
        </p:spPr>
        <p:txBody>
          <a:bodyPr wrap="none">
            <a:spAutoFit/>
          </a:bodyPr>
          <a:lstStyle/>
          <a:p>
            <a:pPr algn="l">
              <a:buNone/>
            </a:pPr>
            <a:r>
              <a:rPr sz="800">
                <a:solidFill>
                  <a:srgbClr val="000000"/>
                </a:solidFill>
                <a:latin typeface="Arial"/>
                <a:ea typeface="Arial"/>
                <a:cs typeface="Arial"/>
              </a:rPr>
              <a:t>window</a:t>
            </a:r>
          </a:p>
        </p:txBody>
      </p:sp>
      <p:sp>
        <p:nvSpPr>
          <p:cNvPr id="198" name="Freeform 197">
            <a:extLst>
              <a:ext uri="{FF2B5EF4-FFF2-40B4-BE49-F238E27FC236}">
                <a16:creationId xmlns:a16="http://schemas.microsoft.com/office/drawing/2014/main" id="{F791DDCD-20C8-4CF3-2BAB-8ED26BC7328B}"/>
              </a:ext>
            </a:extLst>
          </p:cNvPr>
          <p:cNvSpPr>
            <a:spLocks noGrp="1"/>
          </p:cNvSpPr>
          <p:nvPr/>
        </p:nvSpPr>
        <p:spPr>
          <a:xfrm>
            <a:off x="5184248" y="5074084"/>
            <a:ext cx="127688" cy="6701"/>
          </a:xfrm>
          <a:custGeom>
            <a:avLst/>
            <a:gdLst>
              <a:gd name="csX0" fmla="*/ 0 w 96142"/>
              <a:gd name="csY0" fmla="*/ 0 h 5060"/>
              <a:gd name="csX1" fmla="*/ 96143 w 96142"/>
              <a:gd name="csY1" fmla="*/ 0 h 5060"/>
            </a:gdLst>
            <a:ahLst/>
            <a:cxnLst/>
            <a:rect l="l" t="t" r="r" b="b"/>
            <a:pathLst>
              <a:path w="96142" h="5060">
                <a:moveTo>
                  <a:pt x="0" y="0"/>
                </a:moveTo>
                <a:lnTo>
                  <a:pt x="96143" y="0"/>
                </a:lnTo>
              </a:path>
            </a:pathLst>
          </a:custGeom>
          <a:solidFill>
            <a:srgbClr val="000000"/>
          </a:solidFill>
          <a:ln w="12650">
            <a:solidFill>
              <a:srgbClr val="1C396E"/>
            </a:solidFill>
            <a:prstDash val="solid"/>
          </a:ln>
        </p:spPr>
        <p:txBody>
          <a:bodyPr/>
          <a:lstStyle/>
          <a:p>
            <a:endParaRPr sz="1050"/>
          </a:p>
        </p:txBody>
      </p:sp>
      <p:sp>
        <p:nvSpPr>
          <p:cNvPr id="199" name="Rounded Rectangle 198">
            <a:extLst>
              <a:ext uri="{FF2B5EF4-FFF2-40B4-BE49-F238E27FC236}">
                <a16:creationId xmlns:a16="http://schemas.microsoft.com/office/drawing/2014/main" id="{FD4806B0-719C-65A2-13BE-6D576B50DE3F}"/>
              </a:ext>
            </a:extLst>
          </p:cNvPr>
          <p:cNvSpPr>
            <a:spLocks noGrp="1"/>
          </p:cNvSpPr>
          <p:nvPr/>
        </p:nvSpPr>
        <p:spPr>
          <a:xfrm>
            <a:off x="5325379" y="4651847"/>
            <a:ext cx="1014796" cy="851175"/>
          </a:xfrm>
          <a:prstGeom prst="roundRect">
            <a:avLst>
              <a:gd name="adj" fmla="val 4724"/>
            </a:avLst>
          </a:prstGeom>
          <a:solidFill>
            <a:srgbClr val="FBFDFF"/>
          </a:solidFill>
          <a:ln w="6072">
            <a:solidFill>
              <a:srgbClr val="4E8FEA"/>
            </a:solidFill>
            <a:prstDash val="solid"/>
          </a:ln>
        </p:spPr>
        <p:txBody>
          <a:bodyPr/>
          <a:lstStyle/>
          <a:p>
            <a:endParaRPr sz="1050"/>
          </a:p>
        </p:txBody>
      </p:sp>
      <p:sp>
        <p:nvSpPr>
          <p:cNvPr id="200" name="TextBox 199">
            <a:extLst>
              <a:ext uri="{FF2B5EF4-FFF2-40B4-BE49-F238E27FC236}">
                <a16:creationId xmlns:a16="http://schemas.microsoft.com/office/drawing/2014/main" id="{72F03A02-E04F-2051-5E5A-833BFDDD1CD0}"/>
              </a:ext>
            </a:extLst>
          </p:cNvPr>
          <p:cNvSpPr>
            <a:spLocks noGrp="1"/>
          </p:cNvSpPr>
          <p:nvPr/>
        </p:nvSpPr>
        <p:spPr>
          <a:xfrm>
            <a:off x="5408280" y="4661769"/>
            <a:ext cx="824938" cy="236568"/>
          </a:xfrm>
          <a:prstGeom prst="rect">
            <a:avLst/>
          </a:prstGeom>
          <a:noFill/>
        </p:spPr>
        <p:txBody>
          <a:bodyPr wrap="none">
            <a:spAutoFit/>
          </a:bodyPr>
          <a:lstStyle/>
          <a:p>
            <a:pPr algn="l">
              <a:buNone/>
            </a:pPr>
            <a:r>
              <a:rPr sz="800" b="1">
                <a:solidFill>
                  <a:srgbClr val="1F4683"/>
                </a:solidFill>
                <a:latin typeface="Arial"/>
                <a:ea typeface="Arial"/>
                <a:cs typeface="Arial"/>
              </a:rPr>
              <a:t>Window t+1</a:t>
            </a:r>
          </a:p>
        </p:txBody>
      </p:sp>
      <p:sp>
        <p:nvSpPr>
          <p:cNvPr id="201" name="TextBox 200">
            <a:extLst>
              <a:ext uri="{FF2B5EF4-FFF2-40B4-BE49-F238E27FC236}">
                <a16:creationId xmlns:a16="http://schemas.microsoft.com/office/drawing/2014/main" id="{294E0938-F03F-771C-C932-3A039010E948}"/>
              </a:ext>
            </a:extLst>
          </p:cNvPr>
          <p:cNvSpPr>
            <a:spLocks noGrp="1"/>
          </p:cNvSpPr>
          <p:nvPr/>
        </p:nvSpPr>
        <p:spPr>
          <a:xfrm>
            <a:off x="5491039" y="4814649"/>
            <a:ext cx="589093" cy="202772"/>
          </a:xfrm>
          <a:prstGeom prst="rect">
            <a:avLst/>
          </a:prstGeom>
          <a:noFill/>
        </p:spPr>
        <p:txBody>
          <a:bodyPr wrap="none">
            <a:spAutoFit/>
          </a:bodyPr>
          <a:lstStyle/>
          <a:p>
            <a:pPr algn="l">
              <a:buNone/>
            </a:pPr>
            <a:r>
              <a:rPr sz="600">
                <a:solidFill>
                  <a:srgbClr val="000000"/>
                </a:solidFill>
                <a:latin typeface="Arial"/>
                <a:ea typeface="Arial"/>
                <a:cs typeface="Arial"/>
              </a:rPr>
              <a:t>(Optimize)</a:t>
            </a:r>
          </a:p>
        </p:txBody>
      </p:sp>
      <p:sp>
        <p:nvSpPr>
          <p:cNvPr id="202" name="Rectangle 201">
            <a:extLst>
              <a:ext uri="{FF2B5EF4-FFF2-40B4-BE49-F238E27FC236}">
                <a16:creationId xmlns:a16="http://schemas.microsoft.com/office/drawing/2014/main" id="{DC63A6FB-C84D-8A9F-38DA-74D4D8BE8C1D}"/>
              </a:ext>
            </a:extLst>
          </p:cNvPr>
          <p:cNvSpPr>
            <a:spLocks noGrp="1"/>
          </p:cNvSpPr>
          <p:nvPr/>
        </p:nvSpPr>
        <p:spPr>
          <a:xfrm>
            <a:off x="5493391" y="5114297"/>
            <a:ext cx="483876" cy="308299"/>
          </a:xfrm>
          <a:prstGeom prst="rect">
            <a:avLst/>
          </a:prstGeom>
          <a:solidFill>
            <a:srgbClr val="DCECFF">
              <a:alpha val="95000"/>
            </a:srgbClr>
          </a:solidFill>
          <a:ln w="5060">
            <a:noFill/>
            <a:prstDash val="solid"/>
          </a:ln>
        </p:spPr>
        <p:txBody>
          <a:bodyPr/>
          <a:lstStyle/>
          <a:p>
            <a:endParaRPr sz="1050"/>
          </a:p>
        </p:txBody>
      </p:sp>
      <p:sp>
        <p:nvSpPr>
          <p:cNvPr id="203" name="Freeform 202">
            <a:extLst>
              <a:ext uri="{FF2B5EF4-FFF2-40B4-BE49-F238E27FC236}">
                <a16:creationId xmlns:a16="http://schemas.microsoft.com/office/drawing/2014/main" id="{2D8442D4-B3FA-B1D5-552F-99A68E5BF5A5}"/>
              </a:ext>
            </a:extLst>
          </p:cNvPr>
          <p:cNvSpPr>
            <a:spLocks noGrp="1"/>
          </p:cNvSpPr>
          <p:nvPr/>
        </p:nvSpPr>
        <p:spPr>
          <a:xfrm>
            <a:off x="5412745" y="5174616"/>
            <a:ext cx="806460" cy="6701"/>
          </a:xfrm>
          <a:custGeom>
            <a:avLst/>
            <a:gdLst>
              <a:gd name="csX0" fmla="*/ 0 w 607218"/>
              <a:gd name="csY0" fmla="*/ 0 h 5060"/>
              <a:gd name="csX1" fmla="*/ 607219 w 607218"/>
              <a:gd name="csY1" fmla="*/ 0 h 5060"/>
            </a:gdLst>
            <a:ahLst/>
            <a:cxnLst/>
            <a:rect l="l" t="t" r="r" b="b"/>
            <a:pathLst>
              <a:path w="607218" h="5060">
                <a:moveTo>
                  <a:pt x="0" y="0"/>
                </a:moveTo>
                <a:lnTo>
                  <a:pt x="607219" y="0"/>
                </a:lnTo>
              </a:path>
            </a:pathLst>
          </a:custGeom>
          <a:solidFill>
            <a:srgbClr val="000000"/>
          </a:solidFill>
          <a:ln w="7084">
            <a:solidFill>
              <a:srgbClr val="27364F"/>
            </a:solidFill>
          </a:ln>
        </p:spPr>
        <p:txBody>
          <a:bodyPr/>
          <a:lstStyle/>
          <a:p>
            <a:endParaRPr sz="1050"/>
          </a:p>
        </p:txBody>
      </p:sp>
      <p:sp>
        <p:nvSpPr>
          <p:cNvPr id="205" name="Oval 204">
            <a:extLst>
              <a:ext uri="{FF2B5EF4-FFF2-40B4-BE49-F238E27FC236}">
                <a16:creationId xmlns:a16="http://schemas.microsoft.com/office/drawing/2014/main" id="{5B254379-1C8E-735F-AE3E-709659C1504C}"/>
              </a:ext>
            </a:extLst>
          </p:cNvPr>
          <p:cNvSpPr>
            <a:spLocks noGrp="1"/>
          </p:cNvSpPr>
          <p:nvPr/>
        </p:nvSpPr>
        <p:spPr>
          <a:xfrm>
            <a:off x="5469869"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06" name="Oval 205">
            <a:extLst>
              <a:ext uri="{FF2B5EF4-FFF2-40B4-BE49-F238E27FC236}">
                <a16:creationId xmlns:a16="http://schemas.microsoft.com/office/drawing/2014/main" id="{E34A7C20-5E7F-95D6-82FC-F1ABB5D078D2}"/>
              </a:ext>
            </a:extLst>
          </p:cNvPr>
          <p:cNvSpPr>
            <a:spLocks noGrp="1"/>
          </p:cNvSpPr>
          <p:nvPr/>
        </p:nvSpPr>
        <p:spPr>
          <a:xfrm>
            <a:off x="5658044"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07" name="Oval 206">
            <a:extLst>
              <a:ext uri="{FF2B5EF4-FFF2-40B4-BE49-F238E27FC236}">
                <a16:creationId xmlns:a16="http://schemas.microsoft.com/office/drawing/2014/main" id="{5BE5AB0F-AC74-5D14-1D39-DE3CB8D22439}"/>
              </a:ext>
            </a:extLst>
          </p:cNvPr>
          <p:cNvSpPr>
            <a:spLocks noGrp="1"/>
          </p:cNvSpPr>
          <p:nvPr/>
        </p:nvSpPr>
        <p:spPr>
          <a:xfrm>
            <a:off x="5879821"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08" name="Oval 207">
            <a:extLst>
              <a:ext uri="{FF2B5EF4-FFF2-40B4-BE49-F238E27FC236}">
                <a16:creationId xmlns:a16="http://schemas.microsoft.com/office/drawing/2014/main" id="{C743222A-DAE5-6764-5F49-1B34CF57BAF7}"/>
              </a:ext>
            </a:extLst>
          </p:cNvPr>
          <p:cNvSpPr>
            <a:spLocks noGrp="1"/>
          </p:cNvSpPr>
          <p:nvPr/>
        </p:nvSpPr>
        <p:spPr>
          <a:xfrm>
            <a:off x="6067995"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09" name="TextBox 208">
            <a:extLst>
              <a:ext uri="{FF2B5EF4-FFF2-40B4-BE49-F238E27FC236}">
                <a16:creationId xmlns:a16="http://schemas.microsoft.com/office/drawing/2014/main" id="{CE6633A5-A835-C8DF-1B77-57A5366B7D84}"/>
              </a:ext>
            </a:extLst>
          </p:cNvPr>
          <p:cNvSpPr>
            <a:spLocks noGrp="1"/>
          </p:cNvSpPr>
          <p:nvPr/>
        </p:nvSpPr>
        <p:spPr>
          <a:xfrm>
            <a:off x="5110346" y="5486136"/>
            <a:ext cx="1448623" cy="236568"/>
          </a:xfrm>
          <a:prstGeom prst="rect">
            <a:avLst/>
          </a:prstGeom>
          <a:noFill/>
        </p:spPr>
        <p:txBody>
          <a:bodyPr wrap="none">
            <a:spAutoFit/>
          </a:bodyPr>
          <a:lstStyle/>
          <a:p>
            <a:pPr algn="l">
              <a:buNone/>
            </a:pPr>
            <a:r>
              <a:rPr sz="800">
                <a:solidFill>
                  <a:srgbClr val="000000"/>
                </a:solidFill>
                <a:latin typeface="Arial"/>
                <a:ea typeface="Arial"/>
                <a:cs typeface="Arial"/>
              </a:rPr>
              <a:t>Re-optimize next window</a:t>
            </a:r>
          </a:p>
        </p:txBody>
      </p:sp>
      <p:sp>
        <p:nvSpPr>
          <p:cNvPr id="210" name="TextBox 209">
            <a:extLst>
              <a:ext uri="{FF2B5EF4-FFF2-40B4-BE49-F238E27FC236}">
                <a16:creationId xmlns:a16="http://schemas.microsoft.com/office/drawing/2014/main" id="{D7D51F6C-E6C2-10A1-7707-A1E07984D162}"/>
              </a:ext>
            </a:extLst>
          </p:cNvPr>
          <p:cNvSpPr>
            <a:spLocks noGrp="1"/>
          </p:cNvSpPr>
          <p:nvPr/>
        </p:nvSpPr>
        <p:spPr>
          <a:xfrm>
            <a:off x="5146049" y="5626881"/>
            <a:ext cx="1378742" cy="236568"/>
          </a:xfrm>
          <a:prstGeom prst="rect">
            <a:avLst/>
          </a:prstGeom>
          <a:noFill/>
        </p:spPr>
        <p:txBody>
          <a:bodyPr wrap="none">
            <a:spAutoFit/>
          </a:bodyPr>
          <a:lstStyle/>
          <a:p>
            <a:pPr algn="l">
              <a:buNone/>
            </a:pPr>
            <a:r>
              <a:rPr sz="800">
                <a:solidFill>
                  <a:srgbClr val="000000"/>
                </a:solidFill>
                <a:latin typeface="Arial"/>
                <a:ea typeface="Arial"/>
                <a:cs typeface="Arial"/>
              </a:rPr>
              <a:t>with updated conditions</a:t>
            </a:r>
          </a:p>
        </p:txBody>
      </p:sp>
      <p:sp>
        <p:nvSpPr>
          <p:cNvPr id="211" name="Freeform 210">
            <a:extLst>
              <a:ext uri="{FF2B5EF4-FFF2-40B4-BE49-F238E27FC236}">
                <a16:creationId xmlns:a16="http://schemas.microsoft.com/office/drawing/2014/main" id="{F529F529-871D-9567-153C-97232DECB928}"/>
              </a:ext>
            </a:extLst>
          </p:cNvPr>
          <p:cNvSpPr>
            <a:spLocks noGrp="1"/>
          </p:cNvSpPr>
          <p:nvPr/>
        </p:nvSpPr>
        <p:spPr>
          <a:xfrm>
            <a:off x="6393940" y="5074084"/>
            <a:ext cx="127688" cy="6701"/>
          </a:xfrm>
          <a:custGeom>
            <a:avLst/>
            <a:gdLst>
              <a:gd name="csX0" fmla="*/ 0 w 96142"/>
              <a:gd name="csY0" fmla="*/ 0 h 5060"/>
              <a:gd name="csX1" fmla="*/ 96143 w 96142"/>
              <a:gd name="csY1" fmla="*/ 0 h 5060"/>
            </a:gdLst>
            <a:ahLst/>
            <a:cxnLst/>
            <a:rect l="l" t="t" r="r" b="b"/>
            <a:pathLst>
              <a:path w="96142" h="5060">
                <a:moveTo>
                  <a:pt x="0" y="0"/>
                </a:moveTo>
                <a:lnTo>
                  <a:pt x="96143" y="0"/>
                </a:lnTo>
              </a:path>
            </a:pathLst>
          </a:custGeom>
          <a:solidFill>
            <a:srgbClr val="000000"/>
          </a:solidFill>
          <a:ln w="12650">
            <a:solidFill>
              <a:srgbClr val="1C396E"/>
            </a:solidFill>
            <a:prstDash val="solid"/>
          </a:ln>
        </p:spPr>
        <p:txBody>
          <a:bodyPr/>
          <a:lstStyle/>
          <a:p>
            <a:endParaRPr sz="1050"/>
          </a:p>
        </p:txBody>
      </p:sp>
      <p:sp>
        <p:nvSpPr>
          <p:cNvPr id="212" name="Rounded Rectangle 211">
            <a:extLst>
              <a:ext uri="{FF2B5EF4-FFF2-40B4-BE49-F238E27FC236}">
                <a16:creationId xmlns:a16="http://schemas.microsoft.com/office/drawing/2014/main" id="{BC09DA8A-D4E8-15C7-E271-4600DC322292}"/>
              </a:ext>
            </a:extLst>
          </p:cNvPr>
          <p:cNvSpPr>
            <a:spLocks noGrp="1"/>
          </p:cNvSpPr>
          <p:nvPr/>
        </p:nvSpPr>
        <p:spPr>
          <a:xfrm>
            <a:off x="6642600" y="4651847"/>
            <a:ext cx="1102163" cy="851175"/>
          </a:xfrm>
          <a:prstGeom prst="roundRect">
            <a:avLst>
              <a:gd name="adj" fmla="val 4724"/>
            </a:avLst>
          </a:prstGeom>
          <a:solidFill>
            <a:srgbClr val="FBFDFF"/>
          </a:solidFill>
          <a:ln w="6072">
            <a:solidFill>
              <a:srgbClr val="4E8FEA"/>
            </a:solidFill>
            <a:prstDash val="solid"/>
          </a:ln>
        </p:spPr>
        <p:txBody>
          <a:bodyPr/>
          <a:lstStyle/>
          <a:p>
            <a:endParaRPr sz="1050"/>
          </a:p>
        </p:txBody>
      </p:sp>
      <p:sp>
        <p:nvSpPr>
          <p:cNvPr id="213" name="TextBox 212">
            <a:extLst>
              <a:ext uri="{FF2B5EF4-FFF2-40B4-BE49-F238E27FC236}">
                <a16:creationId xmlns:a16="http://schemas.microsoft.com/office/drawing/2014/main" id="{FF72F50C-4999-9ABB-9DA0-F0BCECDEEE85}"/>
              </a:ext>
            </a:extLst>
          </p:cNvPr>
          <p:cNvSpPr>
            <a:spLocks noGrp="1"/>
          </p:cNvSpPr>
          <p:nvPr/>
        </p:nvSpPr>
        <p:spPr>
          <a:xfrm>
            <a:off x="6818906" y="4661769"/>
            <a:ext cx="728854" cy="236568"/>
          </a:xfrm>
          <a:prstGeom prst="rect">
            <a:avLst/>
          </a:prstGeom>
          <a:noFill/>
        </p:spPr>
        <p:txBody>
          <a:bodyPr wrap="none">
            <a:spAutoFit/>
          </a:bodyPr>
          <a:lstStyle/>
          <a:p>
            <a:pPr algn="l">
              <a:buNone/>
            </a:pPr>
            <a:r>
              <a:rPr sz="800" b="1">
                <a:solidFill>
                  <a:srgbClr val="1F4683"/>
                </a:solidFill>
                <a:latin typeface="Arial"/>
                <a:ea typeface="Arial"/>
                <a:cs typeface="Arial"/>
              </a:rPr>
              <a:t>Window T</a:t>
            </a:r>
          </a:p>
        </p:txBody>
      </p:sp>
      <p:sp>
        <p:nvSpPr>
          <p:cNvPr id="214" name="TextBox 213">
            <a:extLst>
              <a:ext uri="{FF2B5EF4-FFF2-40B4-BE49-F238E27FC236}">
                <a16:creationId xmlns:a16="http://schemas.microsoft.com/office/drawing/2014/main" id="{E87B3F9E-F209-EB8D-060C-2E88FF6B39B5}"/>
              </a:ext>
            </a:extLst>
          </p:cNvPr>
          <p:cNvSpPr>
            <a:spLocks noGrp="1"/>
          </p:cNvSpPr>
          <p:nvPr/>
        </p:nvSpPr>
        <p:spPr>
          <a:xfrm>
            <a:off x="6855304" y="4814649"/>
            <a:ext cx="589093" cy="202772"/>
          </a:xfrm>
          <a:prstGeom prst="rect">
            <a:avLst/>
          </a:prstGeom>
          <a:noFill/>
        </p:spPr>
        <p:txBody>
          <a:bodyPr wrap="none">
            <a:spAutoFit/>
          </a:bodyPr>
          <a:lstStyle/>
          <a:p>
            <a:pPr algn="l">
              <a:buNone/>
            </a:pPr>
            <a:r>
              <a:rPr sz="600">
                <a:solidFill>
                  <a:srgbClr val="000000"/>
                </a:solidFill>
                <a:latin typeface="Arial"/>
                <a:ea typeface="Arial"/>
                <a:cs typeface="Arial"/>
              </a:rPr>
              <a:t>(Optimize)</a:t>
            </a:r>
          </a:p>
        </p:txBody>
      </p:sp>
      <p:sp>
        <p:nvSpPr>
          <p:cNvPr id="215" name="Rectangle 214">
            <a:extLst>
              <a:ext uri="{FF2B5EF4-FFF2-40B4-BE49-F238E27FC236}">
                <a16:creationId xmlns:a16="http://schemas.microsoft.com/office/drawing/2014/main" id="{CAE195BF-5684-F38D-F04F-E95113C6D4D6}"/>
              </a:ext>
            </a:extLst>
          </p:cNvPr>
          <p:cNvSpPr>
            <a:spLocks noGrp="1"/>
          </p:cNvSpPr>
          <p:nvPr/>
        </p:nvSpPr>
        <p:spPr>
          <a:xfrm>
            <a:off x="6810611" y="5114297"/>
            <a:ext cx="537640" cy="308299"/>
          </a:xfrm>
          <a:prstGeom prst="rect">
            <a:avLst/>
          </a:prstGeom>
          <a:solidFill>
            <a:srgbClr val="DCECFF">
              <a:alpha val="95000"/>
            </a:srgbClr>
          </a:solidFill>
          <a:ln w="5060">
            <a:noFill/>
            <a:prstDash val="solid"/>
          </a:ln>
        </p:spPr>
        <p:txBody>
          <a:bodyPr/>
          <a:lstStyle/>
          <a:p>
            <a:endParaRPr sz="1050"/>
          </a:p>
        </p:txBody>
      </p:sp>
      <p:sp>
        <p:nvSpPr>
          <p:cNvPr id="216" name="Freeform 215">
            <a:extLst>
              <a:ext uri="{FF2B5EF4-FFF2-40B4-BE49-F238E27FC236}">
                <a16:creationId xmlns:a16="http://schemas.microsoft.com/office/drawing/2014/main" id="{419A0B07-8B87-0FC4-BF19-D80D1C93F80E}"/>
              </a:ext>
            </a:extLst>
          </p:cNvPr>
          <p:cNvSpPr>
            <a:spLocks noGrp="1"/>
          </p:cNvSpPr>
          <p:nvPr/>
        </p:nvSpPr>
        <p:spPr>
          <a:xfrm>
            <a:off x="6729966" y="5174616"/>
            <a:ext cx="887107" cy="6701"/>
          </a:xfrm>
          <a:custGeom>
            <a:avLst/>
            <a:gdLst>
              <a:gd name="csX0" fmla="*/ 0 w 667940"/>
              <a:gd name="csY0" fmla="*/ 0 h 5060"/>
              <a:gd name="csX1" fmla="*/ 667941 w 667940"/>
              <a:gd name="csY1" fmla="*/ 0 h 5060"/>
            </a:gdLst>
            <a:ahLst/>
            <a:cxnLst/>
            <a:rect l="l" t="t" r="r" b="b"/>
            <a:pathLst>
              <a:path w="667940" h="5060">
                <a:moveTo>
                  <a:pt x="0" y="0"/>
                </a:moveTo>
                <a:lnTo>
                  <a:pt x="667941" y="0"/>
                </a:lnTo>
              </a:path>
            </a:pathLst>
          </a:custGeom>
          <a:solidFill>
            <a:srgbClr val="000000"/>
          </a:solidFill>
          <a:ln w="7084">
            <a:solidFill>
              <a:srgbClr val="27364F"/>
            </a:solidFill>
          </a:ln>
        </p:spPr>
        <p:txBody>
          <a:bodyPr/>
          <a:lstStyle/>
          <a:p>
            <a:endParaRPr sz="1050"/>
          </a:p>
        </p:txBody>
      </p:sp>
      <p:sp>
        <p:nvSpPr>
          <p:cNvPr id="218" name="Oval 217">
            <a:extLst>
              <a:ext uri="{FF2B5EF4-FFF2-40B4-BE49-F238E27FC236}">
                <a16:creationId xmlns:a16="http://schemas.microsoft.com/office/drawing/2014/main" id="{E777ED93-0027-6F48-6D0C-ACD4DE192CD8}"/>
              </a:ext>
            </a:extLst>
          </p:cNvPr>
          <p:cNvSpPr>
            <a:spLocks noGrp="1"/>
          </p:cNvSpPr>
          <p:nvPr/>
        </p:nvSpPr>
        <p:spPr>
          <a:xfrm>
            <a:off x="6787090"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19" name="Oval 218">
            <a:extLst>
              <a:ext uri="{FF2B5EF4-FFF2-40B4-BE49-F238E27FC236}">
                <a16:creationId xmlns:a16="http://schemas.microsoft.com/office/drawing/2014/main" id="{F214EE8C-8442-951B-BCD0-34579D28381E}"/>
              </a:ext>
            </a:extLst>
          </p:cNvPr>
          <p:cNvSpPr>
            <a:spLocks noGrp="1"/>
          </p:cNvSpPr>
          <p:nvPr/>
        </p:nvSpPr>
        <p:spPr>
          <a:xfrm>
            <a:off x="7002147"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20" name="Oval 219">
            <a:extLst>
              <a:ext uri="{FF2B5EF4-FFF2-40B4-BE49-F238E27FC236}">
                <a16:creationId xmlns:a16="http://schemas.microsoft.com/office/drawing/2014/main" id="{584F380B-5DA6-893A-4A54-8AA857D3E7A6}"/>
              </a:ext>
            </a:extLst>
          </p:cNvPr>
          <p:cNvSpPr>
            <a:spLocks noGrp="1"/>
          </p:cNvSpPr>
          <p:nvPr/>
        </p:nvSpPr>
        <p:spPr>
          <a:xfrm>
            <a:off x="7237364"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21" name="Oval 220">
            <a:extLst>
              <a:ext uri="{FF2B5EF4-FFF2-40B4-BE49-F238E27FC236}">
                <a16:creationId xmlns:a16="http://schemas.microsoft.com/office/drawing/2014/main" id="{D6718A95-F924-BDE0-2FD2-F52EEB8C5B37}"/>
              </a:ext>
            </a:extLst>
          </p:cNvPr>
          <p:cNvSpPr>
            <a:spLocks noGrp="1"/>
          </p:cNvSpPr>
          <p:nvPr/>
        </p:nvSpPr>
        <p:spPr>
          <a:xfrm>
            <a:off x="7425539" y="5151159"/>
            <a:ext cx="47043" cy="46915"/>
          </a:xfrm>
          <a:prstGeom prst="ellipse">
            <a:avLst/>
          </a:prstGeom>
          <a:solidFill>
            <a:srgbClr val="FFFFFF"/>
          </a:solidFill>
          <a:ln w="7590">
            <a:solidFill>
              <a:srgbClr val="1C4C98"/>
            </a:solidFill>
            <a:prstDash val="solid"/>
          </a:ln>
        </p:spPr>
        <p:txBody>
          <a:bodyPr/>
          <a:lstStyle/>
          <a:p>
            <a:endParaRPr sz="1050"/>
          </a:p>
        </p:txBody>
      </p:sp>
      <p:sp>
        <p:nvSpPr>
          <p:cNvPr id="222" name="TextBox 221">
            <a:extLst>
              <a:ext uri="{FF2B5EF4-FFF2-40B4-BE49-F238E27FC236}">
                <a16:creationId xmlns:a16="http://schemas.microsoft.com/office/drawing/2014/main" id="{9B1F3837-3C11-F7E0-E971-B6002C324E45}"/>
              </a:ext>
            </a:extLst>
          </p:cNvPr>
          <p:cNvSpPr>
            <a:spLocks noGrp="1"/>
          </p:cNvSpPr>
          <p:nvPr/>
        </p:nvSpPr>
        <p:spPr>
          <a:xfrm>
            <a:off x="6549140" y="5486136"/>
            <a:ext cx="1298380" cy="236568"/>
          </a:xfrm>
          <a:prstGeom prst="rect">
            <a:avLst/>
          </a:prstGeom>
          <a:noFill/>
        </p:spPr>
        <p:txBody>
          <a:bodyPr wrap="none">
            <a:spAutoFit/>
          </a:bodyPr>
          <a:lstStyle/>
          <a:p>
            <a:pPr algn="l">
              <a:buNone/>
            </a:pPr>
            <a:r>
              <a:rPr sz="800">
                <a:solidFill>
                  <a:srgbClr val="000000"/>
                </a:solidFill>
                <a:latin typeface="Arial"/>
                <a:ea typeface="Arial"/>
                <a:cs typeface="Arial"/>
              </a:rPr>
              <a:t>Continue until the end</a:t>
            </a:r>
          </a:p>
        </p:txBody>
      </p:sp>
      <p:sp>
        <p:nvSpPr>
          <p:cNvPr id="223" name="TextBox 222">
            <a:extLst>
              <a:ext uri="{FF2B5EF4-FFF2-40B4-BE49-F238E27FC236}">
                <a16:creationId xmlns:a16="http://schemas.microsoft.com/office/drawing/2014/main" id="{ECB877F0-0CE4-BB65-735A-7462DA2D1385}"/>
              </a:ext>
            </a:extLst>
          </p:cNvPr>
          <p:cNvSpPr>
            <a:spLocks noGrp="1"/>
          </p:cNvSpPr>
          <p:nvPr/>
        </p:nvSpPr>
        <p:spPr>
          <a:xfrm>
            <a:off x="6746450" y="5626881"/>
            <a:ext cx="884339" cy="236568"/>
          </a:xfrm>
          <a:prstGeom prst="rect">
            <a:avLst/>
          </a:prstGeom>
          <a:noFill/>
        </p:spPr>
        <p:txBody>
          <a:bodyPr wrap="none">
            <a:spAutoFit/>
          </a:bodyPr>
          <a:lstStyle/>
          <a:p>
            <a:pPr algn="l">
              <a:buNone/>
            </a:pPr>
            <a:r>
              <a:rPr sz="800">
                <a:solidFill>
                  <a:srgbClr val="000000"/>
                </a:solidFill>
                <a:latin typeface="Arial"/>
                <a:ea typeface="Arial"/>
                <a:cs typeface="Arial"/>
              </a:rPr>
              <a:t>of the horizon</a:t>
            </a:r>
          </a:p>
        </p:txBody>
      </p:sp>
      <p:sp>
        <p:nvSpPr>
          <p:cNvPr id="224" name="TextBox 223">
            <a:extLst>
              <a:ext uri="{FF2B5EF4-FFF2-40B4-BE49-F238E27FC236}">
                <a16:creationId xmlns:a16="http://schemas.microsoft.com/office/drawing/2014/main" id="{69A5AD2C-9738-2C02-1FED-175A90BF9DD7}"/>
              </a:ext>
            </a:extLst>
          </p:cNvPr>
          <p:cNvSpPr>
            <a:spLocks noGrp="1"/>
          </p:cNvSpPr>
          <p:nvPr/>
        </p:nvSpPr>
        <p:spPr>
          <a:xfrm>
            <a:off x="1070819" y="5795071"/>
            <a:ext cx="494754" cy="253465"/>
          </a:xfrm>
          <a:prstGeom prst="rect">
            <a:avLst/>
          </a:prstGeom>
          <a:noFill/>
        </p:spPr>
        <p:txBody>
          <a:bodyPr wrap="none">
            <a:spAutoFit/>
          </a:bodyPr>
          <a:lstStyle/>
          <a:p>
            <a:pPr algn="l">
              <a:buNone/>
            </a:pPr>
            <a:r>
              <a:rPr sz="900" b="1">
                <a:solidFill>
                  <a:srgbClr val="123B78"/>
                </a:solidFill>
                <a:latin typeface="Arial"/>
                <a:ea typeface="Arial"/>
                <a:cs typeface="Arial"/>
              </a:rPr>
              <a:t>Time</a:t>
            </a:r>
          </a:p>
        </p:txBody>
      </p:sp>
      <p:sp>
        <p:nvSpPr>
          <p:cNvPr id="225" name="Freeform 224">
            <a:extLst>
              <a:ext uri="{FF2B5EF4-FFF2-40B4-BE49-F238E27FC236}">
                <a16:creationId xmlns:a16="http://schemas.microsoft.com/office/drawing/2014/main" id="{DDAF049D-4C4C-1C7A-7A84-C20D13BA613F}"/>
              </a:ext>
            </a:extLst>
          </p:cNvPr>
          <p:cNvSpPr>
            <a:spLocks noGrp="1"/>
          </p:cNvSpPr>
          <p:nvPr/>
        </p:nvSpPr>
        <p:spPr>
          <a:xfrm>
            <a:off x="1501406" y="5925260"/>
            <a:ext cx="6182872" cy="6701"/>
          </a:xfrm>
          <a:custGeom>
            <a:avLst/>
            <a:gdLst>
              <a:gd name="csX0" fmla="*/ 0 w 4655343"/>
              <a:gd name="csY0" fmla="*/ 0 h 5060"/>
              <a:gd name="csX1" fmla="*/ 4655344 w 4655343"/>
              <a:gd name="csY1" fmla="*/ 0 h 5060"/>
            </a:gdLst>
            <a:ahLst/>
            <a:cxnLst/>
            <a:rect l="l" t="t" r="r" b="b"/>
            <a:pathLst>
              <a:path w="4655343" h="5060">
                <a:moveTo>
                  <a:pt x="0" y="0"/>
                </a:moveTo>
                <a:lnTo>
                  <a:pt x="4655344" y="0"/>
                </a:lnTo>
              </a:path>
            </a:pathLst>
          </a:custGeom>
          <a:solidFill>
            <a:srgbClr val="000000"/>
          </a:solidFill>
          <a:ln w="10120">
            <a:solidFill>
              <a:srgbClr val="263F75"/>
            </a:solidFill>
            <a:prstDash val="solid"/>
          </a:ln>
        </p:spPr>
        <p:txBody>
          <a:bodyPr/>
          <a:lstStyle/>
          <a:p>
            <a:endParaRPr sz="1050"/>
          </a:p>
        </p:txBody>
      </p:sp>
      <p:sp>
        <p:nvSpPr>
          <p:cNvPr id="226" name="Rectangle 225">
            <a:extLst>
              <a:ext uri="{FF2B5EF4-FFF2-40B4-BE49-F238E27FC236}">
                <a16:creationId xmlns:a16="http://schemas.microsoft.com/office/drawing/2014/main" id="{0D8595AF-B813-4C9D-A9FA-911FCEC072A5}"/>
              </a:ext>
            </a:extLst>
          </p:cNvPr>
          <p:cNvSpPr>
            <a:spLocks noGrp="1"/>
          </p:cNvSpPr>
          <p:nvPr/>
        </p:nvSpPr>
        <p:spPr>
          <a:xfrm>
            <a:off x="1340113" y="6126326"/>
            <a:ext cx="181453" cy="113936"/>
          </a:xfrm>
          <a:prstGeom prst="rect">
            <a:avLst/>
          </a:prstGeom>
          <a:solidFill>
            <a:srgbClr val="DCECFF"/>
          </a:solidFill>
          <a:ln w="5060">
            <a:solidFill>
              <a:srgbClr val="78A9EC"/>
            </a:solidFill>
            <a:prstDash val="solid"/>
          </a:ln>
        </p:spPr>
        <p:txBody>
          <a:bodyPr/>
          <a:lstStyle/>
          <a:p>
            <a:endParaRPr sz="1050"/>
          </a:p>
        </p:txBody>
      </p:sp>
      <p:sp>
        <p:nvSpPr>
          <p:cNvPr id="227" name="TextBox 226">
            <a:extLst>
              <a:ext uri="{FF2B5EF4-FFF2-40B4-BE49-F238E27FC236}">
                <a16:creationId xmlns:a16="http://schemas.microsoft.com/office/drawing/2014/main" id="{6219F6FF-364E-78D0-F0E2-E6643C83F682}"/>
              </a:ext>
            </a:extLst>
          </p:cNvPr>
          <p:cNvSpPr>
            <a:spLocks noGrp="1"/>
          </p:cNvSpPr>
          <p:nvPr/>
        </p:nvSpPr>
        <p:spPr>
          <a:xfrm>
            <a:off x="1474049" y="6062522"/>
            <a:ext cx="1611096" cy="236568"/>
          </a:xfrm>
          <a:prstGeom prst="rect">
            <a:avLst/>
          </a:prstGeom>
          <a:noFill/>
        </p:spPr>
        <p:txBody>
          <a:bodyPr wrap="none">
            <a:spAutoFit/>
          </a:bodyPr>
          <a:lstStyle/>
          <a:p>
            <a:pPr algn="l">
              <a:buNone/>
            </a:pPr>
            <a:r>
              <a:rPr sz="800">
                <a:solidFill>
                  <a:srgbClr val="000000"/>
                </a:solidFill>
                <a:latin typeface="Arial"/>
                <a:ea typeface="Arial"/>
                <a:cs typeface="Arial"/>
              </a:rPr>
              <a:t>Current optimization window</a:t>
            </a:r>
          </a:p>
        </p:txBody>
      </p:sp>
      <p:sp>
        <p:nvSpPr>
          <p:cNvPr id="228" name="Rectangle 227">
            <a:extLst>
              <a:ext uri="{FF2B5EF4-FFF2-40B4-BE49-F238E27FC236}">
                <a16:creationId xmlns:a16="http://schemas.microsoft.com/office/drawing/2014/main" id="{4F6706CC-C479-E01A-A556-E4DA5419963A}"/>
              </a:ext>
            </a:extLst>
          </p:cNvPr>
          <p:cNvSpPr>
            <a:spLocks noGrp="1"/>
          </p:cNvSpPr>
          <p:nvPr/>
        </p:nvSpPr>
        <p:spPr>
          <a:xfrm>
            <a:off x="3275621" y="6126326"/>
            <a:ext cx="181453" cy="113936"/>
          </a:xfrm>
          <a:prstGeom prst="rect">
            <a:avLst/>
          </a:prstGeom>
          <a:solidFill>
            <a:srgbClr val="FFE9AE"/>
          </a:solidFill>
          <a:ln w="5060">
            <a:solidFill>
              <a:srgbClr val="F1C86E"/>
            </a:solidFill>
            <a:prstDash val="solid"/>
          </a:ln>
        </p:spPr>
        <p:txBody>
          <a:bodyPr/>
          <a:lstStyle/>
          <a:p>
            <a:endParaRPr sz="1050"/>
          </a:p>
        </p:txBody>
      </p:sp>
      <p:sp>
        <p:nvSpPr>
          <p:cNvPr id="229" name="TextBox 228">
            <a:extLst>
              <a:ext uri="{FF2B5EF4-FFF2-40B4-BE49-F238E27FC236}">
                <a16:creationId xmlns:a16="http://schemas.microsoft.com/office/drawing/2014/main" id="{03852D4C-908C-23E9-1C85-97DDE94EE3F8}"/>
              </a:ext>
            </a:extLst>
          </p:cNvPr>
          <p:cNvSpPr>
            <a:spLocks noGrp="1"/>
          </p:cNvSpPr>
          <p:nvPr/>
        </p:nvSpPr>
        <p:spPr>
          <a:xfrm>
            <a:off x="3402837" y="6062522"/>
            <a:ext cx="1584890" cy="236568"/>
          </a:xfrm>
          <a:prstGeom prst="rect">
            <a:avLst/>
          </a:prstGeom>
          <a:noFill/>
        </p:spPr>
        <p:txBody>
          <a:bodyPr wrap="none">
            <a:spAutoFit/>
          </a:bodyPr>
          <a:lstStyle/>
          <a:p>
            <a:pPr algn="l">
              <a:buNone/>
            </a:pPr>
            <a:r>
              <a:rPr sz="800">
                <a:solidFill>
                  <a:srgbClr val="000000"/>
                </a:solidFill>
                <a:latin typeface="Arial"/>
                <a:ea typeface="Arial"/>
                <a:cs typeface="Arial"/>
              </a:rPr>
              <a:t>Committed (fixed) decisions</a:t>
            </a:r>
          </a:p>
        </p:txBody>
      </p:sp>
      <p:sp>
        <p:nvSpPr>
          <p:cNvPr id="230" name="Oval 229">
            <a:extLst>
              <a:ext uri="{FF2B5EF4-FFF2-40B4-BE49-F238E27FC236}">
                <a16:creationId xmlns:a16="http://schemas.microsoft.com/office/drawing/2014/main" id="{A1085B31-A288-5058-BA36-9A19CC32789C}"/>
              </a:ext>
            </a:extLst>
          </p:cNvPr>
          <p:cNvSpPr>
            <a:spLocks noGrp="1"/>
          </p:cNvSpPr>
          <p:nvPr/>
        </p:nvSpPr>
        <p:spPr>
          <a:xfrm>
            <a:off x="5157366" y="6126326"/>
            <a:ext cx="120968" cy="120638"/>
          </a:xfrm>
          <a:prstGeom prst="ellipse">
            <a:avLst/>
          </a:prstGeom>
          <a:solidFill>
            <a:srgbClr val="FFFFFF"/>
          </a:solidFill>
          <a:ln w="10120">
            <a:solidFill>
              <a:srgbClr val="2D7D3D"/>
            </a:solidFill>
            <a:prstDash val="solid"/>
          </a:ln>
        </p:spPr>
        <p:txBody>
          <a:bodyPr/>
          <a:lstStyle/>
          <a:p>
            <a:endParaRPr sz="1050"/>
          </a:p>
        </p:txBody>
      </p:sp>
      <p:sp>
        <p:nvSpPr>
          <p:cNvPr id="231" name="Freeform 230">
            <a:extLst>
              <a:ext uri="{FF2B5EF4-FFF2-40B4-BE49-F238E27FC236}">
                <a16:creationId xmlns:a16="http://schemas.microsoft.com/office/drawing/2014/main" id="{05027F88-96F0-C249-E960-89D0F54B606F}"/>
              </a:ext>
            </a:extLst>
          </p:cNvPr>
          <p:cNvSpPr>
            <a:spLocks noGrp="1"/>
          </p:cNvSpPr>
          <p:nvPr/>
        </p:nvSpPr>
        <p:spPr>
          <a:xfrm>
            <a:off x="5190968" y="6159836"/>
            <a:ext cx="60484" cy="46915"/>
          </a:xfrm>
          <a:custGeom>
            <a:avLst/>
            <a:gdLst>
              <a:gd name="csX0" fmla="*/ 0 w 45541"/>
              <a:gd name="csY0" fmla="*/ 20241 h 35421"/>
              <a:gd name="csX1" fmla="*/ 15180 w 45541"/>
              <a:gd name="csY1" fmla="*/ 35421 h 35421"/>
              <a:gd name="csX2" fmla="*/ 45541 w 45541"/>
              <a:gd name="csY2" fmla="*/ 0 h 35421"/>
            </a:gdLst>
            <a:ahLst/>
            <a:cxnLst/>
            <a:rect l="l" t="t" r="r" b="b"/>
            <a:pathLst>
              <a:path w="45541" h="35421">
                <a:moveTo>
                  <a:pt x="0" y="20241"/>
                </a:moveTo>
                <a:lnTo>
                  <a:pt x="15180" y="35421"/>
                </a:lnTo>
                <a:lnTo>
                  <a:pt x="45541" y="0"/>
                </a:lnTo>
              </a:path>
            </a:pathLst>
          </a:custGeom>
          <a:noFill/>
          <a:ln w="10120">
            <a:solidFill>
              <a:srgbClr val="2D7D3D"/>
            </a:solidFill>
            <a:prstDash val="solid"/>
          </a:ln>
        </p:spPr>
        <p:txBody>
          <a:bodyPr/>
          <a:lstStyle/>
          <a:p>
            <a:endParaRPr sz="1050"/>
          </a:p>
        </p:txBody>
      </p:sp>
      <p:sp>
        <p:nvSpPr>
          <p:cNvPr id="232" name="TextBox 231">
            <a:extLst>
              <a:ext uri="{FF2B5EF4-FFF2-40B4-BE49-F238E27FC236}">
                <a16:creationId xmlns:a16="http://schemas.microsoft.com/office/drawing/2014/main" id="{0F858133-D59F-165F-3953-CA3E815B9A08}"/>
              </a:ext>
            </a:extLst>
          </p:cNvPr>
          <p:cNvSpPr>
            <a:spLocks noGrp="1"/>
          </p:cNvSpPr>
          <p:nvPr/>
        </p:nvSpPr>
        <p:spPr>
          <a:xfrm>
            <a:off x="5217375" y="6062522"/>
            <a:ext cx="1074761" cy="236568"/>
          </a:xfrm>
          <a:prstGeom prst="rect">
            <a:avLst/>
          </a:prstGeom>
          <a:noFill/>
        </p:spPr>
        <p:txBody>
          <a:bodyPr wrap="none">
            <a:spAutoFit/>
          </a:bodyPr>
          <a:lstStyle/>
          <a:p>
            <a:pPr algn="l">
              <a:buNone/>
            </a:pPr>
            <a:r>
              <a:rPr sz="800">
                <a:solidFill>
                  <a:srgbClr val="000000"/>
                </a:solidFill>
                <a:latin typeface="Arial"/>
                <a:ea typeface="Arial"/>
                <a:cs typeface="Arial"/>
              </a:rPr>
              <a:t>Fixed by heuristic</a:t>
            </a:r>
          </a:p>
        </p:txBody>
      </p:sp>
      <p:sp>
        <p:nvSpPr>
          <p:cNvPr id="233" name="TextBox 232">
            <a:extLst>
              <a:ext uri="{FF2B5EF4-FFF2-40B4-BE49-F238E27FC236}">
                <a16:creationId xmlns:a16="http://schemas.microsoft.com/office/drawing/2014/main" id="{359554AD-62BF-9C74-ABE2-ACB0AFDCC98A}"/>
              </a:ext>
            </a:extLst>
          </p:cNvPr>
          <p:cNvSpPr>
            <a:spLocks noGrp="1"/>
          </p:cNvSpPr>
          <p:nvPr/>
        </p:nvSpPr>
        <p:spPr>
          <a:xfrm>
            <a:off x="6460671" y="6062522"/>
            <a:ext cx="311318" cy="236568"/>
          </a:xfrm>
          <a:prstGeom prst="rect">
            <a:avLst/>
          </a:prstGeom>
          <a:noFill/>
        </p:spPr>
        <p:txBody>
          <a:bodyPr wrap="none">
            <a:spAutoFit/>
          </a:bodyPr>
          <a:lstStyle/>
          <a:p>
            <a:pPr algn="l">
              <a:buNone/>
            </a:pPr>
            <a:r>
              <a:rPr sz="800">
                <a:solidFill>
                  <a:srgbClr val="203E75"/>
                </a:solidFill>
                <a:latin typeface="Arial"/>
                <a:ea typeface="Arial"/>
                <a:cs typeface="Arial"/>
              </a:rPr>
              <a:t>···</a:t>
            </a:r>
          </a:p>
        </p:txBody>
      </p:sp>
      <p:sp>
        <p:nvSpPr>
          <p:cNvPr id="234" name="TextBox 233">
            <a:extLst>
              <a:ext uri="{FF2B5EF4-FFF2-40B4-BE49-F238E27FC236}">
                <a16:creationId xmlns:a16="http://schemas.microsoft.com/office/drawing/2014/main" id="{71F9828A-7528-DD97-9E4C-F7480BC7B5AE}"/>
              </a:ext>
            </a:extLst>
          </p:cNvPr>
          <p:cNvSpPr>
            <a:spLocks noGrp="1"/>
          </p:cNvSpPr>
          <p:nvPr/>
        </p:nvSpPr>
        <p:spPr>
          <a:xfrm>
            <a:off x="6648846" y="6062522"/>
            <a:ext cx="880844" cy="236568"/>
          </a:xfrm>
          <a:prstGeom prst="rect">
            <a:avLst/>
          </a:prstGeom>
          <a:noFill/>
        </p:spPr>
        <p:txBody>
          <a:bodyPr wrap="none">
            <a:spAutoFit/>
          </a:bodyPr>
          <a:lstStyle/>
          <a:p>
            <a:pPr algn="l">
              <a:buNone/>
            </a:pPr>
            <a:r>
              <a:rPr sz="800">
                <a:solidFill>
                  <a:srgbClr val="000000"/>
                </a:solidFill>
                <a:latin typeface="Arial"/>
                <a:ea typeface="Arial"/>
                <a:cs typeface="Arial"/>
              </a:rPr>
              <a:t>Move forward</a:t>
            </a:r>
          </a:p>
        </p:txBody>
      </p:sp>
      <p:sp>
        <p:nvSpPr>
          <p:cNvPr id="236" name="Rounded Rectangle 235">
            <a:extLst>
              <a:ext uri="{FF2B5EF4-FFF2-40B4-BE49-F238E27FC236}">
                <a16:creationId xmlns:a16="http://schemas.microsoft.com/office/drawing/2014/main" id="{9178908C-4789-B9B4-4C23-358364561D40}"/>
              </a:ext>
            </a:extLst>
          </p:cNvPr>
          <p:cNvSpPr>
            <a:spLocks noGrp="1"/>
          </p:cNvSpPr>
          <p:nvPr/>
        </p:nvSpPr>
        <p:spPr>
          <a:xfrm>
            <a:off x="8294833" y="4475015"/>
            <a:ext cx="3057108" cy="1802883"/>
          </a:xfrm>
          <a:prstGeom prst="roundRect">
            <a:avLst>
              <a:gd name="adj" fmla="val 4089"/>
            </a:avLst>
          </a:prstGeom>
          <a:noFill/>
          <a:ln w="6072">
            <a:solidFill>
              <a:srgbClr val="F39B46"/>
            </a:solidFill>
            <a:prstDash val="solid"/>
          </a:ln>
        </p:spPr>
        <p:txBody>
          <a:bodyPr/>
          <a:lstStyle/>
          <a:p>
            <a:endParaRPr sz="1100"/>
          </a:p>
        </p:txBody>
      </p:sp>
      <p:sp>
        <p:nvSpPr>
          <p:cNvPr id="237" name="TextBox 236">
            <a:extLst>
              <a:ext uri="{FF2B5EF4-FFF2-40B4-BE49-F238E27FC236}">
                <a16:creationId xmlns:a16="http://schemas.microsoft.com/office/drawing/2014/main" id="{9A8200BD-62F5-89B9-B5ED-440C0ED0B1A5}"/>
              </a:ext>
            </a:extLst>
          </p:cNvPr>
          <p:cNvSpPr>
            <a:spLocks noGrp="1"/>
          </p:cNvSpPr>
          <p:nvPr/>
        </p:nvSpPr>
        <p:spPr>
          <a:xfrm>
            <a:off x="8656232" y="4487476"/>
            <a:ext cx="2311646" cy="278812"/>
          </a:xfrm>
          <a:prstGeom prst="rect">
            <a:avLst/>
          </a:prstGeom>
          <a:noFill/>
        </p:spPr>
        <p:txBody>
          <a:bodyPr wrap="none">
            <a:spAutoFit/>
          </a:bodyPr>
          <a:lstStyle/>
          <a:p>
            <a:pPr algn="l">
              <a:buNone/>
            </a:pPr>
            <a:r>
              <a:rPr sz="1050" b="1">
                <a:solidFill>
                  <a:srgbClr val="D45D0B"/>
                </a:solidFill>
                <a:latin typeface="Arial"/>
                <a:ea typeface="Arial"/>
                <a:cs typeface="Arial"/>
              </a:rPr>
              <a:t>HEURISTIC VARIABLE FIXING</a:t>
            </a:r>
          </a:p>
        </p:txBody>
      </p:sp>
      <p:sp>
        <p:nvSpPr>
          <p:cNvPr id="241" name="TextBox 240">
            <a:extLst>
              <a:ext uri="{FF2B5EF4-FFF2-40B4-BE49-F238E27FC236}">
                <a16:creationId xmlns:a16="http://schemas.microsoft.com/office/drawing/2014/main" id="{5F92BFBF-55CF-5F36-D32A-6FEB49A66A17}"/>
              </a:ext>
            </a:extLst>
          </p:cNvPr>
          <p:cNvSpPr>
            <a:spLocks noGrp="1"/>
          </p:cNvSpPr>
          <p:nvPr/>
        </p:nvSpPr>
        <p:spPr>
          <a:xfrm>
            <a:off x="8474977" y="4753023"/>
            <a:ext cx="1563925" cy="253465"/>
          </a:xfrm>
          <a:prstGeom prst="rect">
            <a:avLst/>
          </a:prstGeom>
          <a:noFill/>
        </p:spPr>
        <p:txBody>
          <a:bodyPr wrap="none">
            <a:spAutoFit/>
          </a:bodyPr>
          <a:lstStyle/>
          <a:p>
            <a:pPr algn="l">
              <a:buNone/>
            </a:pPr>
            <a:r>
              <a:rPr sz="900">
                <a:solidFill>
                  <a:srgbClr val="000000"/>
                </a:solidFill>
                <a:latin typeface="Arial"/>
                <a:ea typeface="Arial"/>
                <a:cs typeface="Arial"/>
              </a:rPr>
              <a:t>Use heuristics to identify</a:t>
            </a:r>
          </a:p>
        </p:txBody>
      </p:sp>
      <p:sp>
        <p:nvSpPr>
          <p:cNvPr id="242" name="TextBox 241">
            <a:extLst>
              <a:ext uri="{FF2B5EF4-FFF2-40B4-BE49-F238E27FC236}">
                <a16:creationId xmlns:a16="http://schemas.microsoft.com/office/drawing/2014/main" id="{0E5F3AF8-CA6B-C607-ED07-839AFFFD600A}"/>
              </a:ext>
            </a:extLst>
          </p:cNvPr>
          <p:cNvSpPr>
            <a:spLocks noGrp="1"/>
          </p:cNvSpPr>
          <p:nvPr/>
        </p:nvSpPr>
        <p:spPr>
          <a:xfrm>
            <a:off x="8474977" y="4900471"/>
            <a:ext cx="1647782" cy="253465"/>
          </a:xfrm>
          <a:prstGeom prst="rect">
            <a:avLst/>
          </a:prstGeom>
          <a:noFill/>
        </p:spPr>
        <p:txBody>
          <a:bodyPr wrap="none">
            <a:spAutoFit/>
          </a:bodyPr>
          <a:lstStyle/>
          <a:p>
            <a:pPr algn="l">
              <a:buNone/>
            </a:pPr>
            <a:r>
              <a:rPr sz="900">
                <a:solidFill>
                  <a:srgbClr val="000000"/>
                </a:solidFill>
                <a:latin typeface="Arial"/>
                <a:ea typeface="Arial"/>
                <a:cs typeface="Arial"/>
              </a:rPr>
              <a:t>high-confidence decisions</a:t>
            </a:r>
          </a:p>
        </p:txBody>
      </p:sp>
      <p:sp>
        <p:nvSpPr>
          <p:cNvPr id="246" name="Oval 245">
            <a:extLst>
              <a:ext uri="{FF2B5EF4-FFF2-40B4-BE49-F238E27FC236}">
                <a16:creationId xmlns:a16="http://schemas.microsoft.com/office/drawing/2014/main" id="{C29A2F2C-8FAB-D614-A2CF-FBD30D36A787}"/>
              </a:ext>
            </a:extLst>
          </p:cNvPr>
          <p:cNvSpPr>
            <a:spLocks noGrp="1"/>
          </p:cNvSpPr>
          <p:nvPr/>
        </p:nvSpPr>
        <p:spPr>
          <a:xfrm>
            <a:off x="8550214" y="5440127"/>
            <a:ext cx="26881" cy="26807"/>
          </a:xfrm>
          <a:prstGeom prst="ellipse">
            <a:avLst/>
          </a:prstGeom>
          <a:noFill/>
          <a:ln w="20241">
            <a:solidFill>
              <a:srgbClr val="FFFFFF"/>
            </a:solidFill>
            <a:prstDash val="solid"/>
          </a:ln>
        </p:spPr>
        <p:txBody>
          <a:bodyPr/>
          <a:lstStyle/>
          <a:p>
            <a:endParaRPr sz="1100"/>
          </a:p>
        </p:txBody>
      </p:sp>
      <p:sp>
        <p:nvSpPr>
          <p:cNvPr id="247" name="Freeform 246">
            <a:extLst>
              <a:ext uri="{FF2B5EF4-FFF2-40B4-BE49-F238E27FC236}">
                <a16:creationId xmlns:a16="http://schemas.microsoft.com/office/drawing/2014/main" id="{042544AE-BC02-0C00-0C61-802E77A9C31E}"/>
              </a:ext>
            </a:extLst>
          </p:cNvPr>
          <p:cNvSpPr>
            <a:spLocks noGrp="1"/>
          </p:cNvSpPr>
          <p:nvPr/>
        </p:nvSpPr>
        <p:spPr>
          <a:xfrm>
            <a:off x="8563656" y="5466936"/>
            <a:ext cx="6720" cy="46915"/>
          </a:xfrm>
          <a:custGeom>
            <a:avLst/>
            <a:gdLst>
              <a:gd name="csX0" fmla="*/ 1097 w 5060"/>
              <a:gd name="csY0" fmla="*/ 714 h 35421"/>
              <a:gd name="csX1" fmla="*/ 1097 w 5060"/>
              <a:gd name="csY1" fmla="*/ 36135 h 35421"/>
            </a:gdLst>
            <a:ahLst/>
            <a:cxnLst/>
            <a:rect l="l" t="t" r="r" b="b"/>
            <a:pathLst>
              <a:path w="5060" h="35421">
                <a:moveTo>
                  <a:pt x="1097" y="714"/>
                </a:moveTo>
                <a:lnTo>
                  <a:pt x="1097" y="36135"/>
                </a:lnTo>
              </a:path>
            </a:pathLst>
          </a:custGeom>
          <a:noFill/>
          <a:ln w="20241">
            <a:solidFill>
              <a:srgbClr val="FFFFFF"/>
            </a:solidFill>
            <a:prstDash val="solid"/>
          </a:ln>
        </p:spPr>
        <p:txBody>
          <a:bodyPr/>
          <a:lstStyle/>
          <a:p>
            <a:endParaRPr sz="1100"/>
          </a:p>
        </p:txBody>
      </p:sp>
      <p:sp>
        <p:nvSpPr>
          <p:cNvPr id="248" name="TextBox 247">
            <a:extLst>
              <a:ext uri="{FF2B5EF4-FFF2-40B4-BE49-F238E27FC236}">
                <a16:creationId xmlns:a16="http://schemas.microsoft.com/office/drawing/2014/main" id="{0B57E4C6-9CB9-9B3E-8CA6-F9E0B6A755B6}"/>
              </a:ext>
            </a:extLst>
          </p:cNvPr>
          <p:cNvSpPr>
            <a:spLocks noGrp="1"/>
          </p:cNvSpPr>
          <p:nvPr/>
        </p:nvSpPr>
        <p:spPr>
          <a:xfrm>
            <a:off x="8474977" y="5202068"/>
            <a:ext cx="1466093" cy="253465"/>
          </a:xfrm>
          <a:prstGeom prst="rect">
            <a:avLst/>
          </a:prstGeom>
          <a:noFill/>
        </p:spPr>
        <p:txBody>
          <a:bodyPr wrap="none">
            <a:spAutoFit/>
          </a:bodyPr>
          <a:lstStyle/>
          <a:p>
            <a:pPr algn="l">
              <a:buNone/>
            </a:pPr>
            <a:r>
              <a:rPr sz="900">
                <a:solidFill>
                  <a:srgbClr val="000000"/>
                </a:solidFill>
                <a:latin typeface="Arial"/>
                <a:ea typeface="Arial"/>
                <a:cs typeface="Arial"/>
              </a:rPr>
              <a:t>Fix variables to reduce</a:t>
            </a:r>
          </a:p>
        </p:txBody>
      </p:sp>
      <p:sp>
        <p:nvSpPr>
          <p:cNvPr id="249" name="TextBox 248">
            <a:extLst>
              <a:ext uri="{FF2B5EF4-FFF2-40B4-BE49-F238E27FC236}">
                <a16:creationId xmlns:a16="http://schemas.microsoft.com/office/drawing/2014/main" id="{F04B0D89-07D5-E0DC-0219-CE3DF5DA1655}"/>
              </a:ext>
            </a:extLst>
          </p:cNvPr>
          <p:cNvSpPr>
            <a:spLocks noGrp="1"/>
          </p:cNvSpPr>
          <p:nvPr/>
        </p:nvSpPr>
        <p:spPr>
          <a:xfrm>
            <a:off x="8474977" y="5349517"/>
            <a:ext cx="1640793" cy="253465"/>
          </a:xfrm>
          <a:prstGeom prst="rect">
            <a:avLst/>
          </a:prstGeom>
          <a:noFill/>
        </p:spPr>
        <p:txBody>
          <a:bodyPr wrap="none">
            <a:spAutoFit/>
          </a:bodyPr>
          <a:lstStyle/>
          <a:p>
            <a:pPr algn="l">
              <a:buNone/>
            </a:pPr>
            <a:r>
              <a:rPr sz="900">
                <a:solidFill>
                  <a:srgbClr val="000000"/>
                </a:solidFill>
                <a:latin typeface="Arial"/>
                <a:ea typeface="Arial"/>
                <a:cs typeface="Arial"/>
              </a:rPr>
              <a:t>problem size and improve</a:t>
            </a:r>
          </a:p>
        </p:txBody>
      </p:sp>
      <p:sp>
        <p:nvSpPr>
          <p:cNvPr id="250" name="TextBox 249">
            <a:extLst>
              <a:ext uri="{FF2B5EF4-FFF2-40B4-BE49-F238E27FC236}">
                <a16:creationId xmlns:a16="http://schemas.microsoft.com/office/drawing/2014/main" id="{E3031336-009B-C0A7-ED00-04386EDAB4C2}"/>
              </a:ext>
            </a:extLst>
          </p:cNvPr>
          <p:cNvSpPr>
            <a:spLocks noGrp="1"/>
          </p:cNvSpPr>
          <p:nvPr/>
        </p:nvSpPr>
        <p:spPr>
          <a:xfrm>
            <a:off x="8474977" y="5496964"/>
            <a:ext cx="1053797" cy="253465"/>
          </a:xfrm>
          <a:prstGeom prst="rect">
            <a:avLst/>
          </a:prstGeom>
          <a:noFill/>
        </p:spPr>
        <p:txBody>
          <a:bodyPr wrap="none">
            <a:spAutoFit/>
          </a:bodyPr>
          <a:lstStyle/>
          <a:p>
            <a:pPr algn="l">
              <a:buNone/>
            </a:pPr>
            <a:r>
              <a:rPr sz="900">
                <a:solidFill>
                  <a:srgbClr val="000000"/>
                </a:solidFill>
                <a:latin typeface="Arial"/>
                <a:ea typeface="Arial"/>
                <a:cs typeface="Arial"/>
              </a:rPr>
              <a:t>solve efficiency</a:t>
            </a:r>
          </a:p>
        </p:txBody>
      </p:sp>
      <p:sp>
        <p:nvSpPr>
          <p:cNvPr id="256" name="TextBox 255">
            <a:extLst>
              <a:ext uri="{FF2B5EF4-FFF2-40B4-BE49-F238E27FC236}">
                <a16:creationId xmlns:a16="http://schemas.microsoft.com/office/drawing/2014/main" id="{FC55F7BA-5769-E91E-B6EA-087EFEB7132A}"/>
              </a:ext>
            </a:extLst>
          </p:cNvPr>
          <p:cNvSpPr>
            <a:spLocks noGrp="1"/>
          </p:cNvSpPr>
          <p:nvPr/>
        </p:nvSpPr>
        <p:spPr>
          <a:xfrm>
            <a:off x="8474977" y="5691327"/>
            <a:ext cx="1682722" cy="253465"/>
          </a:xfrm>
          <a:prstGeom prst="rect">
            <a:avLst/>
          </a:prstGeom>
          <a:noFill/>
        </p:spPr>
        <p:txBody>
          <a:bodyPr wrap="none">
            <a:spAutoFit/>
          </a:bodyPr>
          <a:lstStyle/>
          <a:p>
            <a:pPr algn="l">
              <a:buNone/>
            </a:pPr>
            <a:r>
              <a:rPr sz="900">
                <a:solidFill>
                  <a:srgbClr val="000000"/>
                </a:solidFill>
                <a:latin typeface="Arial"/>
                <a:ea typeface="Arial"/>
                <a:cs typeface="Arial"/>
              </a:rPr>
              <a:t>Focus CPLEX on the most</a:t>
            </a:r>
          </a:p>
        </p:txBody>
      </p:sp>
      <p:sp>
        <p:nvSpPr>
          <p:cNvPr id="257" name="TextBox 256">
            <a:extLst>
              <a:ext uri="{FF2B5EF4-FFF2-40B4-BE49-F238E27FC236}">
                <a16:creationId xmlns:a16="http://schemas.microsoft.com/office/drawing/2014/main" id="{88C2B563-A060-ADD3-AFE7-7F631B36B880}"/>
              </a:ext>
            </a:extLst>
          </p:cNvPr>
          <p:cNvSpPr>
            <a:spLocks noGrp="1"/>
          </p:cNvSpPr>
          <p:nvPr/>
        </p:nvSpPr>
        <p:spPr>
          <a:xfrm>
            <a:off x="8474977" y="5838775"/>
            <a:ext cx="1116689" cy="253465"/>
          </a:xfrm>
          <a:prstGeom prst="rect">
            <a:avLst/>
          </a:prstGeom>
          <a:noFill/>
        </p:spPr>
        <p:txBody>
          <a:bodyPr wrap="none">
            <a:spAutoFit/>
          </a:bodyPr>
          <a:lstStyle/>
          <a:p>
            <a:pPr algn="l">
              <a:buNone/>
            </a:pPr>
            <a:r>
              <a:rPr sz="900">
                <a:solidFill>
                  <a:srgbClr val="000000"/>
                </a:solidFill>
                <a:latin typeface="Arial"/>
                <a:ea typeface="Arial"/>
                <a:cs typeface="Arial"/>
              </a:rPr>
              <a:t>critical decisions</a:t>
            </a:r>
          </a:p>
        </p:txBody>
      </p:sp>
      <p:sp>
        <p:nvSpPr>
          <p:cNvPr id="258" name="Rounded Rectangle 257">
            <a:extLst>
              <a:ext uri="{FF2B5EF4-FFF2-40B4-BE49-F238E27FC236}">
                <a16:creationId xmlns:a16="http://schemas.microsoft.com/office/drawing/2014/main" id="{8FD7B32B-1F0D-31A4-D6A2-C5FF54FE26D2}"/>
              </a:ext>
            </a:extLst>
          </p:cNvPr>
          <p:cNvSpPr>
            <a:spLocks noGrp="1"/>
          </p:cNvSpPr>
          <p:nvPr/>
        </p:nvSpPr>
        <p:spPr>
          <a:xfrm>
            <a:off x="10082491" y="4950869"/>
            <a:ext cx="1087155" cy="958409"/>
          </a:xfrm>
          <a:prstGeom prst="roundRect">
            <a:avLst>
              <a:gd name="adj" fmla="val 6993"/>
            </a:avLst>
          </a:prstGeom>
          <a:noFill/>
          <a:ln w="6072">
            <a:solidFill>
              <a:srgbClr val="EF7D17"/>
            </a:solidFill>
          </a:ln>
        </p:spPr>
        <p:txBody>
          <a:bodyPr/>
          <a:lstStyle/>
          <a:p>
            <a:endParaRPr sz="1100"/>
          </a:p>
        </p:txBody>
      </p:sp>
      <p:sp>
        <p:nvSpPr>
          <p:cNvPr id="259" name="TextBox 258">
            <a:extLst>
              <a:ext uri="{FF2B5EF4-FFF2-40B4-BE49-F238E27FC236}">
                <a16:creationId xmlns:a16="http://schemas.microsoft.com/office/drawing/2014/main" id="{69CBEAD7-DC1F-66DB-1661-D326E8878F36}"/>
              </a:ext>
            </a:extLst>
          </p:cNvPr>
          <p:cNvSpPr>
            <a:spLocks noGrp="1"/>
          </p:cNvSpPr>
          <p:nvPr/>
        </p:nvSpPr>
        <p:spPr>
          <a:xfrm>
            <a:off x="10259507" y="4966857"/>
            <a:ext cx="697407" cy="253465"/>
          </a:xfrm>
          <a:prstGeom prst="rect">
            <a:avLst/>
          </a:prstGeom>
          <a:noFill/>
        </p:spPr>
        <p:txBody>
          <a:bodyPr wrap="none">
            <a:spAutoFit/>
          </a:bodyPr>
          <a:lstStyle/>
          <a:p>
            <a:pPr algn="l">
              <a:buNone/>
            </a:pPr>
            <a:r>
              <a:rPr sz="900" b="1">
                <a:solidFill>
                  <a:srgbClr val="D45D0B"/>
                </a:solidFill>
                <a:latin typeface="Arial"/>
                <a:ea typeface="Arial"/>
                <a:cs typeface="Arial"/>
              </a:rPr>
              <a:t>Benefits</a:t>
            </a:r>
          </a:p>
        </p:txBody>
      </p:sp>
      <p:sp>
        <p:nvSpPr>
          <p:cNvPr id="260" name="TextBox 259">
            <a:extLst>
              <a:ext uri="{FF2B5EF4-FFF2-40B4-BE49-F238E27FC236}">
                <a16:creationId xmlns:a16="http://schemas.microsoft.com/office/drawing/2014/main" id="{2BD2F196-0899-E4BD-B2A3-001223C79635}"/>
              </a:ext>
            </a:extLst>
          </p:cNvPr>
          <p:cNvSpPr>
            <a:spLocks noGrp="1"/>
          </p:cNvSpPr>
          <p:nvPr/>
        </p:nvSpPr>
        <p:spPr>
          <a:xfrm>
            <a:off x="10034975" y="5160586"/>
            <a:ext cx="236196" cy="219670"/>
          </a:xfrm>
          <a:prstGeom prst="rect">
            <a:avLst/>
          </a:prstGeom>
          <a:noFill/>
        </p:spPr>
        <p:txBody>
          <a:bodyPr wrap="none">
            <a:spAutoFit/>
          </a:bodyPr>
          <a:lstStyle/>
          <a:p>
            <a:pPr algn="l">
              <a:buNone/>
            </a:pPr>
            <a:r>
              <a:rPr sz="700">
                <a:solidFill>
                  <a:srgbClr val="D45D0B"/>
                </a:solidFill>
                <a:latin typeface="Arial"/>
                <a:ea typeface="Arial"/>
                <a:cs typeface="Arial"/>
              </a:rPr>
              <a:t>•</a:t>
            </a:r>
          </a:p>
        </p:txBody>
      </p:sp>
      <p:sp>
        <p:nvSpPr>
          <p:cNvPr id="261" name="TextBox 260">
            <a:extLst>
              <a:ext uri="{FF2B5EF4-FFF2-40B4-BE49-F238E27FC236}">
                <a16:creationId xmlns:a16="http://schemas.microsoft.com/office/drawing/2014/main" id="{01E16CC7-C152-6DA3-D487-267561EF6D5F}"/>
              </a:ext>
            </a:extLst>
          </p:cNvPr>
          <p:cNvSpPr>
            <a:spLocks noGrp="1"/>
          </p:cNvSpPr>
          <p:nvPr/>
        </p:nvSpPr>
        <p:spPr>
          <a:xfrm>
            <a:off x="10122341" y="5160586"/>
            <a:ext cx="989158" cy="219670"/>
          </a:xfrm>
          <a:prstGeom prst="rect">
            <a:avLst/>
          </a:prstGeom>
          <a:noFill/>
        </p:spPr>
        <p:txBody>
          <a:bodyPr wrap="none">
            <a:spAutoFit/>
          </a:bodyPr>
          <a:lstStyle/>
          <a:p>
            <a:pPr algn="l">
              <a:buNone/>
            </a:pPr>
            <a:r>
              <a:rPr sz="700">
                <a:solidFill>
                  <a:srgbClr val="000000"/>
                </a:solidFill>
                <a:latin typeface="Arial"/>
                <a:ea typeface="Arial"/>
                <a:cs typeface="Arial"/>
              </a:rPr>
              <a:t>Smaller MILP size</a:t>
            </a:r>
          </a:p>
        </p:txBody>
      </p:sp>
      <p:sp>
        <p:nvSpPr>
          <p:cNvPr id="262" name="TextBox 261">
            <a:extLst>
              <a:ext uri="{FF2B5EF4-FFF2-40B4-BE49-F238E27FC236}">
                <a16:creationId xmlns:a16="http://schemas.microsoft.com/office/drawing/2014/main" id="{7310AF45-575A-E3B3-F8F8-93668457DC59}"/>
              </a:ext>
            </a:extLst>
          </p:cNvPr>
          <p:cNvSpPr>
            <a:spLocks noGrp="1"/>
          </p:cNvSpPr>
          <p:nvPr/>
        </p:nvSpPr>
        <p:spPr>
          <a:xfrm>
            <a:off x="10034975" y="5321437"/>
            <a:ext cx="236196" cy="219670"/>
          </a:xfrm>
          <a:prstGeom prst="rect">
            <a:avLst/>
          </a:prstGeom>
          <a:noFill/>
        </p:spPr>
        <p:txBody>
          <a:bodyPr wrap="none">
            <a:spAutoFit/>
          </a:bodyPr>
          <a:lstStyle/>
          <a:p>
            <a:pPr algn="l">
              <a:buNone/>
            </a:pPr>
            <a:r>
              <a:rPr sz="700">
                <a:solidFill>
                  <a:srgbClr val="D45D0B"/>
                </a:solidFill>
                <a:latin typeface="Arial"/>
                <a:ea typeface="Arial"/>
                <a:cs typeface="Arial"/>
              </a:rPr>
              <a:t>•</a:t>
            </a:r>
          </a:p>
        </p:txBody>
      </p:sp>
      <p:sp>
        <p:nvSpPr>
          <p:cNvPr id="263" name="TextBox 262">
            <a:extLst>
              <a:ext uri="{FF2B5EF4-FFF2-40B4-BE49-F238E27FC236}">
                <a16:creationId xmlns:a16="http://schemas.microsoft.com/office/drawing/2014/main" id="{E9692A3F-F739-50B4-BF84-353FE0229860}"/>
              </a:ext>
            </a:extLst>
          </p:cNvPr>
          <p:cNvSpPr>
            <a:spLocks noGrp="1"/>
          </p:cNvSpPr>
          <p:nvPr/>
        </p:nvSpPr>
        <p:spPr>
          <a:xfrm>
            <a:off x="10122341" y="5321437"/>
            <a:ext cx="947231" cy="219670"/>
          </a:xfrm>
          <a:prstGeom prst="rect">
            <a:avLst/>
          </a:prstGeom>
          <a:noFill/>
        </p:spPr>
        <p:txBody>
          <a:bodyPr wrap="none">
            <a:spAutoFit/>
          </a:bodyPr>
          <a:lstStyle/>
          <a:p>
            <a:pPr algn="l">
              <a:buNone/>
            </a:pPr>
            <a:r>
              <a:rPr sz="700">
                <a:solidFill>
                  <a:srgbClr val="000000"/>
                </a:solidFill>
                <a:latin typeface="Arial"/>
                <a:ea typeface="Arial"/>
                <a:cs typeface="Arial"/>
              </a:rPr>
              <a:t>Faster solve time</a:t>
            </a:r>
          </a:p>
        </p:txBody>
      </p:sp>
      <p:sp>
        <p:nvSpPr>
          <p:cNvPr id="264" name="TextBox 263">
            <a:extLst>
              <a:ext uri="{FF2B5EF4-FFF2-40B4-BE49-F238E27FC236}">
                <a16:creationId xmlns:a16="http://schemas.microsoft.com/office/drawing/2014/main" id="{7295115B-DE5C-EC1F-E7F9-4CEDA051215F}"/>
              </a:ext>
            </a:extLst>
          </p:cNvPr>
          <p:cNvSpPr>
            <a:spLocks noGrp="1"/>
          </p:cNvSpPr>
          <p:nvPr/>
        </p:nvSpPr>
        <p:spPr>
          <a:xfrm>
            <a:off x="10034975" y="5482290"/>
            <a:ext cx="236196" cy="219670"/>
          </a:xfrm>
          <a:prstGeom prst="rect">
            <a:avLst/>
          </a:prstGeom>
          <a:noFill/>
        </p:spPr>
        <p:txBody>
          <a:bodyPr wrap="none">
            <a:spAutoFit/>
          </a:bodyPr>
          <a:lstStyle/>
          <a:p>
            <a:pPr algn="l">
              <a:buNone/>
            </a:pPr>
            <a:r>
              <a:rPr sz="700">
                <a:solidFill>
                  <a:srgbClr val="D45D0B"/>
                </a:solidFill>
                <a:latin typeface="Arial"/>
                <a:ea typeface="Arial"/>
                <a:cs typeface="Arial"/>
              </a:rPr>
              <a:t>•</a:t>
            </a:r>
          </a:p>
        </p:txBody>
      </p:sp>
      <p:sp>
        <p:nvSpPr>
          <p:cNvPr id="265" name="TextBox 264">
            <a:extLst>
              <a:ext uri="{FF2B5EF4-FFF2-40B4-BE49-F238E27FC236}">
                <a16:creationId xmlns:a16="http://schemas.microsoft.com/office/drawing/2014/main" id="{02555BE3-8E49-1998-C7AA-A8365F168FE1}"/>
              </a:ext>
            </a:extLst>
          </p:cNvPr>
          <p:cNvSpPr>
            <a:spLocks noGrp="1"/>
          </p:cNvSpPr>
          <p:nvPr/>
        </p:nvSpPr>
        <p:spPr>
          <a:xfrm>
            <a:off x="10122341" y="5482290"/>
            <a:ext cx="912290" cy="219670"/>
          </a:xfrm>
          <a:prstGeom prst="rect">
            <a:avLst/>
          </a:prstGeom>
          <a:noFill/>
        </p:spPr>
        <p:txBody>
          <a:bodyPr wrap="none">
            <a:spAutoFit/>
          </a:bodyPr>
          <a:lstStyle/>
          <a:p>
            <a:pPr algn="l">
              <a:buNone/>
            </a:pPr>
            <a:r>
              <a:rPr sz="700">
                <a:solidFill>
                  <a:srgbClr val="000000"/>
                </a:solidFill>
                <a:latin typeface="Arial"/>
                <a:ea typeface="Arial"/>
                <a:cs typeface="Arial"/>
              </a:rPr>
              <a:t>Better scalability</a:t>
            </a:r>
          </a:p>
        </p:txBody>
      </p:sp>
      <p:sp>
        <p:nvSpPr>
          <p:cNvPr id="266" name="TextBox 265">
            <a:extLst>
              <a:ext uri="{FF2B5EF4-FFF2-40B4-BE49-F238E27FC236}">
                <a16:creationId xmlns:a16="http://schemas.microsoft.com/office/drawing/2014/main" id="{0D3DC0C9-2098-8385-C29C-D52DB3ED3878}"/>
              </a:ext>
            </a:extLst>
          </p:cNvPr>
          <p:cNvSpPr>
            <a:spLocks noGrp="1"/>
          </p:cNvSpPr>
          <p:nvPr/>
        </p:nvSpPr>
        <p:spPr>
          <a:xfrm>
            <a:off x="10034975" y="5643142"/>
            <a:ext cx="236196" cy="219670"/>
          </a:xfrm>
          <a:prstGeom prst="rect">
            <a:avLst/>
          </a:prstGeom>
          <a:noFill/>
        </p:spPr>
        <p:txBody>
          <a:bodyPr wrap="none">
            <a:spAutoFit/>
          </a:bodyPr>
          <a:lstStyle/>
          <a:p>
            <a:pPr algn="l">
              <a:buNone/>
            </a:pPr>
            <a:r>
              <a:rPr sz="700">
                <a:solidFill>
                  <a:srgbClr val="D45D0B"/>
                </a:solidFill>
                <a:latin typeface="Arial"/>
                <a:ea typeface="Arial"/>
                <a:cs typeface="Arial"/>
              </a:rPr>
              <a:t>•</a:t>
            </a:r>
          </a:p>
        </p:txBody>
      </p:sp>
      <p:sp>
        <p:nvSpPr>
          <p:cNvPr id="267" name="TextBox 266">
            <a:extLst>
              <a:ext uri="{FF2B5EF4-FFF2-40B4-BE49-F238E27FC236}">
                <a16:creationId xmlns:a16="http://schemas.microsoft.com/office/drawing/2014/main" id="{FAB34F50-4D98-F03D-9BB9-D8A3CFCE4C2E}"/>
              </a:ext>
            </a:extLst>
          </p:cNvPr>
          <p:cNvSpPr>
            <a:spLocks noGrp="1"/>
          </p:cNvSpPr>
          <p:nvPr/>
        </p:nvSpPr>
        <p:spPr>
          <a:xfrm>
            <a:off x="10122341" y="5643142"/>
            <a:ext cx="1125425" cy="219670"/>
          </a:xfrm>
          <a:prstGeom prst="rect">
            <a:avLst/>
          </a:prstGeom>
          <a:noFill/>
        </p:spPr>
        <p:txBody>
          <a:bodyPr wrap="none">
            <a:spAutoFit/>
          </a:bodyPr>
          <a:lstStyle/>
          <a:p>
            <a:pPr algn="l">
              <a:buNone/>
            </a:pPr>
            <a:r>
              <a:rPr sz="700">
                <a:solidFill>
                  <a:srgbClr val="000000"/>
                </a:solidFill>
                <a:latin typeface="Arial"/>
                <a:ea typeface="Arial"/>
                <a:cs typeface="Arial"/>
              </a:rPr>
              <a:t>More stable solutions</a:t>
            </a:r>
          </a:p>
        </p:txBody>
      </p:sp>
      <p:sp>
        <p:nvSpPr>
          <p:cNvPr id="268" name="Freeform 267">
            <a:extLst>
              <a:ext uri="{FF2B5EF4-FFF2-40B4-BE49-F238E27FC236}">
                <a16:creationId xmlns:a16="http://schemas.microsoft.com/office/drawing/2014/main" id="{3482F9DE-4780-FB3A-3751-020E508BB0A2}"/>
              </a:ext>
            </a:extLst>
          </p:cNvPr>
          <p:cNvSpPr>
            <a:spLocks noGrp="1"/>
          </p:cNvSpPr>
          <p:nvPr/>
        </p:nvSpPr>
        <p:spPr>
          <a:xfrm>
            <a:off x="7953096" y="5147807"/>
            <a:ext cx="215055" cy="6702"/>
          </a:xfrm>
          <a:custGeom>
            <a:avLst/>
            <a:gdLst>
              <a:gd name="csX0" fmla="*/ 161925 w 161925"/>
              <a:gd name="csY0" fmla="*/ 0 h 5060"/>
              <a:gd name="csX1" fmla="*/ 0 w 161925"/>
              <a:gd name="csY1" fmla="*/ 0 h 5060"/>
            </a:gdLst>
            <a:ahLst/>
            <a:cxnLst/>
            <a:rect l="l" t="t" r="r" b="b"/>
            <a:pathLst>
              <a:path w="161925" h="5060">
                <a:moveTo>
                  <a:pt x="161925" y="0"/>
                </a:moveTo>
                <a:lnTo>
                  <a:pt x="0" y="0"/>
                </a:lnTo>
              </a:path>
            </a:pathLst>
          </a:custGeom>
          <a:solidFill>
            <a:srgbClr val="000000"/>
          </a:solidFill>
          <a:ln w="10120">
            <a:solidFill>
              <a:srgbClr val="EF7D17"/>
            </a:solidFill>
            <a:prstDash val="solid"/>
          </a:ln>
        </p:spPr>
        <p:txBody>
          <a:bodyPr/>
          <a:lstStyle/>
          <a:p>
            <a:endParaRPr sz="105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32E7672-78FC-DE42-AF06-38CD91D9266C}"/>
                  </a:ext>
                </a:extLst>
              </p14:cNvPr>
              <p14:cNvContentPartPr/>
              <p14:nvPr/>
            </p14:nvContentPartPr>
            <p14:xfrm>
              <a:off x="465120" y="484200"/>
              <a:ext cx="8645040" cy="4403880"/>
            </p14:xfrm>
          </p:contentPart>
        </mc:Choice>
        <mc:Fallback>
          <p:pic>
            <p:nvPicPr>
              <p:cNvPr id="2" name="Ink 1">
                <a:extLst>
                  <a:ext uri="{FF2B5EF4-FFF2-40B4-BE49-F238E27FC236}">
                    <a16:creationId xmlns:a16="http://schemas.microsoft.com/office/drawing/2014/main" id="{732E7672-78FC-DE42-AF06-38CD91D9266C}"/>
                  </a:ext>
                </a:extLst>
              </p:cNvPr>
              <p:cNvPicPr/>
              <p:nvPr/>
            </p:nvPicPr>
            <p:blipFill>
              <a:blip r:embed="rId4"/>
              <a:stretch>
                <a:fillRect/>
              </a:stretch>
            </p:blipFill>
            <p:spPr>
              <a:xfrm>
                <a:off x="455760" y="474840"/>
                <a:ext cx="8663760" cy="4422600"/>
              </a:xfrm>
              <a:prstGeom prst="rect">
                <a:avLst/>
              </a:prstGeom>
            </p:spPr>
          </p:pic>
        </mc:Fallback>
      </mc:AlternateContent>
    </p:spTree>
    <p:extLst>
      <p:ext uri="{BB962C8B-B14F-4D97-AF65-F5344CB8AC3E}">
        <p14:creationId xmlns:p14="http://schemas.microsoft.com/office/powerpoint/2010/main" val="661723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14897D-577B-179E-C34D-7C7F3E6FEE04}"/>
              </a:ext>
            </a:extLst>
          </p:cNvPr>
          <p:cNvSpPr>
            <a:spLocks noGrp="1"/>
          </p:cNvSpPr>
          <p:nvPr/>
        </p:nvSpPr>
        <p:spPr>
          <a:xfrm>
            <a:off x="502347" y="542148"/>
            <a:ext cx="5392882" cy="6370975"/>
          </a:xfrm>
          <a:prstGeom prst="rect">
            <a:avLst/>
          </a:prstGeom>
          <a:noFill/>
        </p:spPr>
        <p:txBody>
          <a:bodyPr wrap="square">
            <a:spAutoFit/>
          </a:bodyPr>
          <a:lstStyle/>
          <a:p>
            <a:r>
              <a:rPr sz="1600" b="1" dirty="0"/>
              <a:t>TERRITORY:    RAS DATA SET 1</a:t>
            </a:r>
          </a:p>
          <a:p>
            <a:endParaRPr sz="1400" dirty="0"/>
          </a:p>
          <a:p>
            <a:r>
              <a:rPr sz="1400" dirty="0"/>
              <a:t>DEFAULT SPEED on MAIN TRACKS, WEST -&gt; EAST:    80    mph</a:t>
            </a:r>
          </a:p>
          <a:p>
            <a:r>
              <a:rPr sz="1400" dirty="0"/>
              <a:t>DEFAULT SPEED on MAIN TRACKS, EAST -&gt; WEST:    70    mph</a:t>
            </a:r>
          </a:p>
          <a:p>
            <a:r>
              <a:rPr sz="1400" dirty="0"/>
              <a:t>MAXIMUM SPEED on SIDINGS, both directions, all trains:    20    mph</a:t>
            </a:r>
          </a:p>
          <a:p>
            <a:r>
              <a:rPr sz="1400" dirty="0"/>
              <a:t>MAXIMUM SPEED on CROSSOVERS and SWITCHES, both directions, all trains:    15    mph</a:t>
            </a:r>
          </a:p>
          <a:p>
            <a:endParaRPr sz="1400" dirty="0"/>
          </a:p>
          <a:p>
            <a:r>
              <a:rPr sz="1400" dirty="0"/>
              <a:t>MOW:    48    54    120    360</a:t>
            </a:r>
          </a:p>
          <a:p>
            <a:endParaRPr sz="1400" dirty="0"/>
          </a:p>
          <a:p>
            <a:r>
              <a:rPr sz="1400" dirty="0"/>
              <a:t>ARC ID ...:        (0,1)    (0,2)    (1,3) ...</a:t>
            </a:r>
          </a:p>
          <a:p>
            <a:r>
              <a:rPr sz="1400" dirty="0"/>
              <a:t>TRACKTYPE ...:     0        SW       0        ...</a:t>
            </a:r>
          </a:p>
          <a:p>
            <a:r>
              <a:rPr sz="1400" dirty="0"/>
              <a:t>LENGTH (miles):    0.3      0.3      2        ...</a:t>
            </a:r>
          </a:p>
          <a:p>
            <a:endParaRPr sz="1400" dirty="0"/>
          </a:p>
          <a:p>
            <a:r>
              <a:rPr sz="1400" dirty="0"/>
              <a:t>TRAINS:    12</a:t>
            </a:r>
          </a:p>
          <a:p>
            <a:r>
              <a:rPr lang="en-US" sz="1400" dirty="0">
                <a:solidFill>
                  <a:srgbClr val="FF0000"/>
                </a:solidFill>
              </a:rPr>
              <a:t>Train length …</a:t>
            </a:r>
          </a:p>
          <a:p>
            <a:endParaRPr sz="1400" dirty="0"/>
          </a:p>
          <a:p>
            <a:r>
              <a:rPr sz="1400" dirty="0"/>
              <a:t>HEADER:    A1</a:t>
            </a:r>
          </a:p>
          <a:p>
            <a:r>
              <a:rPr sz="1400" dirty="0"/>
              <a:t>ENTRY TIME ...:    0</a:t>
            </a:r>
          </a:p>
          <a:p>
            <a:r>
              <a:rPr sz="1400" dirty="0"/>
              <a:t>ORIGIN NODE:        0</a:t>
            </a:r>
          </a:p>
          <a:p>
            <a:r>
              <a:rPr sz="1400" dirty="0"/>
              <a:t>DESTINATION NODE:   39</a:t>
            </a:r>
          </a:p>
          <a:p>
            <a:r>
              <a:rPr sz="1400" dirty="0"/>
              <a:t>DIRECTION:          EASTBOUND</a:t>
            </a:r>
          </a:p>
          <a:p>
            <a:r>
              <a:rPr sz="1400" dirty="0"/>
              <a:t>SPEED MULTIPLIER:  1.00</a:t>
            </a:r>
          </a:p>
          <a:p>
            <a:r>
              <a:rPr sz="1400" dirty="0"/>
              <a:t>TRAIN LENGTH (miles): 1</a:t>
            </a:r>
          </a:p>
          <a:p>
            <a:r>
              <a:rPr sz="1400" dirty="0"/>
              <a:t>TOB:                 75</a:t>
            </a:r>
          </a:p>
          <a:p>
            <a:r>
              <a:rPr sz="1400" dirty="0"/>
              <a:t>HAZMAT ...:          NO</a:t>
            </a:r>
          </a:p>
          <a:p>
            <a:r>
              <a:rPr sz="1400" dirty="0"/>
              <a:t>SA STATUS AT ORIGIN: 0</a:t>
            </a:r>
          </a:p>
          <a:p>
            <a:r>
              <a:rPr sz="1400" dirty="0"/>
              <a:t>SCHEDULED ARRIVAL ...: 37:    60    ,    39:    130</a:t>
            </a:r>
          </a:p>
          <a:p>
            <a:r>
              <a:rPr sz="1400" dirty="0"/>
              <a:t>TERMINAL WANT TIME ...: EAST:    90</a:t>
            </a:r>
          </a:p>
        </p:txBody>
      </p:sp>
      <p:sp>
        <p:nvSpPr>
          <p:cNvPr id="5" name="Straight Connector 4">
            <a:extLst>
              <a:ext uri="{FF2B5EF4-FFF2-40B4-BE49-F238E27FC236}">
                <a16:creationId xmlns:a16="http://schemas.microsoft.com/office/drawing/2014/main" id="{5C877F56-AD5D-4E29-9009-5DBCE087D0BF}"/>
              </a:ext>
            </a:extLst>
          </p:cNvPr>
          <p:cNvSpPr>
            <a:spLocks noGrp="1"/>
          </p:cNvSpPr>
          <p:nvPr/>
        </p:nvSpPr>
        <p:spPr>
          <a:xfrm>
            <a:off x="5895229" y="432955"/>
            <a:ext cx="0" cy="6233947"/>
          </a:xfrm>
          <a:prstGeom prst="line">
            <a:avLst/>
          </a:prstGeom>
        </p:spPr>
        <p:style>
          <a:lnRef idx="2">
            <a:schemeClr val="dk1"/>
          </a:lnRef>
          <a:fillRef idx="0">
            <a:schemeClr val="dk1"/>
          </a:fillRef>
          <a:effectRef idx="1">
            <a:schemeClr val="dk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C841ECAF-1404-0EE1-822E-BF92689B7D1A}"/>
              </a:ext>
            </a:extLst>
          </p:cNvPr>
          <p:cNvSpPr>
            <a:spLocks noGrp="1"/>
          </p:cNvSpPr>
          <p:nvPr/>
        </p:nvSpPr>
        <p:spPr>
          <a:xfrm>
            <a:off x="6296771" y="542148"/>
            <a:ext cx="5392882" cy="6370975"/>
          </a:xfrm>
          <a:prstGeom prst="rect">
            <a:avLst/>
          </a:prstGeom>
          <a:noFill/>
        </p:spPr>
        <p:txBody>
          <a:bodyPr wrap="square">
            <a:spAutoFit/>
          </a:bodyPr>
          <a:lstStyle/>
          <a:p>
            <a:r>
              <a:rPr sz="1600" b="1"/>
              <a:t>TERRITORY:    SOUTHERN TRANSCON SET 1</a:t>
            </a:r>
          </a:p>
          <a:p>
            <a:endParaRPr sz="1400"/>
          </a:p>
          <a:p>
            <a:r>
              <a:rPr sz="1400"/>
              <a:t>DEFAULT SPEED on MAIN TRACKS, WEST -&gt; EAST (u-&gt;v):	70 mph</a:t>
            </a:r>
          </a:p>
          <a:p>
            <a:r>
              <a:rPr sz="1400"/>
              <a:t>DEFAULT SPEED on MAIN TRACKS, EAST -&gt; WEST (v-&gt;u):	70 mph</a:t>
            </a:r>
          </a:p>
          <a:p>
            <a:r>
              <a:rPr sz="1400"/>
              <a:t>MAXIMUM SPEED on SIDINGS, both directions, all trains:	25mph</a:t>
            </a:r>
          </a:p>
          <a:p>
            <a:r>
              <a:rPr sz="1400"/>
              <a:t>MAXIMUM SPEED on SWITCHES, both directions, all trains:	30mph</a:t>
            </a:r>
          </a:p>
          <a:p>
            <a:r>
              <a:rPr sz="1400"/>
              <a:t>MAXIMUM SPEED on CROSSOVERS, both directions, all trains:	45mph</a:t>
            </a:r>
          </a:p>
          <a:p>
            <a:endParaRPr sz="1400"/>
          </a:p>
          <a:p>
            <a:r>
              <a:rPr sz="1400"/>
              <a:t>MOW:</a:t>
            </a:r>
          </a:p>
          <a:p>
            <a:endParaRPr sz="1400"/>
          </a:p>
          <a:p>
            <a:r>
              <a:rPr sz="1400"/>
              <a:t>ARC ID (WEST -&gt; EAST, all bidirectional):(0,3) (1,4) (2,5) (0,4) …</a:t>
            </a:r>
          </a:p>
          <a:p>
            <a:r>
              <a:rPr sz="1400"/>
              <a:t>TRACKTYPE: 0 1 2 C …</a:t>
            </a:r>
          </a:p>
          <a:p>
            <a:r>
              <a:rPr sz="1400"/>
              <a:t>LENGTH (miles):	0.510277 .. 0.081955 .. 0.286935 …</a:t>
            </a:r>
          </a:p>
          <a:p>
            <a:r>
              <a:rPr sz="1400"/>
              <a:t>TRAINS:	12</a:t>
            </a:r>
          </a:p>
          <a:p>
            <a:endParaRPr sz="1400"/>
          </a:p>
          <a:p>
            <a:r>
              <a:rPr sz="1400"/>
              <a:t>HEADER:	B4846_T0095</a:t>
            </a:r>
          </a:p>
          <a:p>
            <a:r>
              <a:rPr sz="1400"/>
              <a:t>ENTRY TIME (from current time in minutes):	0</a:t>
            </a:r>
          </a:p>
          <a:p>
            <a:r>
              <a:rPr sz="1400"/>
              <a:t>ORIGIN NODE:	0</a:t>
            </a:r>
          </a:p>
          <a:p>
            <a:r>
              <a:rPr sz="1400"/>
              <a:t>DESTINATION NODE:	70</a:t>
            </a:r>
          </a:p>
          <a:p>
            <a:r>
              <a:rPr sz="1400"/>
              <a:t>DIRECTION:	EASTBOUND ((u-&gt;v)</a:t>
            </a:r>
          </a:p>
          <a:p>
            <a:r>
              <a:rPr sz="1400"/>
              <a:t>SPEED MULTIPLIER:	1.00</a:t>
            </a:r>
          </a:p>
          <a:p>
            <a:r>
              <a:rPr sz="1400"/>
              <a:t>TRAIN LENGTH (miles):	0</a:t>
            </a:r>
          </a:p>
          <a:p>
            <a:r>
              <a:rPr sz="1400"/>
              <a:t>TOB:	75</a:t>
            </a:r>
          </a:p>
          <a:p>
            <a:r>
              <a:rPr sz="1400"/>
              <a:t>HAZMAT (IH: YES or NO):	NO</a:t>
            </a:r>
          </a:p>
          <a:p>
            <a:r>
              <a:rPr sz="1400"/>
              <a:t>SA STATUS AT ORIGIN:	0</a:t>
            </a:r>
          </a:p>
          <a:p>
            <a:r>
              <a:rPr sz="1400"/>
              <a:t>SCHEDULED ARRIVAL (NODE: minutes from current time): 70: 52.146</a:t>
            </a:r>
          </a:p>
          <a:p>
            <a:r>
              <a:rPr sz="1400"/>
              <a:t>TERMINAL WANT TIME…: EAST: 52.146</a:t>
            </a:r>
          </a:p>
          <a:p>
            <a:endParaRPr sz="1400"/>
          </a:p>
          <a:p>
            <a:r>
              <a:rPr sz="1400"/>
              <a:t>…</a:t>
            </a:r>
          </a:p>
        </p:txBody>
      </p:sp>
      <p:sp>
        <p:nvSpPr>
          <p:cNvPr id="11" name="TextBox 10">
            <a:extLst>
              <a:ext uri="{FF2B5EF4-FFF2-40B4-BE49-F238E27FC236}">
                <a16:creationId xmlns:a16="http://schemas.microsoft.com/office/drawing/2014/main" id="{4E7CF08D-9589-2CD7-3E20-C237DAEBBB3E}"/>
              </a:ext>
            </a:extLst>
          </p:cNvPr>
          <p:cNvSpPr>
            <a:spLocks noGrp="1"/>
          </p:cNvSpPr>
          <p:nvPr/>
        </p:nvSpPr>
        <p:spPr>
          <a:xfrm>
            <a:off x="111511" y="63623"/>
            <a:ext cx="5392863" cy="369332"/>
          </a:xfrm>
          <a:prstGeom prst="rect">
            <a:avLst/>
          </a:prstGeom>
          <a:noFill/>
        </p:spPr>
        <p:txBody>
          <a:bodyPr wrap="square">
            <a:spAutoFit/>
          </a:bodyPr>
          <a:lstStyle/>
          <a:p>
            <a:r>
              <a:rPr b="1"/>
              <a:t>Our data match the RAS data schema</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7A72A3C-A424-48C1-BC8F-DA2C275DEE9B}"/>
                  </a:ext>
                </a:extLst>
              </p14:cNvPr>
              <p14:cNvContentPartPr/>
              <p14:nvPr/>
            </p14:nvContentPartPr>
            <p14:xfrm>
              <a:off x="5853960" y="1152360"/>
              <a:ext cx="509400" cy="223200"/>
            </p14:xfrm>
          </p:contentPart>
        </mc:Choice>
        <mc:Fallback>
          <p:pic>
            <p:nvPicPr>
              <p:cNvPr id="2" name="Ink 1">
                <a:extLst>
                  <a:ext uri="{FF2B5EF4-FFF2-40B4-BE49-F238E27FC236}">
                    <a16:creationId xmlns:a16="http://schemas.microsoft.com/office/drawing/2014/main" id="{17A72A3C-A424-48C1-BC8F-DA2C275DEE9B}"/>
                  </a:ext>
                </a:extLst>
              </p:cNvPr>
              <p:cNvPicPr/>
              <p:nvPr/>
            </p:nvPicPr>
            <p:blipFill>
              <a:blip r:embed="rId4"/>
              <a:stretch>
                <a:fillRect/>
              </a:stretch>
            </p:blipFill>
            <p:spPr>
              <a:xfrm>
                <a:off x="5844600" y="1143000"/>
                <a:ext cx="528120" cy="241920"/>
              </a:xfrm>
              <a:prstGeom prst="rect">
                <a:avLst/>
              </a:prstGeom>
            </p:spPr>
          </p:pic>
        </mc:Fallback>
      </mc:AlternateContent>
    </p:spTree>
    <p:extLst>
      <p:ext uri="{BB962C8B-B14F-4D97-AF65-F5344CB8AC3E}">
        <p14:creationId xmlns:p14="http://schemas.microsoft.com/office/powerpoint/2010/main" val="2435262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48B732-15DA-91BB-7C00-5A4427ABA0A6}"/>
              </a:ext>
            </a:extLst>
          </p:cNvPr>
          <p:cNvSpPr>
            <a:spLocks noGrp="1"/>
          </p:cNvSpPr>
          <p:nvPr/>
        </p:nvSpPr>
        <p:spPr>
          <a:xfrm>
            <a:off x="383115" y="387461"/>
            <a:ext cx="8166538" cy="5447645"/>
          </a:xfrm>
          <a:prstGeom prst="rect">
            <a:avLst/>
          </a:prstGeom>
          <a:noFill/>
        </p:spPr>
        <p:txBody>
          <a:bodyPr wrap="square">
            <a:spAutoFit/>
          </a:bodyPr>
          <a:lstStyle/>
          <a:p>
            <a:pPr>
              <a:buNone/>
            </a:pPr>
            <a:r>
              <a:rPr sz="2400" b="1"/>
              <a:t>The solver working logic:</a:t>
            </a:r>
          </a:p>
          <a:p>
            <a:pPr>
              <a:buNone/>
            </a:pPr>
            <a:endParaRPr/>
          </a:p>
          <a:p>
            <a:pPr>
              <a:buNone/>
            </a:pPr>
            <a:r>
              <a:t>In [formal_instances.h (line 18)](17 Bamboo Tsinghua/src/formal_instances.h:18)</a:t>
            </a:r>
          </a:p>
          <a:p>
            <a:pPr>
              <a:buNone/>
            </a:pPr>
            <a:endParaRPr/>
          </a:p>
          <a:p>
            <a:pPr>
              <a:buNone/>
            </a:pPr>
            <a:r>
              <a:rPr>
                <a:latin typeface="Times New Roman"/>
                <a:ea typeface="Times New Roman"/>
                <a:cs typeface="Times New Roman"/>
              </a:rPr>
              <a:t>The main decision variables include:</a:t>
            </a:r>
          </a:p>
          <a:p>
            <a:pPr marL="342900" lvl="0" indent="-342900">
              <a:buFont typeface="Arial"/>
              <a:buChar char="•"/>
            </a:pPr>
            <a:r>
              <a:rPr>
                <a:latin typeface="Times New Roman"/>
                <a:ea typeface="Times New Roman"/>
                <a:cs typeface="Times New Roman"/>
              </a:rPr>
              <a:t>x_begin[i][j]: Time when train i enters segment j </a:t>
            </a:r>
          </a:p>
          <a:p>
            <a:pPr marL="342900" lvl="0" indent="-342900">
              <a:buFont typeface="Arial"/>
              <a:buChar char="•"/>
            </a:pPr>
            <a:r>
              <a:rPr>
                <a:latin typeface="Times New Roman"/>
                <a:ea typeface="Times New Roman"/>
                <a:cs typeface="Times New Roman"/>
              </a:rPr>
              <a:t>x_end[i][j]: Time when train i exits segment j </a:t>
            </a:r>
          </a:p>
          <a:p>
            <a:pPr marL="342900" lvl="0" indent="-342900">
              <a:buFont typeface="Arial"/>
              <a:buChar char="•"/>
            </a:pPr>
            <a:r>
              <a:rPr>
                <a:latin typeface="Times New Roman"/>
                <a:ea typeface="Times New Roman"/>
                <a:cs typeface="Times New Roman"/>
              </a:rPr>
              <a:t>q[i][j][k]: Binary variable indicating which track/arc train i selects at segment j </a:t>
            </a:r>
          </a:p>
          <a:p>
            <a:pPr marL="342900" lvl="0" indent="-342900">
              <a:buFont typeface="Arial"/>
              <a:buChar char="•"/>
            </a:pPr>
            <a:r>
              <a:rPr>
                <a:latin typeface="Times New Roman"/>
                <a:ea typeface="Times New Roman"/>
                <a:cs typeface="Times New Roman"/>
              </a:rPr>
              <a:t>lambda/gamma: Binary sequencing variables indicating which of two trains goes first when they use the same segment </a:t>
            </a:r>
          </a:p>
          <a:p>
            <a:pPr marL="342900" lvl="0" indent="-342900">
              <a:buFont typeface="Arial"/>
              <a:buChar char="•"/>
            </a:pPr>
            <a:r>
              <a:rPr>
                <a:latin typeface="Times New Roman"/>
                <a:ea typeface="Times New Roman"/>
                <a:cs typeface="Times New Roman"/>
              </a:rPr>
              <a:t>D_delay: Train delay </a:t>
            </a:r>
          </a:p>
          <a:p>
            <a:pPr marL="342900" lvl="0" indent="-342900">
              <a:buFont typeface="Arial"/>
              <a:buChar char="•"/>
            </a:pPr>
            <a:r>
              <a:rPr>
                <a:latin typeface="Times New Roman"/>
                <a:ea typeface="Times New Roman"/>
                <a:cs typeface="Times New Roman"/>
              </a:rPr>
              <a:t>D_SAdeviation: Deviation from the Scheduled Arrival time </a:t>
            </a:r>
          </a:p>
          <a:p>
            <a:pPr marL="342900" lvl="0" indent="-342900">
              <a:buFont typeface="Arial"/>
              <a:buChar char="•"/>
            </a:pPr>
            <a:r>
              <a:rPr>
                <a:latin typeface="Times New Roman"/>
                <a:ea typeface="Times New Roman"/>
                <a:cs typeface="Times New Roman"/>
              </a:rPr>
              <a:t>D_twant_plus/minus: Positive/negative deviation from the Terminal Want Time </a:t>
            </a:r>
          </a:p>
          <a:p>
            <a:pPr>
              <a:buNone/>
            </a:pPr>
            <a:endParaRPr>
              <a:latin typeface="Times New Roman"/>
              <a:ea typeface="Times New Roman"/>
              <a:cs typeface="Times New Roman"/>
            </a:endParaRPr>
          </a:p>
          <a:p>
            <a:pPr>
              <a:buNone/>
            </a:pPr>
            <a:r>
              <a:rPr>
                <a:latin typeface="Times New Roman"/>
                <a:ea typeface="Times New Roman"/>
                <a:cs typeface="Times New Roman"/>
              </a:rPr>
              <a:t>Therefore, the model jointly determines:</a:t>
            </a:r>
          </a:p>
          <a:p>
            <a:pPr marL="342900" lvl="0" indent="-342900">
              <a:buFont typeface="+mj-lt"/>
              <a:buAutoNum type="arabicPeriod"/>
            </a:pPr>
            <a:r>
              <a:rPr>
                <a:latin typeface="Times New Roman"/>
                <a:ea typeface="Times New Roman"/>
                <a:cs typeface="Times New Roman"/>
              </a:rPr>
              <a:t>When each train departs; </a:t>
            </a:r>
          </a:p>
          <a:p>
            <a:pPr marL="342900" lvl="0" indent="-342900">
              <a:buFont typeface="+mj-lt"/>
              <a:buAutoNum type="arabicPeriod"/>
            </a:pPr>
            <a:r>
              <a:rPr>
                <a:latin typeface="Times New Roman"/>
                <a:ea typeface="Times New Roman"/>
                <a:cs typeface="Times New Roman"/>
              </a:rPr>
              <a:t>When each train enters and exits each segment; </a:t>
            </a:r>
          </a:p>
          <a:p>
            <a:pPr marL="342900" lvl="0" indent="-342900">
              <a:buFont typeface="+mj-lt"/>
              <a:buAutoNum type="arabicPeriod"/>
            </a:pPr>
            <a:r>
              <a:rPr>
                <a:latin typeface="Times New Roman"/>
                <a:ea typeface="Times New Roman"/>
                <a:cs typeface="Times New Roman"/>
              </a:rPr>
              <a:t>Which main track, siding, or crossover each train uses; </a:t>
            </a:r>
          </a:p>
          <a:p>
            <a:pPr marL="342900" lvl="0" indent="-342900">
              <a:buFont typeface="+mj-lt"/>
              <a:buAutoNum type="arabicPeriod"/>
            </a:pPr>
            <a:r>
              <a:rPr>
                <a:latin typeface="Times New Roman"/>
                <a:ea typeface="Times New Roman"/>
                <a:cs typeface="Times New Roman"/>
              </a:rPr>
              <a:t>The precedence/order of conflicting trains. </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4ED9E4D-F33F-84AC-7EA1-7C1FBFA84571}"/>
                  </a:ext>
                </a:extLst>
              </p14:cNvPr>
              <p14:cNvContentPartPr/>
              <p14:nvPr/>
            </p14:nvContentPartPr>
            <p14:xfrm>
              <a:off x="575640" y="2140560"/>
              <a:ext cx="4895280" cy="3063960"/>
            </p14:xfrm>
          </p:contentPart>
        </mc:Choice>
        <mc:Fallback>
          <p:pic>
            <p:nvPicPr>
              <p:cNvPr id="2" name="Ink 1">
                <a:extLst>
                  <a:ext uri="{FF2B5EF4-FFF2-40B4-BE49-F238E27FC236}">
                    <a16:creationId xmlns:a16="http://schemas.microsoft.com/office/drawing/2014/main" id="{F4ED9E4D-F33F-84AC-7EA1-7C1FBFA84571}"/>
                  </a:ext>
                </a:extLst>
              </p:cNvPr>
              <p:cNvPicPr/>
              <p:nvPr/>
            </p:nvPicPr>
            <p:blipFill>
              <a:blip r:embed="rId4"/>
              <a:stretch>
                <a:fillRect/>
              </a:stretch>
            </p:blipFill>
            <p:spPr>
              <a:xfrm>
                <a:off x="566280" y="2131200"/>
                <a:ext cx="4914000" cy="3082680"/>
              </a:xfrm>
              <a:prstGeom prst="rect">
                <a:avLst/>
              </a:prstGeom>
            </p:spPr>
          </p:pic>
        </mc:Fallback>
      </mc:AlternateContent>
    </p:spTree>
    <p:extLst>
      <p:ext uri="{BB962C8B-B14F-4D97-AF65-F5344CB8AC3E}">
        <p14:creationId xmlns:p14="http://schemas.microsoft.com/office/powerpoint/2010/main" val="1061219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rect 3">
            <a:extLst>
              <a:ext uri="{FF2B5EF4-FFF2-40B4-BE49-F238E27FC236}">
                <a16:creationId xmlns:a16="http://schemas.microsoft.com/office/drawing/2014/main" id="{A249E37B-8FDF-429F-90A7-5259EA1C5D29}"/>
              </a:ext>
            </a:extLst>
          </p:cNvPr>
          <p:cNvSpPr>
            <a:spLocks noGrp="1"/>
          </p:cNvSpPr>
          <p:nvPr/>
        </p:nvSpPr>
        <p:spPr>
          <a:xfrm>
            <a:off x="133758" y="1887445"/>
            <a:ext cx="1344263" cy="1631842"/>
          </a:xfrm>
          <a:prstGeom prst="roundRect">
            <a:avLst>
              <a:gd name="adj" fmla="val 3980"/>
            </a:avLst>
          </a:prstGeom>
          <a:noFill/>
          <a:ln w="19050">
            <a:solidFill>
              <a:srgbClr val="102B62"/>
            </a:solidFill>
          </a:ln>
        </p:spPr>
        <p:txBody>
          <a:bodyPr/>
          <a:lstStyle/>
          <a:p>
            <a:endParaRPr sz="1264"/>
          </a:p>
        </p:txBody>
      </p:sp>
      <p:sp>
        <p:nvSpPr>
          <p:cNvPr id="4" name="Roundrect 4">
            <a:extLst>
              <a:ext uri="{FF2B5EF4-FFF2-40B4-BE49-F238E27FC236}">
                <a16:creationId xmlns:a16="http://schemas.microsoft.com/office/drawing/2014/main" id="{C818E841-FFFB-4BED-AD4B-739A3BA5344B}"/>
              </a:ext>
            </a:extLst>
          </p:cNvPr>
          <p:cNvSpPr>
            <a:spLocks noGrp="1"/>
          </p:cNvSpPr>
          <p:nvPr/>
        </p:nvSpPr>
        <p:spPr>
          <a:xfrm>
            <a:off x="1605091" y="1258785"/>
            <a:ext cx="1805727" cy="3109863"/>
          </a:xfrm>
          <a:prstGeom prst="roundRect">
            <a:avLst>
              <a:gd name="adj" fmla="val 3333"/>
            </a:avLst>
          </a:prstGeom>
          <a:noFill/>
          <a:ln w="19050">
            <a:solidFill>
              <a:srgbClr val="102B62"/>
            </a:solidFill>
          </a:ln>
        </p:spPr>
        <p:txBody>
          <a:bodyPr/>
          <a:lstStyle/>
          <a:p>
            <a:endParaRPr sz="1264"/>
          </a:p>
        </p:txBody>
      </p:sp>
      <p:sp>
        <p:nvSpPr>
          <p:cNvPr id="10" name="Roundrect 10">
            <a:extLst>
              <a:ext uri="{FF2B5EF4-FFF2-40B4-BE49-F238E27FC236}">
                <a16:creationId xmlns:a16="http://schemas.microsoft.com/office/drawing/2014/main" id="{5A1E19BE-4819-4F27-85C6-E648A0673242}"/>
              </a:ext>
            </a:extLst>
          </p:cNvPr>
          <p:cNvSpPr>
            <a:spLocks noGrp="1"/>
          </p:cNvSpPr>
          <p:nvPr/>
        </p:nvSpPr>
        <p:spPr>
          <a:xfrm>
            <a:off x="10820986" y="1767063"/>
            <a:ext cx="1197130" cy="2441075"/>
          </a:xfrm>
          <a:prstGeom prst="roundRect">
            <a:avLst>
              <a:gd name="adj" fmla="val 4469"/>
            </a:avLst>
          </a:prstGeom>
          <a:noFill/>
          <a:ln w="19050">
            <a:solidFill>
              <a:srgbClr val="102B62"/>
            </a:solidFill>
          </a:ln>
        </p:spPr>
        <p:txBody>
          <a:bodyPr/>
          <a:lstStyle/>
          <a:p>
            <a:endParaRPr sz="1264"/>
          </a:p>
        </p:txBody>
      </p:sp>
      <p:sp>
        <p:nvSpPr>
          <p:cNvPr id="11" name="Roundrect 11">
            <a:extLst>
              <a:ext uri="{FF2B5EF4-FFF2-40B4-BE49-F238E27FC236}">
                <a16:creationId xmlns:a16="http://schemas.microsoft.com/office/drawing/2014/main" id="{7CC6B780-063A-4F14-8493-8D432224EFFD}"/>
              </a:ext>
            </a:extLst>
          </p:cNvPr>
          <p:cNvSpPr>
            <a:spLocks noGrp="1"/>
          </p:cNvSpPr>
          <p:nvPr/>
        </p:nvSpPr>
        <p:spPr>
          <a:xfrm>
            <a:off x="2019739" y="4629475"/>
            <a:ext cx="2033115" cy="1210506"/>
          </a:xfrm>
          <a:prstGeom prst="roundRect">
            <a:avLst>
              <a:gd name="adj" fmla="val 4420"/>
            </a:avLst>
          </a:prstGeom>
          <a:noFill/>
          <a:ln w="19050">
            <a:solidFill>
              <a:srgbClr val="102B62"/>
            </a:solidFill>
          </a:ln>
        </p:spPr>
        <p:txBody>
          <a:bodyPr/>
          <a:lstStyle/>
          <a:p>
            <a:endParaRPr sz="1264"/>
          </a:p>
        </p:txBody>
      </p:sp>
      <p:sp>
        <p:nvSpPr>
          <p:cNvPr id="12" name="Roundrect 12">
            <a:extLst>
              <a:ext uri="{FF2B5EF4-FFF2-40B4-BE49-F238E27FC236}">
                <a16:creationId xmlns:a16="http://schemas.microsoft.com/office/drawing/2014/main" id="{596257A4-773A-49DE-A119-1469B4FE254A}"/>
              </a:ext>
            </a:extLst>
          </p:cNvPr>
          <p:cNvSpPr>
            <a:spLocks noGrp="1"/>
          </p:cNvSpPr>
          <p:nvPr/>
        </p:nvSpPr>
        <p:spPr>
          <a:xfrm>
            <a:off x="4574508" y="4636162"/>
            <a:ext cx="3116551" cy="1203818"/>
          </a:xfrm>
          <a:prstGeom prst="roundRect">
            <a:avLst>
              <a:gd name="adj" fmla="val 4444"/>
            </a:avLst>
          </a:prstGeom>
          <a:noFill/>
          <a:ln w="19050">
            <a:solidFill>
              <a:srgbClr val="102B62"/>
            </a:solidFill>
          </a:ln>
        </p:spPr>
        <p:txBody>
          <a:bodyPr/>
          <a:lstStyle/>
          <a:p>
            <a:endParaRPr sz="1264"/>
          </a:p>
        </p:txBody>
      </p:sp>
      <p:sp>
        <p:nvSpPr>
          <p:cNvPr id="13" name="Roundrect 13">
            <a:extLst>
              <a:ext uri="{FF2B5EF4-FFF2-40B4-BE49-F238E27FC236}">
                <a16:creationId xmlns:a16="http://schemas.microsoft.com/office/drawing/2014/main" id="{10019A8A-2E5A-4891-A76D-93303BCAFCEE}"/>
              </a:ext>
            </a:extLst>
          </p:cNvPr>
          <p:cNvSpPr>
            <a:spLocks noGrp="1"/>
          </p:cNvSpPr>
          <p:nvPr/>
        </p:nvSpPr>
        <p:spPr>
          <a:xfrm>
            <a:off x="8192650" y="4629475"/>
            <a:ext cx="1638530" cy="1210506"/>
          </a:xfrm>
          <a:prstGeom prst="roundRect">
            <a:avLst>
              <a:gd name="adj" fmla="val 4420"/>
            </a:avLst>
          </a:prstGeom>
          <a:noFill/>
          <a:ln w="19050">
            <a:solidFill>
              <a:srgbClr val="102B62"/>
            </a:solidFill>
          </a:ln>
        </p:spPr>
        <p:txBody>
          <a:bodyPr/>
          <a:lstStyle/>
          <a:p>
            <a:endParaRPr sz="1264"/>
          </a:p>
        </p:txBody>
      </p:sp>
      <p:sp>
        <p:nvSpPr>
          <p:cNvPr id="15" name="Line 15">
            <a:extLst>
              <a:ext uri="{FF2B5EF4-FFF2-40B4-BE49-F238E27FC236}">
                <a16:creationId xmlns:a16="http://schemas.microsoft.com/office/drawing/2014/main" id="{86EE91FD-4286-43D5-9EB2-9666EACE8185}"/>
              </a:ext>
            </a:extLst>
          </p:cNvPr>
          <p:cNvSpPr>
            <a:spLocks noGrp="1"/>
          </p:cNvSpPr>
          <p:nvPr/>
        </p:nvSpPr>
        <p:spPr>
          <a:xfrm>
            <a:off x="1705409" y="2882026"/>
            <a:ext cx="1585027" cy="0"/>
          </a:xfrm>
          <a:prstGeom prst="line">
            <a:avLst/>
          </a:prstGeom>
          <a:noFill/>
          <a:ln w="15240">
            <a:solidFill>
              <a:srgbClr val="B9C4D9"/>
            </a:solidFill>
            <a:prstDash val="solid"/>
          </a:ln>
        </p:spPr>
        <p:txBody>
          <a:bodyPr/>
          <a:lstStyle/>
          <a:p>
            <a:endParaRPr sz="1264"/>
          </a:p>
        </p:txBody>
      </p:sp>
      <p:sp>
        <p:nvSpPr>
          <p:cNvPr id="16" name="Line 16">
            <a:extLst>
              <a:ext uri="{FF2B5EF4-FFF2-40B4-BE49-F238E27FC236}">
                <a16:creationId xmlns:a16="http://schemas.microsoft.com/office/drawing/2014/main" id="{EDBDD942-5077-4815-B305-19B0691D0735}"/>
              </a:ext>
            </a:extLst>
          </p:cNvPr>
          <p:cNvSpPr>
            <a:spLocks noGrp="1"/>
          </p:cNvSpPr>
          <p:nvPr/>
        </p:nvSpPr>
        <p:spPr>
          <a:xfrm>
            <a:off x="1705409" y="3832657"/>
            <a:ext cx="1585027" cy="0"/>
          </a:xfrm>
          <a:prstGeom prst="line">
            <a:avLst/>
          </a:prstGeom>
          <a:noFill/>
          <a:ln w="15240">
            <a:solidFill>
              <a:srgbClr val="B9C4D9"/>
            </a:solidFill>
            <a:prstDash val="solid"/>
          </a:ln>
        </p:spPr>
        <p:txBody>
          <a:bodyPr/>
          <a:lstStyle/>
          <a:p>
            <a:endParaRPr sz="1264"/>
          </a:p>
        </p:txBody>
      </p:sp>
      <p:sp>
        <p:nvSpPr>
          <p:cNvPr id="22" name="Roundrect 22">
            <a:extLst>
              <a:ext uri="{FF2B5EF4-FFF2-40B4-BE49-F238E27FC236}">
                <a16:creationId xmlns:a16="http://schemas.microsoft.com/office/drawing/2014/main" id="{7C752D34-B3E9-4D57-90F3-FF1A4DFBEB2E}"/>
              </a:ext>
            </a:extLst>
          </p:cNvPr>
          <p:cNvSpPr>
            <a:spLocks noGrp="1"/>
          </p:cNvSpPr>
          <p:nvPr/>
        </p:nvSpPr>
        <p:spPr>
          <a:xfrm>
            <a:off x="2160185" y="5126286"/>
            <a:ext cx="628660" cy="173885"/>
          </a:xfrm>
          <a:prstGeom prst="roundRect">
            <a:avLst>
              <a:gd name="adj" fmla="val 19231"/>
            </a:avLst>
          </a:prstGeom>
          <a:noFill/>
          <a:ln w="19050">
            <a:solidFill>
              <a:srgbClr val="1559B4"/>
            </a:solidFill>
          </a:ln>
        </p:spPr>
        <p:txBody>
          <a:bodyPr/>
          <a:lstStyle/>
          <a:p>
            <a:endParaRPr sz="1264"/>
          </a:p>
        </p:txBody>
      </p:sp>
      <p:sp>
        <p:nvSpPr>
          <p:cNvPr id="23" name="Line 23">
            <a:extLst>
              <a:ext uri="{FF2B5EF4-FFF2-40B4-BE49-F238E27FC236}">
                <a16:creationId xmlns:a16="http://schemas.microsoft.com/office/drawing/2014/main" id="{5CBB17EF-8959-45FA-875F-2427ECAF969F}"/>
              </a:ext>
            </a:extLst>
          </p:cNvPr>
          <p:cNvSpPr>
            <a:spLocks noGrp="1"/>
          </p:cNvSpPr>
          <p:nvPr/>
        </p:nvSpPr>
        <p:spPr>
          <a:xfrm>
            <a:off x="2922603" y="1787127"/>
            <a:ext cx="367833" cy="0"/>
          </a:xfrm>
          <a:prstGeom prst="line">
            <a:avLst/>
          </a:prstGeom>
          <a:noFill/>
          <a:ln w="50800">
            <a:solidFill>
              <a:srgbClr val="1559B4"/>
            </a:solidFill>
          </a:ln>
        </p:spPr>
        <p:txBody>
          <a:bodyPr/>
          <a:lstStyle/>
          <a:p>
            <a:endParaRPr sz="1264"/>
          </a:p>
        </p:txBody>
      </p:sp>
      <p:sp>
        <p:nvSpPr>
          <p:cNvPr id="24" name="Line 24">
            <a:extLst>
              <a:ext uri="{FF2B5EF4-FFF2-40B4-BE49-F238E27FC236}">
                <a16:creationId xmlns:a16="http://schemas.microsoft.com/office/drawing/2014/main" id="{A50F835F-9CE8-48B1-AE5D-71249F3F4732}"/>
              </a:ext>
            </a:extLst>
          </p:cNvPr>
          <p:cNvSpPr>
            <a:spLocks noGrp="1"/>
          </p:cNvSpPr>
          <p:nvPr/>
        </p:nvSpPr>
        <p:spPr>
          <a:xfrm>
            <a:off x="2922603" y="2101457"/>
            <a:ext cx="367833" cy="0"/>
          </a:xfrm>
          <a:prstGeom prst="line">
            <a:avLst/>
          </a:prstGeom>
          <a:noFill/>
          <a:ln w="50800">
            <a:solidFill>
              <a:srgbClr val="1559B4"/>
            </a:solidFill>
          </a:ln>
        </p:spPr>
        <p:txBody>
          <a:bodyPr/>
          <a:lstStyle/>
          <a:p>
            <a:endParaRPr sz="1264"/>
          </a:p>
        </p:txBody>
      </p:sp>
      <p:sp>
        <p:nvSpPr>
          <p:cNvPr id="25" name="Line 25">
            <a:extLst>
              <a:ext uri="{FF2B5EF4-FFF2-40B4-BE49-F238E27FC236}">
                <a16:creationId xmlns:a16="http://schemas.microsoft.com/office/drawing/2014/main" id="{8C66DC38-B762-476E-88A3-231D2B40B06B}"/>
              </a:ext>
            </a:extLst>
          </p:cNvPr>
          <p:cNvSpPr>
            <a:spLocks noGrp="1"/>
          </p:cNvSpPr>
          <p:nvPr/>
        </p:nvSpPr>
        <p:spPr>
          <a:xfrm>
            <a:off x="2922603" y="2415787"/>
            <a:ext cx="367833" cy="0"/>
          </a:xfrm>
          <a:prstGeom prst="line">
            <a:avLst/>
          </a:prstGeom>
          <a:noFill/>
          <a:ln w="50800">
            <a:solidFill>
              <a:srgbClr val="1559B4"/>
            </a:solidFill>
          </a:ln>
        </p:spPr>
        <p:txBody>
          <a:bodyPr/>
          <a:lstStyle/>
          <a:p>
            <a:endParaRPr sz="1264"/>
          </a:p>
        </p:txBody>
      </p:sp>
      <p:sp>
        <p:nvSpPr>
          <p:cNvPr id="26" name="Line 26">
            <a:extLst>
              <a:ext uri="{FF2B5EF4-FFF2-40B4-BE49-F238E27FC236}">
                <a16:creationId xmlns:a16="http://schemas.microsoft.com/office/drawing/2014/main" id="{5372ACCC-3459-4BC7-A857-9F03EC94CE7A}"/>
              </a:ext>
            </a:extLst>
          </p:cNvPr>
          <p:cNvSpPr>
            <a:spLocks noGrp="1"/>
          </p:cNvSpPr>
          <p:nvPr/>
        </p:nvSpPr>
        <p:spPr>
          <a:xfrm>
            <a:off x="2922603" y="2730117"/>
            <a:ext cx="367833" cy="0"/>
          </a:xfrm>
          <a:prstGeom prst="line">
            <a:avLst/>
          </a:prstGeom>
          <a:noFill/>
          <a:ln w="50800">
            <a:solidFill>
              <a:srgbClr val="1559B4"/>
            </a:solidFill>
          </a:ln>
        </p:spPr>
        <p:txBody>
          <a:bodyPr/>
          <a:lstStyle/>
          <a:p>
            <a:endParaRPr sz="1264"/>
          </a:p>
        </p:txBody>
      </p:sp>
      <p:sp>
        <p:nvSpPr>
          <p:cNvPr id="27" name="Line 27">
            <a:extLst>
              <a:ext uri="{FF2B5EF4-FFF2-40B4-BE49-F238E27FC236}">
                <a16:creationId xmlns:a16="http://schemas.microsoft.com/office/drawing/2014/main" id="{0814024F-1903-40E8-A9E4-9786D47CDF6B}"/>
              </a:ext>
            </a:extLst>
          </p:cNvPr>
          <p:cNvSpPr>
            <a:spLocks noGrp="1"/>
          </p:cNvSpPr>
          <p:nvPr/>
        </p:nvSpPr>
        <p:spPr>
          <a:xfrm>
            <a:off x="2922603" y="3044447"/>
            <a:ext cx="367833" cy="0"/>
          </a:xfrm>
          <a:prstGeom prst="line">
            <a:avLst/>
          </a:prstGeom>
          <a:noFill/>
          <a:ln w="50800">
            <a:solidFill>
              <a:srgbClr val="1E7A3A"/>
            </a:solidFill>
          </a:ln>
        </p:spPr>
        <p:txBody>
          <a:bodyPr/>
          <a:lstStyle/>
          <a:p>
            <a:endParaRPr sz="1264"/>
          </a:p>
        </p:txBody>
      </p:sp>
      <p:sp>
        <p:nvSpPr>
          <p:cNvPr id="28" name="Line 28">
            <a:extLst>
              <a:ext uri="{FF2B5EF4-FFF2-40B4-BE49-F238E27FC236}">
                <a16:creationId xmlns:a16="http://schemas.microsoft.com/office/drawing/2014/main" id="{264CC108-23DE-44CF-BE0B-D35CBB4311BE}"/>
              </a:ext>
            </a:extLst>
          </p:cNvPr>
          <p:cNvSpPr>
            <a:spLocks noGrp="1"/>
          </p:cNvSpPr>
          <p:nvPr/>
        </p:nvSpPr>
        <p:spPr>
          <a:xfrm>
            <a:off x="2922603" y="3358778"/>
            <a:ext cx="367833" cy="0"/>
          </a:xfrm>
          <a:prstGeom prst="line">
            <a:avLst/>
          </a:prstGeom>
          <a:noFill/>
          <a:ln w="50800">
            <a:solidFill>
              <a:srgbClr val="1E7A3A"/>
            </a:solidFill>
          </a:ln>
        </p:spPr>
        <p:txBody>
          <a:bodyPr/>
          <a:lstStyle/>
          <a:p>
            <a:endParaRPr sz="1264"/>
          </a:p>
        </p:txBody>
      </p:sp>
      <p:sp>
        <p:nvSpPr>
          <p:cNvPr id="29" name="Line 29">
            <a:extLst>
              <a:ext uri="{FF2B5EF4-FFF2-40B4-BE49-F238E27FC236}">
                <a16:creationId xmlns:a16="http://schemas.microsoft.com/office/drawing/2014/main" id="{58BAD52D-79CF-4DD6-9BF6-D7FC3FC80888}"/>
              </a:ext>
            </a:extLst>
          </p:cNvPr>
          <p:cNvSpPr>
            <a:spLocks noGrp="1"/>
          </p:cNvSpPr>
          <p:nvPr/>
        </p:nvSpPr>
        <p:spPr>
          <a:xfrm>
            <a:off x="2922603" y="3673108"/>
            <a:ext cx="367833" cy="0"/>
          </a:xfrm>
          <a:prstGeom prst="line">
            <a:avLst/>
          </a:prstGeom>
          <a:noFill/>
          <a:ln w="50800">
            <a:solidFill>
              <a:srgbClr val="1E7A3A"/>
            </a:solidFill>
          </a:ln>
        </p:spPr>
        <p:txBody>
          <a:bodyPr/>
          <a:lstStyle/>
          <a:p>
            <a:endParaRPr sz="1264"/>
          </a:p>
        </p:txBody>
      </p:sp>
      <p:sp>
        <p:nvSpPr>
          <p:cNvPr id="30" name="Line 30">
            <a:extLst>
              <a:ext uri="{FF2B5EF4-FFF2-40B4-BE49-F238E27FC236}">
                <a16:creationId xmlns:a16="http://schemas.microsoft.com/office/drawing/2014/main" id="{7CA64F6C-BE26-4B15-9B46-02130345EAEB}"/>
              </a:ext>
            </a:extLst>
          </p:cNvPr>
          <p:cNvSpPr>
            <a:spLocks noGrp="1"/>
          </p:cNvSpPr>
          <p:nvPr/>
        </p:nvSpPr>
        <p:spPr>
          <a:xfrm>
            <a:off x="2922603" y="3987438"/>
            <a:ext cx="367833" cy="0"/>
          </a:xfrm>
          <a:prstGeom prst="line">
            <a:avLst/>
          </a:prstGeom>
          <a:noFill/>
          <a:ln w="50800">
            <a:solidFill>
              <a:srgbClr val="7B259E"/>
            </a:solidFill>
          </a:ln>
        </p:spPr>
        <p:txBody>
          <a:bodyPr/>
          <a:lstStyle/>
          <a:p>
            <a:endParaRPr sz="1264"/>
          </a:p>
        </p:txBody>
      </p:sp>
      <p:sp>
        <p:nvSpPr>
          <p:cNvPr id="31" name="Line 31">
            <a:extLst>
              <a:ext uri="{FF2B5EF4-FFF2-40B4-BE49-F238E27FC236}">
                <a16:creationId xmlns:a16="http://schemas.microsoft.com/office/drawing/2014/main" id="{DE0514E3-03AF-4DF7-9337-2B8734E8061B}"/>
              </a:ext>
            </a:extLst>
          </p:cNvPr>
          <p:cNvSpPr>
            <a:spLocks noGrp="1"/>
          </p:cNvSpPr>
          <p:nvPr/>
        </p:nvSpPr>
        <p:spPr>
          <a:xfrm>
            <a:off x="10941368" y="2282029"/>
            <a:ext cx="307642" cy="0"/>
          </a:xfrm>
          <a:prstGeom prst="line">
            <a:avLst/>
          </a:prstGeom>
          <a:noFill/>
          <a:ln w="76200">
            <a:solidFill>
              <a:srgbClr val="1559B4"/>
            </a:solidFill>
          </a:ln>
        </p:spPr>
        <p:txBody>
          <a:bodyPr/>
          <a:lstStyle/>
          <a:p>
            <a:endParaRPr sz="1264"/>
          </a:p>
        </p:txBody>
      </p:sp>
      <p:sp>
        <p:nvSpPr>
          <p:cNvPr id="32" name="Line 32">
            <a:extLst>
              <a:ext uri="{FF2B5EF4-FFF2-40B4-BE49-F238E27FC236}">
                <a16:creationId xmlns:a16="http://schemas.microsoft.com/office/drawing/2014/main" id="{A0CA6F6C-E418-49EB-A160-3A561255845B}"/>
              </a:ext>
            </a:extLst>
          </p:cNvPr>
          <p:cNvSpPr>
            <a:spLocks noGrp="1"/>
          </p:cNvSpPr>
          <p:nvPr/>
        </p:nvSpPr>
        <p:spPr>
          <a:xfrm>
            <a:off x="10941368" y="2776932"/>
            <a:ext cx="307642" cy="0"/>
          </a:xfrm>
          <a:prstGeom prst="line">
            <a:avLst/>
          </a:prstGeom>
          <a:noFill/>
          <a:ln w="76200">
            <a:solidFill>
              <a:srgbClr val="1E7A3A"/>
            </a:solidFill>
          </a:ln>
        </p:spPr>
        <p:txBody>
          <a:bodyPr/>
          <a:lstStyle/>
          <a:p>
            <a:endParaRPr sz="1264"/>
          </a:p>
        </p:txBody>
      </p:sp>
      <p:sp>
        <p:nvSpPr>
          <p:cNvPr id="33" name="Line 33">
            <a:extLst>
              <a:ext uri="{FF2B5EF4-FFF2-40B4-BE49-F238E27FC236}">
                <a16:creationId xmlns:a16="http://schemas.microsoft.com/office/drawing/2014/main" id="{CA487840-ED78-4D9C-BB6F-3E3057700F00}"/>
              </a:ext>
            </a:extLst>
          </p:cNvPr>
          <p:cNvSpPr>
            <a:spLocks noGrp="1"/>
          </p:cNvSpPr>
          <p:nvPr/>
        </p:nvSpPr>
        <p:spPr>
          <a:xfrm>
            <a:off x="10941368" y="3271835"/>
            <a:ext cx="307642" cy="0"/>
          </a:xfrm>
          <a:prstGeom prst="line">
            <a:avLst/>
          </a:prstGeom>
          <a:noFill/>
          <a:ln w="76200">
            <a:solidFill>
              <a:srgbClr val="F57A12"/>
            </a:solidFill>
          </a:ln>
        </p:spPr>
        <p:txBody>
          <a:bodyPr/>
          <a:lstStyle/>
          <a:p>
            <a:endParaRPr sz="1264"/>
          </a:p>
        </p:txBody>
      </p:sp>
      <p:sp>
        <p:nvSpPr>
          <p:cNvPr id="34" name="Line 34">
            <a:extLst>
              <a:ext uri="{FF2B5EF4-FFF2-40B4-BE49-F238E27FC236}">
                <a16:creationId xmlns:a16="http://schemas.microsoft.com/office/drawing/2014/main" id="{8994F138-83DC-4ED1-81B5-8DA872A85A5E}"/>
              </a:ext>
            </a:extLst>
          </p:cNvPr>
          <p:cNvSpPr>
            <a:spLocks noGrp="1"/>
          </p:cNvSpPr>
          <p:nvPr/>
        </p:nvSpPr>
        <p:spPr>
          <a:xfrm>
            <a:off x="10941368" y="3766738"/>
            <a:ext cx="307642" cy="0"/>
          </a:xfrm>
          <a:prstGeom prst="line">
            <a:avLst/>
          </a:prstGeom>
          <a:noFill/>
          <a:ln w="76200">
            <a:solidFill>
              <a:srgbClr val="7B259E"/>
            </a:solidFill>
          </a:ln>
        </p:spPr>
        <p:txBody>
          <a:bodyPr/>
          <a:lstStyle/>
          <a:p>
            <a:endParaRPr sz="1264"/>
          </a:p>
        </p:txBody>
      </p:sp>
      <p:sp>
        <p:nvSpPr>
          <p:cNvPr id="75" name="Line 75">
            <a:extLst>
              <a:ext uri="{FF2B5EF4-FFF2-40B4-BE49-F238E27FC236}">
                <a16:creationId xmlns:a16="http://schemas.microsoft.com/office/drawing/2014/main" id="{5EFBB499-34B0-49A1-8FAB-95D1FB77D8DC}"/>
              </a:ext>
            </a:extLst>
          </p:cNvPr>
          <p:cNvSpPr>
            <a:spLocks noGrp="1"/>
          </p:cNvSpPr>
          <p:nvPr/>
        </p:nvSpPr>
        <p:spPr>
          <a:xfrm>
            <a:off x="2374197" y="4783295"/>
            <a:ext cx="354457" cy="0"/>
          </a:xfrm>
          <a:prstGeom prst="line">
            <a:avLst/>
          </a:prstGeom>
          <a:noFill/>
          <a:ln w="29209">
            <a:solidFill>
              <a:srgbClr val="1559B4"/>
            </a:solidFill>
          </a:ln>
        </p:spPr>
        <p:txBody>
          <a:bodyPr/>
          <a:lstStyle/>
          <a:p>
            <a:endParaRPr sz="1264"/>
          </a:p>
        </p:txBody>
      </p:sp>
      <p:sp>
        <p:nvSpPr>
          <p:cNvPr id="76" name="Line 76">
            <a:extLst>
              <a:ext uri="{FF2B5EF4-FFF2-40B4-BE49-F238E27FC236}">
                <a16:creationId xmlns:a16="http://schemas.microsoft.com/office/drawing/2014/main" id="{9007ED46-08DA-4F50-A4B1-11B339E2A4C2}"/>
              </a:ext>
            </a:extLst>
          </p:cNvPr>
          <p:cNvSpPr>
            <a:spLocks noGrp="1"/>
          </p:cNvSpPr>
          <p:nvPr/>
        </p:nvSpPr>
        <p:spPr>
          <a:xfrm>
            <a:off x="2374197" y="4923741"/>
            <a:ext cx="354457" cy="0"/>
          </a:xfrm>
          <a:prstGeom prst="line">
            <a:avLst/>
          </a:prstGeom>
          <a:noFill/>
          <a:ln w="29209">
            <a:solidFill>
              <a:srgbClr val="1559B4"/>
            </a:solidFill>
          </a:ln>
        </p:spPr>
        <p:txBody>
          <a:bodyPr/>
          <a:lstStyle/>
          <a:p>
            <a:endParaRPr sz="1264"/>
          </a:p>
        </p:txBody>
      </p:sp>
      <p:sp>
        <p:nvSpPr>
          <p:cNvPr id="77" name="Line 77">
            <a:extLst>
              <a:ext uri="{FF2B5EF4-FFF2-40B4-BE49-F238E27FC236}">
                <a16:creationId xmlns:a16="http://schemas.microsoft.com/office/drawing/2014/main" id="{5EA18687-03F3-4A50-9069-272168C1BA76}"/>
              </a:ext>
            </a:extLst>
          </p:cNvPr>
          <p:cNvSpPr>
            <a:spLocks noGrp="1"/>
          </p:cNvSpPr>
          <p:nvPr/>
        </p:nvSpPr>
        <p:spPr>
          <a:xfrm>
            <a:off x="2374197" y="5064186"/>
            <a:ext cx="354457" cy="0"/>
          </a:xfrm>
          <a:prstGeom prst="line">
            <a:avLst/>
          </a:prstGeom>
          <a:noFill/>
          <a:ln w="29209">
            <a:solidFill>
              <a:srgbClr val="1559B4"/>
            </a:solidFill>
          </a:ln>
        </p:spPr>
        <p:txBody>
          <a:bodyPr/>
          <a:lstStyle/>
          <a:p>
            <a:endParaRPr sz="1264"/>
          </a:p>
        </p:txBody>
      </p:sp>
      <p:sp>
        <p:nvSpPr>
          <p:cNvPr id="78" name="Line 78">
            <a:extLst>
              <a:ext uri="{FF2B5EF4-FFF2-40B4-BE49-F238E27FC236}">
                <a16:creationId xmlns:a16="http://schemas.microsoft.com/office/drawing/2014/main" id="{8B8CD967-15F4-4B2F-917C-9657EC3514C1}"/>
              </a:ext>
            </a:extLst>
          </p:cNvPr>
          <p:cNvSpPr>
            <a:spLocks noGrp="1"/>
          </p:cNvSpPr>
          <p:nvPr/>
        </p:nvSpPr>
        <p:spPr>
          <a:xfrm>
            <a:off x="2374197" y="5204632"/>
            <a:ext cx="354457" cy="0"/>
          </a:xfrm>
          <a:prstGeom prst="line">
            <a:avLst/>
          </a:prstGeom>
          <a:noFill/>
          <a:ln w="29209">
            <a:solidFill>
              <a:srgbClr val="1559B4"/>
            </a:solidFill>
          </a:ln>
        </p:spPr>
        <p:txBody>
          <a:bodyPr/>
          <a:lstStyle/>
          <a:p>
            <a:endParaRPr sz="1264"/>
          </a:p>
        </p:txBody>
      </p:sp>
      <p:sp>
        <p:nvSpPr>
          <p:cNvPr id="79" name="Line 79">
            <a:extLst>
              <a:ext uri="{FF2B5EF4-FFF2-40B4-BE49-F238E27FC236}">
                <a16:creationId xmlns:a16="http://schemas.microsoft.com/office/drawing/2014/main" id="{4BCA14C5-6702-4396-8FF3-F9BE5345FA4D}"/>
              </a:ext>
            </a:extLst>
          </p:cNvPr>
          <p:cNvSpPr>
            <a:spLocks noGrp="1"/>
          </p:cNvSpPr>
          <p:nvPr/>
        </p:nvSpPr>
        <p:spPr>
          <a:xfrm>
            <a:off x="2374197" y="5345077"/>
            <a:ext cx="354457" cy="0"/>
          </a:xfrm>
          <a:prstGeom prst="line">
            <a:avLst/>
          </a:prstGeom>
          <a:noFill/>
          <a:ln w="29209">
            <a:solidFill>
              <a:srgbClr val="7B259E"/>
            </a:solidFill>
          </a:ln>
        </p:spPr>
        <p:txBody>
          <a:bodyPr/>
          <a:lstStyle/>
          <a:p>
            <a:endParaRPr sz="1264"/>
          </a:p>
        </p:txBody>
      </p:sp>
      <p:sp>
        <p:nvSpPr>
          <p:cNvPr id="80" name="Line 80">
            <a:extLst>
              <a:ext uri="{FF2B5EF4-FFF2-40B4-BE49-F238E27FC236}">
                <a16:creationId xmlns:a16="http://schemas.microsoft.com/office/drawing/2014/main" id="{84C35993-6F59-4959-9183-D3DF9835C09E}"/>
              </a:ext>
            </a:extLst>
          </p:cNvPr>
          <p:cNvSpPr>
            <a:spLocks noGrp="1"/>
          </p:cNvSpPr>
          <p:nvPr/>
        </p:nvSpPr>
        <p:spPr>
          <a:xfrm>
            <a:off x="2374197" y="5485523"/>
            <a:ext cx="354457" cy="0"/>
          </a:xfrm>
          <a:prstGeom prst="line">
            <a:avLst/>
          </a:prstGeom>
          <a:noFill/>
          <a:ln w="29209">
            <a:solidFill>
              <a:srgbClr val="7B259E"/>
            </a:solidFill>
          </a:ln>
        </p:spPr>
        <p:txBody>
          <a:bodyPr/>
          <a:lstStyle/>
          <a:p>
            <a:endParaRPr sz="1264"/>
          </a:p>
        </p:txBody>
      </p:sp>
      <p:sp>
        <p:nvSpPr>
          <p:cNvPr id="81" name="Line 81">
            <a:extLst>
              <a:ext uri="{FF2B5EF4-FFF2-40B4-BE49-F238E27FC236}">
                <a16:creationId xmlns:a16="http://schemas.microsoft.com/office/drawing/2014/main" id="{A47240CE-B78E-48B9-8476-D6D2B3D2021E}"/>
              </a:ext>
            </a:extLst>
          </p:cNvPr>
          <p:cNvSpPr>
            <a:spLocks noGrp="1"/>
          </p:cNvSpPr>
          <p:nvPr/>
        </p:nvSpPr>
        <p:spPr>
          <a:xfrm>
            <a:off x="2374197" y="5625968"/>
            <a:ext cx="354457" cy="0"/>
          </a:xfrm>
          <a:prstGeom prst="line">
            <a:avLst/>
          </a:prstGeom>
          <a:noFill/>
          <a:ln w="29209">
            <a:solidFill>
              <a:srgbClr val="7B259E"/>
            </a:solidFill>
          </a:ln>
        </p:spPr>
        <p:txBody>
          <a:bodyPr/>
          <a:lstStyle/>
          <a:p>
            <a:endParaRPr sz="1264"/>
          </a:p>
        </p:txBody>
      </p:sp>
      <p:sp>
        <p:nvSpPr>
          <p:cNvPr id="82" name="Ellipse 82">
            <a:extLst>
              <a:ext uri="{FF2B5EF4-FFF2-40B4-BE49-F238E27FC236}">
                <a16:creationId xmlns:a16="http://schemas.microsoft.com/office/drawing/2014/main" id="{92340CDF-6480-478F-B4B6-AF03DA4425D4}"/>
              </a:ext>
            </a:extLst>
          </p:cNvPr>
          <p:cNvSpPr>
            <a:spLocks noGrp="1"/>
          </p:cNvSpPr>
          <p:nvPr/>
        </p:nvSpPr>
        <p:spPr>
          <a:xfrm>
            <a:off x="1718785" y="1686809"/>
            <a:ext cx="200636" cy="200636"/>
          </a:xfrm>
          <a:prstGeom prst="ellipse">
            <a:avLst/>
          </a:prstGeom>
          <a:noFill/>
          <a:ln w="20320">
            <a:solidFill>
              <a:srgbClr val="1559B4"/>
            </a:solidFill>
          </a:ln>
        </p:spPr>
        <p:txBody>
          <a:bodyPr/>
          <a:lstStyle/>
          <a:p>
            <a:endParaRPr sz="1264"/>
          </a:p>
        </p:txBody>
      </p:sp>
      <p:sp>
        <p:nvSpPr>
          <p:cNvPr id="83" name="Ellipse 83">
            <a:extLst>
              <a:ext uri="{FF2B5EF4-FFF2-40B4-BE49-F238E27FC236}">
                <a16:creationId xmlns:a16="http://schemas.microsoft.com/office/drawing/2014/main" id="{B87D880A-3B9B-4310-8D2B-C5FD937B528E}"/>
              </a:ext>
            </a:extLst>
          </p:cNvPr>
          <p:cNvSpPr>
            <a:spLocks noGrp="1"/>
          </p:cNvSpPr>
          <p:nvPr/>
        </p:nvSpPr>
        <p:spPr>
          <a:xfrm>
            <a:off x="1718785" y="2001139"/>
            <a:ext cx="200636" cy="200636"/>
          </a:xfrm>
          <a:prstGeom prst="ellipse">
            <a:avLst/>
          </a:prstGeom>
          <a:noFill/>
          <a:ln w="20320">
            <a:solidFill>
              <a:srgbClr val="1559B4"/>
            </a:solidFill>
          </a:ln>
        </p:spPr>
        <p:txBody>
          <a:bodyPr/>
          <a:lstStyle/>
          <a:p>
            <a:endParaRPr sz="1264"/>
          </a:p>
        </p:txBody>
      </p:sp>
      <p:sp>
        <p:nvSpPr>
          <p:cNvPr id="84" name="Ellipse 84">
            <a:extLst>
              <a:ext uri="{FF2B5EF4-FFF2-40B4-BE49-F238E27FC236}">
                <a16:creationId xmlns:a16="http://schemas.microsoft.com/office/drawing/2014/main" id="{C15697E9-93DE-4379-B831-9E99770EEEF6}"/>
              </a:ext>
            </a:extLst>
          </p:cNvPr>
          <p:cNvSpPr>
            <a:spLocks noGrp="1"/>
          </p:cNvSpPr>
          <p:nvPr/>
        </p:nvSpPr>
        <p:spPr>
          <a:xfrm>
            <a:off x="1718785" y="2315469"/>
            <a:ext cx="200636" cy="200636"/>
          </a:xfrm>
          <a:prstGeom prst="ellipse">
            <a:avLst/>
          </a:prstGeom>
          <a:noFill/>
          <a:ln w="20320">
            <a:solidFill>
              <a:srgbClr val="1559B4"/>
            </a:solidFill>
          </a:ln>
        </p:spPr>
        <p:txBody>
          <a:bodyPr/>
          <a:lstStyle/>
          <a:p>
            <a:endParaRPr sz="1264"/>
          </a:p>
        </p:txBody>
      </p:sp>
      <p:sp>
        <p:nvSpPr>
          <p:cNvPr id="85" name="Ellipse 85">
            <a:extLst>
              <a:ext uri="{FF2B5EF4-FFF2-40B4-BE49-F238E27FC236}">
                <a16:creationId xmlns:a16="http://schemas.microsoft.com/office/drawing/2014/main" id="{4DBBDED8-5FDB-4159-9563-596C5A5DD869}"/>
              </a:ext>
            </a:extLst>
          </p:cNvPr>
          <p:cNvSpPr>
            <a:spLocks noGrp="1"/>
          </p:cNvSpPr>
          <p:nvPr/>
        </p:nvSpPr>
        <p:spPr>
          <a:xfrm>
            <a:off x="1718785" y="2629799"/>
            <a:ext cx="200636" cy="200636"/>
          </a:xfrm>
          <a:prstGeom prst="ellipse">
            <a:avLst/>
          </a:prstGeom>
          <a:noFill/>
          <a:ln w="20320">
            <a:solidFill>
              <a:srgbClr val="1559B4"/>
            </a:solidFill>
          </a:ln>
        </p:spPr>
        <p:txBody>
          <a:bodyPr/>
          <a:lstStyle/>
          <a:p>
            <a:endParaRPr sz="1264"/>
          </a:p>
        </p:txBody>
      </p:sp>
      <p:sp>
        <p:nvSpPr>
          <p:cNvPr id="86" name="Ellipse 86">
            <a:extLst>
              <a:ext uri="{FF2B5EF4-FFF2-40B4-BE49-F238E27FC236}">
                <a16:creationId xmlns:a16="http://schemas.microsoft.com/office/drawing/2014/main" id="{C5CC6AF6-1905-4538-8E53-451A92C5057A}"/>
              </a:ext>
            </a:extLst>
          </p:cNvPr>
          <p:cNvSpPr>
            <a:spLocks noGrp="1"/>
          </p:cNvSpPr>
          <p:nvPr/>
        </p:nvSpPr>
        <p:spPr>
          <a:xfrm>
            <a:off x="1718785" y="2944129"/>
            <a:ext cx="200636" cy="200636"/>
          </a:xfrm>
          <a:prstGeom prst="ellipse">
            <a:avLst/>
          </a:prstGeom>
          <a:noFill/>
          <a:ln w="20320">
            <a:solidFill>
              <a:srgbClr val="1E7A3A"/>
            </a:solidFill>
          </a:ln>
        </p:spPr>
        <p:txBody>
          <a:bodyPr/>
          <a:lstStyle/>
          <a:p>
            <a:endParaRPr sz="1264"/>
          </a:p>
        </p:txBody>
      </p:sp>
      <p:sp>
        <p:nvSpPr>
          <p:cNvPr id="87" name="Ellipse 87">
            <a:extLst>
              <a:ext uri="{FF2B5EF4-FFF2-40B4-BE49-F238E27FC236}">
                <a16:creationId xmlns:a16="http://schemas.microsoft.com/office/drawing/2014/main" id="{153D1875-AD7E-4047-8B21-5D284C3ED62F}"/>
              </a:ext>
            </a:extLst>
          </p:cNvPr>
          <p:cNvSpPr>
            <a:spLocks noGrp="1"/>
          </p:cNvSpPr>
          <p:nvPr/>
        </p:nvSpPr>
        <p:spPr>
          <a:xfrm>
            <a:off x="1718785" y="3258460"/>
            <a:ext cx="200636" cy="200636"/>
          </a:xfrm>
          <a:prstGeom prst="ellipse">
            <a:avLst/>
          </a:prstGeom>
          <a:noFill/>
          <a:ln w="20320">
            <a:solidFill>
              <a:srgbClr val="1E7A3A"/>
            </a:solidFill>
          </a:ln>
        </p:spPr>
        <p:txBody>
          <a:bodyPr/>
          <a:lstStyle/>
          <a:p>
            <a:endParaRPr sz="1264"/>
          </a:p>
        </p:txBody>
      </p:sp>
      <p:sp>
        <p:nvSpPr>
          <p:cNvPr id="88" name="Ellipse 88">
            <a:extLst>
              <a:ext uri="{FF2B5EF4-FFF2-40B4-BE49-F238E27FC236}">
                <a16:creationId xmlns:a16="http://schemas.microsoft.com/office/drawing/2014/main" id="{FC78B4C4-028A-4D5A-B46F-DF4F0B538FD7}"/>
              </a:ext>
            </a:extLst>
          </p:cNvPr>
          <p:cNvSpPr>
            <a:spLocks noGrp="1"/>
          </p:cNvSpPr>
          <p:nvPr/>
        </p:nvSpPr>
        <p:spPr>
          <a:xfrm>
            <a:off x="1718785" y="3572790"/>
            <a:ext cx="200636" cy="200636"/>
          </a:xfrm>
          <a:prstGeom prst="ellipse">
            <a:avLst/>
          </a:prstGeom>
          <a:noFill/>
          <a:ln w="20320">
            <a:solidFill>
              <a:srgbClr val="1E7A3A"/>
            </a:solidFill>
          </a:ln>
        </p:spPr>
        <p:txBody>
          <a:bodyPr/>
          <a:lstStyle/>
          <a:p>
            <a:endParaRPr sz="1264"/>
          </a:p>
        </p:txBody>
      </p:sp>
      <p:sp>
        <p:nvSpPr>
          <p:cNvPr id="89" name="Ellipse 89">
            <a:extLst>
              <a:ext uri="{FF2B5EF4-FFF2-40B4-BE49-F238E27FC236}">
                <a16:creationId xmlns:a16="http://schemas.microsoft.com/office/drawing/2014/main" id="{A8F1257E-8FE9-4855-BFD7-11F4E83E26BB}"/>
              </a:ext>
            </a:extLst>
          </p:cNvPr>
          <p:cNvSpPr>
            <a:spLocks noGrp="1"/>
          </p:cNvSpPr>
          <p:nvPr/>
        </p:nvSpPr>
        <p:spPr>
          <a:xfrm>
            <a:off x="1718785" y="3887120"/>
            <a:ext cx="200636" cy="200636"/>
          </a:xfrm>
          <a:prstGeom prst="ellipse">
            <a:avLst/>
          </a:prstGeom>
          <a:noFill/>
          <a:ln w="20320">
            <a:solidFill>
              <a:srgbClr val="7B259E"/>
            </a:solidFill>
          </a:ln>
        </p:spPr>
        <p:txBody>
          <a:bodyPr/>
          <a:lstStyle/>
          <a:p>
            <a:endParaRPr sz="1264"/>
          </a:p>
        </p:txBody>
      </p:sp>
      <p:sp>
        <p:nvSpPr>
          <p:cNvPr id="90" name="Line 90">
            <a:extLst>
              <a:ext uri="{FF2B5EF4-FFF2-40B4-BE49-F238E27FC236}">
                <a16:creationId xmlns:a16="http://schemas.microsoft.com/office/drawing/2014/main" id="{33270AC0-BFC4-47AD-BF73-AB202E3D6472}"/>
              </a:ext>
            </a:extLst>
          </p:cNvPr>
          <p:cNvSpPr>
            <a:spLocks noGrp="1"/>
          </p:cNvSpPr>
          <p:nvPr/>
        </p:nvSpPr>
        <p:spPr>
          <a:xfrm>
            <a:off x="4092981" y="2783620"/>
            <a:ext cx="220700" cy="0"/>
          </a:xfrm>
          <a:prstGeom prst="line">
            <a:avLst/>
          </a:prstGeom>
          <a:noFill/>
          <a:ln w="33020">
            <a:solidFill>
              <a:srgbClr val="102B62"/>
            </a:solidFill>
          </a:ln>
        </p:spPr>
        <p:txBody>
          <a:bodyPr/>
          <a:lstStyle/>
          <a:p>
            <a:endParaRPr sz="1264"/>
          </a:p>
        </p:txBody>
      </p:sp>
      <p:sp>
        <p:nvSpPr>
          <p:cNvPr id="135" name="Ellipse 135">
            <a:extLst>
              <a:ext uri="{FF2B5EF4-FFF2-40B4-BE49-F238E27FC236}">
                <a16:creationId xmlns:a16="http://schemas.microsoft.com/office/drawing/2014/main" id="{7360BC6C-EB5C-4A4C-851A-1D4A23F0765A}"/>
              </a:ext>
            </a:extLst>
          </p:cNvPr>
          <p:cNvSpPr>
            <a:spLocks noGrp="1"/>
          </p:cNvSpPr>
          <p:nvPr/>
        </p:nvSpPr>
        <p:spPr>
          <a:xfrm>
            <a:off x="2220375" y="4743168"/>
            <a:ext cx="80255" cy="80255"/>
          </a:xfrm>
          <a:prstGeom prst="ellipse">
            <a:avLst/>
          </a:prstGeom>
          <a:noFill/>
          <a:ln w="12700">
            <a:solidFill>
              <a:srgbClr val="A5A5A5"/>
            </a:solidFill>
          </a:ln>
        </p:spPr>
        <p:txBody>
          <a:bodyPr/>
          <a:lstStyle/>
          <a:p>
            <a:endParaRPr sz="1264"/>
          </a:p>
        </p:txBody>
      </p:sp>
      <p:sp>
        <p:nvSpPr>
          <p:cNvPr id="136" name="Ellipse 136">
            <a:extLst>
              <a:ext uri="{FF2B5EF4-FFF2-40B4-BE49-F238E27FC236}">
                <a16:creationId xmlns:a16="http://schemas.microsoft.com/office/drawing/2014/main" id="{AEBC9178-136B-4177-A5CC-35F65E470ED5}"/>
              </a:ext>
            </a:extLst>
          </p:cNvPr>
          <p:cNvSpPr>
            <a:spLocks noGrp="1"/>
          </p:cNvSpPr>
          <p:nvPr/>
        </p:nvSpPr>
        <p:spPr>
          <a:xfrm>
            <a:off x="2220375" y="4883613"/>
            <a:ext cx="80255" cy="80255"/>
          </a:xfrm>
          <a:prstGeom prst="ellipse">
            <a:avLst/>
          </a:prstGeom>
          <a:noFill/>
          <a:ln w="12700">
            <a:solidFill>
              <a:srgbClr val="A5A5A5"/>
            </a:solidFill>
          </a:ln>
        </p:spPr>
        <p:txBody>
          <a:bodyPr/>
          <a:lstStyle/>
          <a:p>
            <a:endParaRPr sz="1264"/>
          </a:p>
        </p:txBody>
      </p:sp>
      <p:sp>
        <p:nvSpPr>
          <p:cNvPr id="137" name="Ellipse 137">
            <a:extLst>
              <a:ext uri="{FF2B5EF4-FFF2-40B4-BE49-F238E27FC236}">
                <a16:creationId xmlns:a16="http://schemas.microsoft.com/office/drawing/2014/main" id="{76E347D1-C6D3-4085-99D7-64F6AC3A0C83}"/>
              </a:ext>
            </a:extLst>
          </p:cNvPr>
          <p:cNvSpPr>
            <a:spLocks noGrp="1"/>
          </p:cNvSpPr>
          <p:nvPr/>
        </p:nvSpPr>
        <p:spPr>
          <a:xfrm>
            <a:off x="2220375" y="5024059"/>
            <a:ext cx="80255" cy="80255"/>
          </a:xfrm>
          <a:prstGeom prst="ellipse">
            <a:avLst/>
          </a:prstGeom>
          <a:noFill/>
          <a:ln w="12700">
            <a:solidFill>
              <a:srgbClr val="A5A5A5"/>
            </a:solidFill>
          </a:ln>
        </p:spPr>
        <p:txBody>
          <a:bodyPr/>
          <a:lstStyle/>
          <a:p>
            <a:endParaRPr sz="1264"/>
          </a:p>
        </p:txBody>
      </p:sp>
      <p:sp>
        <p:nvSpPr>
          <p:cNvPr id="138" name="Ellipse 138">
            <a:extLst>
              <a:ext uri="{FF2B5EF4-FFF2-40B4-BE49-F238E27FC236}">
                <a16:creationId xmlns:a16="http://schemas.microsoft.com/office/drawing/2014/main" id="{721BF58D-D747-49C6-A834-9D0E10919B0C}"/>
              </a:ext>
            </a:extLst>
          </p:cNvPr>
          <p:cNvSpPr>
            <a:spLocks noGrp="1"/>
          </p:cNvSpPr>
          <p:nvPr/>
        </p:nvSpPr>
        <p:spPr>
          <a:xfrm>
            <a:off x="2220375" y="5164504"/>
            <a:ext cx="80255" cy="80255"/>
          </a:xfrm>
          <a:prstGeom prst="ellipse">
            <a:avLst/>
          </a:prstGeom>
          <a:noFill/>
          <a:ln w="12700">
            <a:solidFill>
              <a:srgbClr val="1559B4"/>
            </a:solidFill>
          </a:ln>
        </p:spPr>
        <p:txBody>
          <a:bodyPr/>
          <a:lstStyle/>
          <a:p>
            <a:endParaRPr sz="1264"/>
          </a:p>
        </p:txBody>
      </p:sp>
      <p:sp>
        <p:nvSpPr>
          <p:cNvPr id="139" name="Ellipse 139">
            <a:extLst>
              <a:ext uri="{FF2B5EF4-FFF2-40B4-BE49-F238E27FC236}">
                <a16:creationId xmlns:a16="http://schemas.microsoft.com/office/drawing/2014/main" id="{90E3A020-018B-465F-86DE-137080781B85}"/>
              </a:ext>
            </a:extLst>
          </p:cNvPr>
          <p:cNvSpPr>
            <a:spLocks noGrp="1"/>
          </p:cNvSpPr>
          <p:nvPr/>
        </p:nvSpPr>
        <p:spPr>
          <a:xfrm>
            <a:off x="2220375" y="5304950"/>
            <a:ext cx="80255" cy="80255"/>
          </a:xfrm>
          <a:prstGeom prst="ellipse">
            <a:avLst/>
          </a:prstGeom>
          <a:noFill/>
          <a:ln w="12700">
            <a:solidFill>
              <a:srgbClr val="A5A5A5"/>
            </a:solidFill>
          </a:ln>
        </p:spPr>
        <p:txBody>
          <a:bodyPr/>
          <a:lstStyle/>
          <a:p>
            <a:endParaRPr sz="1264"/>
          </a:p>
        </p:txBody>
      </p:sp>
      <p:sp>
        <p:nvSpPr>
          <p:cNvPr id="140" name="Ellipse 140">
            <a:extLst>
              <a:ext uri="{FF2B5EF4-FFF2-40B4-BE49-F238E27FC236}">
                <a16:creationId xmlns:a16="http://schemas.microsoft.com/office/drawing/2014/main" id="{088E1F6C-6E5E-4933-9D04-8FBEF833603B}"/>
              </a:ext>
            </a:extLst>
          </p:cNvPr>
          <p:cNvSpPr>
            <a:spLocks noGrp="1"/>
          </p:cNvSpPr>
          <p:nvPr/>
        </p:nvSpPr>
        <p:spPr>
          <a:xfrm>
            <a:off x="2220375" y="5445395"/>
            <a:ext cx="80255" cy="80255"/>
          </a:xfrm>
          <a:prstGeom prst="ellipse">
            <a:avLst/>
          </a:prstGeom>
          <a:noFill/>
          <a:ln w="12700">
            <a:solidFill>
              <a:srgbClr val="A5A5A5"/>
            </a:solidFill>
          </a:ln>
        </p:spPr>
        <p:txBody>
          <a:bodyPr/>
          <a:lstStyle/>
          <a:p>
            <a:endParaRPr sz="1264"/>
          </a:p>
        </p:txBody>
      </p:sp>
      <p:sp>
        <p:nvSpPr>
          <p:cNvPr id="141" name="Ellipse 141">
            <a:extLst>
              <a:ext uri="{FF2B5EF4-FFF2-40B4-BE49-F238E27FC236}">
                <a16:creationId xmlns:a16="http://schemas.microsoft.com/office/drawing/2014/main" id="{E0B25171-DDAC-42B3-9E58-4E5375C803A7}"/>
              </a:ext>
            </a:extLst>
          </p:cNvPr>
          <p:cNvSpPr>
            <a:spLocks noGrp="1"/>
          </p:cNvSpPr>
          <p:nvPr/>
        </p:nvSpPr>
        <p:spPr>
          <a:xfrm>
            <a:off x="2220375" y="5585840"/>
            <a:ext cx="80255" cy="80255"/>
          </a:xfrm>
          <a:prstGeom prst="ellipse">
            <a:avLst/>
          </a:prstGeom>
          <a:noFill/>
          <a:ln w="12700">
            <a:solidFill>
              <a:srgbClr val="A5A5A5"/>
            </a:solidFill>
          </a:ln>
        </p:spPr>
        <p:txBody>
          <a:bodyPr/>
          <a:lstStyle/>
          <a:p>
            <a:endParaRPr sz="1264"/>
          </a:p>
        </p:txBody>
      </p:sp>
      <p:sp>
        <p:nvSpPr>
          <p:cNvPr id="142" name="Line 142">
            <a:extLst>
              <a:ext uri="{FF2B5EF4-FFF2-40B4-BE49-F238E27FC236}">
                <a16:creationId xmlns:a16="http://schemas.microsoft.com/office/drawing/2014/main" id="{B6BF2FD1-1ACA-4E40-98CC-92EED2A621A5}"/>
              </a:ext>
            </a:extLst>
          </p:cNvPr>
          <p:cNvSpPr>
            <a:spLocks noGrp="1"/>
          </p:cNvSpPr>
          <p:nvPr/>
        </p:nvSpPr>
        <p:spPr>
          <a:xfrm>
            <a:off x="4113045" y="5224695"/>
            <a:ext cx="421336" cy="0"/>
          </a:xfrm>
          <a:prstGeom prst="line">
            <a:avLst/>
          </a:prstGeom>
          <a:noFill/>
          <a:ln w="50800">
            <a:solidFill>
              <a:srgbClr val="102B62"/>
            </a:solidFill>
          </a:ln>
        </p:spPr>
        <p:txBody>
          <a:bodyPr/>
          <a:lstStyle/>
          <a:p>
            <a:endParaRPr sz="1264"/>
          </a:p>
        </p:txBody>
      </p:sp>
      <p:sp>
        <p:nvSpPr>
          <p:cNvPr id="143" name="Ellipse 143">
            <a:extLst>
              <a:ext uri="{FF2B5EF4-FFF2-40B4-BE49-F238E27FC236}">
                <a16:creationId xmlns:a16="http://schemas.microsoft.com/office/drawing/2014/main" id="{CEBBA078-FE5B-44EB-9CC0-FC1EFD04FF6C}"/>
              </a:ext>
            </a:extLst>
          </p:cNvPr>
          <p:cNvSpPr>
            <a:spLocks noGrp="1"/>
          </p:cNvSpPr>
          <p:nvPr/>
        </p:nvSpPr>
        <p:spPr>
          <a:xfrm>
            <a:off x="4721642" y="4896989"/>
            <a:ext cx="387897" cy="387897"/>
          </a:xfrm>
          <a:prstGeom prst="ellipse">
            <a:avLst/>
          </a:prstGeom>
          <a:noFill/>
          <a:ln w="22860">
            <a:solidFill>
              <a:srgbClr val="1559B4"/>
            </a:solidFill>
          </a:ln>
        </p:spPr>
        <p:txBody>
          <a:bodyPr/>
          <a:lstStyle/>
          <a:p>
            <a:endParaRPr sz="1264"/>
          </a:p>
        </p:txBody>
      </p:sp>
      <p:sp>
        <p:nvSpPr>
          <p:cNvPr id="144" name="Line 144">
            <a:extLst>
              <a:ext uri="{FF2B5EF4-FFF2-40B4-BE49-F238E27FC236}">
                <a16:creationId xmlns:a16="http://schemas.microsoft.com/office/drawing/2014/main" id="{B617BA8A-804E-414F-AEAE-4157EAC341BB}"/>
              </a:ext>
            </a:extLst>
          </p:cNvPr>
          <p:cNvSpPr>
            <a:spLocks noGrp="1"/>
          </p:cNvSpPr>
          <p:nvPr/>
        </p:nvSpPr>
        <p:spPr>
          <a:xfrm>
            <a:off x="5109539" y="5090938"/>
            <a:ext cx="207324" cy="0"/>
          </a:xfrm>
          <a:prstGeom prst="line">
            <a:avLst/>
          </a:prstGeom>
          <a:noFill/>
          <a:ln w="29209">
            <a:solidFill>
              <a:srgbClr val="102B62"/>
            </a:solidFill>
          </a:ln>
        </p:spPr>
        <p:txBody>
          <a:bodyPr/>
          <a:lstStyle/>
          <a:p>
            <a:endParaRPr sz="1264"/>
          </a:p>
        </p:txBody>
      </p:sp>
      <p:sp>
        <p:nvSpPr>
          <p:cNvPr id="145" name="Ellipse 145">
            <a:extLst>
              <a:ext uri="{FF2B5EF4-FFF2-40B4-BE49-F238E27FC236}">
                <a16:creationId xmlns:a16="http://schemas.microsoft.com/office/drawing/2014/main" id="{EAED987E-895D-4309-BBE1-E18AF5BF5F51}"/>
              </a:ext>
            </a:extLst>
          </p:cNvPr>
          <p:cNvSpPr>
            <a:spLocks noGrp="1"/>
          </p:cNvSpPr>
          <p:nvPr/>
        </p:nvSpPr>
        <p:spPr>
          <a:xfrm>
            <a:off x="5330238" y="4896989"/>
            <a:ext cx="387897" cy="387897"/>
          </a:xfrm>
          <a:prstGeom prst="ellipse">
            <a:avLst/>
          </a:prstGeom>
          <a:noFill/>
          <a:ln w="22860">
            <a:solidFill>
              <a:srgbClr val="F57A12"/>
            </a:solidFill>
          </a:ln>
        </p:spPr>
        <p:txBody>
          <a:bodyPr/>
          <a:lstStyle/>
          <a:p>
            <a:endParaRPr sz="1264"/>
          </a:p>
        </p:txBody>
      </p:sp>
      <p:sp>
        <p:nvSpPr>
          <p:cNvPr id="146" name="Line 146">
            <a:extLst>
              <a:ext uri="{FF2B5EF4-FFF2-40B4-BE49-F238E27FC236}">
                <a16:creationId xmlns:a16="http://schemas.microsoft.com/office/drawing/2014/main" id="{FBBC2208-0E6B-4C82-9572-750BF5FF2CF5}"/>
              </a:ext>
            </a:extLst>
          </p:cNvPr>
          <p:cNvSpPr>
            <a:spLocks noGrp="1"/>
          </p:cNvSpPr>
          <p:nvPr/>
        </p:nvSpPr>
        <p:spPr>
          <a:xfrm>
            <a:off x="5718136" y="5090938"/>
            <a:ext cx="207324" cy="0"/>
          </a:xfrm>
          <a:prstGeom prst="line">
            <a:avLst/>
          </a:prstGeom>
          <a:noFill/>
          <a:ln w="29209">
            <a:solidFill>
              <a:srgbClr val="102B62"/>
            </a:solidFill>
          </a:ln>
        </p:spPr>
        <p:txBody>
          <a:bodyPr/>
          <a:lstStyle/>
          <a:p>
            <a:endParaRPr sz="1264"/>
          </a:p>
        </p:txBody>
      </p:sp>
      <p:sp>
        <p:nvSpPr>
          <p:cNvPr id="147" name="Ellipse 147">
            <a:extLst>
              <a:ext uri="{FF2B5EF4-FFF2-40B4-BE49-F238E27FC236}">
                <a16:creationId xmlns:a16="http://schemas.microsoft.com/office/drawing/2014/main" id="{375FE2DB-6942-44AE-ABDD-30B830FA6F94}"/>
              </a:ext>
            </a:extLst>
          </p:cNvPr>
          <p:cNvSpPr>
            <a:spLocks noGrp="1"/>
          </p:cNvSpPr>
          <p:nvPr/>
        </p:nvSpPr>
        <p:spPr>
          <a:xfrm>
            <a:off x="5938835" y="4896989"/>
            <a:ext cx="387897" cy="387897"/>
          </a:xfrm>
          <a:prstGeom prst="ellipse">
            <a:avLst/>
          </a:prstGeom>
          <a:noFill/>
          <a:ln w="22860">
            <a:solidFill>
              <a:srgbClr val="1E7A3A"/>
            </a:solidFill>
          </a:ln>
        </p:spPr>
        <p:txBody>
          <a:bodyPr/>
          <a:lstStyle/>
          <a:p>
            <a:endParaRPr sz="1264"/>
          </a:p>
        </p:txBody>
      </p:sp>
      <p:sp>
        <p:nvSpPr>
          <p:cNvPr id="148" name="Line 148">
            <a:extLst>
              <a:ext uri="{FF2B5EF4-FFF2-40B4-BE49-F238E27FC236}">
                <a16:creationId xmlns:a16="http://schemas.microsoft.com/office/drawing/2014/main" id="{6B36AC50-E83A-43AB-B7CA-61017CA7062C}"/>
              </a:ext>
            </a:extLst>
          </p:cNvPr>
          <p:cNvSpPr>
            <a:spLocks noGrp="1"/>
          </p:cNvSpPr>
          <p:nvPr/>
        </p:nvSpPr>
        <p:spPr>
          <a:xfrm>
            <a:off x="6326733" y="5090938"/>
            <a:ext cx="207324" cy="0"/>
          </a:xfrm>
          <a:prstGeom prst="line">
            <a:avLst/>
          </a:prstGeom>
          <a:noFill/>
          <a:ln w="29209">
            <a:solidFill>
              <a:srgbClr val="102B62"/>
            </a:solidFill>
          </a:ln>
        </p:spPr>
        <p:txBody>
          <a:bodyPr/>
          <a:lstStyle/>
          <a:p>
            <a:endParaRPr sz="1264"/>
          </a:p>
        </p:txBody>
      </p:sp>
      <p:sp>
        <p:nvSpPr>
          <p:cNvPr id="149" name="Ellipse 149">
            <a:extLst>
              <a:ext uri="{FF2B5EF4-FFF2-40B4-BE49-F238E27FC236}">
                <a16:creationId xmlns:a16="http://schemas.microsoft.com/office/drawing/2014/main" id="{756C7719-B917-472A-BACA-EBA6F628E33E}"/>
              </a:ext>
            </a:extLst>
          </p:cNvPr>
          <p:cNvSpPr>
            <a:spLocks noGrp="1"/>
          </p:cNvSpPr>
          <p:nvPr/>
        </p:nvSpPr>
        <p:spPr>
          <a:xfrm>
            <a:off x="6547432" y="4896989"/>
            <a:ext cx="387897" cy="387897"/>
          </a:xfrm>
          <a:prstGeom prst="ellipse">
            <a:avLst/>
          </a:prstGeom>
          <a:noFill/>
          <a:ln w="22860">
            <a:solidFill>
              <a:srgbClr val="F57A12"/>
            </a:solidFill>
          </a:ln>
        </p:spPr>
        <p:txBody>
          <a:bodyPr/>
          <a:lstStyle/>
          <a:p>
            <a:endParaRPr sz="1264"/>
          </a:p>
        </p:txBody>
      </p:sp>
      <p:sp>
        <p:nvSpPr>
          <p:cNvPr id="150" name="Line 150">
            <a:extLst>
              <a:ext uri="{FF2B5EF4-FFF2-40B4-BE49-F238E27FC236}">
                <a16:creationId xmlns:a16="http://schemas.microsoft.com/office/drawing/2014/main" id="{8A36FC78-B44B-4018-9DA1-20CF91DDC646}"/>
              </a:ext>
            </a:extLst>
          </p:cNvPr>
          <p:cNvSpPr>
            <a:spLocks noGrp="1"/>
          </p:cNvSpPr>
          <p:nvPr/>
        </p:nvSpPr>
        <p:spPr>
          <a:xfrm>
            <a:off x="6935329" y="5090938"/>
            <a:ext cx="207324" cy="0"/>
          </a:xfrm>
          <a:prstGeom prst="line">
            <a:avLst/>
          </a:prstGeom>
          <a:noFill/>
          <a:ln w="29209">
            <a:solidFill>
              <a:srgbClr val="102B62"/>
            </a:solidFill>
          </a:ln>
        </p:spPr>
        <p:txBody>
          <a:bodyPr/>
          <a:lstStyle/>
          <a:p>
            <a:endParaRPr sz="1264"/>
          </a:p>
        </p:txBody>
      </p:sp>
      <p:sp>
        <p:nvSpPr>
          <p:cNvPr id="151" name="Ellipse 151">
            <a:extLst>
              <a:ext uri="{FF2B5EF4-FFF2-40B4-BE49-F238E27FC236}">
                <a16:creationId xmlns:a16="http://schemas.microsoft.com/office/drawing/2014/main" id="{F2BD84F5-9686-4878-8BFC-1EC6F9C82EF1}"/>
              </a:ext>
            </a:extLst>
          </p:cNvPr>
          <p:cNvSpPr>
            <a:spLocks noGrp="1"/>
          </p:cNvSpPr>
          <p:nvPr/>
        </p:nvSpPr>
        <p:spPr>
          <a:xfrm>
            <a:off x="7156029" y="4896989"/>
            <a:ext cx="387897" cy="387897"/>
          </a:xfrm>
          <a:prstGeom prst="ellipse">
            <a:avLst/>
          </a:prstGeom>
          <a:noFill/>
          <a:ln w="22860">
            <a:solidFill>
              <a:srgbClr val="1559B4"/>
            </a:solidFill>
          </a:ln>
        </p:spPr>
        <p:txBody>
          <a:bodyPr/>
          <a:lstStyle/>
          <a:p>
            <a:endParaRPr sz="1264"/>
          </a:p>
        </p:txBody>
      </p:sp>
      <p:sp>
        <p:nvSpPr>
          <p:cNvPr id="152" name="Line 152">
            <a:extLst>
              <a:ext uri="{FF2B5EF4-FFF2-40B4-BE49-F238E27FC236}">
                <a16:creationId xmlns:a16="http://schemas.microsoft.com/office/drawing/2014/main" id="{1DF68E66-C001-4F36-883D-051864A9BDB6}"/>
              </a:ext>
            </a:extLst>
          </p:cNvPr>
          <p:cNvSpPr>
            <a:spLocks noGrp="1"/>
          </p:cNvSpPr>
          <p:nvPr/>
        </p:nvSpPr>
        <p:spPr>
          <a:xfrm>
            <a:off x="7744562" y="5224695"/>
            <a:ext cx="414648" cy="0"/>
          </a:xfrm>
          <a:prstGeom prst="line">
            <a:avLst/>
          </a:prstGeom>
          <a:noFill/>
          <a:ln w="50800">
            <a:solidFill>
              <a:srgbClr val="102B62"/>
            </a:solidFill>
          </a:ln>
        </p:spPr>
        <p:txBody>
          <a:bodyPr/>
          <a:lstStyle/>
          <a:p>
            <a:endParaRPr sz="1264"/>
          </a:p>
        </p:txBody>
      </p:sp>
      <p:sp>
        <p:nvSpPr>
          <p:cNvPr id="153" name="Polygon 153">
            <a:extLst>
              <a:ext uri="{FF2B5EF4-FFF2-40B4-BE49-F238E27FC236}">
                <a16:creationId xmlns:a16="http://schemas.microsoft.com/office/drawing/2014/main" id="{F3EC9FE2-312C-4B41-A28E-C8F95C4E85E1}"/>
              </a:ext>
            </a:extLst>
          </p:cNvPr>
          <p:cNvSpPr>
            <a:spLocks noGrp="1"/>
          </p:cNvSpPr>
          <p:nvPr/>
        </p:nvSpPr>
        <p:spPr>
          <a:xfrm>
            <a:off x="4299354" y="2755531"/>
            <a:ext cx="66879" cy="56178"/>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58" name="Polygon 158">
            <a:extLst>
              <a:ext uri="{FF2B5EF4-FFF2-40B4-BE49-F238E27FC236}">
                <a16:creationId xmlns:a16="http://schemas.microsoft.com/office/drawing/2014/main" id="{2DA0E8FA-BEE5-416A-929C-8D04C98CDE86}"/>
              </a:ext>
            </a:extLst>
          </p:cNvPr>
          <p:cNvSpPr>
            <a:spLocks noGrp="1"/>
          </p:cNvSpPr>
          <p:nvPr/>
        </p:nvSpPr>
        <p:spPr>
          <a:xfrm>
            <a:off x="4434063" y="5182562"/>
            <a:ext cx="100318" cy="84267"/>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59" name="Polygon 159">
            <a:extLst>
              <a:ext uri="{FF2B5EF4-FFF2-40B4-BE49-F238E27FC236}">
                <a16:creationId xmlns:a16="http://schemas.microsoft.com/office/drawing/2014/main" id="{0D600092-239A-44D1-B0D6-76B827EAA0D2}"/>
              </a:ext>
            </a:extLst>
          </p:cNvPr>
          <p:cNvSpPr>
            <a:spLocks noGrp="1"/>
          </p:cNvSpPr>
          <p:nvPr/>
        </p:nvSpPr>
        <p:spPr>
          <a:xfrm>
            <a:off x="5256672" y="5065658"/>
            <a:ext cx="60191" cy="50560"/>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60" name="Polygon 160">
            <a:extLst>
              <a:ext uri="{FF2B5EF4-FFF2-40B4-BE49-F238E27FC236}">
                <a16:creationId xmlns:a16="http://schemas.microsoft.com/office/drawing/2014/main" id="{6AD1B824-6E37-41E4-A7A6-9CD67BBBB7E9}"/>
              </a:ext>
            </a:extLst>
          </p:cNvPr>
          <p:cNvSpPr>
            <a:spLocks noGrp="1"/>
          </p:cNvSpPr>
          <p:nvPr/>
        </p:nvSpPr>
        <p:spPr>
          <a:xfrm>
            <a:off x="5865269" y="5065658"/>
            <a:ext cx="60191" cy="50560"/>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61" name="Polygon 161">
            <a:extLst>
              <a:ext uri="{FF2B5EF4-FFF2-40B4-BE49-F238E27FC236}">
                <a16:creationId xmlns:a16="http://schemas.microsoft.com/office/drawing/2014/main" id="{38BEEA93-7D85-4C82-BC02-5DD62BE0A027}"/>
              </a:ext>
            </a:extLst>
          </p:cNvPr>
          <p:cNvSpPr>
            <a:spLocks noGrp="1"/>
          </p:cNvSpPr>
          <p:nvPr/>
        </p:nvSpPr>
        <p:spPr>
          <a:xfrm>
            <a:off x="6473866" y="5065658"/>
            <a:ext cx="60191" cy="50560"/>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62" name="Polygon 162">
            <a:extLst>
              <a:ext uri="{FF2B5EF4-FFF2-40B4-BE49-F238E27FC236}">
                <a16:creationId xmlns:a16="http://schemas.microsoft.com/office/drawing/2014/main" id="{EF22076F-CF5A-4E20-9E1E-9827A8994C8C}"/>
              </a:ext>
            </a:extLst>
          </p:cNvPr>
          <p:cNvSpPr>
            <a:spLocks noGrp="1"/>
          </p:cNvSpPr>
          <p:nvPr/>
        </p:nvSpPr>
        <p:spPr>
          <a:xfrm>
            <a:off x="7082463" y="5065658"/>
            <a:ext cx="60191" cy="50560"/>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sp>
        <p:nvSpPr>
          <p:cNvPr id="163" name="Polygon 163">
            <a:extLst>
              <a:ext uri="{FF2B5EF4-FFF2-40B4-BE49-F238E27FC236}">
                <a16:creationId xmlns:a16="http://schemas.microsoft.com/office/drawing/2014/main" id="{92F42D9A-E71F-421E-8089-799BCF8AC43C}"/>
              </a:ext>
            </a:extLst>
          </p:cNvPr>
          <p:cNvSpPr>
            <a:spLocks noGrp="1"/>
          </p:cNvSpPr>
          <p:nvPr/>
        </p:nvSpPr>
        <p:spPr>
          <a:xfrm>
            <a:off x="8058893" y="5182562"/>
            <a:ext cx="100318" cy="84267"/>
          </a:xfrm>
          <a:custGeom>
            <a:avLst/>
            <a:gdLst/>
            <a:ahLst/>
            <a:cxnLst/>
            <a:rect l="l" t="t" r="r" b="b"/>
            <a:pathLst>
              <a:path w="21600" h="21600">
                <a:moveTo>
                  <a:pt x="21600" y="10800"/>
                </a:moveTo>
                <a:lnTo>
                  <a:pt x="0" y="21600"/>
                </a:lnTo>
                <a:lnTo>
                  <a:pt x="0" y="0"/>
                </a:lnTo>
                <a:close/>
              </a:path>
            </a:pathLst>
          </a:custGeom>
          <a:noFill/>
          <a:ln>
            <a:noFill/>
          </a:ln>
        </p:spPr>
        <p:txBody>
          <a:bodyPr/>
          <a:lstStyle/>
          <a:p>
            <a:endParaRPr sz="1264"/>
          </a:p>
        </p:txBody>
      </p:sp>
      <p:pic>
        <p:nvPicPr>
          <p:cNvPr id="283" name="Source-faithful passenger train icon"/>
          <p:cNvPicPr>
            <a:picLocks noChangeAspect="1"/>
          </p:cNvPicPr>
          <p:nvPr/>
        </p:nvPicPr>
        <p:blipFill>
          <a:blip r:embed="rId3"/>
          <a:stretch>
            <a:fillRect/>
          </a:stretch>
        </p:blipFill>
        <p:spPr>
          <a:xfrm>
            <a:off x="3484384" y="2502730"/>
            <a:ext cx="675476" cy="675476"/>
          </a:xfrm>
          <a:prstGeom prst="rect">
            <a:avLst/>
          </a:prstGeom>
        </p:spPr>
      </p:pic>
      <p:pic>
        <p:nvPicPr>
          <p:cNvPr id="284" name="Source-faithful passenger train icon"/>
          <p:cNvPicPr>
            <a:picLocks noChangeAspect="1"/>
          </p:cNvPicPr>
          <p:nvPr/>
        </p:nvPicPr>
        <p:blipFill>
          <a:blip r:embed="rId3"/>
          <a:stretch>
            <a:fillRect/>
          </a:stretch>
        </p:blipFill>
        <p:spPr>
          <a:xfrm>
            <a:off x="8654114" y="4789984"/>
            <a:ext cx="702227" cy="702227"/>
          </a:xfrm>
          <a:prstGeom prst="rect">
            <a:avLst/>
          </a:prstGeom>
        </p:spPr>
      </p:pic>
      <p:sp>
        <p:nvSpPr>
          <p:cNvPr id="167" name="TextBox 167">
            <a:extLst>
              <a:ext uri="{FF2B5EF4-FFF2-40B4-BE49-F238E27FC236}">
                <a16:creationId xmlns:a16="http://schemas.microsoft.com/office/drawing/2014/main" id="{ADF09648-3EBB-4DA3-86D2-3CBA556B58AC}"/>
              </a:ext>
            </a:extLst>
          </p:cNvPr>
          <p:cNvSpPr>
            <a:spLocks noGrp="1"/>
          </p:cNvSpPr>
          <p:nvPr/>
        </p:nvSpPr>
        <p:spPr>
          <a:xfrm>
            <a:off x="347769" y="255605"/>
            <a:ext cx="3343939" cy="254139"/>
          </a:xfrm>
          <a:prstGeom prst="rect">
            <a:avLst/>
          </a:prstGeom>
          <a:noFill/>
          <a:ln>
            <a:noFill/>
          </a:ln>
        </p:spPr>
        <p:txBody>
          <a:bodyPr wrap="none" lIns="0" tIns="0" rIns="0" bIns="0" anchor="ctr">
            <a:noAutofit/>
          </a:bodyPr>
          <a:lstStyle/>
          <a:p>
            <a:pPr algn="l">
              <a:buNone/>
            </a:pPr>
            <a:r>
              <a:rPr sz="1404" b="1">
                <a:latin typeface="Arial"/>
                <a:ea typeface="Arial"/>
                <a:cs typeface="Arial"/>
              </a:rPr>
              <a:t>Interpret q[i][j][k] in solver</a:t>
            </a:r>
            <a:endParaRPr sz="1404"/>
          </a:p>
        </p:txBody>
      </p:sp>
      <p:sp>
        <p:nvSpPr>
          <p:cNvPr id="168" name="TextBox 168">
            <a:extLst>
              <a:ext uri="{FF2B5EF4-FFF2-40B4-BE49-F238E27FC236}">
                <a16:creationId xmlns:a16="http://schemas.microsoft.com/office/drawing/2014/main" id="{2218A530-577D-4BCA-9948-C93CA45900D8}"/>
              </a:ext>
            </a:extLst>
          </p:cNvPr>
          <p:cNvSpPr>
            <a:spLocks noGrp="1"/>
          </p:cNvSpPr>
          <p:nvPr/>
        </p:nvSpPr>
        <p:spPr>
          <a:xfrm>
            <a:off x="254140" y="2081393"/>
            <a:ext cx="1103500" cy="214012"/>
          </a:xfrm>
          <a:prstGeom prst="rect">
            <a:avLst/>
          </a:prstGeom>
          <a:noFill/>
          <a:ln>
            <a:noFill/>
          </a:ln>
        </p:spPr>
        <p:txBody>
          <a:bodyPr wrap="none" lIns="0" tIns="0" rIns="0" bIns="0" anchor="t">
            <a:noAutofit/>
          </a:bodyPr>
          <a:lstStyle/>
          <a:p>
            <a:pPr algn="ctr">
              <a:buNone/>
            </a:pPr>
            <a:r>
              <a:rPr sz="1194" b="1">
                <a:solidFill>
                  <a:srgbClr val="102B62"/>
                </a:solidFill>
                <a:latin typeface="Arial"/>
                <a:ea typeface="Arial"/>
                <a:cs typeface="Arial"/>
              </a:rPr>
              <a:t>q[i][j][k] =</a:t>
            </a:r>
            <a:endParaRPr sz="1194"/>
          </a:p>
        </p:txBody>
      </p:sp>
      <p:sp>
        <p:nvSpPr>
          <p:cNvPr id="169" name="TextBox 169">
            <a:extLst>
              <a:ext uri="{FF2B5EF4-FFF2-40B4-BE49-F238E27FC236}">
                <a16:creationId xmlns:a16="http://schemas.microsoft.com/office/drawing/2014/main" id="{7D0250C7-BB6C-48DA-AA46-BF1FEA9E5991}"/>
              </a:ext>
            </a:extLst>
          </p:cNvPr>
          <p:cNvSpPr>
            <a:spLocks noGrp="1"/>
          </p:cNvSpPr>
          <p:nvPr/>
        </p:nvSpPr>
        <p:spPr>
          <a:xfrm>
            <a:off x="234076" y="2529481"/>
            <a:ext cx="1150315" cy="742354"/>
          </a:xfrm>
          <a:prstGeom prst="rect">
            <a:avLst/>
          </a:prstGeom>
          <a:noFill/>
          <a:ln>
            <a:noFill/>
          </a:ln>
        </p:spPr>
        <p:txBody>
          <a:bodyPr wrap="none" lIns="0" tIns="0" rIns="0" bIns="0" anchor="ctr">
            <a:noAutofit/>
          </a:bodyPr>
          <a:lstStyle/>
          <a:p>
            <a:pPr algn="ctr">
              <a:buNone/>
            </a:pPr>
            <a:r>
              <a:rPr sz="906" b="1">
                <a:solidFill>
                  <a:srgbClr val="102B62"/>
                </a:solidFill>
                <a:latin typeface="Arial"/>
                <a:ea typeface="Arial"/>
                <a:cs typeface="Arial"/>
              </a:rPr>
              <a:t>Train i selects</a:t>
            </a:r>
            <a:endParaRPr sz="906"/>
          </a:p>
          <a:p>
            <a:pPr algn="ctr">
              <a:buNone/>
            </a:pPr>
            <a:r>
              <a:rPr sz="906" b="1">
                <a:solidFill>
                  <a:srgbClr val="102B62"/>
                </a:solidFill>
                <a:latin typeface="Arial"/>
                <a:ea typeface="Arial"/>
                <a:cs typeface="Arial"/>
              </a:rPr>
              <a:t>the k-th arc</a:t>
            </a:r>
            <a:endParaRPr sz="906"/>
          </a:p>
          <a:p>
            <a:pPr algn="ctr">
              <a:buNone/>
            </a:pPr>
            <a:r>
              <a:rPr sz="906" b="1">
                <a:solidFill>
                  <a:srgbClr val="102B62"/>
                </a:solidFill>
                <a:latin typeface="Arial"/>
                <a:ea typeface="Arial"/>
                <a:cs typeface="Arial"/>
              </a:rPr>
              <a:t>at cross-section j.</a:t>
            </a:r>
            <a:endParaRPr sz="906"/>
          </a:p>
        </p:txBody>
      </p:sp>
      <p:sp>
        <p:nvSpPr>
          <p:cNvPr id="170" name="TextBox 170">
            <a:extLst>
              <a:ext uri="{FF2B5EF4-FFF2-40B4-BE49-F238E27FC236}">
                <a16:creationId xmlns:a16="http://schemas.microsoft.com/office/drawing/2014/main" id="{1B42B78B-5551-47FC-826B-6E2AFDAB6BB1}"/>
              </a:ext>
            </a:extLst>
          </p:cNvPr>
          <p:cNvSpPr>
            <a:spLocks noGrp="1"/>
          </p:cNvSpPr>
          <p:nvPr/>
        </p:nvSpPr>
        <p:spPr>
          <a:xfrm>
            <a:off x="1738848" y="1385854"/>
            <a:ext cx="1538212" cy="187261"/>
          </a:xfrm>
          <a:prstGeom prst="rect">
            <a:avLst/>
          </a:prstGeom>
          <a:noFill/>
          <a:ln>
            <a:noFill/>
          </a:ln>
        </p:spPr>
        <p:txBody>
          <a:bodyPr wrap="none" lIns="0" tIns="0" rIns="0" bIns="0" anchor="t">
            <a:noAutofit/>
          </a:bodyPr>
          <a:lstStyle/>
          <a:p>
            <a:pPr algn="ctr">
              <a:buNone/>
            </a:pPr>
            <a:r>
              <a:rPr sz="983" b="1">
                <a:solidFill>
                  <a:srgbClr val="102B62"/>
                </a:solidFill>
                <a:latin typeface="Arial"/>
                <a:ea typeface="Arial"/>
                <a:cs typeface="Arial"/>
              </a:rPr>
              <a:t>Group 91: 8 Options</a:t>
            </a:r>
            <a:endParaRPr sz="983"/>
          </a:p>
        </p:txBody>
      </p:sp>
      <p:sp>
        <p:nvSpPr>
          <p:cNvPr id="171" name="TextBox 171">
            <a:extLst>
              <a:ext uri="{FF2B5EF4-FFF2-40B4-BE49-F238E27FC236}">
                <a16:creationId xmlns:a16="http://schemas.microsoft.com/office/drawing/2014/main" id="{5CBFA7A5-E7A1-49F3-B0FE-47ADCB68131E}"/>
              </a:ext>
            </a:extLst>
          </p:cNvPr>
          <p:cNvSpPr>
            <a:spLocks noGrp="1"/>
          </p:cNvSpPr>
          <p:nvPr/>
        </p:nvSpPr>
        <p:spPr>
          <a:xfrm>
            <a:off x="1718785" y="1713560"/>
            <a:ext cx="200636" cy="147133"/>
          </a:xfrm>
          <a:prstGeom prst="rect">
            <a:avLst/>
          </a:prstGeom>
          <a:noFill/>
          <a:ln>
            <a:noFill/>
          </a:ln>
        </p:spPr>
        <p:txBody>
          <a:bodyPr wrap="none" lIns="0" tIns="0" rIns="0" bIns="0" anchor="ctr">
            <a:noAutofit/>
          </a:bodyPr>
          <a:lstStyle/>
          <a:p>
            <a:pPr algn="ctr">
              <a:buNone/>
            </a:pPr>
            <a:r>
              <a:rPr sz="772" b="1">
                <a:solidFill>
                  <a:srgbClr val="1559B4"/>
                </a:solidFill>
                <a:latin typeface="Arial"/>
                <a:ea typeface="Arial"/>
                <a:cs typeface="Arial"/>
              </a:rPr>
              <a:t>1</a:t>
            </a:r>
            <a:endParaRPr sz="772"/>
          </a:p>
        </p:txBody>
      </p:sp>
      <p:sp>
        <p:nvSpPr>
          <p:cNvPr id="172" name="TextBox 172">
            <a:extLst>
              <a:ext uri="{FF2B5EF4-FFF2-40B4-BE49-F238E27FC236}">
                <a16:creationId xmlns:a16="http://schemas.microsoft.com/office/drawing/2014/main" id="{764ED542-F69C-46C9-BF09-864653B06B53}"/>
              </a:ext>
            </a:extLst>
          </p:cNvPr>
          <p:cNvSpPr>
            <a:spLocks noGrp="1"/>
          </p:cNvSpPr>
          <p:nvPr/>
        </p:nvSpPr>
        <p:spPr>
          <a:xfrm>
            <a:off x="2033115" y="1700184"/>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Main Track 2</a:t>
            </a:r>
            <a:endParaRPr sz="843"/>
          </a:p>
        </p:txBody>
      </p:sp>
      <p:sp>
        <p:nvSpPr>
          <p:cNvPr id="173" name="TextBox 173">
            <a:extLst>
              <a:ext uri="{FF2B5EF4-FFF2-40B4-BE49-F238E27FC236}">
                <a16:creationId xmlns:a16="http://schemas.microsoft.com/office/drawing/2014/main" id="{5A58E689-7821-4DB0-85B1-7C29340B2AD9}"/>
              </a:ext>
            </a:extLst>
          </p:cNvPr>
          <p:cNvSpPr>
            <a:spLocks noGrp="1"/>
          </p:cNvSpPr>
          <p:nvPr/>
        </p:nvSpPr>
        <p:spPr>
          <a:xfrm>
            <a:off x="1718785" y="2027890"/>
            <a:ext cx="200636" cy="147133"/>
          </a:xfrm>
          <a:prstGeom prst="rect">
            <a:avLst/>
          </a:prstGeom>
          <a:noFill/>
          <a:ln>
            <a:noFill/>
          </a:ln>
        </p:spPr>
        <p:txBody>
          <a:bodyPr wrap="none" lIns="0" tIns="0" rIns="0" bIns="0" anchor="ctr">
            <a:noAutofit/>
          </a:bodyPr>
          <a:lstStyle/>
          <a:p>
            <a:pPr algn="ctr">
              <a:buNone/>
            </a:pPr>
            <a:r>
              <a:rPr sz="772" b="1">
                <a:solidFill>
                  <a:srgbClr val="1559B4"/>
                </a:solidFill>
                <a:latin typeface="Arial"/>
                <a:ea typeface="Arial"/>
                <a:cs typeface="Arial"/>
              </a:rPr>
              <a:t>2</a:t>
            </a:r>
            <a:endParaRPr sz="772"/>
          </a:p>
        </p:txBody>
      </p:sp>
      <p:sp>
        <p:nvSpPr>
          <p:cNvPr id="174" name="TextBox 174">
            <a:extLst>
              <a:ext uri="{FF2B5EF4-FFF2-40B4-BE49-F238E27FC236}">
                <a16:creationId xmlns:a16="http://schemas.microsoft.com/office/drawing/2014/main" id="{0FD2F793-4BB2-40C2-9D3C-E29C9BA88A67}"/>
              </a:ext>
            </a:extLst>
          </p:cNvPr>
          <p:cNvSpPr>
            <a:spLocks noGrp="1"/>
          </p:cNvSpPr>
          <p:nvPr/>
        </p:nvSpPr>
        <p:spPr>
          <a:xfrm>
            <a:off x="2033115" y="2014514"/>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Main Track 3</a:t>
            </a:r>
            <a:endParaRPr sz="843"/>
          </a:p>
        </p:txBody>
      </p:sp>
      <p:sp>
        <p:nvSpPr>
          <p:cNvPr id="175" name="TextBox 175">
            <a:extLst>
              <a:ext uri="{FF2B5EF4-FFF2-40B4-BE49-F238E27FC236}">
                <a16:creationId xmlns:a16="http://schemas.microsoft.com/office/drawing/2014/main" id="{D23D6D15-3F03-4A86-9EE9-5276BD905742}"/>
              </a:ext>
            </a:extLst>
          </p:cNvPr>
          <p:cNvSpPr>
            <a:spLocks noGrp="1"/>
          </p:cNvSpPr>
          <p:nvPr/>
        </p:nvSpPr>
        <p:spPr>
          <a:xfrm>
            <a:off x="1718785" y="2342220"/>
            <a:ext cx="200636" cy="147133"/>
          </a:xfrm>
          <a:prstGeom prst="rect">
            <a:avLst/>
          </a:prstGeom>
          <a:noFill/>
          <a:ln>
            <a:noFill/>
          </a:ln>
        </p:spPr>
        <p:txBody>
          <a:bodyPr wrap="none" lIns="0" tIns="0" rIns="0" bIns="0" anchor="ctr">
            <a:noAutofit/>
          </a:bodyPr>
          <a:lstStyle/>
          <a:p>
            <a:pPr algn="ctr">
              <a:buNone/>
            </a:pPr>
            <a:r>
              <a:rPr sz="772" b="1">
                <a:solidFill>
                  <a:srgbClr val="1559B4"/>
                </a:solidFill>
                <a:latin typeface="Arial"/>
                <a:ea typeface="Arial"/>
                <a:cs typeface="Arial"/>
              </a:rPr>
              <a:t>3</a:t>
            </a:r>
            <a:endParaRPr sz="772"/>
          </a:p>
        </p:txBody>
      </p:sp>
      <p:sp>
        <p:nvSpPr>
          <p:cNvPr id="176" name="TextBox 176">
            <a:extLst>
              <a:ext uri="{FF2B5EF4-FFF2-40B4-BE49-F238E27FC236}">
                <a16:creationId xmlns:a16="http://schemas.microsoft.com/office/drawing/2014/main" id="{596F62BF-5842-4734-9405-0748CE92F46E}"/>
              </a:ext>
            </a:extLst>
          </p:cNvPr>
          <p:cNvSpPr>
            <a:spLocks noGrp="1"/>
          </p:cNvSpPr>
          <p:nvPr/>
        </p:nvSpPr>
        <p:spPr>
          <a:xfrm>
            <a:off x="2033115" y="2328845"/>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Main Track 1</a:t>
            </a:r>
            <a:endParaRPr sz="843"/>
          </a:p>
        </p:txBody>
      </p:sp>
      <p:sp>
        <p:nvSpPr>
          <p:cNvPr id="177" name="TextBox 177">
            <a:extLst>
              <a:ext uri="{FF2B5EF4-FFF2-40B4-BE49-F238E27FC236}">
                <a16:creationId xmlns:a16="http://schemas.microsoft.com/office/drawing/2014/main" id="{B6D472C1-0C8D-4CA4-AD33-5ACF3FED6AB2}"/>
              </a:ext>
            </a:extLst>
          </p:cNvPr>
          <p:cNvSpPr>
            <a:spLocks noGrp="1"/>
          </p:cNvSpPr>
          <p:nvPr/>
        </p:nvSpPr>
        <p:spPr>
          <a:xfrm>
            <a:off x="1718785" y="2656551"/>
            <a:ext cx="200636" cy="147133"/>
          </a:xfrm>
          <a:prstGeom prst="rect">
            <a:avLst/>
          </a:prstGeom>
          <a:noFill/>
          <a:ln>
            <a:noFill/>
          </a:ln>
        </p:spPr>
        <p:txBody>
          <a:bodyPr wrap="none" lIns="0" tIns="0" rIns="0" bIns="0" anchor="ctr">
            <a:noAutofit/>
          </a:bodyPr>
          <a:lstStyle/>
          <a:p>
            <a:pPr algn="ctr">
              <a:buNone/>
            </a:pPr>
            <a:r>
              <a:rPr sz="772" b="1">
                <a:solidFill>
                  <a:srgbClr val="1559B4"/>
                </a:solidFill>
                <a:latin typeface="Arial"/>
                <a:ea typeface="Arial"/>
                <a:cs typeface="Arial"/>
              </a:rPr>
              <a:t>4</a:t>
            </a:r>
            <a:endParaRPr sz="772"/>
          </a:p>
        </p:txBody>
      </p:sp>
      <p:sp>
        <p:nvSpPr>
          <p:cNvPr id="178" name="TextBox 178">
            <a:extLst>
              <a:ext uri="{FF2B5EF4-FFF2-40B4-BE49-F238E27FC236}">
                <a16:creationId xmlns:a16="http://schemas.microsoft.com/office/drawing/2014/main" id="{3E016583-AE7B-4B4A-965C-CAD18BAEF3EF}"/>
              </a:ext>
            </a:extLst>
          </p:cNvPr>
          <p:cNvSpPr>
            <a:spLocks noGrp="1"/>
          </p:cNvSpPr>
          <p:nvPr/>
        </p:nvSpPr>
        <p:spPr>
          <a:xfrm>
            <a:off x="2033115" y="2643175"/>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Main Track 0</a:t>
            </a:r>
            <a:endParaRPr sz="843"/>
          </a:p>
        </p:txBody>
      </p:sp>
      <p:sp>
        <p:nvSpPr>
          <p:cNvPr id="179" name="TextBox 179">
            <a:extLst>
              <a:ext uri="{FF2B5EF4-FFF2-40B4-BE49-F238E27FC236}">
                <a16:creationId xmlns:a16="http://schemas.microsoft.com/office/drawing/2014/main" id="{F0DE8AA3-E808-47DD-9AB8-651D0045F523}"/>
              </a:ext>
            </a:extLst>
          </p:cNvPr>
          <p:cNvSpPr>
            <a:spLocks noGrp="1"/>
          </p:cNvSpPr>
          <p:nvPr/>
        </p:nvSpPr>
        <p:spPr>
          <a:xfrm>
            <a:off x="1718785" y="2970881"/>
            <a:ext cx="200636" cy="147133"/>
          </a:xfrm>
          <a:prstGeom prst="rect">
            <a:avLst/>
          </a:prstGeom>
          <a:noFill/>
          <a:ln>
            <a:noFill/>
          </a:ln>
        </p:spPr>
        <p:txBody>
          <a:bodyPr wrap="none" lIns="0" tIns="0" rIns="0" bIns="0" anchor="ctr">
            <a:noAutofit/>
          </a:bodyPr>
          <a:lstStyle/>
          <a:p>
            <a:pPr algn="ctr">
              <a:buNone/>
            </a:pPr>
            <a:r>
              <a:rPr sz="772" b="1">
                <a:solidFill>
                  <a:srgbClr val="1E7A3A"/>
                </a:solidFill>
                <a:latin typeface="Arial"/>
                <a:ea typeface="Arial"/>
                <a:cs typeface="Arial"/>
              </a:rPr>
              <a:t>5</a:t>
            </a:r>
            <a:endParaRPr sz="772"/>
          </a:p>
        </p:txBody>
      </p:sp>
      <p:sp>
        <p:nvSpPr>
          <p:cNvPr id="180" name="TextBox 180">
            <a:extLst>
              <a:ext uri="{FF2B5EF4-FFF2-40B4-BE49-F238E27FC236}">
                <a16:creationId xmlns:a16="http://schemas.microsoft.com/office/drawing/2014/main" id="{094DA878-FB57-42BE-B9D5-B51164E4EB67}"/>
              </a:ext>
            </a:extLst>
          </p:cNvPr>
          <p:cNvSpPr>
            <a:spLocks noGrp="1"/>
          </p:cNvSpPr>
          <p:nvPr/>
        </p:nvSpPr>
        <p:spPr>
          <a:xfrm>
            <a:off x="2033115" y="2957505"/>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Siding S ①</a:t>
            </a:r>
            <a:endParaRPr sz="843"/>
          </a:p>
        </p:txBody>
      </p:sp>
      <p:sp>
        <p:nvSpPr>
          <p:cNvPr id="181" name="TextBox 181">
            <a:extLst>
              <a:ext uri="{FF2B5EF4-FFF2-40B4-BE49-F238E27FC236}">
                <a16:creationId xmlns:a16="http://schemas.microsoft.com/office/drawing/2014/main" id="{3E603F7E-E358-42C4-B984-5FE61867186F}"/>
              </a:ext>
            </a:extLst>
          </p:cNvPr>
          <p:cNvSpPr>
            <a:spLocks noGrp="1"/>
          </p:cNvSpPr>
          <p:nvPr/>
        </p:nvSpPr>
        <p:spPr>
          <a:xfrm>
            <a:off x="1718785" y="3285211"/>
            <a:ext cx="200636" cy="147133"/>
          </a:xfrm>
          <a:prstGeom prst="rect">
            <a:avLst/>
          </a:prstGeom>
          <a:noFill/>
          <a:ln>
            <a:noFill/>
          </a:ln>
        </p:spPr>
        <p:txBody>
          <a:bodyPr wrap="none" lIns="0" tIns="0" rIns="0" bIns="0" anchor="ctr">
            <a:noAutofit/>
          </a:bodyPr>
          <a:lstStyle/>
          <a:p>
            <a:pPr algn="ctr">
              <a:buNone/>
            </a:pPr>
            <a:r>
              <a:rPr sz="772" b="1">
                <a:solidFill>
                  <a:srgbClr val="1E7A3A"/>
                </a:solidFill>
                <a:latin typeface="Arial"/>
                <a:ea typeface="Arial"/>
                <a:cs typeface="Arial"/>
              </a:rPr>
              <a:t>6</a:t>
            </a:r>
            <a:endParaRPr sz="772"/>
          </a:p>
        </p:txBody>
      </p:sp>
      <p:sp>
        <p:nvSpPr>
          <p:cNvPr id="182" name="TextBox 182">
            <a:extLst>
              <a:ext uri="{FF2B5EF4-FFF2-40B4-BE49-F238E27FC236}">
                <a16:creationId xmlns:a16="http://schemas.microsoft.com/office/drawing/2014/main" id="{01E60F14-B16F-4C38-84B2-6AF7EEAADD22}"/>
              </a:ext>
            </a:extLst>
          </p:cNvPr>
          <p:cNvSpPr>
            <a:spLocks noGrp="1"/>
          </p:cNvSpPr>
          <p:nvPr/>
        </p:nvSpPr>
        <p:spPr>
          <a:xfrm>
            <a:off x="2033115" y="3271835"/>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Siding S ②</a:t>
            </a:r>
            <a:endParaRPr sz="843"/>
          </a:p>
        </p:txBody>
      </p:sp>
      <p:sp>
        <p:nvSpPr>
          <p:cNvPr id="183" name="TextBox 183">
            <a:extLst>
              <a:ext uri="{FF2B5EF4-FFF2-40B4-BE49-F238E27FC236}">
                <a16:creationId xmlns:a16="http://schemas.microsoft.com/office/drawing/2014/main" id="{8EBFF049-1BD5-4A9F-9824-A2C6C5928269}"/>
              </a:ext>
            </a:extLst>
          </p:cNvPr>
          <p:cNvSpPr>
            <a:spLocks noGrp="1"/>
          </p:cNvSpPr>
          <p:nvPr/>
        </p:nvSpPr>
        <p:spPr>
          <a:xfrm>
            <a:off x="1718785" y="3599541"/>
            <a:ext cx="200636" cy="147133"/>
          </a:xfrm>
          <a:prstGeom prst="rect">
            <a:avLst/>
          </a:prstGeom>
          <a:noFill/>
          <a:ln>
            <a:noFill/>
          </a:ln>
        </p:spPr>
        <p:txBody>
          <a:bodyPr wrap="none" lIns="0" tIns="0" rIns="0" bIns="0" anchor="ctr">
            <a:noAutofit/>
          </a:bodyPr>
          <a:lstStyle/>
          <a:p>
            <a:pPr algn="ctr">
              <a:buNone/>
            </a:pPr>
            <a:r>
              <a:rPr sz="772" b="1">
                <a:solidFill>
                  <a:srgbClr val="1E7A3A"/>
                </a:solidFill>
                <a:latin typeface="Arial"/>
                <a:ea typeface="Arial"/>
                <a:cs typeface="Arial"/>
              </a:rPr>
              <a:t>7</a:t>
            </a:r>
            <a:endParaRPr sz="772"/>
          </a:p>
        </p:txBody>
      </p:sp>
      <p:sp>
        <p:nvSpPr>
          <p:cNvPr id="184" name="TextBox 184">
            <a:extLst>
              <a:ext uri="{FF2B5EF4-FFF2-40B4-BE49-F238E27FC236}">
                <a16:creationId xmlns:a16="http://schemas.microsoft.com/office/drawing/2014/main" id="{5861AB32-3576-4990-A550-1C0B26F63015}"/>
              </a:ext>
            </a:extLst>
          </p:cNvPr>
          <p:cNvSpPr>
            <a:spLocks noGrp="1"/>
          </p:cNvSpPr>
          <p:nvPr/>
        </p:nvSpPr>
        <p:spPr>
          <a:xfrm>
            <a:off x="2033115" y="3586165"/>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Siding S ③</a:t>
            </a:r>
            <a:endParaRPr sz="843"/>
          </a:p>
        </p:txBody>
      </p:sp>
      <p:sp>
        <p:nvSpPr>
          <p:cNvPr id="185" name="TextBox 185">
            <a:extLst>
              <a:ext uri="{FF2B5EF4-FFF2-40B4-BE49-F238E27FC236}">
                <a16:creationId xmlns:a16="http://schemas.microsoft.com/office/drawing/2014/main" id="{F97A1E63-189D-4DE6-B5BD-87E8D5A2C887}"/>
              </a:ext>
            </a:extLst>
          </p:cNvPr>
          <p:cNvSpPr>
            <a:spLocks noGrp="1"/>
          </p:cNvSpPr>
          <p:nvPr/>
        </p:nvSpPr>
        <p:spPr>
          <a:xfrm>
            <a:off x="1718785" y="3913872"/>
            <a:ext cx="200636" cy="147133"/>
          </a:xfrm>
          <a:prstGeom prst="rect">
            <a:avLst/>
          </a:prstGeom>
          <a:noFill/>
          <a:ln>
            <a:noFill/>
          </a:ln>
        </p:spPr>
        <p:txBody>
          <a:bodyPr wrap="none" lIns="0" tIns="0" rIns="0" bIns="0" anchor="ctr">
            <a:noAutofit/>
          </a:bodyPr>
          <a:lstStyle/>
          <a:p>
            <a:pPr algn="ctr">
              <a:buNone/>
            </a:pPr>
            <a:r>
              <a:rPr sz="772" b="1">
                <a:solidFill>
                  <a:srgbClr val="7B259E"/>
                </a:solidFill>
                <a:latin typeface="Arial"/>
                <a:ea typeface="Arial"/>
                <a:cs typeface="Arial"/>
              </a:rPr>
              <a:t>8</a:t>
            </a:r>
            <a:endParaRPr sz="772"/>
          </a:p>
        </p:txBody>
      </p:sp>
      <p:sp>
        <p:nvSpPr>
          <p:cNvPr id="186" name="TextBox 186">
            <a:extLst>
              <a:ext uri="{FF2B5EF4-FFF2-40B4-BE49-F238E27FC236}">
                <a16:creationId xmlns:a16="http://schemas.microsoft.com/office/drawing/2014/main" id="{A088E221-876B-4465-8FDC-FA382DCE3E4A}"/>
              </a:ext>
            </a:extLst>
          </p:cNvPr>
          <p:cNvSpPr>
            <a:spLocks noGrp="1"/>
          </p:cNvSpPr>
          <p:nvPr/>
        </p:nvSpPr>
        <p:spPr>
          <a:xfrm>
            <a:off x="2033115" y="3920559"/>
            <a:ext cx="869424" cy="160509"/>
          </a:xfrm>
          <a:prstGeom prst="rect">
            <a:avLst/>
          </a:prstGeom>
          <a:noFill/>
          <a:ln>
            <a:noFill/>
          </a:ln>
        </p:spPr>
        <p:txBody>
          <a:bodyPr wrap="none" lIns="0" tIns="0" rIns="0" bIns="0" anchor="ctr">
            <a:noAutofit/>
          </a:bodyPr>
          <a:lstStyle/>
          <a:p>
            <a:pPr algn="l">
              <a:buNone/>
            </a:pPr>
            <a:r>
              <a:rPr sz="843" b="1">
                <a:solidFill>
                  <a:srgbClr val="102B62"/>
                </a:solidFill>
                <a:latin typeface="Arial"/>
                <a:ea typeface="Arial"/>
                <a:cs typeface="Arial"/>
              </a:rPr>
              <a:t>Crossover C</a:t>
            </a:r>
            <a:endParaRPr sz="843"/>
          </a:p>
        </p:txBody>
      </p:sp>
      <p:sp>
        <p:nvSpPr>
          <p:cNvPr id="187" name="TextBox 187">
            <a:extLst>
              <a:ext uri="{FF2B5EF4-FFF2-40B4-BE49-F238E27FC236}">
                <a16:creationId xmlns:a16="http://schemas.microsoft.com/office/drawing/2014/main" id="{1BD7A6F4-D69C-426F-8B50-4A29B618AECB}"/>
              </a:ext>
            </a:extLst>
          </p:cNvPr>
          <p:cNvSpPr>
            <a:spLocks noGrp="1"/>
          </p:cNvSpPr>
          <p:nvPr/>
        </p:nvSpPr>
        <p:spPr>
          <a:xfrm>
            <a:off x="3497760" y="2188399"/>
            <a:ext cx="695539" cy="187261"/>
          </a:xfrm>
          <a:prstGeom prst="rect">
            <a:avLst/>
          </a:prstGeom>
          <a:noFill/>
          <a:ln>
            <a:noFill/>
          </a:ln>
        </p:spPr>
        <p:txBody>
          <a:bodyPr wrap="none" lIns="0" tIns="0" rIns="0" bIns="0" anchor="t">
            <a:noAutofit/>
          </a:bodyPr>
          <a:lstStyle/>
          <a:p>
            <a:pPr algn="ctr">
              <a:buNone/>
            </a:pPr>
            <a:r>
              <a:rPr sz="983" b="1">
                <a:solidFill>
                  <a:srgbClr val="102B62"/>
                </a:solidFill>
                <a:latin typeface="Arial"/>
                <a:ea typeface="Arial"/>
                <a:cs typeface="Arial"/>
              </a:rPr>
              <a:t>Train i</a:t>
            </a:r>
            <a:endParaRPr sz="983"/>
          </a:p>
        </p:txBody>
      </p:sp>
      <p:sp>
        <p:nvSpPr>
          <p:cNvPr id="204" name="TextBox 204">
            <a:extLst>
              <a:ext uri="{FF2B5EF4-FFF2-40B4-BE49-F238E27FC236}">
                <a16:creationId xmlns:a16="http://schemas.microsoft.com/office/drawing/2014/main" id="{490869D4-F4EC-4C44-AAD4-D84CA0B98363}"/>
              </a:ext>
            </a:extLst>
          </p:cNvPr>
          <p:cNvSpPr>
            <a:spLocks noGrp="1"/>
          </p:cNvSpPr>
          <p:nvPr/>
        </p:nvSpPr>
        <p:spPr>
          <a:xfrm>
            <a:off x="10954743" y="1907508"/>
            <a:ext cx="936303" cy="180573"/>
          </a:xfrm>
          <a:prstGeom prst="rect">
            <a:avLst/>
          </a:prstGeom>
          <a:noFill/>
          <a:ln>
            <a:noFill/>
          </a:ln>
        </p:spPr>
        <p:txBody>
          <a:bodyPr wrap="none" lIns="0" tIns="0" rIns="0" bIns="0" anchor="t">
            <a:noAutofit/>
          </a:bodyPr>
          <a:lstStyle/>
          <a:p>
            <a:pPr algn="ctr">
              <a:buNone/>
            </a:pPr>
            <a:r>
              <a:rPr sz="983" b="1">
                <a:solidFill>
                  <a:srgbClr val="102B62"/>
                </a:solidFill>
                <a:latin typeface="Arial"/>
                <a:ea typeface="Arial"/>
                <a:cs typeface="Arial"/>
              </a:rPr>
              <a:t>Legend</a:t>
            </a:r>
            <a:endParaRPr sz="983"/>
          </a:p>
        </p:txBody>
      </p:sp>
      <p:sp>
        <p:nvSpPr>
          <p:cNvPr id="205" name="TextBox 205">
            <a:extLst>
              <a:ext uri="{FF2B5EF4-FFF2-40B4-BE49-F238E27FC236}">
                <a16:creationId xmlns:a16="http://schemas.microsoft.com/office/drawing/2014/main" id="{F7F8F7A9-18FA-451D-9612-434ACF2B814C}"/>
              </a:ext>
            </a:extLst>
          </p:cNvPr>
          <p:cNvSpPr>
            <a:spLocks noGrp="1"/>
          </p:cNvSpPr>
          <p:nvPr/>
        </p:nvSpPr>
        <p:spPr>
          <a:xfrm>
            <a:off x="11329264" y="2161648"/>
            <a:ext cx="601909" cy="280891"/>
          </a:xfrm>
          <a:prstGeom prst="rect">
            <a:avLst/>
          </a:prstGeom>
          <a:noFill/>
          <a:ln>
            <a:noFill/>
          </a:ln>
        </p:spPr>
        <p:txBody>
          <a:bodyPr wrap="none" lIns="0" tIns="0" rIns="0" bIns="0" anchor="ctr">
            <a:noAutofit/>
          </a:bodyPr>
          <a:lstStyle/>
          <a:p>
            <a:pPr algn="l">
              <a:buNone/>
            </a:pPr>
            <a:r>
              <a:rPr sz="772" b="1">
                <a:solidFill>
                  <a:srgbClr val="102B62"/>
                </a:solidFill>
                <a:latin typeface="Arial"/>
                <a:ea typeface="Arial"/>
                <a:cs typeface="Arial"/>
              </a:rPr>
              <a:t>Blue =</a:t>
            </a:r>
            <a:endParaRPr sz="772"/>
          </a:p>
          <a:p>
            <a:pPr algn="l">
              <a:buNone/>
            </a:pPr>
            <a:r>
              <a:rPr sz="772" b="1">
                <a:solidFill>
                  <a:srgbClr val="102B62"/>
                </a:solidFill>
                <a:latin typeface="Arial"/>
                <a:ea typeface="Arial"/>
                <a:cs typeface="Arial"/>
              </a:rPr>
              <a:t>Main Track</a:t>
            </a:r>
            <a:endParaRPr sz="772"/>
          </a:p>
        </p:txBody>
      </p:sp>
      <p:sp>
        <p:nvSpPr>
          <p:cNvPr id="206" name="TextBox 206">
            <a:extLst>
              <a:ext uri="{FF2B5EF4-FFF2-40B4-BE49-F238E27FC236}">
                <a16:creationId xmlns:a16="http://schemas.microsoft.com/office/drawing/2014/main" id="{64CA2157-4D0B-4715-9D36-71FDBB387A8E}"/>
              </a:ext>
            </a:extLst>
          </p:cNvPr>
          <p:cNvSpPr>
            <a:spLocks noGrp="1"/>
          </p:cNvSpPr>
          <p:nvPr/>
        </p:nvSpPr>
        <p:spPr>
          <a:xfrm>
            <a:off x="11329264" y="2656550"/>
            <a:ext cx="601909" cy="280891"/>
          </a:xfrm>
          <a:prstGeom prst="rect">
            <a:avLst/>
          </a:prstGeom>
          <a:noFill/>
          <a:ln>
            <a:noFill/>
          </a:ln>
        </p:spPr>
        <p:txBody>
          <a:bodyPr wrap="none" lIns="0" tIns="0" rIns="0" bIns="0" anchor="ctr">
            <a:noAutofit/>
          </a:bodyPr>
          <a:lstStyle/>
          <a:p>
            <a:pPr algn="l">
              <a:buNone/>
            </a:pPr>
            <a:r>
              <a:rPr sz="772" b="1">
                <a:solidFill>
                  <a:srgbClr val="102B62"/>
                </a:solidFill>
                <a:latin typeface="Arial"/>
                <a:ea typeface="Arial"/>
                <a:cs typeface="Arial"/>
              </a:rPr>
              <a:t>Green =</a:t>
            </a:r>
            <a:endParaRPr sz="772"/>
          </a:p>
          <a:p>
            <a:pPr algn="l">
              <a:buNone/>
            </a:pPr>
            <a:r>
              <a:rPr sz="772" b="1">
                <a:solidFill>
                  <a:srgbClr val="102B62"/>
                </a:solidFill>
                <a:latin typeface="Arial"/>
                <a:ea typeface="Arial"/>
                <a:cs typeface="Arial"/>
              </a:rPr>
              <a:t>Siding</a:t>
            </a:r>
            <a:endParaRPr sz="772"/>
          </a:p>
        </p:txBody>
      </p:sp>
      <p:sp>
        <p:nvSpPr>
          <p:cNvPr id="207" name="TextBox 207">
            <a:extLst>
              <a:ext uri="{FF2B5EF4-FFF2-40B4-BE49-F238E27FC236}">
                <a16:creationId xmlns:a16="http://schemas.microsoft.com/office/drawing/2014/main" id="{A74930CA-0654-43AA-A416-7B45CCA05AAA}"/>
              </a:ext>
            </a:extLst>
          </p:cNvPr>
          <p:cNvSpPr>
            <a:spLocks noGrp="1"/>
          </p:cNvSpPr>
          <p:nvPr/>
        </p:nvSpPr>
        <p:spPr>
          <a:xfrm>
            <a:off x="11329264" y="3151453"/>
            <a:ext cx="601909" cy="280891"/>
          </a:xfrm>
          <a:prstGeom prst="rect">
            <a:avLst/>
          </a:prstGeom>
          <a:noFill/>
          <a:ln>
            <a:noFill/>
          </a:ln>
        </p:spPr>
        <p:txBody>
          <a:bodyPr wrap="none" lIns="0" tIns="0" rIns="0" bIns="0" anchor="ctr">
            <a:noAutofit/>
          </a:bodyPr>
          <a:lstStyle/>
          <a:p>
            <a:pPr algn="l">
              <a:buNone/>
            </a:pPr>
            <a:r>
              <a:rPr sz="772" b="1">
                <a:solidFill>
                  <a:srgbClr val="102B62"/>
                </a:solidFill>
                <a:latin typeface="Arial"/>
                <a:ea typeface="Arial"/>
                <a:cs typeface="Arial"/>
              </a:rPr>
              <a:t>Orange =</a:t>
            </a:r>
            <a:endParaRPr sz="772"/>
          </a:p>
          <a:p>
            <a:pPr algn="l">
              <a:buNone/>
            </a:pPr>
            <a:r>
              <a:rPr sz="772" b="1">
                <a:solidFill>
                  <a:srgbClr val="102B62"/>
                </a:solidFill>
                <a:latin typeface="Arial"/>
                <a:ea typeface="Arial"/>
                <a:cs typeface="Arial"/>
              </a:rPr>
              <a:t>Switch</a:t>
            </a:r>
            <a:endParaRPr sz="772"/>
          </a:p>
        </p:txBody>
      </p:sp>
      <p:sp>
        <p:nvSpPr>
          <p:cNvPr id="208" name="TextBox 208">
            <a:extLst>
              <a:ext uri="{FF2B5EF4-FFF2-40B4-BE49-F238E27FC236}">
                <a16:creationId xmlns:a16="http://schemas.microsoft.com/office/drawing/2014/main" id="{EA702A06-A8B5-4782-86D5-97531A80D5E3}"/>
              </a:ext>
            </a:extLst>
          </p:cNvPr>
          <p:cNvSpPr>
            <a:spLocks noGrp="1"/>
          </p:cNvSpPr>
          <p:nvPr/>
        </p:nvSpPr>
        <p:spPr>
          <a:xfrm>
            <a:off x="11329264" y="3646356"/>
            <a:ext cx="601909" cy="280891"/>
          </a:xfrm>
          <a:prstGeom prst="rect">
            <a:avLst/>
          </a:prstGeom>
          <a:noFill/>
          <a:ln>
            <a:noFill/>
          </a:ln>
        </p:spPr>
        <p:txBody>
          <a:bodyPr wrap="none" lIns="0" tIns="0" rIns="0" bIns="0" anchor="ctr">
            <a:noAutofit/>
          </a:bodyPr>
          <a:lstStyle/>
          <a:p>
            <a:pPr algn="l">
              <a:buNone/>
            </a:pPr>
            <a:r>
              <a:rPr sz="772" b="1">
                <a:solidFill>
                  <a:srgbClr val="102B62"/>
                </a:solidFill>
                <a:latin typeface="Arial"/>
                <a:ea typeface="Arial"/>
                <a:cs typeface="Arial"/>
              </a:rPr>
              <a:t>Purple =</a:t>
            </a:r>
            <a:endParaRPr sz="772"/>
          </a:p>
          <a:p>
            <a:pPr algn="l">
              <a:buNone/>
            </a:pPr>
            <a:r>
              <a:rPr sz="772" b="1">
                <a:solidFill>
                  <a:srgbClr val="102B62"/>
                </a:solidFill>
                <a:latin typeface="Arial"/>
                <a:ea typeface="Arial"/>
                <a:cs typeface="Arial"/>
              </a:rPr>
              <a:t>Crossover</a:t>
            </a:r>
            <a:endParaRPr sz="772"/>
          </a:p>
        </p:txBody>
      </p:sp>
      <p:sp>
        <p:nvSpPr>
          <p:cNvPr id="209" name="TextBox 209">
            <a:extLst>
              <a:ext uri="{FF2B5EF4-FFF2-40B4-BE49-F238E27FC236}">
                <a16:creationId xmlns:a16="http://schemas.microsoft.com/office/drawing/2014/main" id="{70A1E78F-526B-4847-BB91-10963ADD6D20}"/>
              </a:ext>
            </a:extLst>
          </p:cNvPr>
          <p:cNvSpPr>
            <a:spLocks noGrp="1"/>
          </p:cNvSpPr>
          <p:nvPr/>
        </p:nvSpPr>
        <p:spPr>
          <a:xfrm>
            <a:off x="2942667" y="4923741"/>
            <a:ext cx="902863" cy="615285"/>
          </a:xfrm>
          <a:prstGeom prst="rect">
            <a:avLst/>
          </a:prstGeom>
          <a:noFill/>
          <a:ln>
            <a:noFill/>
          </a:ln>
        </p:spPr>
        <p:txBody>
          <a:bodyPr wrap="none" lIns="0" tIns="0" rIns="0" bIns="0" anchor="ctr">
            <a:noAutofit/>
          </a:bodyPr>
          <a:lstStyle/>
          <a:p>
            <a:pPr algn="ctr">
              <a:buNone/>
            </a:pPr>
            <a:r>
              <a:rPr sz="983" b="1">
                <a:solidFill>
                  <a:srgbClr val="102B62"/>
                </a:solidFill>
                <a:latin typeface="Arial"/>
                <a:ea typeface="Arial"/>
                <a:cs typeface="Arial"/>
              </a:rPr>
              <a:t>Select 1 arc</a:t>
            </a:r>
            <a:endParaRPr sz="983"/>
          </a:p>
          <a:p>
            <a:pPr algn="ctr">
              <a:buNone/>
            </a:pPr>
            <a:r>
              <a:rPr sz="983" b="1">
                <a:solidFill>
                  <a:srgbClr val="102B62"/>
                </a:solidFill>
                <a:latin typeface="Arial"/>
                <a:ea typeface="Arial"/>
                <a:cs typeface="Arial"/>
              </a:rPr>
              <a:t>at each</a:t>
            </a:r>
            <a:endParaRPr sz="983"/>
          </a:p>
          <a:p>
            <a:pPr algn="ctr">
              <a:buNone/>
            </a:pPr>
            <a:r>
              <a:rPr sz="983" b="1">
                <a:solidFill>
                  <a:srgbClr val="102B62"/>
                </a:solidFill>
                <a:latin typeface="Arial"/>
                <a:ea typeface="Arial"/>
                <a:cs typeface="Arial"/>
              </a:rPr>
              <a:t>cross-section</a:t>
            </a:r>
            <a:endParaRPr sz="983"/>
          </a:p>
        </p:txBody>
      </p:sp>
      <p:sp>
        <p:nvSpPr>
          <p:cNvPr id="210" name="TextBox 210">
            <a:extLst>
              <a:ext uri="{FF2B5EF4-FFF2-40B4-BE49-F238E27FC236}">
                <a16:creationId xmlns:a16="http://schemas.microsoft.com/office/drawing/2014/main" id="{9F5546CF-A501-4C56-AE73-2B48433052E9}"/>
              </a:ext>
            </a:extLst>
          </p:cNvPr>
          <p:cNvSpPr>
            <a:spLocks noGrp="1"/>
          </p:cNvSpPr>
          <p:nvPr/>
        </p:nvSpPr>
        <p:spPr>
          <a:xfrm>
            <a:off x="4748393" y="5024059"/>
            <a:ext cx="334394" cy="133758"/>
          </a:xfrm>
          <a:prstGeom prst="rect">
            <a:avLst/>
          </a:prstGeom>
          <a:noFill/>
          <a:ln>
            <a:noFill/>
          </a:ln>
        </p:spPr>
        <p:txBody>
          <a:bodyPr wrap="none" lIns="0" tIns="0" rIns="0" bIns="0" anchor="ctr">
            <a:noAutofit/>
          </a:bodyPr>
          <a:lstStyle/>
          <a:p>
            <a:pPr algn="ctr">
              <a:buNone/>
            </a:pPr>
            <a:r>
              <a:rPr sz="702" b="1">
                <a:solidFill>
                  <a:srgbClr val="102B62"/>
                </a:solidFill>
                <a:latin typeface="Arial"/>
                <a:ea typeface="Arial"/>
                <a:cs typeface="Arial"/>
              </a:rPr>
              <a:t>j = 89</a:t>
            </a:r>
            <a:endParaRPr sz="702"/>
          </a:p>
        </p:txBody>
      </p:sp>
      <p:sp>
        <p:nvSpPr>
          <p:cNvPr id="211" name="TextBox 211">
            <a:extLst>
              <a:ext uri="{FF2B5EF4-FFF2-40B4-BE49-F238E27FC236}">
                <a16:creationId xmlns:a16="http://schemas.microsoft.com/office/drawing/2014/main" id="{2545DA79-A7B2-494A-88EC-3BFD3EC2204B}"/>
              </a:ext>
            </a:extLst>
          </p:cNvPr>
          <p:cNvSpPr>
            <a:spLocks noGrp="1"/>
          </p:cNvSpPr>
          <p:nvPr/>
        </p:nvSpPr>
        <p:spPr>
          <a:xfrm>
            <a:off x="5356990" y="5024059"/>
            <a:ext cx="334394" cy="133758"/>
          </a:xfrm>
          <a:prstGeom prst="rect">
            <a:avLst/>
          </a:prstGeom>
          <a:noFill/>
          <a:ln>
            <a:noFill/>
          </a:ln>
        </p:spPr>
        <p:txBody>
          <a:bodyPr wrap="none" lIns="0" tIns="0" rIns="0" bIns="0" anchor="ctr">
            <a:noAutofit/>
          </a:bodyPr>
          <a:lstStyle/>
          <a:p>
            <a:pPr algn="ctr">
              <a:buNone/>
            </a:pPr>
            <a:r>
              <a:rPr sz="702" b="1">
                <a:solidFill>
                  <a:srgbClr val="102B62"/>
                </a:solidFill>
                <a:latin typeface="Arial"/>
                <a:ea typeface="Arial"/>
                <a:cs typeface="Arial"/>
              </a:rPr>
              <a:t>j = 90</a:t>
            </a:r>
            <a:endParaRPr sz="702"/>
          </a:p>
        </p:txBody>
      </p:sp>
      <p:sp>
        <p:nvSpPr>
          <p:cNvPr id="212" name="TextBox 212">
            <a:extLst>
              <a:ext uri="{FF2B5EF4-FFF2-40B4-BE49-F238E27FC236}">
                <a16:creationId xmlns:a16="http://schemas.microsoft.com/office/drawing/2014/main" id="{210B9F5D-543B-4E2E-A066-27F7F827B50A}"/>
              </a:ext>
            </a:extLst>
          </p:cNvPr>
          <p:cNvSpPr>
            <a:spLocks noGrp="1"/>
          </p:cNvSpPr>
          <p:nvPr/>
        </p:nvSpPr>
        <p:spPr>
          <a:xfrm>
            <a:off x="5965587" y="5024059"/>
            <a:ext cx="334394" cy="133758"/>
          </a:xfrm>
          <a:prstGeom prst="rect">
            <a:avLst/>
          </a:prstGeom>
          <a:noFill/>
          <a:ln>
            <a:noFill/>
          </a:ln>
        </p:spPr>
        <p:txBody>
          <a:bodyPr wrap="none" lIns="0" tIns="0" rIns="0" bIns="0" anchor="ctr">
            <a:noAutofit/>
          </a:bodyPr>
          <a:lstStyle/>
          <a:p>
            <a:pPr algn="ctr">
              <a:buNone/>
            </a:pPr>
            <a:r>
              <a:rPr sz="702" b="1">
                <a:solidFill>
                  <a:srgbClr val="102B62"/>
                </a:solidFill>
                <a:latin typeface="Arial"/>
                <a:ea typeface="Arial"/>
                <a:cs typeface="Arial"/>
              </a:rPr>
              <a:t>j = 91</a:t>
            </a:r>
            <a:endParaRPr sz="702"/>
          </a:p>
        </p:txBody>
      </p:sp>
      <p:sp>
        <p:nvSpPr>
          <p:cNvPr id="213" name="TextBox 213">
            <a:extLst>
              <a:ext uri="{FF2B5EF4-FFF2-40B4-BE49-F238E27FC236}">
                <a16:creationId xmlns:a16="http://schemas.microsoft.com/office/drawing/2014/main" id="{873AA3C7-8EAB-4887-9C48-5D426DD250E6}"/>
              </a:ext>
            </a:extLst>
          </p:cNvPr>
          <p:cNvSpPr>
            <a:spLocks noGrp="1"/>
          </p:cNvSpPr>
          <p:nvPr/>
        </p:nvSpPr>
        <p:spPr>
          <a:xfrm>
            <a:off x="6574183" y="5024059"/>
            <a:ext cx="334394" cy="133758"/>
          </a:xfrm>
          <a:prstGeom prst="rect">
            <a:avLst/>
          </a:prstGeom>
          <a:noFill/>
          <a:ln>
            <a:noFill/>
          </a:ln>
        </p:spPr>
        <p:txBody>
          <a:bodyPr wrap="none" lIns="0" tIns="0" rIns="0" bIns="0" anchor="ctr">
            <a:noAutofit/>
          </a:bodyPr>
          <a:lstStyle/>
          <a:p>
            <a:pPr algn="ctr">
              <a:buNone/>
            </a:pPr>
            <a:r>
              <a:rPr sz="702" b="1">
                <a:solidFill>
                  <a:srgbClr val="102B62"/>
                </a:solidFill>
                <a:latin typeface="Arial"/>
                <a:ea typeface="Arial"/>
                <a:cs typeface="Arial"/>
              </a:rPr>
              <a:t>j = 92</a:t>
            </a:r>
            <a:endParaRPr sz="702"/>
          </a:p>
        </p:txBody>
      </p:sp>
      <p:sp>
        <p:nvSpPr>
          <p:cNvPr id="214" name="TextBox 214">
            <a:extLst>
              <a:ext uri="{FF2B5EF4-FFF2-40B4-BE49-F238E27FC236}">
                <a16:creationId xmlns:a16="http://schemas.microsoft.com/office/drawing/2014/main" id="{07847E78-C527-4B27-AA44-5FB672886741}"/>
              </a:ext>
            </a:extLst>
          </p:cNvPr>
          <p:cNvSpPr>
            <a:spLocks noGrp="1"/>
          </p:cNvSpPr>
          <p:nvPr/>
        </p:nvSpPr>
        <p:spPr>
          <a:xfrm>
            <a:off x="7182780" y="5024059"/>
            <a:ext cx="334394" cy="133758"/>
          </a:xfrm>
          <a:prstGeom prst="rect">
            <a:avLst/>
          </a:prstGeom>
          <a:noFill/>
          <a:ln>
            <a:noFill/>
          </a:ln>
        </p:spPr>
        <p:txBody>
          <a:bodyPr wrap="none" lIns="0" tIns="0" rIns="0" bIns="0" anchor="ctr">
            <a:noAutofit/>
          </a:bodyPr>
          <a:lstStyle/>
          <a:p>
            <a:pPr algn="ctr">
              <a:buNone/>
            </a:pPr>
            <a:r>
              <a:rPr sz="702" b="1">
                <a:solidFill>
                  <a:srgbClr val="102B62"/>
                </a:solidFill>
                <a:latin typeface="Arial"/>
                <a:ea typeface="Arial"/>
                <a:cs typeface="Arial"/>
              </a:rPr>
              <a:t>j = 93</a:t>
            </a:r>
            <a:endParaRPr sz="702"/>
          </a:p>
        </p:txBody>
      </p:sp>
      <p:sp>
        <p:nvSpPr>
          <p:cNvPr id="215" name="TextBox 215">
            <a:extLst>
              <a:ext uri="{FF2B5EF4-FFF2-40B4-BE49-F238E27FC236}">
                <a16:creationId xmlns:a16="http://schemas.microsoft.com/office/drawing/2014/main" id="{42DEDC4C-4D7E-4E5D-AF61-476152FB22AC}"/>
              </a:ext>
            </a:extLst>
          </p:cNvPr>
          <p:cNvSpPr>
            <a:spLocks noGrp="1"/>
          </p:cNvSpPr>
          <p:nvPr/>
        </p:nvSpPr>
        <p:spPr>
          <a:xfrm>
            <a:off x="6995520" y="4997308"/>
            <a:ext cx="254139" cy="200636"/>
          </a:xfrm>
          <a:prstGeom prst="rect">
            <a:avLst/>
          </a:prstGeom>
          <a:noFill/>
          <a:ln>
            <a:noFill/>
          </a:ln>
        </p:spPr>
        <p:txBody>
          <a:bodyPr wrap="none" lIns="0" tIns="0" rIns="0" bIns="0" anchor="t">
            <a:noAutofit/>
          </a:bodyPr>
          <a:lstStyle/>
          <a:p>
            <a:pPr algn="ctr">
              <a:buNone/>
            </a:pPr>
            <a:r>
              <a:rPr sz="1053" b="1">
                <a:solidFill>
                  <a:srgbClr val="102B62"/>
                </a:solidFill>
                <a:latin typeface="Arial"/>
                <a:ea typeface="Arial"/>
                <a:cs typeface="Arial"/>
              </a:rPr>
              <a:t>…</a:t>
            </a:r>
            <a:endParaRPr sz="1053"/>
          </a:p>
        </p:txBody>
      </p:sp>
      <p:sp>
        <p:nvSpPr>
          <p:cNvPr id="216" name="TextBox 216">
            <a:extLst>
              <a:ext uri="{FF2B5EF4-FFF2-40B4-BE49-F238E27FC236}">
                <a16:creationId xmlns:a16="http://schemas.microsoft.com/office/drawing/2014/main" id="{DCFF9C4C-94E7-476A-848C-571A330C7DB2}"/>
              </a:ext>
            </a:extLst>
          </p:cNvPr>
          <p:cNvSpPr>
            <a:spLocks noGrp="1"/>
          </p:cNvSpPr>
          <p:nvPr/>
        </p:nvSpPr>
        <p:spPr>
          <a:xfrm>
            <a:off x="4882151" y="5505586"/>
            <a:ext cx="2507954" cy="180573"/>
          </a:xfrm>
          <a:prstGeom prst="rect">
            <a:avLst/>
          </a:prstGeom>
          <a:noFill/>
          <a:ln>
            <a:noFill/>
          </a:ln>
        </p:spPr>
        <p:txBody>
          <a:bodyPr wrap="none" lIns="0" tIns="0" rIns="0" bIns="0" anchor="t">
            <a:noAutofit/>
          </a:bodyPr>
          <a:lstStyle/>
          <a:p>
            <a:pPr algn="ctr">
              <a:buNone/>
            </a:pPr>
            <a:r>
              <a:rPr sz="983" b="1">
                <a:solidFill>
                  <a:srgbClr val="102B62"/>
                </a:solidFill>
                <a:latin typeface="Arial"/>
                <a:ea typeface="Arial"/>
                <a:cs typeface="Arial"/>
              </a:rPr>
              <a:t>Connect all j’s in sequence</a:t>
            </a:r>
            <a:endParaRPr sz="983"/>
          </a:p>
        </p:txBody>
      </p:sp>
      <p:sp>
        <p:nvSpPr>
          <p:cNvPr id="217" name="TextBox 217">
            <a:extLst>
              <a:ext uri="{FF2B5EF4-FFF2-40B4-BE49-F238E27FC236}">
                <a16:creationId xmlns:a16="http://schemas.microsoft.com/office/drawing/2014/main" id="{F4BE65E3-1EB6-4AA3-B4BD-45AA641F4254}"/>
              </a:ext>
            </a:extLst>
          </p:cNvPr>
          <p:cNvSpPr>
            <a:spLocks noGrp="1"/>
          </p:cNvSpPr>
          <p:nvPr/>
        </p:nvSpPr>
        <p:spPr>
          <a:xfrm>
            <a:off x="8426726" y="5599217"/>
            <a:ext cx="1170378" cy="160509"/>
          </a:xfrm>
          <a:prstGeom prst="rect">
            <a:avLst/>
          </a:prstGeom>
          <a:noFill/>
          <a:ln>
            <a:noFill/>
          </a:ln>
        </p:spPr>
        <p:txBody>
          <a:bodyPr wrap="none" lIns="0" tIns="0" rIns="0" bIns="0" anchor="t">
            <a:noAutofit/>
          </a:bodyPr>
          <a:lstStyle/>
          <a:p>
            <a:pPr algn="ctr">
              <a:buNone/>
            </a:pPr>
            <a:r>
              <a:rPr sz="983" b="1">
                <a:solidFill>
                  <a:srgbClr val="102B62"/>
                </a:solidFill>
                <a:latin typeface="Arial"/>
                <a:ea typeface="Arial"/>
                <a:cs typeface="Arial"/>
              </a:rPr>
              <a:t>Train Route</a:t>
            </a:r>
            <a:endParaRPr sz="983"/>
          </a:p>
        </p:txBody>
      </p:sp>
      <p:pic>
        <p:nvPicPr>
          <p:cNvPr id="320" name="Picture 217"/>
          <p:cNvPicPr>
            <a:picLocks noChangeAspect="1"/>
          </p:cNvPicPr>
          <p:nvPr/>
        </p:nvPicPr>
        <p:blipFill>
          <a:blip r:embed="rId4"/>
          <a:stretch>
            <a:fillRect/>
          </a:stretch>
        </p:blipFill>
        <p:spPr>
          <a:xfrm>
            <a:off x="4493668" y="1258785"/>
            <a:ext cx="6065095" cy="3022920"/>
          </a:xfrm>
          <a:prstGeom prst="rect">
            <a:avLst/>
          </a:prstGeom>
        </p:spPr>
      </p:pic>
    </p:spTree>
    <p:extLst>
      <p:ext uri="{BB962C8B-B14F-4D97-AF65-F5344CB8AC3E}">
        <p14:creationId xmlns:p14="http://schemas.microsoft.com/office/powerpoint/2010/main" val="1531362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534671-0267-2BDB-837E-AC9BC071D8BF}"/>
              </a:ext>
            </a:extLst>
          </p:cNvPr>
          <p:cNvSpPr txBox="1"/>
          <p:nvPr/>
        </p:nvSpPr>
        <p:spPr>
          <a:xfrm>
            <a:off x="524107" y="289932"/>
            <a:ext cx="3947532" cy="369332"/>
          </a:xfrm>
          <a:prstGeom prst="rect">
            <a:avLst/>
          </a:prstGeom>
          <a:noFill/>
        </p:spPr>
        <p:txBody>
          <a:bodyPr wrap="square" rtlCol="0">
            <a:spAutoFit/>
          </a:bodyPr>
          <a:lstStyle/>
          <a:p>
            <a:r>
              <a:rPr lang="en-US" altLang="zh-CN" dirty="0"/>
              <a:t>Objective</a:t>
            </a:r>
            <a:r>
              <a:rPr lang="zh-CN" altLang="en-US" dirty="0"/>
              <a:t> </a:t>
            </a:r>
            <a:r>
              <a:rPr lang="en-US" altLang="zh-CN" dirty="0"/>
              <a:t>Function:</a:t>
            </a:r>
            <a:endParaRPr lang="en-US" dirty="0"/>
          </a:p>
        </p:txBody>
      </p:sp>
      <p:grpSp>
        <p:nvGrpSpPr>
          <p:cNvPr id="45" name="Graphic 3">
            <a:extLst>
              <a:ext uri="{FF2B5EF4-FFF2-40B4-BE49-F238E27FC236}">
                <a16:creationId xmlns:a16="http://schemas.microsoft.com/office/drawing/2014/main" id="{A56E531B-730D-606F-BD50-4106A013B27B}"/>
              </a:ext>
            </a:extLst>
          </p:cNvPr>
          <p:cNvGrpSpPr/>
          <p:nvPr/>
        </p:nvGrpSpPr>
        <p:grpSpPr>
          <a:xfrm>
            <a:off x="583805" y="2178203"/>
            <a:ext cx="2127561" cy="2014655"/>
            <a:chOff x="23300" y="1483522"/>
            <a:chExt cx="2127561" cy="2014655"/>
          </a:xfrm>
          <a:noFill/>
        </p:grpSpPr>
        <p:sp>
          <p:nvSpPr>
            <p:cNvPr id="46" name="Rounded Rectangle 45">
              <a:extLst>
                <a:ext uri="{FF2B5EF4-FFF2-40B4-BE49-F238E27FC236}">
                  <a16:creationId xmlns:a16="http://schemas.microsoft.com/office/drawing/2014/main" id="{9B7CF26D-1DE7-10D9-C7F4-79FDB17806BE}"/>
                </a:ext>
              </a:extLst>
            </p:cNvPr>
            <p:cNvSpPr/>
            <p:nvPr/>
          </p:nvSpPr>
          <p:spPr>
            <a:xfrm>
              <a:off x="23300" y="1483522"/>
              <a:ext cx="2127561" cy="2014655"/>
            </a:xfrm>
            <a:prstGeom prst="roundRect">
              <a:avLst>
                <a:gd name="adj" fmla="val 4107"/>
              </a:avLst>
            </a:prstGeom>
            <a:grpFill/>
            <a:ln w="9253" cap="flat">
              <a:solidFill>
                <a:srgbClr val="0C5EB5"/>
              </a:solidFill>
              <a:prstDash val="solid"/>
              <a:miter/>
            </a:ln>
          </p:spPr>
          <p:txBody>
            <a:bodyPr/>
            <a:lstStyle/>
            <a:p>
              <a:endParaRPr lang="en-US" sz="800"/>
            </a:p>
          </p:txBody>
        </p:sp>
        <p:sp>
          <p:nvSpPr>
            <p:cNvPr id="47" name="Freeform 46">
              <a:extLst>
                <a:ext uri="{FF2B5EF4-FFF2-40B4-BE49-F238E27FC236}">
                  <a16:creationId xmlns:a16="http://schemas.microsoft.com/office/drawing/2014/main" id="{DA0D8BF9-8F38-EAAA-0198-A03F23E8FDF4}"/>
                </a:ext>
              </a:extLst>
            </p:cNvPr>
            <p:cNvSpPr/>
            <p:nvPr/>
          </p:nvSpPr>
          <p:spPr>
            <a:xfrm>
              <a:off x="166551" y="1543897"/>
              <a:ext cx="1841318" cy="337609"/>
            </a:xfrm>
            <a:custGeom>
              <a:avLst/>
              <a:gdLst>
                <a:gd name="csX0" fmla="*/ 0 w 1841318"/>
                <a:gd name="csY0" fmla="*/ 64747 h 337609"/>
                <a:gd name="csX1" fmla="*/ 64770 w 1841318"/>
                <a:gd name="csY1" fmla="*/ 0 h 337609"/>
                <a:gd name="csX2" fmla="*/ 1776549 w 1841318"/>
                <a:gd name="csY2" fmla="*/ 0 h 337609"/>
                <a:gd name="csX3" fmla="*/ 1841319 w 1841318"/>
                <a:gd name="csY3" fmla="*/ 64747 h 337609"/>
                <a:gd name="csX4" fmla="*/ 1841319 w 1841318"/>
                <a:gd name="csY4" fmla="*/ 337610 h 337609"/>
                <a:gd name="csX5" fmla="*/ 0 w 1841318"/>
                <a:gd name="csY5" fmla="*/ 337610 h 337609"/>
              </a:gdLst>
              <a:ahLst/>
              <a:cxnLst>
                <a:cxn ang="0">
                  <a:pos x="csX0" y="csY0"/>
                </a:cxn>
                <a:cxn ang="0">
                  <a:pos x="csX1" y="csY1"/>
                </a:cxn>
                <a:cxn ang="0">
                  <a:pos x="csX2" y="csY2"/>
                </a:cxn>
                <a:cxn ang="0">
                  <a:pos x="csX3" y="csY3"/>
                </a:cxn>
                <a:cxn ang="0">
                  <a:pos x="csX4" y="csY4"/>
                </a:cxn>
                <a:cxn ang="0">
                  <a:pos x="csX5" y="csY5"/>
                </a:cxn>
              </a:cxnLst>
              <a:rect l="l" t="t" r="r" b="b"/>
              <a:pathLst>
                <a:path w="1841318" h="337609">
                  <a:moveTo>
                    <a:pt x="0" y="64747"/>
                  </a:moveTo>
                  <a:cubicBezTo>
                    <a:pt x="0" y="21582"/>
                    <a:pt x="21590" y="0"/>
                    <a:pt x="64770" y="0"/>
                  </a:cubicBezTo>
                  <a:lnTo>
                    <a:pt x="1776549" y="0"/>
                  </a:lnTo>
                  <a:cubicBezTo>
                    <a:pt x="1819729" y="0"/>
                    <a:pt x="1841319" y="21582"/>
                    <a:pt x="1841319" y="64747"/>
                  </a:cubicBezTo>
                  <a:lnTo>
                    <a:pt x="1841319" y="337610"/>
                  </a:lnTo>
                  <a:lnTo>
                    <a:pt x="0" y="337610"/>
                  </a:lnTo>
                  <a:close/>
                </a:path>
              </a:pathLst>
            </a:custGeom>
            <a:grpFill/>
            <a:ln w="4626" cap="flat">
              <a:noFill/>
              <a:prstDash val="solid"/>
              <a:miter/>
            </a:ln>
          </p:spPr>
          <p:txBody>
            <a:bodyPr/>
            <a:lstStyle/>
            <a:p>
              <a:endParaRPr lang="en-US" sz="800"/>
            </a:p>
          </p:txBody>
        </p:sp>
        <p:sp>
          <p:nvSpPr>
            <p:cNvPr id="48" name="Oval 47">
              <a:extLst>
                <a:ext uri="{FF2B5EF4-FFF2-40B4-BE49-F238E27FC236}">
                  <a16:creationId xmlns:a16="http://schemas.microsoft.com/office/drawing/2014/main" id="{9F33206F-5231-DB12-C392-59D7C4275D78}"/>
                </a:ext>
              </a:extLst>
            </p:cNvPr>
            <p:cNvSpPr/>
            <p:nvPr/>
          </p:nvSpPr>
          <p:spPr>
            <a:xfrm>
              <a:off x="263706" y="1567021"/>
              <a:ext cx="286838" cy="286737"/>
            </a:xfrm>
            <a:prstGeom prst="ellipse">
              <a:avLst/>
            </a:prstGeom>
            <a:grpFill/>
            <a:ln w="4626" cap="flat">
              <a:noFill/>
              <a:prstDash val="solid"/>
              <a:miter/>
            </a:ln>
          </p:spPr>
          <p:txBody>
            <a:bodyPr/>
            <a:lstStyle/>
            <a:p>
              <a:endParaRPr lang="en-US" sz="800"/>
            </a:p>
          </p:txBody>
        </p:sp>
        <p:sp>
          <p:nvSpPr>
            <p:cNvPr id="49" name="TextBox 48">
              <a:extLst>
                <a:ext uri="{FF2B5EF4-FFF2-40B4-BE49-F238E27FC236}">
                  <a16:creationId xmlns:a16="http://schemas.microsoft.com/office/drawing/2014/main" id="{4035468E-6444-229A-3EAB-F2C30E60FACC}"/>
                </a:ext>
              </a:extLst>
            </p:cNvPr>
            <p:cNvSpPr txBox="1"/>
            <p:nvPr/>
          </p:nvSpPr>
          <p:spPr>
            <a:xfrm>
              <a:off x="266798" y="1570322"/>
              <a:ext cx="263214" cy="261610"/>
            </a:xfrm>
            <a:prstGeom prst="rect">
              <a:avLst/>
            </a:prstGeom>
            <a:grpFill/>
          </p:spPr>
          <p:txBody>
            <a:bodyPr wrap="none" rtlCol="0">
              <a:spAutoFit/>
            </a:bodyPr>
            <a:lstStyle/>
            <a:p>
              <a:pPr algn="l"/>
              <a:r>
                <a:rPr lang="en-US" sz="1100" b="1" spc="0" baseline="0" dirty="0">
                  <a:ln/>
                  <a:solidFill>
                    <a:srgbClr val="075DAB"/>
                  </a:solidFill>
                  <a:latin typeface="Arial"/>
                  <a:cs typeface="Arial"/>
                  <a:sym typeface="Arial"/>
                  <a:rtl val="0"/>
                </a:rPr>
                <a:t>1</a:t>
              </a:r>
            </a:p>
          </p:txBody>
        </p:sp>
        <p:grpSp>
          <p:nvGrpSpPr>
            <p:cNvPr id="51" name="Graphic 3">
              <a:extLst>
                <a:ext uri="{FF2B5EF4-FFF2-40B4-BE49-F238E27FC236}">
                  <a16:creationId xmlns:a16="http://schemas.microsoft.com/office/drawing/2014/main" id="{14104831-C424-2635-6778-9214679E03A6}"/>
                </a:ext>
              </a:extLst>
            </p:cNvPr>
            <p:cNvGrpSpPr/>
            <p:nvPr/>
          </p:nvGrpSpPr>
          <p:grpSpPr>
            <a:xfrm>
              <a:off x="181519" y="2029884"/>
              <a:ext cx="1886725" cy="521731"/>
              <a:chOff x="181519" y="2029884"/>
              <a:chExt cx="1886725" cy="521731"/>
            </a:xfrm>
            <a:grpFill/>
          </p:grpSpPr>
          <p:sp>
            <p:nvSpPr>
              <p:cNvPr id="52" name="TextBox 51">
                <a:extLst>
                  <a:ext uri="{FF2B5EF4-FFF2-40B4-BE49-F238E27FC236}">
                    <a16:creationId xmlns:a16="http://schemas.microsoft.com/office/drawing/2014/main" id="{E85FBCC1-6C7B-1A81-AA0C-34E0D32BEE9C}"/>
                  </a:ext>
                </a:extLst>
              </p:cNvPr>
              <p:cNvSpPr txBox="1"/>
              <p:nvPr/>
            </p:nvSpPr>
            <p:spPr>
              <a:xfrm>
                <a:off x="181519" y="2132370"/>
                <a:ext cx="340158" cy="261610"/>
              </a:xfrm>
              <a:prstGeom prst="rect">
                <a:avLst/>
              </a:prstGeom>
              <a:grpFill/>
            </p:spPr>
            <p:txBody>
              <a:bodyPr wrap="none" rtlCol="0" anchor="ctr">
                <a:spAutoFit/>
              </a:bodyPr>
              <a:lstStyle/>
              <a:p>
                <a:pPr algn="l"/>
                <a:r>
                  <a:rPr lang="en-US" sz="1100" i="1" spc="0" baseline="0" dirty="0" err="1">
                    <a:ln/>
                    <a:solidFill>
                      <a:srgbClr val="111111"/>
                    </a:solidFill>
                    <a:latin typeface="Times New Roman"/>
                    <a:cs typeface="Times New Roman"/>
                    <a:sym typeface="Times New Roman"/>
                    <a:rtl val="0"/>
                  </a:rPr>
                  <a:t>c</a:t>
                </a:r>
                <a:r>
                  <a:rPr lang="en-US" sz="1050" i="1" spc="0" baseline="36914" dirty="0" err="1">
                    <a:ln/>
                    <a:solidFill>
                      <a:srgbClr val="111111"/>
                    </a:solidFill>
                    <a:latin typeface="Times New Roman"/>
                    <a:cs typeface="Times New Roman"/>
                    <a:sym typeface="Times New Roman"/>
                    <a:rtl val="0"/>
                  </a:rPr>
                  <a:t>D</a:t>
                </a:r>
                <a:r>
                  <a:rPr lang="en-US" sz="1050" i="1" spc="0" baseline="-36914" dirty="0" err="1">
                    <a:ln/>
                    <a:solidFill>
                      <a:srgbClr val="111111"/>
                    </a:solidFill>
                    <a:latin typeface="Times New Roman"/>
                    <a:cs typeface="Times New Roman"/>
                    <a:sym typeface="Times New Roman"/>
                    <a:rtl val="0"/>
                  </a:rPr>
                  <a:t>i</a:t>
                </a:r>
                <a:endParaRPr lang="en-US" sz="1050" i="1" spc="0" baseline="-36914" dirty="0">
                  <a:ln/>
                  <a:solidFill>
                    <a:srgbClr val="111111"/>
                  </a:solidFill>
                  <a:latin typeface="Times New Roman"/>
                  <a:cs typeface="Times New Roman"/>
                  <a:sym typeface="Times New Roman"/>
                  <a:rtl val="0"/>
                </a:endParaRPr>
              </a:p>
            </p:txBody>
          </p:sp>
          <p:sp>
            <p:nvSpPr>
              <p:cNvPr id="53" name="TextBox 52">
                <a:extLst>
                  <a:ext uri="{FF2B5EF4-FFF2-40B4-BE49-F238E27FC236}">
                    <a16:creationId xmlns:a16="http://schemas.microsoft.com/office/drawing/2014/main" id="{D52CF7EB-8184-DFC7-3730-8725F57F99AC}"/>
                  </a:ext>
                </a:extLst>
              </p:cNvPr>
              <p:cNvSpPr txBox="1"/>
              <p:nvPr/>
            </p:nvSpPr>
            <p:spPr>
              <a:xfrm>
                <a:off x="445225" y="2031487"/>
                <a:ext cx="253596" cy="338554"/>
              </a:xfrm>
              <a:prstGeom prst="rect">
                <a:avLst/>
              </a:prstGeom>
              <a:grpFill/>
            </p:spPr>
            <p:txBody>
              <a:bodyPr wrap="none" rtlCol="0">
                <a:spAutoFit/>
              </a:bodyPr>
              <a:lstStyle/>
              <a:p>
                <a:pPr algn="l"/>
                <a:r>
                  <a:rPr lang="en-US" sz="1600" spc="0" baseline="0">
                    <a:ln/>
                    <a:solidFill>
                      <a:srgbClr val="111111"/>
                    </a:solidFill>
                    <a:latin typeface="Times New Roman"/>
                    <a:cs typeface="Times New Roman"/>
                    <a:sym typeface="Times New Roman"/>
                    <a:rtl val="0"/>
                  </a:rPr>
                  <a:t>(</a:t>
                </a:r>
              </a:p>
            </p:txBody>
          </p:sp>
          <p:sp>
            <p:nvSpPr>
              <p:cNvPr id="54" name="TextBox 53">
                <a:extLst>
                  <a:ext uri="{FF2B5EF4-FFF2-40B4-BE49-F238E27FC236}">
                    <a16:creationId xmlns:a16="http://schemas.microsoft.com/office/drawing/2014/main" id="{9961EA3A-10CC-1637-CDA4-83BA0FC71C28}"/>
                  </a:ext>
                </a:extLst>
              </p:cNvPr>
              <p:cNvSpPr txBox="1"/>
              <p:nvPr/>
            </p:nvSpPr>
            <p:spPr>
              <a:xfrm>
                <a:off x="519248" y="2136112"/>
                <a:ext cx="521297" cy="246221"/>
              </a:xfrm>
              <a:prstGeom prst="rect">
                <a:avLst/>
              </a:prstGeom>
              <a:grpFill/>
            </p:spPr>
            <p:txBody>
              <a:bodyPr wrap="none" rtlCol="0" anchor="ctr">
                <a:spAutoFit/>
              </a:bodyPr>
              <a:lstStyle/>
              <a:p>
                <a:pPr algn="l"/>
                <a:r>
                  <a:rPr lang="en-US" sz="1000" i="1" spc="0" baseline="0" dirty="0" err="1">
                    <a:ln/>
                    <a:solidFill>
                      <a:srgbClr val="111111"/>
                    </a:solidFill>
                    <a:latin typeface="Times New Roman"/>
                    <a:cs typeface="Times New Roman"/>
                    <a:sym typeface="Times New Roman"/>
                    <a:rtl val="0"/>
                  </a:rPr>
                  <a:t>x</a:t>
                </a:r>
                <a:r>
                  <a:rPr lang="en-US" sz="1000" i="1" spc="0" baseline="36914" dirty="0" err="1">
                    <a:ln/>
                    <a:solidFill>
                      <a:srgbClr val="111111"/>
                    </a:solidFill>
                    <a:latin typeface="Times New Roman"/>
                    <a:cs typeface="Times New Roman"/>
                    <a:sym typeface="Times New Roman"/>
                    <a:rtl val="0"/>
                  </a:rPr>
                  <a:t>entry</a:t>
                </a:r>
                <a:r>
                  <a:rPr lang="en-US" sz="1000" i="1" spc="0" baseline="-36914" dirty="0" err="1">
                    <a:ln/>
                    <a:solidFill>
                      <a:srgbClr val="111111"/>
                    </a:solidFill>
                    <a:latin typeface="Times New Roman"/>
                    <a:cs typeface="Times New Roman"/>
                    <a:sym typeface="Times New Roman"/>
                    <a:rtl val="0"/>
                  </a:rPr>
                  <a:t>i,o</a:t>
                </a:r>
                <a:r>
                  <a:rPr lang="en-US" sz="1000" i="1" spc="0" baseline="-36914" dirty="0">
                    <a:ln/>
                    <a:solidFill>
                      <a:srgbClr val="111111"/>
                    </a:solidFill>
                    <a:latin typeface="Times New Roman"/>
                    <a:cs typeface="Times New Roman"/>
                    <a:sym typeface="Times New Roman"/>
                    <a:rtl val="0"/>
                  </a:rPr>
                  <a:t>ᵢ</a:t>
                </a:r>
              </a:p>
            </p:txBody>
          </p:sp>
          <p:sp>
            <p:nvSpPr>
              <p:cNvPr id="55" name="TextBox 54">
                <a:extLst>
                  <a:ext uri="{FF2B5EF4-FFF2-40B4-BE49-F238E27FC236}">
                    <a16:creationId xmlns:a16="http://schemas.microsoft.com/office/drawing/2014/main" id="{6DB6D557-4DB9-1F83-6380-F26C2725E4D9}"/>
                  </a:ext>
                </a:extLst>
              </p:cNvPr>
              <p:cNvSpPr txBox="1"/>
              <p:nvPr/>
            </p:nvSpPr>
            <p:spPr>
              <a:xfrm>
                <a:off x="968012" y="2115514"/>
                <a:ext cx="352982" cy="246221"/>
              </a:xfrm>
              <a:prstGeom prst="rect">
                <a:avLst/>
              </a:prstGeom>
              <a:grpFill/>
            </p:spPr>
            <p:txBody>
              <a:bodyPr wrap="none" rtlCol="0">
                <a:spAutoFit/>
              </a:bodyPr>
              <a:lstStyle/>
              <a:p>
                <a:pPr algn="l"/>
                <a:r>
                  <a:rPr lang="en-US" sz="1000" spc="0" baseline="0">
                    <a:ln/>
                    <a:solidFill>
                      <a:srgbClr val="111111"/>
                    </a:solidFill>
                    <a:latin typeface="Times New Roman"/>
                    <a:cs typeface="Times New Roman"/>
                    <a:sym typeface="Times New Roman"/>
                    <a:rtl val="0"/>
                  </a:rPr>
                  <a:t>− b</a:t>
                </a:r>
              </a:p>
            </p:txBody>
          </p:sp>
          <p:sp>
            <p:nvSpPr>
              <p:cNvPr id="56" name="TextBox 55">
                <a:extLst>
                  <a:ext uri="{FF2B5EF4-FFF2-40B4-BE49-F238E27FC236}">
                    <a16:creationId xmlns:a16="http://schemas.microsoft.com/office/drawing/2014/main" id="{ABED9E79-BF0F-1762-139A-C636B7B8C3AB}"/>
                  </a:ext>
                </a:extLst>
              </p:cNvPr>
              <p:cNvSpPr txBox="1"/>
              <p:nvPr/>
            </p:nvSpPr>
            <p:spPr>
              <a:xfrm>
                <a:off x="1176201" y="2183972"/>
                <a:ext cx="210314" cy="200055"/>
              </a:xfrm>
              <a:prstGeom prst="rect">
                <a:avLst/>
              </a:prstGeom>
              <a:grpFill/>
            </p:spPr>
            <p:txBody>
              <a:bodyPr wrap="none" rtlCol="0">
                <a:spAutoFit/>
              </a:bodyPr>
              <a:lstStyle/>
              <a:p>
                <a:pPr algn="l"/>
                <a:r>
                  <a:rPr lang="en-US" sz="700" i="1" spc="0" baseline="0">
                    <a:ln/>
                    <a:solidFill>
                      <a:srgbClr val="111111"/>
                    </a:solidFill>
                    <a:latin typeface="Times New Roman"/>
                    <a:cs typeface="Times New Roman"/>
                    <a:sym typeface="Times New Roman"/>
                    <a:rtl val="0"/>
                  </a:rPr>
                  <a:t>i</a:t>
                </a:r>
              </a:p>
            </p:txBody>
          </p:sp>
          <p:sp>
            <p:nvSpPr>
              <p:cNvPr id="57" name="TextBox 56">
                <a:extLst>
                  <a:ext uri="{FF2B5EF4-FFF2-40B4-BE49-F238E27FC236}">
                    <a16:creationId xmlns:a16="http://schemas.microsoft.com/office/drawing/2014/main" id="{8EABF761-C036-628C-98F0-1E2A8FC4A2DA}"/>
                  </a:ext>
                </a:extLst>
              </p:cNvPr>
              <p:cNvSpPr txBox="1"/>
              <p:nvPr/>
            </p:nvSpPr>
            <p:spPr>
              <a:xfrm>
                <a:off x="1268730" y="2115514"/>
                <a:ext cx="256802" cy="246221"/>
              </a:xfrm>
              <a:prstGeom prst="rect">
                <a:avLst/>
              </a:prstGeom>
              <a:grpFill/>
            </p:spPr>
            <p:txBody>
              <a:bodyPr wrap="none" rtlCol="0">
                <a:spAutoFit/>
              </a:bodyPr>
              <a:lstStyle/>
              <a:p>
                <a:pPr algn="l"/>
                <a:r>
                  <a:rPr lang="en-US" sz="1000" spc="0" baseline="0" dirty="0">
                    <a:ln/>
                    <a:solidFill>
                      <a:srgbClr val="111111"/>
                    </a:solidFill>
                    <a:latin typeface="Times New Roman"/>
                    <a:cs typeface="Times New Roman"/>
                    <a:sym typeface="Times New Roman"/>
                    <a:rtl val="0"/>
                  </a:rPr>
                  <a:t>+</a:t>
                </a:r>
              </a:p>
            </p:txBody>
          </p:sp>
          <p:sp>
            <p:nvSpPr>
              <p:cNvPr id="58" name="TextBox 57">
                <a:extLst>
                  <a:ext uri="{FF2B5EF4-FFF2-40B4-BE49-F238E27FC236}">
                    <a16:creationId xmlns:a16="http://schemas.microsoft.com/office/drawing/2014/main" id="{C336B3EF-EEBC-45D1-B346-995DFEABA9F6}"/>
                  </a:ext>
                </a:extLst>
              </p:cNvPr>
              <p:cNvSpPr txBox="1"/>
              <p:nvPr/>
            </p:nvSpPr>
            <p:spPr>
              <a:xfrm>
                <a:off x="1472292" y="2029884"/>
                <a:ext cx="349776" cy="369332"/>
              </a:xfrm>
              <a:prstGeom prst="rect">
                <a:avLst/>
              </a:prstGeom>
              <a:grpFill/>
            </p:spPr>
            <p:txBody>
              <a:bodyPr wrap="none" rtlCol="0">
                <a:spAutoFit/>
              </a:bodyPr>
              <a:lstStyle/>
              <a:p>
                <a:pPr algn="l"/>
                <a:r>
                  <a:rPr lang="en-US" spc="0" baseline="0">
                    <a:ln/>
                    <a:solidFill>
                      <a:srgbClr val="111111"/>
                    </a:solidFill>
                    <a:latin typeface="Times New Roman"/>
                    <a:cs typeface="Times New Roman"/>
                    <a:sym typeface="Times New Roman"/>
                    <a:rtl val="0"/>
                  </a:rPr>
                  <a:t>∑</a:t>
                </a:r>
              </a:p>
            </p:txBody>
          </p:sp>
          <p:sp>
            <p:nvSpPr>
              <p:cNvPr id="59" name="TextBox 58">
                <a:extLst>
                  <a:ext uri="{FF2B5EF4-FFF2-40B4-BE49-F238E27FC236}">
                    <a16:creationId xmlns:a16="http://schemas.microsoft.com/office/drawing/2014/main" id="{AA4E3E3E-980E-1BEB-1AAB-E43200430FD2}"/>
                  </a:ext>
                </a:extLst>
              </p:cNvPr>
              <p:cNvSpPr txBox="1"/>
              <p:nvPr/>
            </p:nvSpPr>
            <p:spPr>
              <a:xfrm>
                <a:off x="1513930" y="2366949"/>
                <a:ext cx="317716" cy="184666"/>
              </a:xfrm>
              <a:prstGeom prst="rect">
                <a:avLst/>
              </a:prstGeom>
              <a:grpFill/>
            </p:spPr>
            <p:txBody>
              <a:bodyPr wrap="none" rtlCol="0">
                <a:spAutoFit/>
              </a:bodyPr>
              <a:lstStyle/>
              <a:p>
                <a:pPr algn="l"/>
                <a:r>
                  <a:rPr lang="en-US" sz="600" spc="0" baseline="0">
                    <a:ln/>
                    <a:solidFill>
                      <a:srgbClr val="111111"/>
                    </a:solidFill>
                    <a:latin typeface="Times New Roman"/>
                    <a:cs typeface="Times New Roman"/>
                    <a:sym typeface="Times New Roman"/>
                    <a:rtl val="0"/>
                  </a:rPr>
                  <a:t>j</a:t>
                </a:r>
                <a:r>
                  <a:rPr lang="en-US" sz="600" spc="0" baseline="0">
                    <a:ln/>
                    <a:solidFill>
                      <a:srgbClr val="111111"/>
                    </a:solidFill>
                    <a:latin typeface="Cambria Math"/>
                    <a:ea typeface="Cambria Math"/>
                    <a:cs typeface="Times New Roman"/>
                    <a:sym typeface="Cambria Math"/>
                    <a:rtl val="0"/>
                  </a:rPr>
                  <a:t>∈</a:t>
                </a:r>
                <a:r>
                  <a:rPr lang="en-US" sz="600" spc="0" baseline="0">
                    <a:ln/>
                    <a:solidFill>
                      <a:srgbClr val="111111"/>
                    </a:solidFill>
                    <a:latin typeface="Times New Roman"/>
                    <a:ea typeface="Cambria Math"/>
                    <a:cs typeface="Times New Roman"/>
                    <a:sym typeface="Times New Roman"/>
                    <a:rtl val="0"/>
                  </a:rPr>
                  <a:t>Bᵢ</a:t>
                </a:r>
              </a:p>
            </p:txBody>
          </p:sp>
          <p:sp>
            <p:nvSpPr>
              <p:cNvPr id="60" name="TextBox 59">
                <a:extLst>
                  <a:ext uri="{FF2B5EF4-FFF2-40B4-BE49-F238E27FC236}">
                    <a16:creationId xmlns:a16="http://schemas.microsoft.com/office/drawing/2014/main" id="{0CE584A9-B905-DF7F-1964-0880BBAB9681}"/>
                  </a:ext>
                </a:extLst>
              </p:cNvPr>
              <p:cNvSpPr txBox="1"/>
              <p:nvPr/>
            </p:nvSpPr>
            <p:spPr>
              <a:xfrm>
                <a:off x="1666602" y="2138733"/>
                <a:ext cx="340158" cy="246221"/>
              </a:xfrm>
              <a:prstGeom prst="rect">
                <a:avLst/>
              </a:prstGeom>
              <a:grpFill/>
            </p:spPr>
            <p:txBody>
              <a:bodyPr wrap="none" rtlCol="0" anchor="ctr">
                <a:spAutoFit/>
              </a:bodyPr>
              <a:lstStyle/>
              <a:p>
                <a:pPr algn="l"/>
                <a:r>
                  <a:rPr lang="en-US" sz="1000" i="1" spc="0" baseline="0">
                    <a:ln/>
                    <a:solidFill>
                      <a:srgbClr val="111111"/>
                    </a:solidFill>
                    <a:latin typeface="Times New Roman"/>
                    <a:cs typeface="Times New Roman"/>
                    <a:sym typeface="Times New Roman"/>
                    <a:rtl val="0"/>
                  </a:rPr>
                  <a:t>z</a:t>
                </a:r>
                <a:r>
                  <a:rPr lang="en-US" sz="800" i="1" spc="0" baseline="36914">
                    <a:ln/>
                    <a:solidFill>
                      <a:srgbClr val="111111"/>
                    </a:solidFill>
                    <a:latin typeface="Times New Roman"/>
                    <a:cs typeface="Times New Roman"/>
                    <a:sym typeface="Times New Roman"/>
                    <a:rtl val="0"/>
                  </a:rPr>
                  <a:t>D</a:t>
                </a:r>
                <a:r>
                  <a:rPr lang="en-US" sz="800" i="1" spc="0" baseline="-36914">
                    <a:ln/>
                    <a:solidFill>
                      <a:srgbClr val="111111"/>
                    </a:solidFill>
                    <a:latin typeface="Times New Roman"/>
                    <a:cs typeface="Times New Roman"/>
                    <a:sym typeface="Times New Roman"/>
                    <a:rtl val="0"/>
                  </a:rPr>
                  <a:t>i,j</a:t>
                </a:r>
              </a:p>
            </p:txBody>
          </p:sp>
          <p:sp>
            <p:nvSpPr>
              <p:cNvPr id="61" name="TextBox 60">
                <a:extLst>
                  <a:ext uri="{FF2B5EF4-FFF2-40B4-BE49-F238E27FC236}">
                    <a16:creationId xmlns:a16="http://schemas.microsoft.com/office/drawing/2014/main" id="{FB674F7A-29B0-86B6-C56C-53D765A50449}"/>
                  </a:ext>
                </a:extLst>
              </p:cNvPr>
              <p:cNvSpPr txBox="1"/>
              <p:nvPr/>
            </p:nvSpPr>
            <p:spPr>
              <a:xfrm>
                <a:off x="1814648" y="2031487"/>
                <a:ext cx="253596" cy="338554"/>
              </a:xfrm>
              <a:prstGeom prst="rect">
                <a:avLst/>
              </a:prstGeom>
              <a:grpFill/>
            </p:spPr>
            <p:txBody>
              <a:bodyPr wrap="none" rtlCol="0">
                <a:spAutoFit/>
              </a:bodyPr>
              <a:lstStyle/>
              <a:p>
                <a:pPr algn="l"/>
                <a:r>
                  <a:rPr lang="en-US" sz="1600" spc="0" baseline="0">
                    <a:ln/>
                    <a:solidFill>
                      <a:srgbClr val="111111"/>
                    </a:solidFill>
                    <a:latin typeface="Times New Roman"/>
                    <a:cs typeface="Times New Roman"/>
                    <a:sym typeface="Times New Roman"/>
                    <a:rtl val="0"/>
                  </a:rPr>
                  <a:t>)</a:t>
                </a:r>
              </a:p>
            </p:txBody>
          </p:sp>
        </p:grpSp>
        <p:sp>
          <p:nvSpPr>
            <p:cNvPr id="62" name="TextBox 61">
              <a:extLst>
                <a:ext uri="{FF2B5EF4-FFF2-40B4-BE49-F238E27FC236}">
                  <a16:creationId xmlns:a16="http://schemas.microsoft.com/office/drawing/2014/main" id="{0C5E7BB9-D57F-8124-887B-DB8C20860296}"/>
                </a:ext>
              </a:extLst>
            </p:cNvPr>
            <p:cNvSpPr txBox="1"/>
            <p:nvPr/>
          </p:nvSpPr>
          <p:spPr>
            <a:xfrm>
              <a:off x="155974" y="2576142"/>
              <a:ext cx="1964743" cy="553998"/>
            </a:xfrm>
            <a:prstGeom prst="rect">
              <a:avLst/>
            </a:prstGeom>
            <a:grpFill/>
          </p:spPr>
          <p:txBody>
            <a:bodyPr wrap="square" rtlCol="0">
              <a:spAutoFit/>
            </a:bodyPr>
            <a:lstStyle/>
            <a:p>
              <a:pPr algn="l"/>
              <a:r>
                <a:rPr lang="en-US" sz="1000" b="1" spc="0" baseline="0" dirty="0">
                  <a:ln/>
                  <a:solidFill>
                    <a:srgbClr val="0B2D63"/>
                  </a:solidFill>
                  <a:latin typeface="Arial"/>
                  <a:cs typeface="Arial"/>
                  <a:sym typeface="Arial"/>
                  <a:rtl val="0"/>
                </a:rPr>
                <a:t>Includes origin waiting / entry-time</a:t>
              </a:r>
              <a:r>
                <a:rPr lang="zh-CN" altLang="en-US" sz="1000" b="1" spc="0" baseline="0" dirty="0">
                  <a:ln/>
                  <a:solidFill>
                    <a:srgbClr val="0B2D63"/>
                  </a:solidFill>
                  <a:latin typeface="Arial"/>
                  <a:cs typeface="Arial"/>
                  <a:sym typeface="Arial"/>
                  <a:rtl val="0"/>
                </a:rPr>
                <a:t> </a:t>
              </a:r>
              <a:r>
                <a:rPr lang="en-US" sz="1000" b="1" dirty="0">
                  <a:ln/>
                  <a:solidFill>
                    <a:srgbClr val="0B2D63"/>
                  </a:solidFill>
                  <a:latin typeface="Arial"/>
                  <a:cs typeface="Arial"/>
                  <a:sym typeface="Arial"/>
                  <a:rtl val="0"/>
                </a:rPr>
                <a:t>deviations and delay-related penalties</a:t>
              </a:r>
            </a:p>
          </p:txBody>
        </p:sp>
        <p:sp>
          <p:nvSpPr>
            <p:cNvPr id="63" name="TextBox 62">
              <a:extLst>
                <a:ext uri="{FF2B5EF4-FFF2-40B4-BE49-F238E27FC236}">
                  <a16:creationId xmlns:a16="http://schemas.microsoft.com/office/drawing/2014/main" id="{5EDBA5E2-5102-F0FD-994B-974AA465C6B0}"/>
                </a:ext>
              </a:extLst>
            </p:cNvPr>
            <p:cNvSpPr txBox="1"/>
            <p:nvPr/>
          </p:nvSpPr>
          <p:spPr>
            <a:xfrm>
              <a:off x="76606" y="2719511"/>
              <a:ext cx="184731" cy="246221"/>
            </a:xfrm>
            <a:prstGeom prst="rect">
              <a:avLst/>
            </a:prstGeom>
            <a:grpFill/>
          </p:spPr>
          <p:txBody>
            <a:bodyPr wrap="none" rtlCol="0">
              <a:spAutoFit/>
            </a:bodyPr>
            <a:lstStyle/>
            <a:p>
              <a:pPr algn="l"/>
              <a:endParaRPr lang="en-US" sz="1000" b="1" spc="0" baseline="0" dirty="0">
                <a:ln/>
                <a:solidFill>
                  <a:srgbClr val="0B2D63"/>
                </a:solidFill>
                <a:latin typeface="Arial"/>
                <a:cs typeface="Arial"/>
                <a:sym typeface="Arial"/>
                <a:rtl val="0"/>
              </a:endParaRPr>
            </a:p>
          </p:txBody>
        </p:sp>
      </p:grpSp>
      <p:grpSp>
        <p:nvGrpSpPr>
          <p:cNvPr id="64" name="Graphic 3">
            <a:extLst>
              <a:ext uri="{FF2B5EF4-FFF2-40B4-BE49-F238E27FC236}">
                <a16:creationId xmlns:a16="http://schemas.microsoft.com/office/drawing/2014/main" id="{A118BCBB-AA48-6929-4430-750A5F70945E}"/>
              </a:ext>
            </a:extLst>
          </p:cNvPr>
          <p:cNvGrpSpPr/>
          <p:nvPr/>
        </p:nvGrpSpPr>
        <p:grpSpPr>
          <a:xfrm>
            <a:off x="3112781" y="2188235"/>
            <a:ext cx="2061571" cy="2004623"/>
            <a:chOff x="1827923" y="1490736"/>
            <a:chExt cx="2061571" cy="2004623"/>
          </a:xfrm>
          <a:noFill/>
        </p:grpSpPr>
        <p:sp>
          <p:nvSpPr>
            <p:cNvPr id="65" name="Rounded Rectangle 64">
              <a:extLst>
                <a:ext uri="{FF2B5EF4-FFF2-40B4-BE49-F238E27FC236}">
                  <a16:creationId xmlns:a16="http://schemas.microsoft.com/office/drawing/2014/main" id="{7214180A-D3DA-F2F6-5C3D-A089843A8DD4}"/>
                </a:ext>
              </a:extLst>
            </p:cNvPr>
            <p:cNvSpPr/>
            <p:nvPr/>
          </p:nvSpPr>
          <p:spPr>
            <a:xfrm>
              <a:off x="1853866" y="1490736"/>
              <a:ext cx="2035628" cy="2004623"/>
            </a:xfrm>
            <a:prstGeom prst="roundRect">
              <a:avLst>
                <a:gd name="adj" fmla="val 4107"/>
              </a:avLst>
            </a:prstGeom>
            <a:grpFill/>
            <a:ln w="9253" cap="flat">
              <a:solidFill>
                <a:srgbClr val="22923B"/>
              </a:solidFill>
              <a:prstDash val="solid"/>
              <a:miter/>
            </a:ln>
          </p:spPr>
          <p:txBody>
            <a:bodyPr/>
            <a:lstStyle/>
            <a:p>
              <a:endParaRPr lang="en-US" sz="800"/>
            </a:p>
          </p:txBody>
        </p:sp>
        <p:sp>
          <p:nvSpPr>
            <p:cNvPr id="66" name="Freeform 65">
              <a:extLst>
                <a:ext uri="{FF2B5EF4-FFF2-40B4-BE49-F238E27FC236}">
                  <a16:creationId xmlns:a16="http://schemas.microsoft.com/office/drawing/2014/main" id="{3CA5DA91-C45C-4786-448A-CBF7D280C31D}"/>
                </a:ext>
              </a:extLst>
            </p:cNvPr>
            <p:cNvSpPr/>
            <p:nvPr/>
          </p:nvSpPr>
          <p:spPr>
            <a:xfrm>
              <a:off x="2100398" y="1543897"/>
              <a:ext cx="1684020" cy="337609"/>
            </a:xfrm>
            <a:custGeom>
              <a:avLst/>
              <a:gdLst>
                <a:gd name="csX0" fmla="*/ 0 w 1684020"/>
                <a:gd name="csY0" fmla="*/ 64747 h 337609"/>
                <a:gd name="csX1" fmla="*/ 64770 w 1684020"/>
                <a:gd name="csY1" fmla="*/ 0 h 337609"/>
                <a:gd name="csX2" fmla="*/ 1619250 w 1684020"/>
                <a:gd name="csY2" fmla="*/ 0 h 337609"/>
                <a:gd name="csX3" fmla="*/ 1684020 w 1684020"/>
                <a:gd name="csY3" fmla="*/ 64747 h 337609"/>
                <a:gd name="csX4" fmla="*/ 1684020 w 1684020"/>
                <a:gd name="csY4" fmla="*/ 337610 h 337609"/>
                <a:gd name="csX5" fmla="*/ 0 w 1684020"/>
                <a:gd name="csY5" fmla="*/ 337610 h 337609"/>
              </a:gdLst>
              <a:ahLst/>
              <a:cxnLst>
                <a:cxn ang="0">
                  <a:pos x="csX0" y="csY0"/>
                </a:cxn>
                <a:cxn ang="0">
                  <a:pos x="csX1" y="csY1"/>
                </a:cxn>
                <a:cxn ang="0">
                  <a:pos x="csX2" y="csY2"/>
                </a:cxn>
                <a:cxn ang="0">
                  <a:pos x="csX3" y="csY3"/>
                </a:cxn>
                <a:cxn ang="0">
                  <a:pos x="csX4" y="csY4"/>
                </a:cxn>
                <a:cxn ang="0">
                  <a:pos x="csX5" y="csY5"/>
                </a:cxn>
              </a:cxnLst>
              <a:rect l="l" t="t" r="r" b="b"/>
              <a:pathLst>
                <a:path w="1684020" h="337609">
                  <a:moveTo>
                    <a:pt x="0" y="64747"/>
                  </a:moveTo>
                  <a:cubicBezTo>
                    <a:pt x="0" y="21582"/>
                    <a:pt x="21590" y="0"/>
                    <a:pt x="64770" y="0"/>
                  </a:cubicBezTo>
                  <a:lnTo>
                    <a:pt x="1619250" y="0"/>
                  </a:lnTo>
                  <a:cubicBezTo>
                    <a:pt x="1662430" y="0"/>
                    <a:pt x="1684020" y="21582"/>
                    <a:pt x="1684020" y="64747"/>
                  </a:cubicBezTo>
                  <a:lnTo>
                    <a:pt x="1684020" y="337610"/>
                  </a:lnTo>
                  <a:lnTo>
                    <a:pt x="0" y="337610"/>
                  </a:lnTo>
                  <a:close/>
                </a:path>
              </a:pathLst>
            </a:custGeom>
            <a:grpFill/>
            <a:ln w="4626" cap="flat">
              <a:noFill/>
              <a:prstDash val="solid"/>
              <a:miter/>
            </a:ln>
          </p:spPr>
          <p:txBody>
            <a:bodyPr/>
            <a:lstStyle/>
            <a:p>
              <a:endParaRPr lang="en-US" sz="800"/>
            </a:p>
          </p:txBody>
        </p:sp>
        <p:sp>
          <p:nvSpPr>
            <p:cNvPr id="67" name="Oval 66">
              <a:extLst>
                <a:ext uri="{FF2B5EF4-FFF2-40B4-BE49-F238E27FC236}">
                  <a16:creationId xmlns:a16="http://schemas.microsoft.com/office/drawing/2014/main" id="{304C3E5D-FE85-61EE-9BA3-1F58C7E80BD0}"/>
                </a:ext>
              </a:extLst>
            </p:cNvPr>
            <p:cNvSpPr/>
            <p:nvPr/>
          </p:nvSpPr>
          <p:spPr>
            <a:xfrm>
              <a:off x="2216059" y="1567021"/>
              <a:ext cx="286838" cy="286737"/>
            </a:xfrm>
            <a:prstGeom prst="ellipse">
              <a:avLst/>
            </a:prstGeom>
            <a:grpFill/>
            <a:ln w="4626" cap="flat">
              <a:noFill/>
              <a:prstDash val="solid"/>
              <a:miter/>
            </a:ln>
          </p:spPr>
          <p:txBody>
            <a:bodyPr/>
            <a:lstStyle/>
            <a:p>
              <a:endParaRPr lang="en-US" sz="800"/>
            </a:p>
          </p:txBody>
        </p:sp>
        <p:sp>
          <p:nvSpPr>
            <p:cNvPr id="68" name="TextBox 67">
              <a:extLst>
                <a:ext uri="{FF2B5EF4-FFF2-40B4-BE49-F238E27FC236}">
                  <a16:creationId xmlns:a16="http://schemas.microsoft.com/office/drawing/2014/main" id="{3635280C-C04B-CCD8-ECBC-94343F1B7FCB}"/>
                </a:ext>
              </a:extLst>
            </p:cNvPr>
            <p:cNvSpPr txBox="1"/>
            <p:nvPr/>
          </p:nvSpPr>
          <p:spPr>
            <a:xfrm>
              <a:off x="2219151" y="1570322"/>
              <a:ext cx="263214" cy="261610"/>
            </a:xfrm>
            <a:prstGeom prst="rect">
              <a:avLst/>
            </a:prstGeom>
            <a:grpFill/>
          </p:spPr>
          <p:txBody>
            <a:bodyPr wrap="none" rtlCol="0">
              <a:spAutoFit/>
            </a:bodyPr>
            <a:lstStyle/>
            <a:p>
              <a:pPr algn="l"/>
              <a:r>
                <a:rPr lang="en-US" sz="1100" b="1" spc="0" baseline="0">
                  <a:ln/>
                  <a:solidFill>
                    <a:srgbClr val="199437"/>
                  </a:solidFill>
                  <a:latin typeface="Arial"/>
                  <a:cs typeface="Arial"/>
                  <a:sym typeface="Arial"/>
                  <a:rtl val="0"/>
                </a:rPr>
                <a:t>2</a:t>
              </a:r>
            </a:p>
          </p:txBody>
        </p:sp>
        <p:sp>
          <p:nvSpPr>
            <p:cNvPr id="69" name="TextBox 68">
              <a:extLst>
                <a:ext uri="{FF2B5EF4-FFF2-40B4-BE49-F238E27FC236}">
                  <a16:creationId xmlns:a16="http://schemas.microsoft.com/office/drawing/2014/main" id="{1E6E373E-3D17-0DC2-CF62-5A65F88645EE}"/>
                </a:ext>
              </a:extLst>
            </p:cNvPr>
            <p:cNvSpPr txBox="1"/>
            <p:nvPr/>
          </p:nvSpPr>
          <p:spPr>
            <a:xfrm>
              <a:off x="2545624" y="1603377"/>
              <a:ext cx="1255472" cy="246221"/>
            </a:xfrm>
            <a:prstGeom prst="rect">
              <a:avLst/>
            </a:prstGeom>
            <a:grpFill/>
          </p:spPr>
          <p:txBody>
            <a:bodyPr wrap="none" rtlCol="0">
              <a:spAutoFit/>
            </a:bodyPr>
            <a:lstStyle/>
            <a:p>
              <a:pPr algn="l"/>
              <a:r>
                <a:rPr lang="en-US" sz="1000" b="1" spc="0" baseline="0" dirty="0">
                  <a:ln/>
                  <a:solidFill>
                    <a:srgbClr val="FFFFFF"/>
                  </a:solidFill>
                  <a:latin typeface="Arial"/>
                  <a:cs typeface="Arial"/>
                  <a:sym typeface="Arial"/>
                  <a:rtl val="0"/>
                </a:rPr>
                <a:t>2. S-Term Penalty</a:t>
              </a:r>
            </a:p>
          </p:txBody>
        </p:sp>
        <p:grpSp>
          <p:nvGrpSpPr>
            <p:cNvPr id="70" name="Graphic 3">
              <a:extLst>
                <a:ext uri="{FF2B5EF4-FFF2-40B4-BE49-F238E27FC236}">
                  <a16:creationId xmlns:a16="http://schemas.microsoft.com/office/drawing/2014/main" id="{467BC30D-E6EA-6250-670B-27ACCD81C9D8}"/>
                </a:ext>
              </a:extLst>
            </p:cNvPr>
            <p:cNvGrpSpPr/>
            <p:nvPr/>
          </p:nvGrpSpPr>
          <p:grpSpPr>
            <a:xfrm>
              <a:off x="2342061" y="2005156"/>
              <a:ext cx="1111472" cy="551084"/>
              <a:chOff x="2342061" y="2005156"/>
              <a:chExt cx="1111472" cy="551084"/>
            </a:xfrm>
            <a:grpFill/>
          </p:grpSpPr>
          <p:sp>
            <p:nvSpPr>
              <p:cNvPr id="71" name="TextBox 70">
                <a:extLst>
                  <a:ext uri="{FF2B5EF4-FFF2-40B4-BE49-F238E27FC236}">
                    <a16:creationId xmlns:a16="http://schemas.microsoft.com/office/drawing/2014/main" id="{CDB89F5A-96FD-1D0E-C18B-43B9A9885D81}"/>
                  </a:ext>
                </a:extLst>
              </p:cNvPr>
              <p:cNvSpPr txBox="1"/>
              <p:nvPr/>
            </p:nvSpPr>
            <p:spPr>
              <a:xfrm>
                <a:off x="2342061" y="2005156"/>
                <a:ext cx="367408" cy="400110"/>
              </a:xfrm>
              <a:prstGeom prst="rect">
                <a:avLst/>
              </a:prstGeom>
              <a:grpFill/>
            </p:spPr>
            <p:txBody>
              <a:bodyPr wrap="none" rtlCol="0">
                <a:spAutoFit/>
              </a:bodyPr>
              <a:lstStyle/>
              <a:p>
                <a:pPr algn="l"/>
                <a:r>
                  <a:rPr lang="en-US" sz="2000" spc="0" baseline="0">
                    <a:ln/>
                    <a:solidFill>
                      <a:srgbClr val="111111"/>
                    </a:solidFill>
                    <a:latin typeface="Times New Roman"/>
                    <a:cs typeface="Times New Roman"/>
                    <a:sym typeface="Times New Roman"/>
                    <a:rtl val="0"/>
                  </a:rPr>
                  <a:t>∑</a:t>
                </a:r>
              </a:p>
            </p:txBody>
          </p:sp>
          <p:sp>
            <p:nvSpPr>
              <p:cNvPr id="72" name="TextBox 71">
                <a:extLst>
                  <a:ext uri="{FF2B5EF4-FFF2-40B4-BE49-F238E27FC236}">
                    <a16:creationId xmlns:a16="http://schemas.microsoft.com/office/drawing/2014/main" id="{4EF92C2A-B6A9-2425-3828-F8159549BFBD}"/>
                  </a:ext>
                </a:extLst>
              </p:cNvPr>
              <p:cNvSpPr txBox="1"/>
              <p:nvPr/>
            </p:nvSpPr>
            <p:spPr>
              <a:xfrm>
                <a:off x="2702922" y="2005156"/>
                <a:ext cx="367408" cy="400110"/>
              </a:xfrm>
              <a:prstGeom prst="rect">
                <a:avLst/>
              </a:prstGeom>
              <a:grpFill/>
            </p:spPr>
            <p:txBody>
              <a:bodyPr wrap="none" rtlCol="0">
                <a:spAutoFit/>
              </a:bodyPr>
              <a:lstStyle/>
              <a:p>
                <a:pPr algn="l"/>
                <a:r>
                  <a:rPr lang="en-US" sz="2000" spc="0" baseline="0">
                    <a:ln/>
                    <a:solidFill>
                      <a:srgbClr val="111111"/>
                    </a:solidFill>
                    <a:latin typeface="Times New Roman"/>
                    <a:cs typeface="Times New Roman"/>
                    <a:sym typeface="Times New Roman"/>
                    <a:rtl val="0"/>
                  </a:rPr>
                  <a:t>∑</a:t>
                </a:r>
              </a:p>
            </p:txBody>
          </p:sp>
          <p:sp>
            <p:nvSpPr>
              <p:cNvPr id="73" name="TextBox 72">
                <a:extLst>
                  <a:ext uri="{FF2B5EF4-FFF2-40B4-BE49-F238E27FC236}">
                    <a16:creationId xmlns:a16="http://schemas.microsoft.com/office/drawing/2014/main" id="{4AB55E0F-162F-EF87-6A4E-A58566C919F8}"/>
                  </a:ext>
                </a:extLst>
              </p:cNvPr>
              <p:cNvSpPr txBox="1"/>
              <p:nvPr/>
            </p:nvSpPr>
            <p:spPr>
              <a:xfrm>
                <a:off x="2379072" y="2371574"/>
                <a:ext cx="300082" cy="184666"/>
              </a:xfrm>
              <a:prstGeom prst="rect">
                <a:avLst/>
              </a:prstGeom>
              <a:grpFill/>
            </p:spPr>
            <p:txBody>
              <a:bodyPr wrap="none" rtlCol="0">
                <a:spAutoFit/>
              </a:bodyPr>
              <a:lstStyle/>
              <a:p>
                <a:pPr algn="l"/>
                <a:r>
                  <a:rPr lang="en-US" sz="600" spc="0" baseline="0">
                    <a:ln/>
                    <a:solidFill>
                      <a:srgbClr val="111111"/>
                    </a:solidFill>
                    <a:latin typeface="Times New Roman"/>
                    <a:cs typeface="Times New Roman"/>
                    <a:sym typeface="Times New Roman"/>
                    <a:rtl val="0"/>
                  </a:rPr>
                  <a:t>i</a:t>
                </a:r>
                <a:r>
                  <a:rPr lang="en-US" sz="600" spc="0" baseline="0">
                    <a:ln/>
                    <a:solidFill>
                      <a:srgbClr val="111111"/>
                    </a:solidFill>
                    <a:latin typeface="Cambria Math"/>
                    <a:ea typeface="Cambria Math"/>
                    <a:cs typeface="Times New Roman"/>
                    <a:sym typeface="Cambria Math"/>
                    <a:rtl val="0"/>
                  </a:rPr>
                  <a:t>∈</a:t>
                </a:r>
                <a:r>
                  <a:rPr lang="en-US" sz="600" spc="0" baseline="0">
                    <a:ln/>
                    <a:solidFill>
                      <a:srgbClr val="111111"/>
                    </a:solidFill>
                    <a:latin typeface="Times New Roman"/>
                    <a:ea typeface="Cambria Math"/>
                    <a:cs typeface="Times New Roman"/>
                    <a:sym typeface="Times New Roman"/>
                    <a:rtl val="0"/>
                  </a:rPr>
                  <a:t>T</a:t>
                </a:r>
              </a:p>
            </p:txBody>
          </p:sp>
          <p:sp>
            <p:nvSpPr>
              <p:cNvPr id="74" name="TextBox 73">
                <a:extLst>
                  <a:ext uri="{FF2B5EF4-FFF2-40B4-BE49-F238E27FC236}">
                    <a16:creationId xmlns:a16="http://schemas.microsoft.com/office/drawing/2014/main" id="{C199772C-76E9-857C-CBA3-BAB9DB8E05B1}"/>
                  </a:ext>
                </a:extLst>
              </p:cNvPr>
              <p:cNvSpPr txBox="1"/>
              <p:nvPr/>
            </p:nvSpPr>
            <p:spPr>
              <a:xfrm>
                <a:off x="2749187" y="2371574"/>
                <a:ext cx="322524" cy="184666"/>
              </a:xfrm>
              <a:prstGeom prst="rect">
                <a:avLst/>
              </a:prstGeom>
              <a:grpFill/>
            </p:spPr>
            <p:txBody>
              <a:bodyPr wrap="none" rtlCol="0">
                <a:spAutoFit/>
              </a:bodyPr>
              <a:lstStyle/>
              <a:p>
                <a:pPr algn="l"/>
                <a:r>
                  <a:rPr lang="en-US" sz="600" spc="0" baseline="0">
                    <a:ln/>
                    <a:solidFill>
                      <a:srgbClr val="111111"/>
                    </a:solidFill>
                    <a:latin typeface="Times New Roman"/>
                    <a:cs typeface="Times New Roman"/>
                    <a:sym typeface="Times New Roman"/>
                    <a:rtl val="0"/>
                  </a:rPr>
                  <a:t>j</a:t>
                </a:r>
                <a:r>
                  <a:rPr lang="en-US" sz="600" spc="0" baseline="0">
                    <a:ln/>
                    <a:solidFill>
                      <a:srgbClr val="111111"/>
                    </a:solidFill>
                    <a:latin typeface="Cambria Math"/>
                    <a:ea typeface="Cambria Math"/>
                    <a:cs typeface="Times New Roman"/>
                    <a:sym typeface="Cambria Math"/>
                    <a:rtl val="0"/>
                  </a:rPr>
                  <a:t>∈</a:t>
                </a:r>
                <a:r>
                  <a:rPr lang="en-US" sz="600" spc="0" baseline="0">
                    <a:ln/>
                    <a:solidFill>
                      <a:srgbClr val="111111"/>
                    </a:solidFill>
                    <a:latin typeface="Times New Roman"/>
                    <a:ea typeface="Cambria Math"/>
                    <a:cs typeface="Times New Roman"/>
                    <a:sym typeface="Times New Roman"/>
                    <a:rtl val="0"/>
                  </a:rPr>
                  <a:t>Nᵢ</a:t>
                </a:r>
              </a:p>
            </p:txBody>
          </p:sp>
          <p:sp>
            <p:nvSpPr>
              <p:cNvPr id="75" name="TextBox 74">
                <a:extLst>
                  <a:ext uri="{FF2B5EF4-FFF2-40B4-BE49-F238E27FC236}">
                    <a16:creationId xmlns:a16="http://schemas.microsoft.com/office/drawing/2014/main" id="{B3D552BA-EF47-41A0-3437-6F3C1E76FE48}"/>
                  </a:ext>
                </a:extLst>
              </p:cNvPr>
              <p:cNvSpPr txBox="1"/>
              <p:nvPr/>
            </p:nvSpPr>
            <p:spPr>
              <a:xfrm>
                <a:off x="2985135" y="2124296"/>
                <a:ext cx="468398" cy="261610"/>
              </a:xfrm>
              <a:prstGeom prst="rect">
                <a:avLst/>
              </a:prstGeom>
              <a:grpFill/>
            </p:spPr>
            <p:txBody>
              <a:bodyPr wrap="none" rtlCol="0" anchor="ctr">
                <a:spAutoFit/>
              </a:bodyPr>
              <a:lstStyle/>
              <a:p>
                <a:pPr algn="l"/>
                <a:r>
                  <a:rPr lang="en-US" sz="1050" i="1" spc="0" baseline="0">
                    <a:ln/>
                    <a:solidFill>
                      <a:srgbClr val="111111"/>
                    </a:solidFill>
                    <a:latin typeface="Times New Roman"/>
                    <a:cs typeface="Times New Roman"/>
                    <a:sym typeface="Times New Roman"/>
                    <a:rtl val="0"/>
                  </a:rPr>
                  <a:t>c</a:t>
                </a:r>
                <a:r>
                  <a:rPr lang="en-US" sz="1000" i="1" spc="0" baseline="36914">
                    <a:ln/>
                    <a:solidFill>
                      <a:srgbClr val="111111"/>
                    </a:solidFill>
                    <a:latin typeface="Times New Roman"/>
                    <a:cs typeface="Times New Roman"/>
                    <a:sym typeface="Times New Roman"/>
                    <a:rtl val="0"/>
                  </a:rPr>
                  <a:t>S</a:t>
                </a:r>
                <a:r>
                  <a:rPr lang="en-US" sz="1050" i="1" spc="0" baseline="0">
                    <a:ln/>
                    <a:solidFill>
                      <a:srgbClr val="111111"/>
                    </a:solidFill>
                    <a:latin typeface="Times New Roman"/>
                    <a:cs typeface="Times New Roman"/>
                    <a:sym typeface="Times New Roman"/>
                    <a:rtl val="0"/>
                  </a:rPr>
                  <a:t>z</a:t>
                </a:r>
                <a:r>
                  <a:rPr lang="en-US" sz="1000" i="1" spc="0" baseline="36914">
                    <a:ln/>
                    <a:solidFill>
                      <a:srgbClr val="111111"/>
                    </a:solidFill>
                    <a:latin typeface="Times New Roman"/>
                    <a:cs typeface="Times New Roman"/>
                    <a:sym typeface="Times New Roman"/>
                    <a:rtl val="0"/>
                  </a:rPr>
                  <a:t>S</a:t>
                </a:r>
                <a:r>
                  <a:rPr lang="en-US" sz="1000" i="1" spc="0" baseline="-36914">
                    <a:ln/>
                    <a:solidFill>
                      <a:srgbClr val="111111"/>
                    </a:solidFill>
                    <a:latin typeface="Times New Roman"/>
                    <a:cs typeface="Times New Roman"/>
                    <a:sym typeface="Times New Roman"/>
                    <a:rtl val="0"/>
                  </a:rPr>
                  <a:t>i,j</a:t>
                </a:r>
              </a:p>
            </p:txBody>
          </p:sp>
        </p:grpSp>
        <p:sp>
          <p:nvSpPr>
            <p:cNvPr id="76" name="TextBox 75">
              <a:extLst>
                <a:ext uri="{FF2B5EF4-FFF2-40B4-BE49-F238E27FC236}">
                  <a16:creationId xmlns:a16="http://schemas.microsoft.com/office/drawing/2014/main" id="{257606EE-78C0-B8F0-4ADA-C94447DEF57D}"/>
                </a:ext>
              </a:extLst>
            </p:cNvPr>
            <p:cNvSpPr txBox="1"/>
            <p:nvPr/>
          </p:nvSpPr>
          <p:spPr>
            <a:xfrm>
              <a:off x="1933049" y="2580329"/>
              <a:ext cx="1868048" cy="677108"/>
            </a:xfrm>
            <a:prstGeom prst="rect">
              <a:avLst/>
            </a:prstGeom>
            <a:grpFill/>
          </p:spPr>
          <p:txBody>
            <a:bodyPr wrap="square" rtlCol="0">
              <a:spAutoFit/>
            </a:bodyPr>
            <a:lstStyle/>
            <a:p>
              <a:pPr algn="l"/>
              <a:r>
                <a:rPr lang="en-US" sz="900" b="1" spc="0" baseline="0" dirty="0">
                  <a:ln/>
                  <a:solidFill>
                    <a:srgbClr val="0B2D63"/>
                  </a:solidFill>
                  <a:latin typeface="Arial"/>
                  <a:cs typeface="Arial"/>
                  <a:sym typeface="Arial"/>
                  <a:rtl val="0"/>
                </a:rPr>
                <a:t>Represents the penalty term associated</a:t>
              </a:r>
              <a:r>
                <a:rPr lang="zh-CN" altLang="en-US" sz="900" b="1" spc="0" baseline="0" dirty="0">
                  <a:ln/>
                  <a:solidFill>
                    <a:srgbClr val="0B2D63"/>
                  </a:solidFill>
                  <a:latin typeface="Arial"/>
                  <a:cs typeface="Arial"/>
                  <a:sym typeface="Arial"/>
                  <a:rtl val="0"/>
                </a:rPr>
                <a:t> </a:t>
              </a:r>
              <a:endParaRPr lang="en-US" altLang="zh-CN" sz="900" b="1" spc="0" baseline="0" dirty="0">
                <a:ln/>
                <a:solidFill>
                  <a:srgbClr val="0B2D63"/>
                </a:solidFill>
                <a:latin typeface="Arial"/>
                <a:cs typeface="Arial"/>
                <a:sym typeface="Arial"/>
                <a:rtl val="0"/>
              </a:endParaRPr>
            </a:p>
            <a:p>
              <a:r>
                <a:rPr lang="en-US" sz="1000" b="1" dirty="0">
                  <a:ln/>
                  <a:solidFill>
                    <a:srgbClr val="0B2D63"/>
                  </a:solidFill>
                  <a:latin typeface="Arial"/>
                  <a:cs typeface="Arial"/>
                  <a:sym typeface="Arial"/>
                  <a:rtl val="0"/>
                </a:rPr>
                <a:t>deviations and delay-related penalties</a:t>
              </a:r>
            </a:p>
          </p:txBody>
        </p:sp>
        <p:sp>
          <p:nvSpPr>
            <p:cNvPr id="77" name="TextBox 76">
              <a:extLst>
                <a:ext uri="{FF2B5EF4-FFF2-40B4-BE49-F238E27FC236}">
                  <a16:creationId xmlns:a16="http://schemas.microsoft.com/office/drawing/2014/main" id="{BE16E347-186F-3276-38C6-3B019727FE5F}"/>
                </a:ext>
              </a:extLst>
            </p:cNvPr>
            <p:cNvSpPr txBox="1"/>
            <p:nvPr/>
          </p:nvSpPr>
          <p:spPr>
            <a:xfrm>
              <a:off x="1827923" y="2723697"/>
              <a:ext cx="184731" cy="200055"/>
            </a:xfrm>
            <a:prstGeom prst="rect">
              <a:avLst/>
            </a:prstGeom>
            <a:grpFill/>
          </p:spPr>
          <p:txBody>
            <a:bodyPr wrap="none" rtlCol="0">
              <a:spAutoFit/>
            </a:bodyPr>
            <a:lstStyle/>
            <a:p>
              <a:pPr algn="l"/>
              <a:endParaRPr lang="en-US" sz="700" b="1" spc="0" baseline="0" dirty="0">
                <a:ln/>
                <a:solidFill>
                  <a:srgbClr val="0B2D63"/>
                </a:solidFill>
                <a:latin typeface="Arial"/>
                <a:cs typeface="Arial"/>
                <a:sym typeface="Arial"/>
                <a:rtl val="0"/>
              </a:endParaRPr>
            </a:p>
          </p:txBody>
        </p:sp>
      </p:grpSp>
      <p:grpSp>
        <p:nvGrpSpPr>
          <p:cNvPr id="78" name="Graphic 3">
            <a:extLst>
              <a:ext uri="{FF2B5EF4-FFF2-40B4-BE49-F238E27FC236}">
                <a16:creationId xmlns:a16="http://schemas.microsoft.com/office/drawing/2014/main" id="{DA10C86C-620E-4323-0513-8906DAD47EAE}"/>
              </a:ext>
            </a:extLst>
          </p:cNvPr>
          <p:cNvGrpSpPr/>
          <p:nvPr/>
        </p:nvGrpSpPr>
        <p:grpSpPr>
          <a:xfrm>
            <a:off x="5625359" y="2137470"/>
            <a:ext cx="2295645" cy="2055388"/>
            <a:chOff x="3716961" y="1442789"/>
            <a:chExt cx="2295645" cy="2055388"/>
          </a:xfrm>
          <a:noFill/>
        </p:grpSpPr>
        <p:sp>
          <p:nvSpPr>
            <p:cNvPr id="79" name="Rounded Rectangle 78">
              <a:extLst>
                <a:ext uri="{FF2B5EF4-FFF2-40B4-BE49-F238E27FC236}">
                  <a16:creationId xmlns:a16="http://schemas.microsoft.com/office/drawing/2014/main" id="{7988430D-2D42-C705-FC86-052FEF996802}"/>
                </a:ext>
              </a:extLst>
            </p:cNvPr>
            <p:cNvSpPr/>
            <p:nvPr/>
          </p:nvSpPr>
          <p:spPr>
            <a:xfrm>
              <a:off x="3716961" y="1442789"/>
              <a:ext cx="2020964" cy="2055388"/>
            </a:xfrm>
            <a:prstGeom prst="roundRect">
              <a:avLst>
                <a:gd name="adj" fmla="val 4107"/>
              </a:avLst>
            </a:prstGeom>
            <a:grpFill/>
            <a:ln w="9253" cap="flat">
              <a:solidFill>
                <a:srgbClr val="F36B08"/>
              </a:solidFill>
              <a:prstDash val="solid"/>
              <a:miter/>
            </a:ln>
          </p:spPr>
          <p:txBody>
            <a:bodyPr/>
            <a:lstStyle/>
            <a:p>
              <a:endParaRPr lang="en-US" sz="800"/>
            </a:p>
          </p:txBody>
        </p:sp>
        <p:sp>
          <p:nvSpPr>
            <p:cNvPr id="80" name="Freeform 79">
              <a:extLst>
                <a:ext uri="{FF2B5EF4-FFF2-40B4-BE49-F238E27FC236}">
                  <a16:creationId xmlns:a16="http://schemas.microsoft.com/office/drawing/2014/main" id="{CA6C221B-CEB6-844E-0013-818CC33C432D}"/>
                </a:ext>
              </a:extLst>
            </p:cNvPr>
            <p:cNvSpPr/>
            <p:nvPr/>
          </p:nvSpPr>
          <p:spPr>
            <a:xfrm>
              <a:off x="3881573" y="1543897"/>
              <a:ext cx="1832065" cy="337609"/>
            </a:xfrm>
            <a:custGeom>
              <a:avLst/>
              <a:gdLst>
                <a:gd name="csX0" fmla="*/ 0 w 1832065"/>
                <a:gd name="csY0" fmla="*/ 64747 h 337609"/>
                <a:gd name="csX1" fmla="*/ 64770 w 1832065"/>
                <a:gd name="csY1" fmla="*/ 0 h 337609"/>
                <a:gd name="csX2" fmla="*/ 1767296 w 1832065"/>
                <a:gd name="csY2" fmla="*/ 0 h 337609"/>
                <a:gd name="csX3" fmla="*/ 1832066 w 1832065"/>
                <a:gd name="csY3" fmla="*/ 64747 h 337609"/>
                <a:gd name="csX4" fmla="*/ 1832066 w 1832065"/>
                <a:gd name="csY4" fmla="*/ 337610 h 337609"/>
                <a:gd name="csX5" fmla="*/ 0 w 1832065"/>
                <a:gd name="csY5" fmla="*/ 337610 h 337609"/>
              </a:gdLst>
              <a:ahLst/>
              <a:cxnLst>
                <a:cxn ang="0">
                  <a:pos x="csX0" y="csY0"/>
                </a:cxn>
                <a:cxn ang="0">
                  <a:pos x="csX1" y="csY1"/>
                </a:cxn>
                <a:cxn ang="0">
                  <a:pos x="csX2" y="csY2"/>
                </a:cxn>
                <a:cxn ang="0">
                  <a:pos x="csX3" y="csY3"/>
                </a:cxn>
                <a:cxn ang="0">
                  <a:pos x="csX4" y="csY4"/>
                </a:cxn>
                <a:cxn ang="0">
                  <a:pos x="csX5" y="csY5"/>
                </a:cxn>
              </a:cxnLst>
              <a:rect l="l" t="t" r="r" b="b"/>
              <a:pathLst>
                <a:path w="1832065" h="337609">
                  <a:moveTo>
                    <a:pt x="0" y="64747"/>
                  </a:moveTo>
                  <a:cubicBezTo>
                    <a:pt x="0" y="21582"/>
                    <a:pt x="21590" y="0"/>
                    <a:pt x="64770" y="0"/>
                  </a:cubicBezTo>
                  <a:lnTo>
                    <a:pt x="1767296" y="0"/>
                  </a:lnTo>
                  <a:cubicBezTo>
                    <a:pt x="1810476" y="0"/>
                    <a:pt x="1832066" y="21582"/>
                    <a:pt x="1832066" y="64747"/>
                  </a:cubicBezTo>
                  <a:lnTo>
                    <a:pt x="1832066" y="337610"/>
                  </a:lnTo>
                  <a:lnTo>
                    <a:pt x="0" y="337610"/>
                  </a:lnTo>
                  <a:close/>
                </a:path>
              </a:pathLst>
            </a:custGeom>
            <a:grpFill/>
            <a:ln w="4626" cap="flat">
              <a:noFill/>
              <a:prstDash val="solid"/>
              <a:miter/>
            </a:ln>
          </p:spPr>
          <p:txBody>
            <a:bodyPr/>
            <a:lstStyle/>
            <a:p>
              <a:endParaRPr lang="en-US" sz="800"/>
            </a:p>
          </p:txBody>
        </p:sp>
        <p:sp>
          <p:nvSpPr>
            <p:cNvPr id="81" name="Oval 80">
              <a:extLst>
                <a:ext uri="{FF2B5EF4-FFF2-40B4-BE49-F238E27FC236}">
                  <a16:creationId xmlns:a16="http://schemas.microsoft.com/office/drawing/2014/main" id="{E3970D7C-E65F-BED6-638F-C889834D7BA7}"/>
                </a:ext>
              </a:extLst>
            </p:cNvPr>
            <p:cNvSpPr/>
            <p:nvPr/>
          </p:nvSpPr>
          <p:spPr>
            <a:xfrm>
              <a:off x="3997234" y="1567021"/>
              <a:ext cx="286838" cy="286737"/>
            </a:xfrm>
            <a:prstGeom prst="ellipse">
              <a:avLst/>
            </a:prstGeom>
            <a:grpFill/>
            <a:ln w="4626" cap="flat">
              <a:noFill/>
              <a:prstDash val="solid"/>
              <a:miter/>
            </a:ln>
          </p:spPr>
          <p:txBody>
            <a:bodyPr/>
            <a:lstStyle/>
            <a:p>
              <a:endParaRPr lang="en-US" sz="800"/>
            </a:p>
          </p:txBody>
        </p:sp>
        <p:sp>
          <p:nvSpPr>
            <p:cNvPr id="82" name="TextBox 81">
              <a:extLst>
                <a:ext uri="{FF2B5EF4-FFF2-40B4-BE49-F238E27FC236}">
                  <a16:creationId xmlns:a16="http://schemas.microsoft.com/office/drawing/2014/main" id="{D7681EC7-66F7-2F98-A81D-E02E29A3DF55}"/>
                </a:ext>
              </a:extLst>
            </p:cNvPr>
            <p:cNvSpPr txBox="1"/>
            <p:nvPr/>
          </p:nvSpPr>
          <p:spPr>
            <a:xfrm>
              <a:off x="4000326" y="1570322"/>
              <a:ext cx="263214" cy="261610"/>
            </a:xfrm>
            <a:prstGeom prst="rect">
              <a:avLst/>
            </a:prstGeom>
            <a:grpFill/>
          </p:spPr>
          <p:txBody>
            <a:bodyPr wrap="none" rtlCol="0">
              <a:spAutoFit/>
            </a:bodyPr>
            <a:lstStyle/>
            <a:p>
              <a:pPr algn="l"/>
              <a:r>
                <a:rPr lang="en-US" sz="1100" b="1" spc="0" baseline="0">
                  <a:ln/>
                  <a:solidFill>
                    <a:srgbClr val="F36B08"/>
                  </a:solidFill>
                  <a:latin typeface="Arial"/>
                  <a:cs typeface="Arial"/>
                  <a:sym typeface="Arial"/>
                  <a:rtl val="0"/>
                </a:rPr>
                <a:t>3</a:t>
              </a:r>
            </a:p>
          </p:txBody>
        </p:sp>
        <p:sp>
          <p:nvSpPr>
            <p:cNvPr id="83" name="TextBox 82">
              <a:extLst>
                <a:ext uri="{FF2B5EF4-FFF2-40B4-BE49-F238E27FC236}">
                  <a16:creationId xmlns:a16="http://schemas.microsoft.com/office/drawing/2014/main" id="{D3548B91-11B9-FD01-E5DA-A6EC93ADCD4C}"/>
                </a:ext>
              </a:extLst>
            </p:cNvPr>
            <p:cNvSpPr txBox="1"/>
            <p:nvPr/>
          </p:nvSpPr>
          <p:spPr>
            <a:xfrm>
              <a:off x="4308293" y="1611751"/>
              <a:ext cx="1704313" cy="246221"/>
            </a:xfrm>
            <a:prstGeom prst="rect">
              <a:avLst/>
            </a:prstGeom>
            <a:grpFill/>
          </p:spPr>
          <p:txBody>
            <a:bodyPr wrap="none" rtlCol="0">
              <a:spAutoFit/>
            </a:bodyPr>
            <a:lstStyle/>
            <a:p>
              <a:pPr algn="l"/>
              <a:r>
                <a:rPr lang="en-US" sz="1000" b="1" spc="0" baseline="0" dirty="0">
                  <a:ln/>
                  <a:solidFill>
                    <a:srgbClr val="FFFFFF"/>
                  </a:solidFill>
                  <a:latin typeface="Arial"/>
                  <a:cs typeface="Arial"/>
                  <a:sym typeface="Arial"/>
                  <a:rtl val="0"/>
                </a:rPr>
                <a:t>3. TWT Deviation Penalty</a:t>
              </a:r>
            </a:p>
          </p:txBody>
        </p:sp>
        <p:grpSp>
          <p:nvGrpSpPr>
            <p:cNvPr id="84" name="Graphic 3">
              <a:extLst>
                <a:ext uri="{FF2B5EF4-FFF2-40B4-BE49-F238E27FC236}">
                  <a16:creationId xmlns:a16="http://schemas.microsoft.com/office/drawing/2014/main" id="{C22D9223-6403-23B2-21D8-AF69C4A8E639}"/>
                </a:ext>
              </a:extLst>
            </p:cNvPr>
            <p:cNvGrpSpPr/>
            <p:nvPr/>
          </p:nvGrpSpPr>
          <p:grpSpPr>
            <a:xfrm>
              <a:off x="3924300" y="2035608"/>
              <a:ext cx="1470346" cy="347005"/>
              <a:chOff x="3924300" y="2035608"/>
              <a:chExt cx="1470346" cy="347005"/>
            </a:xfrm>
            <a:grpFill/>
          </p:grpSpPr>
          <p:sp>
            <p:nvSpPr>
              <p:cNvPr id="85" name="TextBox 84">
                <a:extLst>
                  <a:ext uri="{FF2B5EF4-FFF2-40B4-BE49-F238E27FC236}">
                    <a16:creationId xmlns:a16="http://schemas.microsoft.com/office/drawing/2014/main" id="{99ECE026-7630-5104-2196-D05C9482EB5B}"/>
                  </a:ext>
                </a:extLst>
              </p:cNvPr>
              <p:cNvSpPr txBox="1"/>
              <p:nvPr/>
            </p:nvSpPr>
            <p:spPr>
              <a:xfrm>
                <a:off x="3924300" y="2119930"/>
                <a:ext cx="410690" cy="253916"/>
              </a:xfrm>
              <a:prstGeom prst="rect">
                <a:avLst/>
              </a:prstGeom>
              <a:grpFill/>
            </p:spPr>
            <p:txBody>
              <a:bodyPr wrap="none" rtlCol="0" anchor="b">
                <a:spAutoFit/>
              </a:bodyPr>
              <a:lstStyle/>
              <a:p>
                <a:pPr algn="l"/>
                <a:r>
                  <a:rPr lang="en-US" sz="1050" i="1" spc="0" baseline="0">
                    <a:ln/>
                    <a:solidFill>
                      <a:srgbClr val="111111"/>
                    </a:solidFill>
                    <a:latin typeface="Times New Roman"/>
                    <a:cs typeface="Times New Roman"/>
                    <a:sym typeface="Times New Roman"/>
                    <a:rtl val="0"/>
                  </a:rPr>
                  <a:t>c</a:t>
                </a:r>
                <a:r>
                  <a:rPr lang="en-US" sz="1000" i="1" spc="0" baseline="36914">
                    <a:ln/>
                    <a:solidFill>
                      <a:srgbClr val="111111"/>
                    </a:solidFill>
                    <a:latin typeface="Times New Roman"/>
                    <a:cs typeface="Times New Roman"/>
                    <a:sym typeface="Times New Roman"/>
                    <a:rtl val="0"/>
                  </a:rPr>
                  <a:t>TWT</a:t>
                </a:r>
              </a:p>
            </p:txBody>
          </p:sp>
          <p:sp>
            <p:nvSpPr>
              <p:cNvPr id="86" name="TextBox 85">
                <a:extLst>
                  <a:ext uri="{FF2B5EF4-FFF2-40B4-BE49-F238E27FC236}">
                    <a16:creationId xmlns:a16="http://schemas.microsoft.com/office/drawing/2014/main" id="{92B9190E-FEF6-7BD5-60AC-25C09CF645A2}"/>
                  </a:ext>
                </a:extLst>
              </p:cNvPr>
              <p:cNvSpPr txBox="1"/>
              <p:nvPr/>
            </p:nvSpPr>
            <p:spPr>
              <a:xfrm>
                <a:off x="4275908" y="2035608"/>
                <a:ext cx="253596" cy="338554"/>
              </a:xfrm>
              <a:prstGeom prst="rect">
                <a:avLst/>
              </a:prstGeom>
              <a:grpFill/>
            </p:spPr>
            <p:txBody>
              <a:bodyPr wrap="none" rtlCol="0">
                <a:spAutoFit/>
              </a:bodyPr>
              <a:lstStyle/>
              <a:p>
                <a:pPr algn="l"/>
                <a:r>
                  <a:rPr lang="en-US" sz="1600" spc="0" baseline="0">
                    <a:ln/>
                    <a:solidFill>
                      <a:srgbClr val="111111"/>
                    </a:solidFill>
                    <a:latin typeface="Times New Roman"/>
                    <a:cs typeface="Times New Roman"/>
                    <a:sym typeface="Times New Roman"/>
                    <a:rtl val="0"/>
                  </a:rPr>
                  <a:t>(</a:t>
                </a:r>
              </a:p>
            </p:txBody>
          </p:sp>
          <p:sp>
            <p:nvSpPr>
              <p:cNvPr id="87" name="TextBox 86">
                <a:extLst>
                  <a:ext uri="{FF2B5EF4-FFF2-40B4-BE49-F238E27FC236}">
                    <a16:creationId xmlns:a16="http://schemas.microsoft.com/office/drawing/2014/main" id="{C19AA243-F956-A9A6-720C-410E72569F79}"/>
                  </a:ext>
                </a:extLst>
              </p:cNvPr>
              <p:cNvSpPr txBox="1"/>
              <p:nvPr/>
            </p:nvSpPr>
            <p:spPr>
              <a:xfrm>
                <a:off x="4363810" y="2136392"/>
                <a:ext cx="906017" cy="246221"/>
              </a:xfrm>
              <a:prstGeom prst="rect">
                <a:avLst/>
              </a:prstGeom>
              <a:grpFill/>
            </p:spPr>
            <p:txBody>
              <a:bodyPr wrap="none" rtlCol="0" anchor="ctr">
                <a:spAutoFit/>
              </a:bodyPr>
              <a:lstStyle/>
              <a:p>
                <a:pPr algn="l"/>
                <a:r>
                  <a:rPr lang="en-US" sz="1000" i="1" spc="0" baseline="0">
                    <a:ln/>
                    <a:solidFill>
                      <a:srgbClr val="111111"/>
                    </a:solidFill>
                    <a:latin typeface="Times New Roman"/>
                    <a:cs typeface="Times New Roman"/>
                    <a:sym typeface="Times New Roman"/>
                    <a:rtl val="0"/>
                  </a:rPr>
                  <a:t>z</a:t>
                </a:r>
                <a:r>
                  <a:rPr lang="en-US" sz="900" i="1" spc="0" baseline="36914">
                    <a:ln/>
                    <a:solidFill>
                      <a:srgbClr val="111111"/>
                    </a:solidFill>
                    <a:latin typeface="Times New Roman"/>
                    <a:cs typeface="Times New Roman"/>
                    <a:sym typeface="Times New Roman"/>
                    <a:rtl val="0"/>
                  </a:rPr>
                  <a:t>TWT+</a:t>
                </a:r>
                <a:r>
                  <a:rPr lang="en-US" sz="900" i="1" spc="0" baseline="-36914">
                    <a:ln/>
                    <a:solidFill>
                      <a:srgbClr val="111111"/>
                    </a:solidFill>
                    <a:latin typeface="Times New Roman"/>
                    <a:cs typeface="Times New Roman"/>
                    <a:sym typeface="Times New Roman"/>
                    <a:rtl val="0"/>
                  </a:rPr>
                  <a:t>i</a:t>
                </a:r>
                <a:r>
                  <a:rPr lang="en-US" sz="1000" i="1" spc="0" baseline="0">
                    <a:ln/>
                    <a:solidFill>
                      <a:srgbClr val="111111"/>
                    </a:solidFill>
                    <a:latin typeface="Times New Roman"/>
                    <a:cs typeface="Times New Roman"/>
                    <a:sym typeface="Times New Roman"/>
                    <a:rtl val="0"/>
                  </a:rPr>
                  <a:t> + z</a:t>
                </a:r>
                <a:r>
                  <a:rPr lang="en-US" sz="900" i="1" spc="0" baseline="36914">
                    <a:ln/>
                    <a:solidFill>
                      <a:srgbClr val="111111"/>
                    </a:solidFill>
                    <a:latin typeface="Times New Roman"/>
                    <a:cs typeface="Times New Roman"/>
                    <a:sym typeface="Times New Roman"/>
                    <a:rtl val="0"/>
                  </a:rPr>
                  <a:t>TWT−</a:t>
                </a:r>
                <a:r>
                  <a:rPr lang="en-US" sz="900" i="1" spc="0" baseline="-36914">
                    <a:ln/>
                    <a:solidFill>
                      <a:srgbClr val="111111"/>
                    </a:solidFill>
                    <a:latin typeface="Times New Roman"/>
                    <a:cs typeface="Times New Roman"/>
                    <a:sym typeface="Times New Roman"/>
                    <a:rtl val="0"/>
                  </a:rPr>
                  <a:t>i</a:t>
                </a:r>
              </a:p>
            </p:txBody>
          </p:sp>
          <p:sp>
            <p:nvSpPr>
              <p:cNvPr id="88" name="TextBox 87">
                <a:extLst>
                  <a:ext uri="{FF2B5EF4-FFF2-40B4-BE49-F238E27FC236}">
                    <a16:creationId xmlns:a16="http://schemas.microsoft.com/office/drawing/2014/main" id="{955CF4FA-AF05-716E-E6CE-8EF76D61F0BB}"/>
                  </a:ext>
                </a:extLst>
              </p:cNvPr>
              <p:cNvSpPr txBox="1"/>
              <p:nvPr/>
            </p:nvSpPr>
            <p:spPr>
              <a:xfrm>
                <a:off x="5141050" y="2035608"/>
                <a:ext cx="253596" cy="338554"/>
              </a:xfrm>
              <a:prstGeom prst="rect">
                <a:avLst/>
              </a:prstGeom>
              <a:grpFill/>
            </p:spPr>
            <p:txBody>
              <a:bodyPr wrap="none" rtlCol="0">
                <a:spAutoFit/>
              </a:bodyPr>
              <a:lstStyle/>
              <a:p>
                <a:pPr algn="l"/>
                <a:r>
                  <a:rPr lang="en-US" sz="1600" spc="0" baseline="0">
                    <a:ln/>
                    <a:solidFill>
                      <a:srgbClr val="111111"/>
                    </a:solidFill>
                    <a:latin typeface="Times New Roman"/>
                    <a:cs typeface="Times New Roman"/>
                    <a:sym typeface="Times New Roman"/>
                    <a:rtl val="0"/>
                  </a:rPr>
                  <a:t>)</a:t>
                </a:r>
              </a:p>
            </p:txBody>
          </p:sp>
        </p:grpSp>
        <p:sp>
          <p:nvSpPr>
            <p:cNvPr id="89" name="TextBox 88">
              <a:extLst>
                <a:ext uri="{FF2B5EF4-FFF2-40B4-BE49-F238E27FC236}">
                  <a16:creationId xmlns:a16="http://schemas.microsoft.com/office/drawing/2014/main" id="{8FF68176-5FC6-0361-6769-4EA1EFA9033E}"/>
                </a:ext>
              </a:extLst>
            </p:cNvPr>
            <p:cNvSpPr txBox="1"/>
            <p:nvPr/>
          </p:nvSpPr>
          <p:spPr>
            <a:xfrm>
              <a:off x="3858408" y="2580329"/>
              <a:ext cx="1755903" cy="553998"/>
            </a:xfrm>
            <a:prstGeom prst="rect">
              <a:avLst/>
            </a:prstGeom>
            <a:grpFill/>
          </p:spPr>
          <p:txBody>
            <a:bodyPr wrap="square" rtlCol="0">
              <a:spAutoFit/>
            </a:bodyPr>
            <a:lstStyle/>
            <a:p>
              <a:pPr algn="l"/>
              <a:r>
                <a:rPr lang="en-US" sz="1000" b="1" spc="0" baseline="0" dirty="0">
                  <a:ln/>
                  <a:solidFill>
                    <a:srgbClr val="111111"/>
                  </a:solidFill>
                  <a:latin typeface="Arial"/>
                  <a:cs typeface="Arial"/>
                  <a:sym typeface="Arial"/>
                  <a:rtl val="0"/>
                </a:rPr>
                <a:t>Penalizes early / late</a:t>
              </a:r>
              <a:r>
                <a:rPr lang="zh-CN" altLang="en-US" sz="1000" b="1" spc="0" baseline="0" dirty="0">
                  <a:ln/>
                  <a:solidFill>
                    <a:srgbClr val="111111"/>
                  </a:solidFill>
                  <a:latin typeface="Arial"/>
                  <a:cs typeface="Arial"/>
                  <a:sym typeface="Arial"/>
                  <a:rtl val="0"/>
                </a:rPr>
                <a:t> </a:t>
              </a:r>
              <a:r>
                <a:rPr lang="en-US" sz="1000" b="1" spc="0" baseline="0" dirty="0">
                  <a:ln/>
                  <a:solidFill>
                    <a:srgbClr val="111111"/>
                  </a:solidFill>
                  <a:latin typeface="Arial"/>
                  <a:cs typeface="Arial"/>
                  <a:sym typeface="Arial"/>
                  <a:rtl val="0"/>
                </a:rPr>
                <a:t>deviations from</a:t>
              </a:r>
              <a:r>
                <a:rPr lang="zh-CN" altLang="en-US" sz="1000" b="1" spc="0" baseline="0" dirty="0">
                  <a:ln/>
                  <a:solidFill>
                    <a:srgbClr val="111111"/>
                  </a:solidFill>
                  <a:latin typeface="Arial"/>
                  <a:cs typeface="Arial"/>
                  <a:sym typeface="Arial"/>
                  <a:rtl val="0"/>
                </a:rPr>
                <a:t> </a:t>
              </a:r>
              <a:r>
                <a:rPr lang="en-US" sz="1000" b="1" dirty="0">
                  <a:ln/>
                  <a:solidFill>
                    <a:srgbClr val="111111"/>
                  </a:solidFill>
                  <a:latin typeface="Arial"/>
                  <a:cs typeface="Arial"/>
                  <a:sym typeface="Arial"/>
                  <a:rtl val="0"/>
                </a:rPr>
                <a:t>Terminal Want Time (TWT)</a:t>
              </a:r>
            </a:p>
          </p:txBody>
        </p:sp>
        <p:sp>
          <p:nvSpPr>
            <p:cNvPr id="90" name="TextBox 89">
              <a:extLst>
                <a:ext uri="{FF2B5EF4-FFF2-40B4-BE49-F238E27FC236}">
                  <a16:creationId xmlns:a16="http://schemas.microsoft.com/office/drawing/2014/main" id="{F201E444-C503-27EE-678B-CC9F8941F827}"/>
                </a:ext>
              </a:extLst>
            </p:cNvPr>
            <p:cNvSpPr txBox="1"/>
            <p:nvPr/>
          </p:nvSpPr>
          <p:spPr>
            <a:xfrm>
              <a:off x="4099849" y="2723697"/>
              <a:ext cx="184731" cy="200055"/>
            </a:xfrm>
            <a:prstGeom prst="rect">
              <a:avLst/>
            </a:prstGeom>
            <a:grpFill/>
          </p:spPr>
          <p:txBody>
            <a:bodyPr wrap="none" rtlCol="0">
              <a:spAutoFit/>
            </a:bodyPr>
            <a:lstStyle/>
            <a:p>
              <a:pPr algn="l"/>
              <a:endParaRPr lang="en-US" sz="700" b="1" spc="0" baseline="0" dirty="0">
                <a:ln/>
                <a:solidFill>
                  <a:srgbClr val="111111"/>
                </a:solidFill>
                <a:latin typeface="Arial"/>
                <a:cs typeface="Arial"/>
                <a:sym typeface="Arial"/>
                <a:rtl val="0"/>
              </a:endParaRPr>
            </a:p>
          </p:txBody>
        </p:sp>
      </p:grpSp>
      <p:grpSp>
        <p:nvGrpSpPr>
          <p:cNvPr id="91" name="Graphic 3">
            <a:extLst>
              <a:ext uri="{FF2B5EF4-FFF2-40B4-BE49-F238E27FC236}">
                <a16:creationId xmlns:a16="http://schemas.microsoft.com/office/drawing/2014/main" id="{2BCB0F03-5814-402D-6AB3-24D62B08BBA3}"/>
              </a:ext>
            </a:extLst>
          </p:cNvPr>
          <p:cNvGrpSpPr/>
          <p:nvPr/>
        </p:nvGrpSpPr>
        <p:grpSpPr>
          <a:xfrm>
            <a:off x="7973497" y="2137470"/>
            <a:ext cx="2300157" cy="2055388"/>
            <a:chOff x="5500272" y="1478321"/>
            <a:chExt cx="2300157" cy="2055388"/>
          </a:xfrm>
          <a:noFill/>
        </p:grpSpPr>
        <p:sp>
          <p:nvSpPr>
            <p:cNvPr id="92" name="Rounded Rectangle 91">
              <a:extLst>
                <a:ext uri="{FF2B5EF4-FFF2-40B4-BE49-F238E27FC236}">
                  <a16:creationId xmlns:a16="http://schemas.microsoft.com/office/drawing/2014/main" id="{DA9B6A4F-481C-C0E9-0EEE-183FF139E6E0}"/>
                </a:ext>
              </a:extLst>
            </p:cNvPr>
            <p:cNvSpPr/>
            <p:nvPr/>
          </p:nvSpPr>
          <p:spPr>
            <a:xfrm>
              <a:off x="5524706" y="1478321"/>
              <a:ext cx="2251288" cy="2055388"/>
            </a:xfrm>
            <a:prstGeom prst="roundRect">
              <a:avLst>
                <a:gd name="adj" fmla="val 4107"/>
              </a:avLst>
            </a:prstGeom>
            <a:grpFill/>
            <a:ln w="9253" cap="flat">
              <a:solidFill>
                <a:srgbClr val="5B39BA"/>
              </a:solidFill>
              <a:prstDash val="solid"/>
              <a:miter/>
            </a:ln>
          </p:spPr>
          <p:txBody>
            <a:bodyPr/>
            <a:lstStyle/>
            <a:p>
              <a:endParaRPr lang="en-US" sz="800"/>
            </a:p>
          </p:txBody>
        </p:sp>
        <p:sp>
          <p:nvSpPr>
            <p:cNvPr id="93" name="Freeform 92">
              <a:extLst>
                <a:ext uri="{FF2B5EF4-FFF2-40B4-BE49-F238E27FC236}">
                  <a16:creationId xmlns:a16="http://schemas.microsoft.com/office/drawing/2014/main" id="{4B7DA97A-B24F-4475-582D-53DE070AF9A4}"/>
                </a:ext>
              </a:extLst>
            </p:cNvPr>
            <p:cNvSpPr/>
            <p:nvPr/>
          </p:nvSpPr>
          <p:spPr>
            <a:xfrm>
              <a:off x="5815420" y="1543897"/>
              <a:ext cx="1758042" cy="337609"/>
            </a:xfrm>
            <a:custGeom>
              <a:avLst/>
              <a:gdLst>
                <a:gd name="csX0" fmla="*/ 0 w 1758042"/>
                <a:gd name="csY0" fmla="*/ 64747 h 337609"/>
                <a:gd name="csX1" fmla="*/ 64770 w 1758042"/>
                <a:gd name="csY1" fmla="*/ 0 h 337609"/>
                <a:gd name="csX2" fmla="*/ 1693273 w 1758042"/>
                <a:gd name="csY2" fmla="*/ 0 h 337609"/>
                <a:gd name="csX3" fmla="*/ 1758043 w 1758042"/>
                <a:gd name="csY3" fmla="*/ 64747 h 337609"/>
                <a:gd name="csX4" fmla="*/ 1758043 w 1758042"/>
                <a:gd name="csY4" fmla="*/ 337610 h 337609"/>
                <a:gd name="csX5" fmla="*/ 0 w 1758042"/>
                <a:gd name="csY5" fmla="*/ 337610 h 337609"/>
              </a:gdLst>
              <a:ahLst/>
              <a:cxnLst>
                <a:cxn ang="0">
                  <a:pos x="csX0" y="csY0"/>
                </a:cxn>
                <a:cxn ang="0">
                  <a:pos x="csX1" y="csY1"/>
                </a:cxn>
                <a:cxn ang="0">
                  <a:pos x="csX2" y="csY2"/>
                </a:cxn>
                <a:cxn ang="0">
                  <a:pos x="csX3" y="csY3"/>
                </a:cxn>
                <a:cxn ang="0">
                  <a:pos x="csX4" y="csY4"/>
                </a:cxn>
                <a:cxn ang="0">
                  <a:pos x="csX5" y="csY5"/>
                </a:cxn>
              </a:cxnLst>
              <a:rect l="l" t="t" r="r" b="b"/>
              <a:pathLst>
                <a:path w="1758042" h="337609">
                  <a:moveTo>
                    <a:pt x="0" y="64747"/>
                  </a:moveTo>
                  <a:cubicBezTo>
                    <a:pt x="0" y="21582"/>
                    <a:pt x="21590" y="0"/>
                    <a:pt x="64770" y="0"/>
                  </a:cubicBezTo>
                  <a:lnTo>
                    <a:pt x="1693273" y="0"/>
                  </a:lnTo>
                  <a:cubicBezTo>
                    <a:pt x="1736453" y="0"/>
                    <a:pt x="1758043" y="21582"/>
                    <a:pt x="1758043" y="64747"/>
                  </a:cubicBezTo>
                  <a:lnTo>
                    <a:pt x="1758043" y="337610"/>
                  </a:lnTo>
                  <a:lnTo>
                    <a:pt x="0" y="337610"/>
                  </a:lnTo>
                  <a:close/>
                </a:path>
              </a:pathLst>
            </a:custGeom>
            <a:grpFill/>
            <a:ln w="4626" cap="flat">
              <a:noFill/>
              <a:prstDash val="solid"/>
              <a:miter/>
            </a:ln>
          </p:spPr>
          <p:txBody>
            <a:bodyPr/>
            <a:lstStyle/>
            <a:p>
              <a:endParaRPr lang="en-US" sz="800"/>
            </a:p>
          </p:txBody>
        </p:sp>
        <p:sp>
          <p:nvSpPr>
            <p:cNvPr id="94" name="Oval 93">
              <a:extLst>
                <a:ext uri="{FF2B5EF4-FFF2-40B4-BE49-F238E27FC236}">
                  <a16:creationId xmlns:a16="http://schemas.microsoft.com/office/drawing/2014/main" id="{F725CC31-ED5E-065F-D3D4-7B48802C7693}"/>
                </a:ext>
              </a:extLst>
            </p:cNvPr>
            <p:cNvSpPr/>
            <p:nvPr/>
          </p:nvSpPr>
          <p:spPr>
            <a:xfrm>
              <a:off x="5931081" y="1567021"/>
              <a:ext cx="286838" cy="286737"/>
            </a:xfrm>
            <a:prstGeom prst="ellipse">
              <a:avLst/>
            </a:prstGeom>
            <a:grpFill/>
            <a:ln w="4626" cap="flat">
              <a:noFill/>
              <a:prstDash val="solid"/>
              <a:miter/>
            </a:ln>
          </p:spPr>
          <p:txBody>
            <a:bodyPr/>
            <a:lstStyle/>
            <a:p>
              <a:endParaRPr lang="en-US" sz="800"/>
            </a:p>
          </p:txBody>
        </p:sp>
        <p:sp>
          <p:nvSpPr>
            <p:cNvPr id="95" name="TextBox 94">
              <a:extLst>
                <a:ext uri="{FF2B5EF4-FFF2-40B4-BE49-F238E27FC236}">
                  <a16:creationId xmlns:a16="http://schemas.microsoft.com/office/drawing/2014/main" id="{77D0A485-C470-1D6E-C9D0-B36C05BC6507}"/>
                </a:ext>
              </a:extLst>
            </p:cNvPr>
            <p:cNvSpPr txBox="1"/>
            <p:nvPr/>
          </p:nvSpPr>
          <p:spPr>
            <a:xfrm>
              <a:off x="5934173" y="1570322"/>
              <a:ext cx="263214" cy="261610"/>
            </a:xfrm>
            <a:prstGeom prst="rect">
              <a:avLst/>
            </a:prstGeom>
            <a:grpFill/>
          </p:spPr>
          <p:txBody>
            <a:bodyPr wrap="none" rtlCol="0">
              <a:spAutoFit/>
            </a:bodyPr>
            <a:lstStyle/>
            <a:p>
              <a:pPr algn="l"/>
              <a:r>
                <a:rPr lang="en-US" sz="1100" b="1" spc="0" baseline="0">
                  <a:ln/>
                  <a:solidFill>
                    <a:srgbClr val="5D39B7"/>
                  </a:solidFill>
                  <a:latin typeface="Arial"/>
                  <a:cs typeface="Arial"/>
                  <a:sym typeface="Arial"/>
                  <a:rtl val="0"/>
                </a:rPr>
                <a:t>4</a:t>
              </a:r>
            </a:p>
          </p:txBody>
        </p:sp>
        <p:sp>
          <p:nvSpPr>
            <p:cNvPr id="96" name="TextBox 95">
              <a:extLst>
                <a:ext uri="{FF2B5EF4-FFF2-40B4-BE49-F238E27FC236}">
                  <a16:creationId xmlns:a16="http://schemas.microsoft.com/office/drawing/2014/main" id="{4E7944A2-5145-83FA-15A0-E5E1F4CBEF52}"/>
                </a:ext>
              </a:extLst>
            </p:cNvPr>
            <p:cNvSpPr txBox="1"/>
            <p:nvPr/>
          </p:nvSpPr>
          <p:spPr>
            <a:xfrm>
              <a:off x="6246767" y="1603377"/>
              <a:ext cx="1263487" cy="246221"/>
            </a:xfrm>
            <a:prstGeom prst="rect">
              <a:avLst/>
            </a:prstGeom>
            <a:grpFill/>
          </p:spPr>
          <p:txBody>
            <a:bodyPr wrap="none" rtlCol="0">
              <a:spAutoFit/>
            </a:bodyPr>
            <a:lstStyle/>
            <a:p>
              <a:pPr algn="l"/>
              <a:r>
                <a:rPr lang="en-US" sz="1000" b="1" spc="0" baseline="0">
                  <a:ln/>
                  <a:solidFill>
                    <a:srgbClr val="FFFFFF"/>
                  </a:solidFill>
                  <a:latin typeface="Arial"/>
                  <a:cs typeface="Arial"/>
                  <a:sym typeface="Arial"/>
                  <a:rtl val="0"/>
                </a:rPr>
                <a:t>4. U-Term Penalty</a:t>
              </a:r>
            </a:p>
          </p:txBody>
        </p:sp>
        <p:grpSp>
          <p:nvGrpSpPr>
            <p:cNvPr id="97" name="Graphic 3">
              <a:extLst>
                <a:ext uri="{FF2B5EF4-FFF2-40B4-BE49-F238E27FC236}">
                  <a16:creationId xmlns:a16="http://schemas.microsoft.com/office/drawing/2014/main" id="{EAE1A3E7-43CD-6C35-D0F3-7B8B990C364B}"/>
                </a:ext>
              </a:extLst>
            </p:cNvPr>
            <p:cNvGrpSpPr/>
            <p:nvPr/>
          </p:nvGrpSpPr>
          <p:grpSpPr>
            <a:xfrm>
              <a:off x="6080215" y="2005156"/>
              <a:ext cx="1137668" cy="551084"/>
              <a:chOff x="6080215" y="2005156"/>
              <a:chExt cx="1137668" cy="551084"/>
            </a:xfrm>
            <a:grpFill/>
          </p:grpSpPr>
          <p:sp>
            <p:nvSpPr>
              <p:cNvPr id="98" name="TextBox 97">
                <a:extLst>
                  <a:ext uri="{FF2B5EF4-FFF2-40B4-BE49-F238E27FC236}">
                    <a16:creationId xmlns:a16="http://schemas.microsoft.com/office/drawing/2014/main" id="{F5C4437E-003B-FBD3-D5B5-3AA4351F074F}"/>
                  </a:ext>
                </a:extLst>
              </p:cNvPr>
              <p:cNvSpPr txBox="1"/>
              <p:nvPr/>
            </p:nvSpPr>
            <p:spPr>
              <a:xfrm>
                <a:off x="6080215" y="2005156"/>
                <a:ext cx="367408" cy="400110"/>
              </a:xfrm>
              <a:prstGeom prst="rect">
                <a:avLst/>
              </a:prstGeom>
              <a:grpFill/>
            </p:spPr>
            <p:txBody>
              <a:bodyPr wrap="none" rtlCol="0">
                <a:spAutoFit/>
              </a:bodyPr>
              <a:lstStyle/>
              <a:p>
                <a:pPr algn="l"/>
                <a:r>
                  <a:rPr lang="en-US" sz="2000" spc="0" baseline="0">
                    <a:ln/>
                    <a:solidFill>
                      <a:srgbClr val="111111"/>
                    </a:solidFill>
                    <a:latin typeface="Times New Roman"/>
                    <a:cs typeface="Times New Roman"/>
                    <a:sym typeface="Times New Roman"/>
                    <a:rtl val="0"/>
                  </a:rPr>
                  <a:t>∑</a:t>
                </a:r>
              </a:p>
            </p:txBody>
          </p:sp>
          <p:sp>
            <p:nvSpPr>
              <p:cNvPr id="99" name="TextBox 98">
                <a:extLst>
                  <a:ext uri="{FF2B5EF4-FFF2-40B4-BE49-F238E27FC236}">
                    <a16:creationId xmlns:a16="http://schemas.microsoft.com/office/drawing/2014/main" id="{3A7146D8-15C4-9D0B-48C7-CA369C2B63EF}"/>
                  </a:ext>
                </a:extLst>
              </p:cNvPr>
              <p:cNvSpPr txBox="1"/>
              <p:nvPr/>
            </p:nvSpPr>
            <p:spPr>
              <a:xfrm>
                <a:off x="6431824" y="2005156"/>
                <a:ext cx="367408" cy="400110"/>
              </a:xfrm>
              <a:prstGeom prst="rect">
                <a:avLst/>
              </a:prstGeom>
              <a:grpFill/>
            </p:spPr>
            <p:txBody>
              <a:bodyPr wrap="none" rtlCol="0">
                <a:spAutoFit/>
              </a:bodyPr>
              <a:lstStyle/>
              <a:p>
                <a:pPr algn="l"/>
                <a:r>
                  <a:rPr lang="en-US" sz="2000" spc="0" baseline="0">
                    <a:ln/>
                    <a:solidFill>
                      <a:srgbClr val="111111"/>
                    </a:solidFill>
                    <a:latin typeface="Times New Roman"/>
                    <a:cs typeface="Times New Roman"/>
                    <a:sym typeface="Times New Roman"/>
                    <a:rtl val="0"/>
                  </a:rPr>
                  <a:t>∑</a:t>
                </a:r>
              </a:p>
            </p:txBody>
          </p:sp>
          <p:sp>
            <p:nvSpPr>
              <p:cNvPr id="100" name="TextBox 99">
                <a:extLst>
                  <a:ext uri="{FF2B5EF4-FFF2-40B4-BE49-F238E27FC236}">
                    <a16:creationId xmlns:a16="http://schemas.microsoft.com/office/drawing/2014/main" id="{011B757D-A17E-03FE-5C57-26B6CBA5D3E3}"/>
                  </a:ext>
                </a:extLst>
              </p:cNvPr>
              <p:cNvSpPr txBox="1"/>
              <p:nvPr/>
            </p:nvSpPr>
            <p:spPr>
              <a:xfrm>
                <a:off x="6117227" y="2371574"/>
                <a:ext cx="300082" cy="184666"/>
              </a:xfrm>
              <a:prstGeom prst="rect">
                <a:avLst/>
              </a:prstGeom>
              <a:grpFill/>
            </p:spPr>
            <p:txBody>
              <a:bodyPr wrap="none" rtlCol="0">
                <a:spAutoFit/>
              </a:bodyPr>
              <a:lstStyle/>
              <a:p>
                <a:pPr algn="l"/>
                <a:r>
                  <a:rPr lang="en-US" sz="600" spc="0" baseline="0">
                    <a:ln/>
                    <a:solidFill>
                      <a:srgbClr val="111111"/>
                    </a:solidFill>
                    <a:latin typeface="Times New Roman"/>
                    <a:cs typeface="Times New Roman"/>
                    <a:sym typeface="Times New Roman"/>
                    <a:rtl val="0"/>
                  </a:rPr>
                  <a:t>i</a:t>
                </a:r>
                <a:r>
                  <a:rPr lang="en-US" sz="600" spc="0" baseline="0">
                    <a:ln/>
                    <a:solidFill>
                      <a:srgbClr val="111111"/>
                    </a:solidFill>
                    <a:latin typeface="Cambria Math"/>
                    <a:ea typeface="Cambria Math"/>
                    <a:cs typeface="Times New Roman"/>
                    <a:sym typeface="Cambria Math"/>
                    <a:rtl val="0"/>
                  </a:rPr>
                  <a:t>∈</a:t>
                </a:r>
                <a:r>
                  <a:rPr lang="en-US" sz="600" spc="0" baseline="0">
                    <a:ln/>
                    <a:solidFill>
                      <a:srgbClr val="111111"/>
                    </a:solidFill>
                    <a:latin typeface="Times New Roman"/>
                    <a:ea typeface="Cambria Math"/>
                    <a:cs typeface="Times New Roman"/>
                    <a:sym typeface="Times New Roman"/>
                    <a:rtl val="0"/>
                  </a:rPr>
                  <a:t>T</a:t>
                </a:r>
              </a:p>
            </p:txBody>
          </p:sp>
          <p:sp>
            <p:nvSpPr>
              <p:cNvPr id="101" name="TextBox 100">
                <a:extLst>
                  <a:ext uri="{FF2B5EF4-FFF2-40B4-BE49-F238E27FC236}">
                    <a16:creationId xmlns:a16="http://schemas.microsoft.com/office/drawing/2014/main" id="{5822F319-A5C8-EA1A-0C1E-0EA5E0AE88BD}"/>
                  </a:ext>
                </a:extLst>
              </p:cNvPr>
              <p:cNvSpPr txBox="1"/>
              <p:nvPr/>
            </p:nvSpPr>
            <p:spPr>
              <a:xfrm>
                <a:off x="6478088" y="2371574"/>
                <a:ext cx="317716" cy="184666"/>
              </a:xfrm>
              <a:prstGeom prst="rect">
                <a:avLst/>
              </a:prstGeom>
              <a:grpFill/>
            </p:spPr>
            <p:txBody>
              <a:bodyPr wrap="none" rtlCol="0">
                <a:spAutoFit/>
              </a:bodyPr>
              <a:lstStyle/>
              <a:p>
                <a:pPr algn="l"/>
                <a:r>
                  <a:rPr lang="en-US" sz="600" spc="0" baseline="0">
                    <a:ln/>
                    <a:solidFill>
                      <a:srgbClr val="111111"/>
                    </a:solidFill>
                    <a:latin typeface="Times New Roman"/>
                    <a:cs typeface="Times New Roman"/>
                    <a:sym typeface="Times New Roman"/>
                    <a:rtl val="0"/>
                  </a:rPr>
                  <a:t>j</a:t>
                </a:r>
                <a:r>
                  <a:rPr lang="en-US" sz="600" spc="0" baseline="0">
                    <a:ln/>
                    <a:solidFill>
                      <a:srgbClr val="111111"/>
                    </a:solidFill>
                    <a:latin typeface="Cambria Math"/>
                    <a:ea typeface="Cambria Math"/>
                    <a:cs typeface="Times New Roman"/>
                    <a:sym typeface="Cambria Math"/>
                    <a:rtl val="0"/>
                  </a:rPr>
                  <a:t>∈</a:t>
                </a:r>
                <a:r>
                  <a:rPr lang="en-US" sz="600" spc="0" baseline="0">
                    <a:ln/>
                    <a:solidFill>
                      <a:srgbClr val="111111"/>
                    </a:solidFill>
                    <a:latin typeface="Times New Roman"/>
                    <a:ea typeface="Cambria Math"/>
                    <a:cs typeface="Times New Roman"/>
                    <a:sym typeface="Times New Roman"/>
                    <a:rtl val="0"/>
                  </a:rPr>
                  <a:t>Bᵢ</a:t>
                </a:r>
              </a:p>
            </p:txBody>
          </p:sp>
          <p:sp>
            <p:nvSpPr>
              <p:cNvPr id="102" name="TextBox 101">
                <a:extLst>
                  <a:ext uri="{FF2B5EF4-FFF2-40B4-BE49-F238E27FC236}">
                    <a16:creationId xmlns:a16="http://schemas.microsoft.com/office/drawing/2014/main" id="{DF3EE691-5BDA-108D-E2F0-C884B1839898}"/>
                  </a:ext>
                </a:extLst>
              </p:cNvPr>
              <p:cNvSpPr txBox="1"/>
              <p:nvPr/>
            </p:nvSpPr>
            <p:spPr>
              <a:xfrm>
                <a:off x="6709410" y="2124296"/>
                <a:ext cx="508473" cy="261610"/>
              </a:xfrm>
              <a:prstGeom prst="rect">
                <a:avLst/>
              </a:prstGeom>
              <a:grpFill/>
            </p:spPr>
            <p:txBody>
              <a:bodyPr wrap="none" rtlCol="0" anchor="ctr">
                <a:spAutoFit/>
              </a:bodyPr>
              <a:lstStyle/>
              <a:p>
                <a:pPr algn="l"/>
                <a:r>
                  <a:rPr lang="en-US" sz="1050" i="1" spc="0" baseline="0" dirty="0" err="1">
                    <a:ln/>
                    <a:solidFill>
                      <a:srgbClr val="111111"/>
                    </a:solidFill>
                    <a:latin typeface="Times New Roman"/>
                    <a:cs typeface="Times New Roman"/>
                    <a:sym typeface="Times New Roman"/>
                    <a:rtl val="0"/>
                  </a:rPr>
                  <a:t>c</a:t>
                </a:r>
                <a:r>
                  <a:rPr lang="en-US" sz="1000" i="1" spc="0" baseline="36914" dirty="0" err="1">
                    <a:ln/>
                    <a:solidFill>
                      <a:srgbClr val="111111"/>
                    </a:solidFill>
                    <a:latin typeface="Times New Roman"/>
                    <a:cs typeface="Times New Roman"/>
                    <a:sym typeface="Times New Roman"/>
                    <a:rtl val="0"/>
                  </a:rPr>
                  <a:t>U</a:t>
                </a:r>
                <a:r>
                  <a:rPr lang="en-US" sz="1050" i="1" spc="0" baseline="0" dirty="0" err="1">
                    <a:ln/>
                    <a:solidFill>
                      <a:srgbClr val="111111"/>
                    </a:solidFill>
                    <a:latin typeface="Times New Roman"/>
                    <a:cs typeface="Times New Roman"/>
                    <a:sym typeface="Times New Roman"/>
                    <a:rtl val="0"/>
                  </a:rPr>
                  <a:t>z</a:t>
                </a:r>
                <a:r>
                  <a:rPr lang="en-US" sz="1000" i="1" spc="0" baseline="36914" dirty="0" err="1">
                    <a:ln/>
                    <a:solidFill>
                      <a:srgbClr val="111111"/>
                    </a:solidFill>
                    <a:latin typeface="Times New Roman"/>
                    <a:cs typeface="Times New Roman"/>
                    <a:sym typeface="Times New Roman"/>
                    <a:rtl val="0"/>
                  </a:rPr>
                  <a:t>U</a:t>
                </a:r>
                <a:r>
                  <a:rPr lang="en-US" sz="1000" i="1" spc="0" baseline="-36914" dirty="0" err="1">
                    <a:ln/>
                    <a:solidFill>
                      <a:srgbClr val="111111"/>
                    </a:solidFill>
                    <a:latin typeface="Times New Roman"/>
                    <a:cs typeface="Times New Roman"/>
                    <a:sym typeface="Times New Roman"/>
                    <a:rtl val="0"/>
                  </a:rPr>
                  <a:t>i,j</a:t>
                </a:r>
                <a:endParaRPr lang="en-US" sz="1000" i="1" spc="0" baseline="-36914" dirty="0">
                  <a:ln/>
                  <a:solidFill>
                    <a:srgbClr val="111111"/>
                  </a:solidFill>
                  <a:latin typeface="Times New Roman"/>
                  <a:cs typeface="Times New Roman"/>
                  <a:sym typeface="Times New Roman"/>
                  <a:rtl val="0"/>
                </a:endParaRPr>
              </a:p>
            </p:txBody>
          </p:sp>
        </p:grpSp>
        <p:sp>
          <p:nvSpPr>
            <p:cNvPr id="103" name="TextBox 102">
              <a:extLst>
                <a:ext uri="{FF2B5EF4-FFF2-40B4-BE49-F238E27FC236}">
                  <a16:creationId xmlns:a16="http://schemas.microsoft.com/office/drawing/2014/main" id="{9CECC0D2-711B-9153-E04C-D94612D69147}"/>
                </a:ext>
              </a:extLst>
            </p:cNvPr>
            <p:cNvSpPr txBox="1"/>
            <p:nvPr/>
          </p:nvSpPr>
          <p:spPr>
            <a:xfrm>
              <a:off x="5623433" y="2584515"/>
              <a:ext cx="2176996" cy="861774"/>
            </a:xfrm>
            <a:prstGeom prst="rect">
              <a:avLst/>
            </a:prstGeom>
            <a:grpFill/>
          </p:spPr>
          <p:txBody>
            <a:bodyPr wrap="square" rtlCol="0">
              <a:spAutoFit/>
            </a:bodyPr>
            <a:lstStyle/>
            <a:p>
              <a:r>
                <a:rPr lang="en-US" sz="1000" b="1" spc="0" baseline="0" dirty="0">
                  <a:ln/>
                  <a:solidFill>
                    <a:srgbClr val="0B2D63"/>
                  </a:solidFill>
                  <a:latin typeface="Arial"/>
                  <a:cs typeface="Arial"/>
                  <a:sym typeface="Arial"/>
                  <a:rtl val="0"/>
                </a:rPr>
                <a:t>Represents the penalty term associated with</a:t>
              </a:r>
              <a:r>
                <a:rPr lang="zh-CN" altLang="en-US" sz="1000" b="1" dirty="0">
                  <a:ln/>
                  <a:solidFill>
                    <a:srgbClr val="0B2D63"/>
                  </a:solidFill>
                  <a:latin typeface="Arial"/>
                  <a:cs typeface="Arial"/>
                  <a:sym typeface="Arial"/>
                  <a:rtl val="0"/>
                </a:rPr>
                <a:t> </a:t>
              </a:r>
              <a:r>
                <a:rPr lang="en-US" sz="1000" b="1" dirty="0">
                  <a:ln/>
                  <a:solidFill>
                    <a:srgbClr val="0B2D63"/>
                  </a:solidFill>
                  <a:latin typeface="Arial"/>
                  <a:cs typeface="Arial"/>
                  <a:sym typeface="Arial"/>
                  <a:rtl val="0"/>
                </a:rPr>
                <a:t>U-type (e.g., non-preferred routing/use) deviations</a:t>
              </a:r>
            </a:p>
            <a:p>
              <a:pPr algn="l"/>
              <a:endParaRPr lang="en-US" sz="1000" b="1" spc="0" baseline="0" dirty="0">
                <a:ln/>
                <a:solidFill>
                  <a:srgbClr val="0B2D63"/>
                </a:solidFill>
                <a:latin typeface="Arial"/>
                <a:cs typeface="Arial"/>
                <a:sym typeface="Arial"/>
                <a:rtl val="0"/>
              </a:endParaRPr>
            </a:p>
          </p:txBody>
        </p:sp>
        <p:sp>
          <p:nvSpPr>
            <p:cNvPr id="104" name="TextBox 103">
              <a:extLst>
                <a:ext uri="{FF2B5EF4-FFF2-40B4-BE49-F238E27FC236}">
                  <a16:creationId xmlns:a16="http://schemas.microsoft.com/office/drawing/2014/main" id="{DF2C898D-9B6C-5EF0-1867-779CDA3C6DFE}"/>
                </a:ext>
              </a:extLst>
            </p:cNvPr>
            <p:cNvSpPr txBox="1"/>
            <p:nvPr/>
          </p:nvSpPr>
          <p:spPr>
            <a:xfrm>
              <a:off x="5500272" y="2727884"/>
              <a:ext cx="184731" cy="200055"/>
            </a:xfrm>
            <a:prstGeom prst="rect">
              <a:avLst/>
            </a:prstGeom>
            <a:grpFill/>
          </p:spPr>
          <p:txBody>
            <a:bodyPr wrap="none" rtlCol="0">
              <a:spAutoFit/>
            </a:bodyPr>
            <a:lstStyle/>
            <a:p>
              <a:pPr algn="l"/>
              <a:endParaRPr lang="en-US" sz="700" b="1" spc="0" baseline="0" dirty="0">
                <a:ln/>
                <a:solidFill>
                  <a:srgbClr val="0B2D63"/>
                </a:solidFill>
                <a:latin typeface="Arial"/>
                <a:cs typeface="Arial"/>
                <a:sym typeface="Arial"/>
                <a:rtl val="0"/>
              </a:endParaRPr>
            </a:p>
          </p:txBody>
        </p:sp>
      </p:grpSp>
      <p:grpSp>
        <p:nvGrpSpPr>
          <p:cNvPr id="105" name="Graphic 3">
            <a:extLst>
              <a:ext uri="{FF2B5EF4-FFF2-40B4-BE49-F238E27FC236}">
                <a16:creationId xmlns:a16="http://schemas.microsoft.com/office/drawing/2014/main" id="{4DF48C2D-046A-D4EB-6901-7B22D281F235}"/>
              </a:ext>
            </a:extLst>
          </p:cNvPr>
          <p:cNvGrpSpPr/>
          <p:nvPr/>
        </p:nvGrpSpPr>
        <p:grpSpPr>
          <a:xfrm>
            <a:off x="583805" y="4673970"/>
            <a:ext cx="9041448" cy="636519"/>
            <a:chOff x="1666602" y="3369933"/>
            <a:chExt cx="6341744" cy="392131"/>
          </a:xfrm>
        </p:grpSpPr>
        <p:sp>
          <p:nvSpPr>
            <p:cNvPr id="114" name="TextBox 113">
              <a:extLst>
                <a:ext uri="{FF2B5EF4-FFF2-40B4-BE49-F238E27FC236}">
                  <a16:creationId xmlns:a16="http://schemas.microsoft.com/office/drawing/2014/main" id="{25395A7B-81D3-A05E-1E55-17655DEBF950}"/>
                </a:ext>
              </a:extLst>
            </p:cNvPr>
            <p:cNvSpPr txBox="1"/>
            <p:nvPr/>
          </p:nvSpPr>
          <p:spPr>
            <a:xfrm>
              <a:off x="1666602" y="3369933"/>
              <a:ext cx="254157"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T</a:t>
              </a:r>
            </a:p>
          </p:txBody>
        </p:sp>
        <p:sp>
          <p:nvSpPr>
            <p:cNvPr id="115" name="TextBox 114">
              <a:extLst>
                <a:ext uri="{FF2B5EF4-FFF2-40B4-BE49-F238E27FC236}">
                  <a16:creationId xmlns:a16="http://schemas.microsoft.com/office/drawing/2014/main" id="{6A9BA131-37FA-8D1E-BEE1-FC63EF7DB032}"/>
                </a:ext>
              </a:extLst>
            </p:cNvPr>
            <p:cNvSpPr txBox="1"/>
            <p:nvPr/>
          </p:nvSpPr>
          <p:spPr>
            <a:xfrm>
              <a:off x="1768384" y="3380856"/>
              <a:ext cx="1034413" cy="116455"/>
            </a:xfrm>
            <a:prstGeom prst="rect">
              <a:avLst/>
            </a:prstGeom>
            <a:noFill/>
          </p:spPr>
          <p:txBody>
            <a:bodyPr wrap="none" rtlCol="0">
              <a:spAutoFit/>
            </a:bodyPr>
            <a:lstStyle/>
            <a:p>
              <a:pPr algn="l"/>
              <a:r>
                <a:rPr lang="en-US" sz="1200" spc="0" baseline="0" dirty="0">
                  <a:ln/>
                  <a:solidFill>
                    <a:srgbClr val="111111"/>
                  </a:solidFill>
                  <a:latin typeface="Arial"/>
                  <a:cs typeface="Arial"/>
                  <a:sym typeface="Arial"/>
                  <a:rtl val="0"/>
                </a:rPr>
                <a:t>= set of trains;</a:t>
              </a:r>
            </a:p>
          </p:txBody>
        </p:sp>
        <p:sp>
          <p:nvSpPr>
            <p:cNvPr id="116" name="TextBox 115">
              <a:extLst>
                <a:ext uri="{FF2B5EF4-FFF2-40B4-BE49-F238E27FC236}">
                  <a16:creationId xmlns:a16="http://schemas.microsoft.com/office/drawing/2014/main" id="{10E07FEF-FFF1-C9B8-7D90-AE4FF8D67425}"/>
                </a:ext>
              </a:extLst>
            </p:cNvPr>
            <p:cNvSpPr txBox="1"/>
            <p:nvPr/>
          </p:nvSpPr>
          <p:spPr>
            <a:xfrm>
              <a:off x="2578009" y="3369933"/>
              <a:ext cx="288580"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Bᵢ</a:t>
              </a:r>
            </a:p>
          </p:txBody>
        </p:sp>
        <p:sp>
          <p:nvSpPr>
            <p:cNvPr id="117" name="TextBox 116">
              <a:extLst>
                <a:ext uri="{FF2B5EF4-FFF2-40B4-BE49-F238E27FC236}">
                  <a16:creationId xmlns:a16="http://schemas.microsoft.com/office/drawing/2014/main" id="{AB9DF1B7-C682-95BA-7517-E9314C36669D}"/>
                </a:ext>
              </a:extLst>
            </p:cNvPr>
            <p:cNvSpPr txBox="1"/>
            <p:nvPr/>
          </p:nvSpPr>
          <p:spPr>
            <a:xfrm>
              <a:off x="2749187" y="3380856"/>
              <a:ext cx="2863137"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sections / boundaries associated with train</a:t>
              </a:r>
            </a:p>
          </p:txBody>
        </p:sp>
        <p:sp>
          <p:nvSpPr>
            <p:cNvPr id="118" name="TextBox 117">
              <a:extLst>
                <a:ext uri="{FF2B5EF4-FFF2-40B4-BE49-F238E27FC236}">
                  <a16:creationId xmlns:a16="http://schemas.microsoft.com/office/drawing/2014/main" id="{310C3DFD-0C82-D325-C371-C7C73F6445FB}"/>
                </a:ext>
              </a:extLst>
            </p:cNvPr>
            <p:cNvSpPr txBox="1"/>
            <p:nvPr/>
          </p:nvSpPr>
          <p:spPr>
            <a:xfrm>
              <a:off x="5094786" y="3369933"/>
              <a:ext cx="209695"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i</a:t>
              </a:r>
            </a:p>
          </p:txBody>
        </p:sp>
        <p:sp>
          <p:nvSpPr>
            <p:cNvPr id="119" name="TextBox 118">
              <a:extLst>
                <a:ext uri="{FF2B5EF4-FFF2-40B4-BE49-F238E27FC236}">
                  <a16:creationId xmlns:a16="http://schemas.microsoft.com/office/drawing/2014/main" id="{AA42DD02-F454-6A2F-20E5-D2671D52F334}"/>
                </a:ext>
              </a:extLst>
            </p:cNvPr>
            <p:cNvSpPr txBox="1"/>
            <p:nvPr/>
          </p:nvSpPr>
          <p:spPr>
            <a:xfrm>
              <a:off x="5168809" y="3380856"/>
              <a:ext cx="203957"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a:t>
              </a:r>
            </a:p>
          </p:txBody>
        </p:sp>
        <p:sp>
          <p:nvSpPr>
            <p:cNvPr id="120" name="TextBox 119">
              <a:extLst>
                <a:ext uri="{FF2B5EF4-FFF2-40B4-BE49-F238E27FC236}">
                  <a16:creationId xmlns:a16="http://schemas.microsoft.com/office/drawing/2014/main" id="{A61E48DE-2368-DC71-5388-3475B23796F6}"/>
                </a:ext>
              </a:extLst>
            </p:cNvPr>
            <p:cNvSpPr txBox="1"/>
            <p:nvPr/>
          </p:nvSpPr>
          <p:spPr>
            <a:xfrm>
              <a:off x="5252085" y="3369933"/>
              <a:ext cx="298621"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Nᵢ</a:t>
              </a:r>
            </a:p>
          </p:txBody>
        </p:sp>
        <p:sp>
          <p:nvSpPr>
            <p:cNvPr id="121" name="TextBox 120">
              <a:extLst>
                <a:ext uri="{FF2B5EF4-FFF2-40B4-BE49-F238E27FC236}">
                  <a16:creationId xmlns:a16="http://schemas.microsoft.com/office/drawing/2014/main" id="{911C45D8-18FB-3D03-B62C-8F7C24451609}"/>
                </a:ext>
              </a:extLst>
            </p:cNvPr>
            <p:cNvSpPr txBox="1"/>
            <p:nvPr/>
          </p:nvSpPr>
          <p:spPr>
            <a:xfrm>
              <a:off x="5432515" y="3380856"/>
              <a:ext cx="1939452"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nodes associated with train</a:t>
              </a:r>
            </a:p>
          </p:txBody>
        </p:sp>
        <p:sp>
          <p:nvSpPr>
            <p:cNvPr id="122" name="TextBox 121">
              <a:extLst>
                <a:ext uri="{FF2B5EF4-FFF2-40B4-BE49-F238E27FC236}">
                  <a16:creationId xmlns:a16="http://schemas.microsoft.com/office/drawing/2014/main" id="{D3CBB7D7-53E4-4FAB-6915-14D2F8192EF1}"/>
                </a:ext>
              </a:extLst>
            </p:cNvPr>
            <p:cNvSpPr txBox="1"/>
            <p:nvPr/>
          </p:nvSpPr>
          <p:spPr>
            <a:xfrm>
              <a:off x="6848202" y="3369933"/>
              <a:ext cx="209695"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i</a:t>
              </a:r>
            </a:p>
          </p:txBody>
        </p:sp>
        <p:sp>
          <p:nvSpPr>
            <p:cNvPr id="123" name="TextBox 122">
              <a:extLst>
                <a:ext uri="{FF2B5EF4-FFF2-40B4-BE49-F238E27FC236}">
                  <a16:creationId xmlns:a16="http://schemas.microsoft.com/office/drawing/2014/main" id="{2F7EE379-A035-490F-BC3B-C676A31A8E75}"/>
                </a:ext>
              </a:extLst>
            </p:cNvPr>
            <p:cNvSpPr txBox="1"/>
            <p:nvPr/>
          </p:nvSpPr>
          <p:spPr>
            <a:xfrm>
              <a:off x="6940731" y="3380856"/>
              <a:ext cx="203957"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a:t>
              </a:r>
            </a:p>
          </p:txBody>
        </p:sp>
        <p:sp>
          <p:nvSpPr>
            <p:cNvPr id="124" name="TextBox 123">
              <a:extLst>
                <a:ext uri="{FF2B5EF4-FFF2-40B4-BE49-F238E27FC236}">
                  <a16:creationId xmlns:a16="http://schemas.microsoft.com/office/drawing/2014/main" id="{DD48CCCC-81ED-30B8-4280-88D3E88D01F4}"/>
                </a:ext>
              </a:extLst>
            </p:cNvPr>
            <p:cNvSpPr txBox="1"/>
            <p:nvPr/>
          </p:nvSpPr>
          <p:spPr>
            <a:xfrm>
              <a:off x="1666602" y="3573424"/>
              <a:ext cx="317265" cy="129395"/>
            </a:xfrm>
            <a:prstGeom prst="rect">
              <a:avLst/>
            </a:prstGeom>
            <a:noFill/>
          </p:spPr>
          <p:txBody>
            <a:bodyPr wrap="none" rtlCol="0">
              <a:spAutoFit/>
            </a:bodyPr>
            <a:lstStyle/>
            <a:p>
              <a:pPr algn="l"/>
              <a:r>
                <a:rPr lang="en-US" sz="1400" i="1" spc="0" baseline="0" dirty="0">
                  <a:ln/>
                  <a:solidFill>
                    <a:srgbClr val="111111"/>
                  </a:solidFill>
                  <a:latin typeface="Times New Roman"/>
                  <a:cs typeface="Times New Roman"/>
                  <a:sym typeface="Times New Roman"/>
                  <a:rtl val="0"/>
                </a:rPr>
                <a:t>c*</a:t>
              </a:r>
            </a:p>
          </p:txBody>
        </p:sp>
        <p:sp>
          <p:nvSpPr>
            <p:cNvPr id="125" name="TextBox 124">
              <a:extLst>
                <a:ext uri="{FF2B5EF4-FFF2-40B4-BE49-F238E27FC236}">
                  <a16:creationId xmlns:a16="http://schemas.microsoft.com/office/drawing/2014/main" id="{89408B59-3EDB-9525-4E99-35087C90F3E7}"/>
                </a:ext>
              </a:extLst>
            </p:cNvPr>
            <p:cNvSpPr txBox="1"/>
            <p:nvPr/>
          </p:nvSpPr>
          <p:spPr>
            <a:xfrm>
              <a:off x="1842407" y="3584347"/>
              <a:ext cx="787714"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weights;</a:t>
              </a:r>
            </a:p>
          </p:txBody>
        </p:sp>
        <p:sp>
          <p:nvSpPr>
            <p:cNvPr id="126" name="TextBox 125">
              <a:extLst>
                <a:ext uri="{FF2B5EF4-FFF2-40B4-BE49-F238E27FC236}">
                  <a16:creationId xmlns:a16="http://schemas.microsoft.com/office/drawing/2014/main" id="{DF4FF0AF-1FDA-EAC6-77CA-D0A23FB22F1E}"/>
                </a:ext>
              </a:extLst>
            </p:cNvPr>
            <p:cNvSpPr txBox="1"/>
            <p:nvPr/>
          </p:nvSpPr>
          <p:spPr>
            <a:xfrm>
              <a:off x="2355940" y="3573424"/>
              <a:ext cx="308660" cy="129395"/>
            </a:xfrm>
            <a:prstGeom prst="rect">
              <a:avLst/>
            </a:prstGeom>
            <a:noFill/>
          </p:spPr>
          <p:txBody>
            <a:bodyPr wrap="none" rtlCol="0">
              <a:spAutoFit/>
            </a:bodyPr>
            <a:lstStyle/>
            <a:p>
              <a:pPr algn="l"/>
              <a:r>
                <a:rPr lang="en-US" sz="1400" i="1" spc="0" baseline="0" dirty="0">
                  <a:ln/>
                  <a:solidFill>
                    <a:srgbClr val="111111"/>
                  </a:solidFill>
                  <a:latin typeface="Times New Roman"/>
                  <a:cs typeface="Times New Roman"/>
                  <a:sym typeface="Times New Roman"/>
                  <a:rtl val="0"/>
                </a:rPr>
                <a:t>z*</a:t>
              </a:r>
            </a:p>
          </p:txBody>
        </p:sp>
        <p:sp>
          <p:nvSpPr>
            <p:cNvPr id="127" name="TextBox 126">
              <a:extLst>
                <a:ext uri="{FF2B5EF4-FFF2-40B4-BE49-F238E27FC236}">
                  <a16:creationId xmlns:a16="http://schemas.microsoft.com/office/drawing/2014/main" id="{7DF19091-5AF9-429E-86DB-C7B68F80C946}"/>
                </a:ext>
              </a:extLst>
            </p:cNvPr>
            <p:cNvSpPr txBox="1"/>
            <p:nvPr/>
          </p:nvSpPr>
          <p:spPr>
            <a:xfrm>
              <a:off x="2536371" y="3584347"/>
              <a:ext cx="2015469"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deviation / penalty variables;</a:t>
              </a:r>
            </a:p>
          </p:txBody>
        </p:sp>
        <p:sp>
          <p:nvSpPr>
            <p:cNvPr id="128" name="TextBox 127">
              <a:extLst>
                <a:ext uri="{FF2B5EF4-FFF2-40B4-BE49-F238E27FC236}">
                  <a16:creationId xmlns:a16="http://schemas.microsoft.com/office/drawing/2014/main" id="{E832A8A0-6555-4D00-22B4-629BDDD8271B}"/>
                </a:ext>
              </a:extLst>
            </p:cNvPr>
            <p:cNvSpPr txBox="1"/>
            <p:nvPr/>
          </p:nvSpPr>
          <p:spPr>
            <a:xfrm>
              <a:off x="4123236" y="3632669"/>
              <a:ext cx="533844" cy="129395"/>
            </a:xfrm>
            <a:prstGeom prst="rect">
              <a:avLst/>
            </a:prstGeom>
            <a:noFill/>
          </p:spPr>
          <p:txBody>
            <a:bodyPr wrap="none" rtlCol="0" anchor="ctr">
              <a:spAutoFit/>
            </a:bodyPr>
            <a:lstStyle/>
            <a:p>
              <a:pPr algn="l"/>
              <a:r>
                <a:rPr lang="en-US" sz="1400" i="1" spc="0" baseline="0">
                  <a:ln/>
                  <a:solidFill>
                    <a:srgbClr val="111111"/>
                  </a:solidFill>
                  <a:latin typeface="Times New Roman"/>
                  <a:cs typeface="Times New Roman"/>
                  <a:sym typeface="Times New Roman"/>
                  <a:rtl val="0"/>
                </a:rPr>
                <a:t>x</a:t>
              </a:r>
              <a:r>
                <a:rPr lang="en-US" sz="1200" i="1" spc="0" baseline="36914">
                  <a:ln/>
                  <a:solidFill>
                    <a:srgbClr val="111111"/>
                  </a:solidFill>
                  <a:latin typeface="Times New Roman"/>
                  <a:cs typeface="Times New Roman"/>
                  <a:sym typeface="Times New Roman"/>
                  <a:rtl val="0"/>
                </a:rPr>
                <a:t>entry</a:t>
              </a:r>
              <a:r>
                <a:rPr lang="en-US" sz="1200" i="1" spc="0" baseline="-36914">
                  <a:ln/>
                  <a:solidFill>
                    <a:srgbClr val="111111"/>
                  </a:solidFill>
                  <a:latin typeface="Times New Roman"/>
                  <a:cs typeface="Times New Roman"/>
                  <a:sym typeface="Times New Roman"/>
                  <a:rtl val="0"/>
                </a:rPr>
                <a:t>i,oᵢ</a:t>
              </a:r>
            </a:p>
          </p:txBody>
        </p:sp>
        <p:sp>
          <p:nvSpPr>
            <p:cNvPr id="129" name="TextBox 128">
              <a:extLst>
                <a:ext uri="{FF2B5EF4-FFF2-40B4-BE49-F238E27FC236}">
                  <a16:creationId xmlns:a16="http://schemas.microsoft.com/office/drawing/2014/main" id="{426F1AFB-C812-D19D-9E27-E286EA899825}"/>
                </a:ext>
              </a:extLst>
            </p:cNvPr>
            <p:cNvSpPr txBox="1"/>
            <p:nvPr/>
          </p:nvSpPr>
          <p:spPr>
            <a:xfrm>
              <a:off x="4544241" y="3584347"/>
              <a:ext cx="1347088"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entry time of train</a:t>
              </a:r>
            </a:p>
          </p:txBody>
        </p:sp>
        <p:sp>
          <p:nvSpPr>
            <p:cNvPr id="130" name="TextBox 129">
              <a:extLst>
                <a:ext uri="{FF2B5EF4-FFF2-40B4-BE49-F238E27FC236}">
                  <a16:creationId xmlns:a16="http://schemas.microsoft.com/office/drawing/2014/main" id="{EC29A5D9-EF61-1DB1-C9E4-AEE0070BA314}"/>
                </a:ext>
              </a:extLst>
            </p:cNvPr>
            <p:cNvSpPr txBox="1"/>
            <p:nvPr/>
          </p:nvSpPr>
          <p:spPr>
            <a:xfrm>
              <a:off x="5575935" y="3573424"/>
              <a:ext cx="209695"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i</a:t>
              </a:r>
            </a:p>
          </p:txBody>
        </p:sp>
        <p:sp>
          <p:nvSpPr>
            <p:cNvPr id="131" name="TextBox 130">
              <a:extLst>
                <a:ext uri="{FF2B5EF4-FFF2-40B4-BE49-F238E27FC236}">
                  <a16:creationId xmlns:a16="http://schemas.microsoft.com/office/drawing/2014/main" id="{264D8474-6ED7-A1A9-F9DD-9788AE8518E6}"/>
                </a:ext>
              </a:extLst>
            </p:cNvPr>
            <p:cNvSpPr txBox="1"/>
            <p:nvPr/>
          </p:nvSpPr>
          <p:spPr>
            <a:xfrm>
              <a:off x="5649957" y="3584347"/>
              <a:ext cx="652890"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at origin</a:t>
              </a:r>
            </a:p>
          </p:txBody>
        </p:sp>
        <p:sp>
          <p:nvSpPr>
            <p:cNvPr id="132" name="TextBox 131">
              <a:extLst>
                <a:ext uri="{FF2B5EF4-FFF2-40B4-BE49-F238E27FC236}">
                  <a16:creationId xmlns:a16="http://schemas.microsoft.com/office/drawing/2014/main" id="{91D62487-EF0D-105B-702E-D8F2359405A2}"/>
                </a:ext>
              </a:extLst>
            </p:cNvPr>
            <p:cNvSpPr txBox="1"/>
            <p:nvPr/>
          </p:nvSpPr>
          <p:spPr>
            <a:xfrm>
              <a:off x="6107974" y="3573424"/>
              <a:ext cx="271368"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oᵢ</a:t>
              </a:r>
            </a:p>
          </p:txBody>
        </p:sp>
        <p:sp>
          <p:nvSpPr>
            <p:cNvPr id="133" name="TextBox 132">
              <a:extLst>
                <a:ext uri="{FF2B5EF4-FFF2-40B4-BE49-F238E27FC236}">
                  <a16:creationId xmlns:a16="http://schemas.microsoft.com/office/drawing/2014/main" id="{9791A341-B04E-1209-658C-FD3AE0430245}"/>
                </a:ext>
              </a:extLst>
            </p:cNvPr>
            <p:cNvSpPr txBox="1"/>
            <p:nvPr/>
          </p:nvSpPr>
          <p:spPr>
            <a:xfrm>
              <a:off x="6279152" y="3584347"/>
              <a:ext cx="203957"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a:t>
              </a:r>
            </a:p>
          </p:txBody>
        </p:sp>
        <p:sp>
          <p:nvSpPr>
            <p:cNvPr id="134" name="TextBox 133">
              <a:extLst>
                <a:ext uri="{FF2B5EF4-FFF2-40B4-BE49-F238E27FC236}">
                  <a16:creationId xmlns:a16="http://schemas.microsoft.com/office/drawing/2014/main" id="{112389CB-43F9-B331-F871-B89D717CB8DA}"/>
                </a:ext>
              </a:extLst>
            </p:cNvPr>
            <p:cNvSpPr txBox="1"/>
            <p:nvPr/>
          </p:nvSpPr>
          <p:spPr>
            <a:xfrm>
              <a:off x="6362427" y="3573424"/>
              <a:ext cx="271368" cy="129395"/>
            </a:xfrm>
            <a:prstGeom prst="rect">
              <a:avLst/>
            </a:prstGeom>
            <a:noFill/>
          </p:spPr>
          <p:txBody>
            <a:bodyPr wrap="none" rtlCol="0">
              <a:spAutoFit/>
            </a:bodyPr>
            <a:lstStyle/>
            <a:p>
              <a:pPr algn="l"/>
              <a:r>
                <a:rPr lang="en-US" sz="1400" i="1" spc="0" baseline="0">
                  <a:ln/>
                  <a:solidFill>
                    <a:srgbClr val="111111"/>
                  </a:solidFill>
                  <a:latin typeface="Times New Roman"/>
                  <a:cs typeface="Times New Roman"/>
                  <a:sym typeface="Times New Roman"/>
                  <a:rtl val="0"/>
                </a:rPr>
                <a:t>bᵢ</a:t>
              </a:r>
            </a:p>
          </p:txBody>
        </p:sp>
        <p:sp>
          <p:nvSpPr>
            <p:cNvPr id="135" name="TextBox 134">
              <a:extLst>
                <a:ext uri="{FF2B5EF4-FFF2-40B4-BE49-F238E27FC236}">
                  <a16:creationId xmlns:a16="http://schemas.microsoft.com/office/drawing/2014/main" id="{129F76AD-310F-48E8-9120-0774B56E3CE9}"/>
                </a:ext>
              </a:extLst>
            </p:cNvPr>
            <p:cNvSpPr txBox="1"/>
            <p:nvPr/>
          </p:nvSpPr>
          <p:spPr>
            <a:xfrm>
              <a:off x="6533605" y="3584347"/>
              <a:ext cx="1474741" cy="116455"/>
            </a:xfrm>
            <a:prstGeom prst="rect">
              <a:avLst/>
            </a:prstGeom>
            <a:noFill/>
          </p:spPr>
          <p:txBody>
            <a:bodyPr wrap="none" rtlCol="0">
              <a:spAutoFit/>
            </a:bodyPr>
            <a:lstStyle/>
            <a:p>
              <a:pPr algn="l"/>
              <a:r>
                <a:rPr lang="en-US" sz="1200" spc="0" baseline="0">
                  <a:ln/>
                  <a:solidFill>
                    <a:srgbClr val="111111"/>
                  </a:solidFill>
                  <a:latin typeface="Arial"/>
                  <a:cs typeface="Arial"/>
                  <a:sym typeface="Arial"/>
                  <a:rtl val="0"/>
                </a:rPr>
                <a:t>= baseline entry time.</a:t>
              </a:r>
            </a:p>
          </p:txBody>
        </p:sp>
      </p:grpSp>
      <p:pic>
        <p:nvPicPr>
          <p:cNvPr id="139" name="Picture 138">
            <a:extLst>
              <a:ext uri="{FF2B5EF4-FFF2-40B4-BE49-F238E27FC236}">
                <a16:creationId xmlns:a16="http://schemas.microsoft.com/office/drawing/2014/main" id="{93D636F5-8277-BF01-BA67-0C313CEDA1D3}"/>
              </a:ext>
            </a:extLst>
          </p:cNvPr>
          <p:cNvPicPr>
            <a:picLocks noChangeAspect="1"/>
          </p:cNvPicPr>
          <p:nvPr/>
        </p:nvPicPr>
        <p:blipFill>
          <a:blip r:embed="rId2"/>
          <a:stretch>
            <a:fillRect/>
          </a:stretch>
        </p:blipFill>
        <p:spPr>
          <a:xfrm>
            <a:off x="728470" y="1067206"/>
            <a:ext cx="9764828" cy="832763"/>
          </a:xfrm>
          <a:prstGeom prst="rect">
            <a:avLst/>
          </a:prstGeom>
        </p:spPr>
      </p:pic>
    </p:spTree>
    <p:extLst>
      <p:ext uri="{BB962C8B-B14F-4D97-AF65-F5344CB8AC3E}">
        <p14:creationId xmlns:p14="http://schemas.microsoft.com/office/powerpoint/2010/main" val="1990632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CDD81E-D9AB-70EC-4DE3-529D43A4F5AA}"/>
              </a:ext>
            </a:extLst>
          </p:cNvPr>
          <p:cNvSpPr>
            <a:spLocks noGrp="1"/>
          </p:cNvSpPr>
          <p:nvPr/>
        </p:nvSpPr>
        <p:spPr>
          <a:xfrm>
            <a:off x="579863" y="406317"/>
            <a:ext cx="9969191" cy="5355312"/>
          </a:xfrm>
          <a:prstGeom prst="rect">
            <a:avLst/>
          </a:prstGeom>
          <a:noFill/>
        </p:spPr>
        <p:txBody>
          <a:bodyPr wrap="square">
            <a:spAutoFit/>
          </a:bodyPr>
          <a:lstStyle/>
          <a:p>
            <a:pPr>
              <a:buNone/>
            </a:pPr>
            <a:r>
              <a:rPr b="1"/>
              <a:t>Constraints</a:t>
            </a:r>
          </a:p>
          <a:p>
            <a:pPr>
              <a:buNone/>
            </a:pPr>
            <a:r>
              <a:t>The solver includes the following constraints:</a:t>
            </a:r>
          </a:p>
          <a:p>
            <a:pPr marL="342900" lvl="0" indent="-342900">
              <a:buFont typeface="Arial"/>
              <a:buChar char="•"/>
            </a:pPr>
            <a:r>
              <a:t>Trains cannot enter the network before their specified </a:t>
            </a:r>
            <a:r>
              <a:rPr>
                <a:latin typeface="Courier New"/>
                <a:ea typeface="Courier New"/>
                <a:cs typeface="Courier New"/>
              </a:rPr>
              <a:t>ENTRY TIME</a:t>
            </a:r>
            <a:r>
              <a:t>;</a:t>
            </a:r>
          </a:p>
          <a:p>
            <a:pPr marL="342900" lvl="0" indent="-342900">
              <a:buFont typeface="Arial"/>
              <a:buChar char="•"/>
            </a:pPr>
            <a:r>
              <a:t>Temporal continuity must be maintained between consecutive segments;</a:t>
            </a:r>
          </a:p>
          <a:p>
            <a:pPr marL="342900" lvl="0" indent="-342900">
              <a:buFont typeface="Arial"/>
              <a:buChar char="•"/>
            </a:pPr>
            <a:r>
              <a:t>Minimum running time is calculated based on segment length and operating speed;</a:t>
            </a:r>
          </a:p>
          <a:p>
            <a:pPr marL="342900" lvl="0" indent="-342900">
              <a:buFont typeface="Arial"/>
              <a:buChar char="•"/>
            </a:pPr>
            <a:r>
              <a:t>Each train must select exactly one track/arc for each segment;</a:t>
            </a:r>
          </a:p>
          <a:p>
            <a:pPr marL="342900" lvl="0" indent="-342900">
              <a:buFont typeface="Arial"/>
              <a:buChar char="•"/>
            </a:pPr>
            <a:r>
              <a:t>Trains using the same segment must maintain a minimum </a:t>
            </a:r>
            <a:r>
              <a:rPr b="1"/>
              <a:t>300-second headway</a:t>
            </a:r>
            <a:r>
              <a:t>;</a:t>
            </a:r>
          </a:p>
          <a:p>
            <a:pPr marL="342900" lvl="0" indent="-342900">
              <a:buFont typeface="Arial"/>
              <a:buChar char="•"/>
            </a:pPr>
            <a:r>
              <a:t>Maintenance-of-Way (</a:t>
            </a:r>
            <a:r>
              <a:rPr b="1"/>
              <a:t>MOW</a:t>
            </a:r>
            <a:r>
              <a:t>) time-window restrictions;</a:t>
            </a:r>
          </a:p>
          <a:p>
            <a:pPr marL="342900" lvl="0" indent="-342900">
              <a:buFont typeface="Arial"/>
              <a:buChar char="•"/>
            </a:pPr>
            <a:r>
              <a:t>Trains that are too long cannot enter sidings with insufficient usable length;</a:t>
            </a:r>
          </a:p>
          <a:p>
            <a:pPr marL="342900" lvl="0" indent="-342900">
              <a:buFont typeface="Arial"/>
              <a:buChar char="•"/>
            </a:pPr>
            <a:r>
              <a:rPr b="1"/>
              <a:t>Hazmat trains are prohibited from using sidings</a:t>
            </a:r>
            <a:r>
              <a:t>;</a:t>
            </a:r>
          </a:p>
          <a:p>
            <a:pPr marL="342900" lvl="0" indent="-342900">
              <a:buFont typeface="Arial"/>
              <a:buChar char="•"/>
            </a:pPr>
            <a:r>
              <a:t>Overtaking is prohibited for certain trains or train pairs;</a:t>
            </a:r>
          </a:p>
          <a:p>
            <a:pPr marL="342900" lvl="0" indent="-342900">
              <a:buFont typeface="Arial"/>
              <a:buChar char="•"/>
            </a:pPr>
            <a:r>
              <a:t>Penalties are applied for deviations from </a:t>
            </a:r>
            <a:r>
              <a:rPr b="1"/>
              <a:t>Scheduled Arrival (SA)</a:t>
            </a:r>
            <a:r>
              <a:t> and </a:t>
            </a:r>
            <a:r>
              <a:rPr b="1"/>
              <a:t>Terminal Want Time (TWT)</a:t>
            </a:r>
            <a:r>
              <a:t>;</a:t>
            </a:r>
          </a:p>
          <a:p>
            <a:pPr marL="342900" lvl="0" indent="-342900">
              <a:buFont typeface="Arial"/>
              <a:buChar char="•"/>
            </a:pPr>
            <a:r>
              <a:t>Some datasets impose a maximum allowable delay.</a:t>
            </a:r>
          </a:p>
          <a:p>
            <a:pPr>
              <a:buNone/>
            </a:pPr>
            <a:endParaRPr/>
          </a:p>
          <a:p>
            <a:pPr>
              <a:buNone/>
            </a:pPr>
            <a:r>
              <a:t>For example, when two trains use the same segment, the model requires one train to enter at least </a:t>
            </a:r>
            <a:r>
              <a:rPr b="1"/>
              <a:t>300 seconds after the other train exits</a:t>
            </a:r>
            <a:r>
              <a:t>:</a:t>
            </a:r>
          </a:p>
          <a:p>
            <a:pPr>
              <a:buNone/>
            </a:pPr>
            <a:r>
              <a:rPr>
                <a:latin typeface="Courier New"/>
                <a:ea typeface="Courier New"/>
                <a:cs typeface="Courier New"/>
              </a:rPr>
              <a:t>x_begin[k][i] - x_end[j][i] &gt;= 300</a:t>
            </a:r>
          </a:p>
          <a:p>
            <a:pPr>
              <a:buNone/>
            </a:pPr>
            <a:r>
              <a:t>This constraint enforces the minimum separation between conflicting train movements on the same segment.</a:t>
            </a:r>
          </a:p>
        </p:txBody>
      </p:sp>
    </p:spTree>
    <p:extLst>
      <p:ext uri="{BB962C8B-B14F-4D97-AF65-F5344CB8AC3E}">
        <p14:creationId xmlns:p14="http://schemas.microsoft.com/office/powerpoint/2010/main" val="3239691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1">
            <a:extLst>
              <a:ext uri="{FF2B5EF4-FFF2-40B4-BE49-F238E27FC236}">
                <a16:creationId xmlns:a16="http://schemas.microsoft.com/office/drawing/2014/main" id="{B155EFE0-C8E6-6CDD-D94C-D0245C420934}"/>
              </a:ext>
            </a:extLst>
          </p:cNvPr>
          <p:cNvGrpSpPr/>
          <p:nvPr/>
        </p:nvGrpSpPr>
        <p:grpSpPr>
          <a:xfrm>
            <a:off x="307827" y="235397"/>
            <a:ext cx="3060903" cy="500362"/>
            <a:chOff x="1239344" y="402664"/>
            <a:chExt cx="3060903" cy="500362"/>
          </a:xfrm>
          <a:noFill/>
        </p:grpSpPr>
        <p:sp>
          <p:nvSpPr>
            <p:cNvPr id="6" name="TextBox 5">
              <a:extLst>
                <a:ext uri="{FF2B5EF4-FFF2-40B4-BE49-F238E27FC236}">
                  <a16:creationId xmlns:a16="http://schemas.microsoft.com/office/drawing/2014/main" id="{9FF71C5B-9139-4B16-9A00-DA907E10139B}"/>
                </a:ext>
              </a:extLst>
            </p:cNvPr>
            <p:cNvSpPr txBox="1"/>
            <p:nvPr/>
          </p:nvSpPr>
          <p:spPr>
            <a:xfrm>
              <a:off x="1239344" y="402664"/>
              <a:ext cx="3060903" cy="276999"/>
            </a:xfrm>
            <a:prstGeom prst="rect">
              <a:avLst/>
            </a:prstGeom>
            <a:grpFill/>
          </p:spPr>
          <p:txBody>
            <a:bodyPr wrap="none" rtlCol="0">
              <a:spAutoFit/>
            </a:bodyPr>
            <a:lstStyle/>
            <a:p>
              <a:pPr algn="l"/>
              <a:r>
                <a:rPr lang="en-US" sz="1200" b="1" spc="0" baseline="0" dirty="0">
                  <a:ln/>
                  <a:latin typeface="Arial"/>
                  <a:cs typeface="Arial"/>
                  <a:sym typeface="Arial"/>
                  <a:rtl val="0"/>
                </a:rPr>
                <a:t>Rolling Horizon Timetabling (Example)</a:t>
              </a:r>
            </a:p>
          </p:txBody>
        </p:sp>
        <p:sp>
          <p:nvSpPr>
            <p:cNvPr id="7" name="TextBox 6">
              <a:extLst>
                <a:ext uri="{FF2B5EF4-FFF2-40B4-BE49-F238E27FC236}">
                  <a16:creationId xmlns:a16="http://schemas.microsoft.com/office/drawing/2014/main" id="{75FBB81F-9CD4-BE70-5F9B-2EEC982BD7DD}"/>
                </a:ext>
              </a:extLst>
            </p:cNvPr>
            <p:cNvSpPr txBox="1"/>
            <p:nvPr/>
          </p:nvSpPr>
          <p:spPr>
            <a:xfrm>
              <a:off x="1239344" y="656805"/>
              <a:ext cx="2712602" cy="246221"/>
            </a:xfrm>
            <a:prstGeom prst="rect">
              <a:avLst/>
            </a:prstGeom>
            <a:grpFill/>
          </p:spPr>
          <p:txBody>
            <a:bodyPr wrap="none" rtlCol="0">
              <a:spAutoFit/>
            </a:bodyPr>
            <a:lstStyle/>
            <a:p>
              <a:pPr algn="l"/>
              <a:r>
                <a:rPr lang="en-US" sz="1000" spc="0" baseline="0">
                  <a:ln/>
                  <a:latin typeface="Arial"/>
                  <a:cs typeface="Arial"/>
                  <a:sym typeface="Arial"/>
                  <a:rtl val="0"/>
                </a:rPr>
                <a:t>Total planning horizon = 43,200 s = 12 hours</a:t>
              </a:r>
            </a:p>
          </p:txBody>
        </p:sp>
      </p:grpSp>
      <p:grpSp>
        <p:nvGrpSpPr>
          <p:cNvPr id="8" name="Graphic 1">
            <a:extLst>
              <a:ext uri="{FF2B5EF4-FFF2-40B4-BE49-F238E27FC236}">
                <a16:creationId xmlns:a16="http://schemas.microsoft.com/office/drawing/2014/main" id="{A1D77477-E868-FB10-C07A-14114BEA1B1E}"/>
              </a:ext>
            </a:extLst>
          </p:cNvPr>
          <p:cNvGrpSpPr/>
          <p:nvPr/>
        </p:nvGrpSpPr>
        <p:grpSpPr>
          <a:xfrm>
            <a:off x="9795551" y="489538"/>
            <a:ext cx="1770197" cy="779563"/>
            <a:chOff x="9291352" y="-1336673"/>
            <a:chExt cx="1384917" cy="779563"/>
          </a:xfrm>
          <a:noFill/>
        </p:grpSpPr>
        <p:sp>
          <p:nvSpPr>
            <p:cNvPr id="10" name="TextBox 9">
              <a:extLst>
                <a:ext uri="{FF2B5EF4-FFF2-40B4-BE49-F238E27FC236}">
                  <a16:creationId xmlns:a16="http://schemas.microsoft.com/office/drawing/2014/main" id="{85EBD0D9-C79B-071D-959C-96715C3A6B53}"/>
                </a:ext>
              </a:extLst>
            </p:cNvPr>
            <p:cNvSpPr txBox="1"/>
            <p:nvPr/>
          </p:nvSpPr>
          <p:spPr>
            <a:xfrm>
              <a:off x="9291352" y="-1336673"/>
              <a:ext cx="499341" cy="215444"/>
            </a:xfrm>
            <a:prstGeom prst="rect">
              <a:avLst/>
            </a:prstGeom>
            <a:grpFill/>
          </p:spPr>
          <p:txBody>
            <a:bodyPr wrap="none" rtlCol="0">
              <a:spAutoFit/>
            </a:bodyPr>
            <a:lstStyle/>
            <a:p>
              <a:pPr algn="l"/>
              <a:r>
                <a:rPr lang="en-US" sz="800" b="1" spc="0" baseline="0" dirty="0">
                  <a:ln/>
                  <a:latin typeface="Arial"/>
                  <a:cs typeface="Arial"/>
                  <a:sym typeface="Arial"/>
                  <a:rtl val="0"/>
                </a:rPr>
                <a:t>Settings</a:t>
              </a:r>
            </a:p>
          </p:txBody>
        </p:sp>
        <p:sp>
          <p:nvSpPr>
            <p:cNvPr id="11" name="TextBox 10">
              <a:extLst>
                <a:ext uri="{FF2B5EF4-FFF2-40B4-BE49-F238E27FC236}">
                  <a16:creationId xmlns:a16="http://schemas.microsoft.com/office/drawing/2014/main" id="{5ABF49AB-94F2-0088-B8E2-DCF37950D8D5}"/>
                </a:ext>
              </a:extLst>
            </p:cNvPr>
            <p:cNvSpPr txBox="1"/>
            <p:nvPr/>
          </p:nvSpPr>
          <p:spPr>
            <a:xfrm>
              <a:off x="9291352" y="-1191335"/>
              <a:ext cx="1374068" cy="215444"/>
            </a:xfrm>
            <a:prstGeom prst="rect">
              <a:avLst/>
            </a:prstGeom>
            <a:grpFill/>
          </p:spPr>
          <p:txBody>
            <a:bodyPr wrap="none" rtlCol="0">
              <a:spAutoFit/>
            </a:bodyPr>
            <a:lstStyle/>
            <a:p>
              <a:pPr algn="l"/>
              <a:r>
                <a:rPr lang="en-US" sz="800" spc="0" baseline="0" dirty="0">
                  <a:ln/>
                  <a:latin typeface="Arial"/>
                  <a:cs typeface="Arial"/>
                  <a:sym typeface="Arial"/>
                  <a:rtl val="0"/>
                </a:rPr>
                <a:t>• </a:t>
              </a:r>
              <a:r>
                <a:rPr lang="en-US" sz="800" spc="0" baseline="0" dirty="0" err="1">
                  <a:ln/>
                  <a:latin typeface="Arial"/>
                  <a:cs typeface="Arial"/>
                  <a:sym typeface="Arial"/>
                  <a:rtl val="0"/>
                </a:rPr>
                <a:t>plan_horizon</a:t>
              </a:r>
              <a:r>
                <a:rPr lang="en-US" sz="800" spc="0" baseline="0" dirty="0">
                  <a:ln/>
                  <a:latin typeface="Arial"/>
                  <a:cs typeface="Arial"/>
                  <a:sym typeface="Arial"/>
                  <a:rtl val="0"/>
                </a:rPr>
                <a:t> = 43200 s (12 h)</a:t>
              </a:r>
            </a:p>
          </p:txBody>
        </p:sp>
        <p:sp>
          <p:nvSpPr>
            <p:cNvPr id="12" name="TextBox 11">
              <a:extLst>
                <a:ext uri="{FF2B5EF4-FFF2-40B4-BE49-F238E27FC236}">
                  <a16:creationId xmlns:a16="http://schemas.microsoft.com/office/drawing/2014/main" id="{F5E42F53-0E66-E363-F169-89EE5248903E}"/>
                </a:ext>
              </a:extLst>
            </p:cNvPr>
            <p:cNvSpPr txBox="1"/>
            <p:nvPr/>
          </p:nvSpPr>
          <p:spPr>
            <a:xfrm>
              <a:off x="9291352" y="-1051741"/>
              <a:ext cx="1379493" cy="215444"/>
            </a:xfrm>
            <a:prstGeom prst="rect">
              <a:avLst/>
            </a:prstGeom>
            <a:grpFill/>
          </p:spPr>
          <p:txBody>
            <a:bodyPr wrap="none" rtlCol="0">
              <a:spAutoFit/>
            </a:bodyPr>
            <a:lstStyle/>
            <a:p>
              <a:pPr algn="l"/>
              <a:r>
                <a:rPr lang="en-US" sz="800" spc="0" baseline="0" dirty="0">
                  <a:ln/>
                  <a:latin typeface="Arial"/>
                  <a:cs typeface="Arial"/>
                  <a:sym typeface="Arial"/>
                  <a:rtl val="0"/>
                </a:rPr>
                <a:t>• Dataset 1: 3 phases × 4 hours</a:t>
              </a:r>
            </a:p>
          </p:txBody>
        </p:sp>
        <p:sp>
          <p:nvSpPr>
            <p:cNvPr id="13" name="TextBox 12">
              <a:extLst>
                <a:ext uri="{FF2B5EF4-FFF2-40B4-BE49-F238E27FC236}">
                  <a16:creationId xmlns:a16="http://schemas.microsoft.com/office/drawing/2014/main" id="{470FABAC-EEE3-E50A-D7B7-7FE13815D42D}"/>
                </a:ext>
              </a:extLst>
            </p:cNvPr>
            <p:cNvSpPr txBox="1"/>
            <p:nvPr/>
          </p:nvSpPr>
          <p:spPr>
            <a:xfrm>
              <a:off x="9291352" y="-912148"/>
              <a:ext cx="1384917" cy="215444"/>
            </a:xfrm>
            <a:prstGeom prst="rect">
              <a:avLst/>
            </a:prstGeom>
            <a:grpFill/>
          </p:spPr>
          <p:txBody>
            <a:bodyPr wrap="none" rtlCol="0">
              <a:spAutoFit/>
            </a:bodyPr>
            <a:lstStyle/>
            <a:p>
              <a:pPr algn="l"/>
              <a:r>
                <a:rPr lang="en-US" sz="800" spc="0" baseline="0" dirty="0">
                  <a:ln/>
                  <a:latin typeface="Arial"/>
                  <a:cs typeface="Arial"/>
                  <a:sym typeface="Arial"/>
                  <a:rtl val="0"/>
                </a:rPr>
                <a:t>• Dataset 2: 12 phases × 1 hour</a:t>
              </a:r>
            </a:p>
          </p:txBody>
        </p:sp>
        <p:sp>
          <p:nvSpPr>
            <p:cNvPr id="14" name="TextBox 13">
              <a:extLst>
                <a:ext uri="{FF2B5EF4-FFF2-40B4-BE49-F238E27FC236}">
                  <a16:creationId xmlns:a16="http://schemas.microsoft.com/office/drawing/2014/main" id="{09F06082-E25A-6B15-8A1F-BF5ABDBC2E6C}"/>
                </a:ext>
              </a:extLst>
            </p:cNvPr>
            <p:cNvSpPr txBox="1"/>
            <p:nvPr/>
          </p:nvSpPr>
          <p:spPr>
            <a:xfrm>
              <a:off x="9291352" y="-772554"/>
              <a:ext cx="1384917" cy="215444"/>
            </a:xfrm>
            <a:prstGeom prst="rect">
              <a:avLst/>
            </a:prstGeom>
            <a:grpFill/>
          </p:spPr>
          <p:txBody>
            <a:bodyPr wrap="none" rtlCol="0">
              <a:spAutoFit/>
            </a:bodyPr>
            <a:lstStyle/>
            <a:p>
              <a:pPr algn="l"/>
              <a:r>
                <a:rPr lang="en-US" sz="800" spc="0" baseline="0" dirty="0">
                  <a:ln/>
                  <a:latin typeface="Arial"/>
                  <a:cs typeface="Arial"/>
                  <a:sym typeface="Arial"/>
                  <a:rtl val="0"/>
                </a:rPr>
                <a:t>• Dataset 3: 12 phases × 1 hour</a:t>
              </a:r>
            </a:p>
          </p:txBody>
        </p:sp>
      </p:grpSp>
      <p:grpSp>
        <p:nvGrpSpPr>
          <p:cNvPr id="15" name="Graphic 1">
            <a:extLst>
              <a:ext uri="{FF2B5EF4-FFF2-40B4-BE49-F238E27FC236}">
                <a16:creationId xmlns:a16="http://schemas.microsoft.com/office/drawing/2014/main" id="{6182B8E6-5C2A-E8D3-1DD4-2A66C5BC97D6}"/>
              </a:ext>
            </a:extLst>
          </p:cNvPr>
          <p:cNvGrpSpPr/>
          <p:nvPr/>
        </p:nvGrpSpPr>
        <p:grpSpPr>
          <a:xfrm>
            <a:off x="629973" y="814647"/>
            <a:ext cx="8541117" cy="672896"/>
            <a:chOff x="1309141" y="806084"/>
            <a:chExt cx="7898380" cy="672896"/>
          </a:xfrm>
          <a:noFill/>
        </p:grpSpPr>
        <p:sp>
          <p:nvSpPr>
            <p:cNvPr id="16" name="TextBox 15">
              <a:extLst>
                <a:ext uri="{FF2B5EF4-FFF2-40B4-BE49-F238E27FC236}">
                  <a16:creationId xmlns:a16="http://schemas.microsoft.com/office/drawing/2014/main" id="{FAA624BE-1AA0-5771-6C42-23D5177036CC}"/>
                </a:ext>
              </a:extLst>
            </p:cNvPr>
            <p:cNvSpPr txBox="1"/>
            <p:nvPr/>
          </p:nvSpPr>
          <p:spPr>
            <a:xfrm>
              <a:off x="1309141" y="990694"/>
              <a:ext cx="840295" cy="215444"/>
            </a:xfrm>
            <a:prstGeom prst="rect">
              <a:avLst/>
            </a:prstGeom>
            <a:grpFill/>
          </p:spPr>
          <p:txBody>
            <a:bodyPr wrap="none" rtlCol="0">
              <a:spAutoFit/>
            </a:bodyPr>
            <a:lstStyle/>
            <a:p>
              <a:pPr algn="l"/>
              <a:r>
                <a:rPr lang="en-US" sz="800" b="1" spc="0" baseline="0">
                  <a:ln/>
                  <a:latin typeface="Arial"/>
                  <a:cs typeface="Arial"/>
                  <a:sym typeface="Arial"/>
                  <a:rtl val="0"/>
                </a:rPr>
                <a:t>Total Horizon</a:t>
              </a:r>
            </a:p>
          </p:txBody>
        </p:sp>
        <p:sp>
          <p:nvSpPr>
            <p:cNvPr id="17" name="TextBox 16">
              <a:extLst>
                <a:ext uri="{FF2B5EF4-FFF2-40B4-BE49-F238E27FC236}">
                  <a16:creationId xmlns:a16="http://schemas.microsoft.com/office/drawing/2014/main" id="{3736C65B-EC25-81F7-E8C4-93249A870B27}"/>
                </a:ext>
              </a:extLst>
            </p:cNvPr>
            <p:cNvSpPr txBox="1"/>
            <p:nvPr/>
          </p:nvSpPr>
          <p:spPr>
            <a:xfrm>
              <a:off x="1372593" y="1136633"/>
              <a:ext cx="681597" cy="215444"/>
            </a:xfrm>
            <a:prstGeom prst="rect">
              <a:avLst/>
            </a:prstGeom>
            <a:grpFill/>
          </p:spPr>
          <p:txBody>
            <a:bodyPr wrap="none" rtlCol="0">
              <a:spAutoFit/>
            </a:bodyPr>
            <a:lstStyle/>
            <a:p>
              <a:pPr algn="l"/>
              <a:r>
                <a:rPr lang="en-US" sz="800" b="1" spc="0" baseline="0">
                  <a:ln/>
                  <a:latin typeface="Arial"/>
                  <a:cs typeface="Arial"/>
                  <a:sym typeface="Arial"/>
                  <a:rtl val="0"/>
                </a:rPr>
                <a:t>(12 hours)</a:t>
              </a:r>
            </a:p>
          </p:txBody>
        </p:sp>
        <p:sp>
          <p:nvSpPr>
            <p:cNvPr id="18" name="TextBox 17">
              <a:extLst>
                <a:ext uri="{FF2B5EF4-FFF2-40B4-BE49-F238E27FC236}">
                  <a16:creationId xmlns:a16="http://schemas.microsoft.com/office/drawing/2014/main" id="{C9E307A6-0138-2AF7-C22B-9F2B277FB886}"/>
                </a:ext>
              </a:extLst>
            </p:cNvPr>
            <p:cNvSpPr txBox="1"/>
            <p:nvPr/>
          </p:nvSpPr>
          <p:spPr>
            <a:xfrm>
              <a:off x="2095941" y="1263536"/>
              <a:ext cx="391454" cy="215444"/>
            </a:xfrm>
            <a:prstGeom prst="rect">
              <a:avLst/>
            </a:prstGeom>
            <a:grpFill/>
          </p:spPr>
          <p:txBody>
            <a:bodyPr wrap="none" rtlCol="0">
              <a:spAutoFit/>
            </a:bodyPr>
            <a:lstStyle/>
            <a:p>
              <a:pPr algn="l"/>
              <a:r>
                <a:rPr lang="en-US" sz="800" b="1" spc="0" baseline="0">
                  <a:ln/>
                  <a:latin typeface="Arial"/>
                  <a:cs typeface="Arial"/>
                  <a:sym typeface="Arial"/>
                  <a:rtl val="0"/>
                </a:rPr>
                <a:t>0:00</a:t>
              </a:r>
            </a:p>
          </p:txBody>
        </p:sp>
        <p:sp>
          <p:nvSpPr>
            <p:cNvPr id="19" name="TextBox 18">
              <a:extLst>
                <a:ext uri="{FF2B5EF4-FFF2-40B4-BE49-F238E27FC236}">
                  <a16:creationId xmlns:a16="http://schemas.microsoft.com/office/drawing/2014/main" id="{8A218883-3F3B-3FC0-3239-F737DAA08406}"/>
                </a:ext>
              </a:extLst>
            </p:cNvPr>
            <p:cNvSpPr txBox="1"/>
            <p:nvPr/>
          </p:nvSpPr>
          <p:spPr>
            <a:xfrm>
              <a:off x="4342128" y="806084"/>
              <a:ext cx="386644" cy="215444"/>
            </a:xfrm>
            <a:prstGeom prst="rect">
              <a:avLst/>
            </a:prstGeom>
            <a:grpFill/>
          </p:spPr>
          <p:txBody>
            <a:bodyPr wrap="none" rtlCol="0">
              <a:spAutoFit/>
            </a:bodyPr>
            <a:lstStyle/>
            <a:p>
              <a:pPr algn="l"/>
              <a:r>
                <a:rPr lang="en-US" sz="800" spc="0" baseline="0">
                  <a:ln/>
                  <a:latin typeface="Arial"/>
                  <a:cs typeface="Arial"/>
                  <a:sym typeface="Arial"/>
                  <a:rtl val="0"/>
                </a:rPr>
                <a:t>4:00</a:t>
              </a:r>
            </a:p>
          </p:txBody>
        </p:sp>
        <p:sp>
          <p:nvSpPr>
            <p:cNvPr id="20" name="TextBox 19">
              <a:extLst>
                <a:ext uri="{FF2B5EF4-FFF2-40B4-BE49-F238E27FC236}">
                  <a16:creationId xmlns:a16="http://schemas.microsoft.com/office/drawing/2014/main" id="{FEAD0A02-3873-7E7A-628F-BC14D2901629}"/>
                </a:ext>
              </a:extLst>
            </p:cNvPr>
            <p:cNvSpPr txBox="1"/>
            <p:nvPr/>
          </p:nvSpPr>
          <p:spPr>
            <a:xfrm>
              <a:off x="6562934" y="806084"/>
              <a:ext cx="386644" cy="215444"/>
            </a:xfrm>
            <a:prstGeom prst="rect">
              <a:avLst/>
            </a:prstGeom>
            <a:grpFill/>
          </p:spPr>
          <p:txBody>
            <a:bodyPr wrap="none" rtlCol="0">
              <a:spAutoFit/>
            </a:bodyPr>
            <a:lstStyle/>
            <a:p>
              <a:pPr algn="l"/>
              <a:r>
                <a:rPr lang="en-US" sz="800" spc="0" baseline="0">
                  <a:ln/>
                  <a:latin typeface="Arial"/>
                  <a:cs typeface="Arial"/>
                  <a:sym typeface="Arial"/>
                  <a:rtl val="0"/>
                </a:rPr>
                <a:t>8:00</a:t>
              </a:r>
            </a:p>
          </p:txBody>
        </p:sp>
        <p:sp>
          <p:nvSpPr>
            <p:cNvPr id="21" name="TextBox 20">
              <a:extLst>
                <a:ext uri="{FF2B5EF4-FFF2-40B4-BE49-F238E27FC236}">
                  <a16:creationId xmlns:a16="http://schemas.microsoft.com/office/drawing/2014/main" id="{91800B34-5C0F-C332-4F4F-816B306B13B2}"/>
                </a:ext>
              </a:extLst>
            </p:cNvPr>
            <p:cNvSpPr txBox="1"/>
            <p:nvPr/>
          </p:nvSpPr>
          <p:spPr>
            <a:xfrm>
              <a:off x="8758359" y="1263536"/>
              <a:ext cx="449162" cy="215444"/>
            </a:xfrm>
            <a:prstGeom prst="rect">
              <a:avLst/>
            </a:prstGeom>
            <a:grpFill/>
          </p:spPr>
          <p:txBody>
            <a:bodyPr wrap="none" rtlCol="0">
              <a:spAutoFit/>
            </a:bodyPr>
            <a:lstStyle/>
            <a:p>
              <a:pPr algn="l"/>
              <a:r>
                <a:rPr lang="en-US" sz="800" b="1" spc="0" baseline="0">
                  <a:ln/>
                  <a:latin typeface="Arial"/>
                  <a:cs typeface="Arial"/>
                  <a:sym typeface="Arial"/>
                  <a:rtl val="0"/>
                </a:rPr>
                <a:t>12:00</a:t>
              </a:r>
            </a:p>
          </p:txBody>
        </p:sp>
        <p:sp>
          <p:nvSpPr>
            <p:cNvPr id="22" name="Freeform 21">
              <a:extLst>
                <a:ext uri="{FF2B5EF4-FFF2-40B4-BE49-F238E27FC236}">
                  <a16:creationId xmlns:a16="http://schemas.microsoft.com/office/drawing/2014/main" id="{6DB3C26A-3461-9339-A549-2EAC108F1F47}"/>
                </a:ext>
              </a:extLst>
            </p:cNvPr>
            <p:cNvSpPr/>
            <p:nvPr/>
          </p:nvSpPr>
          <p:spPr>
            <a:xfrm>
              <a:off x="2396771" y="1375781"/>
              <a:ext cx="6421302" cy="6345"/>
            </a:xfrm>
            <a:custGeom>
              <a:avLst/>
              <a:gdLst>
                <a:gd name="csX0" fmla="*/ 0 w 6421302"/>
                <a:gd name="csY0" fmla="*/ 0 h 6345"/>
                <a:gd name="csX1" fmla="*/ 6421302 w 6421302"/>
                <a:gd name="csY1" fmla="*/ 0 h 6345"/>
              </a:gdLst>
              <a:ahLst/>
              <a:cxnLst>
                <a:cxn ang="0">
                  <a:pos x="csX0" y="csY0"/>
                </a:cxn>
                <a:cxn ang="0">
                  <a:pos x="csX1" y="csY1"/>
                </a:cxn>
              </a:cxnLst>
              <a:rect l="l" t="t" r="r" b="b"/>
              <a:pathLst>
                <a:path w="6421302" h="6345">
                  <a:moveTo>
                    <a:pt x="0" y="0"/>
                  </a:moveTo>
                  <a:lnTo>
                    <a:pt x="6421302" y="0"/>
                  </a:lnTo>
                </a:path>
              </a:pathLst>
            </a:custGeom>
            <a:grpFill/>
            <a:ln w="19031" cap="flat">
              <a:solidFill>
                <a:srgbClr val="111111"/>
              </a:solidFill>
              <a:prstDash val="solid"/>
              <a:miter/>
            </a:ln>
          </p:spPr>
          <p:txBody>
            <a:bodyPr/>
            <a:lstStyle/>
            <a:p>
              <a:endParaRPr lang="en-US" sz="1050"/>
            </a:p>
          </p:txBody>
        </p:sp>
        <p:sp>
          <p:nvSpPr>
            <p:cNvPr id="23" name="Freeform 22">
              <a:extLst>
                <a:ext uri="{FF2B5EF4-FFF2-40B4-BE49-F238E27FC236}">
                  <a16:creationId xmlns:a16="http://schemas.microsoft.com/office/drawing/2014/main" id="{580A9D00-85E4-3335-2F68-667481AB7919}"/>
                </a:ext>
              </a:extLst>
            </p:cNvPr>
            <p:cNvSpPr/>
            <p:nvPr/>
          </p:nvSpPr>
          <p:spPr>
            <a:xfrm>
              <a:off x="4528745" y="988726"/>
              <a:ext cx="6345" cy="387054"/>
            </a:xfrm>
            <a:custGeom>
              <a:avLst/>
              <a:gdLst>
                <a:gd name="csX0" fmla="*/ 0 w 6345"/>
                <a:gd name="csY0" fmla="*/ 0 h 387054"/>
                <a:gd name="csX1" fmla="*/ 0 w 6345"/>
                <a:gd name="csY1" fmla="*/ 387055 h 387054"/>
              </a:gdLst>
              <a:ahLst/>
              <a:cxnLst>
                <a:cxn ang="0">
                  <a:pos x="csX0" y="csY0"/>
                </a:cxn>
                <a:cxn ang="0">
                  <a:pos x="csX1" y="csY1"/>
                </a:cxn>
              </a:cxnLst>
              <a:rect l="l" t="t" r="r" b="b"/>
              <a:pathLst>
                <a:path w="6345" h="387054">
                  <a:moveTo>
                    <a:pt x="0" y="0"/>
                  </a:moveTo>
                  <a:lnTo>
                    <a:pt x="0" y="387055"/>
                  </a:lnTo>
                </a:path>
              </a:pathLst>
            </a:custGeom>
            <a:grpFill/>
            <a:ln w="7613" cap="flat">
              <a:solidFill>
                <a:srgbClr val="111111"/>
              </a:solidFill>
              <a:prstDash val="solid"/>
              <a:miter/>
            </a:ln>
          </p:spPr>
          <p:txBody>
            <a:bodyPr/>
            <a:lstStyle/>
            <a:p>
              <a:endParaRPr lang="en-US" sz="1050"/>
            </a:p>
          </p:txBody>
        </p:sp>
        <p:sp>
          <p:nvSpPr>
            <p:cNvPr id="24" name="Freeform 23">
              <a:extLst>
                <a:ext uri="{FF2B5EF4-FFF2-40B4-BE49-F238E27FC236}">
                  <a16:creationId xmlns:a16="http://schemas.microsoft.com/office/drawing/2014/main" id="{11EBDD15-DA4C-7768-F909-C5261C2A8133}"/>
                </a:ext>
              </a:extLst>
            </p:cNvPr>
            <p:cNvSpPr/>
            <p:nvPr/>
          </p:nvSpPr>
          <p:spPr>
            <a:xfrm>
              <a:off x="6755896" y="988726"/>
              <a:ext cx="6345" cy="387054"/>
            </a:xfrm>
            <a:custGeom>
              <a:avLst/>
              <a:gdLst>
                <a:gd name="csX0" fmla="*/ 0 w 6345"/>
                <a:gd name="csY0" fmla="*/ 0 h 387054"/>
                <a:gd name="csX1" fmla="*/ 0 w 6345"/>
                <a:gd name="csY1" fmla="*/ 387055 h 387054"/>
              </a:gdLst>
              <a:ahLst/>
              <a:cxnLst>
                <a:cxn ang="0">
                  <a:pos x="csX0" y="csY0"/>
                </a:cxn>
                <a:cxn ang="0">
                  <a:pos x="csX1" y="csY1"/>
                </a:cxn>
              </a:cxnLst>
              <a:rect l="l" t="t" r="r" b="b"/>
              <a:pathLst>
                <a:path w="6345" h="387054">
                  <a:moveTo>
                    <a:pt x="0" y="0"/>
                  </a:moveTo>
                  <a:lnTo>
                    <a:pt x="0" y="387055"/>
                  </a:lnTo>
                </a:path>
              </a:pathLst>
            </a:custGeom>
            <a:grpFill/>
            <a:ln w="7613" cap="flat">
              <a:solidFill>
                <a:srgbClr val="111111"/>
              </a:solidFill>
              <a:prstDash val="solid"/>
              <a:miter/>
            </a:ln>
          </p:spPr>
          <p:txBody>
            <a:bodyPr/>
            <a:lstStyle/>
            <a:p>
              <a:endParaRPr lang="en-US" sz="1050"/>
            </a:p>
          </p:txBody>
        </p:sp>
        <p:sp>
          <p:nvSpPr>
            <p:cNvPr id="25" name="Rounded Rectangle 24">
              <a:extLst>
                <a:ext uri="{FF2B5EF4-FFF2-40B4-BE49-F238E27FC236}">
                  <a16:creationId xmlns:a16="http://schemas.microsoft.com/office/drawing/2014/main" id="{A7FF031E-9118-691C-9383-1891A393A15C}"/>
                </a:ext>
              </a:extLst>
            </p:cNvPr>
            <p:cNvSpPr/>
            <p:nvPr/>
          </p:nvSpPr>
          <p:spPr>
            <a:xfrm>
              <a:off x="2396771" y="1001417"/>
              <a:ext cx="2131973" cy="374364"/>
            </a:xfrm>
            <a:prstGeom prst="roundRect">
              <a:avLst>
                <a:gd name="adj" fmla="val 13559"/>
              </a:avLst>
            </a:prstGeom>
            <a:grpFill/>
            <a:ln w="6344" cap="flat">
              <a:solidFill>
                <a:srgbClr val="2C7B36"/>
              </a:solidFill>
              <a:prstDash val="solid"/>
              <a:miter/>
            </a:ln>
          </p:spPr>
          <p:txBody>
            <a:bodyPr/>
            <a:lstStyle/>
            <a:p>
              <a:endParaRPr lang="en-US" sz="1050"/>
            </a:p>
          </p:txBody>
        </p:sp>
        <p:sp>
          <p:nvSpPr>
            <p:cNvPr id="26" name="Rectangle 25">
              <a:extLst>
                <a:ext uri="{FF2B5EF4-FFF2-40B4-BE49-F238E27FC236}">
                  <a16:creationId xmlns:a16="http://schemas.microsoft.com/office/drawing/2014/main" id="{798669E0-A4E2-E924-60D4-08990D58BD12}"/>
                </a:ext>
              </a:extLst>
            </p:cNvPr>
            <p:cNvSpPr/>
            <p:nvPr/>
          </p:nvSpPr>
          <p:spPr>
            <a:xfrm>
              <a:off x="4528745" y="1001417"/>
              <a:ext cx="2227151" cy="374364"/>
            </a:xfrm>
            <a:prstGeom prst="rect">
              <a:avLst/>
            </a:prstGeom>
            <a:grpFill/>
            <a:ln w="6344" cap="flat">
              <a:solidFill>
                <a:srgbClr val="E58A15"/>
              </a:solidFill>
              <a:prstDash val="solid"/>
              <a:miter/>
            </a:ln>
          </p:spPr>
          <p:txBody>
            <a:bodyPr/>
            <a:lstStyle/>
            <a:p>
              <a:endParaRPr lang="en-US" sz="1050"/>
            </a:p>
          </p:txBody>
        </p:sp>
        <p:sp>
          <p:nvSpPr>
            <p:cNvPr id="27" name="Rounded Rectangle 26">
              <a:extLst>
                <a:ext uri="{FF2B5EF4-FFF2-40B4-BE49-F238E27FC236}">
                  <a16:creationId xmlns:a16="http://schemas.microsoft.com/office/drawing/2014/main" id="{0F85C6C8-A490-2889-2A9A-5D73A0EB9E10}"/>
                </a:ext>
              </a:extLst>
            </p:cNvPr>
            <p:cNvSpPr/>
            <p:nvPr/>
          </p:nvSpPr>
          <p:spPr>
            <a:xfrm>
              <a:off x="6755896" y="1001417"/>
              <a:ext cx="2062177" cy="374364"/>
            </a:xfrm>
            <a:prstGeom prst="roundRect">
              <a:avLst>
                <a:gd name="adj" fmla="val 13559"/>
              </a:avLst>
            </a:prstGeom>
            <a:grpFill/>
            <a:ln w="6344" cap="flat">
              <a:solidFill>
                <a:srgbClr val="3F76C9"/>
              </a:solidFill>
              <a:prstDash val="solid"/>
              <a:miter/>
            </a:ln>
          </p:spPr>
          <p:txBody>
            <a:bodyPr/>
            <a:lstStyle/>
            <a:p>
              <a:endParaRPr lang="en-US" sz="1050"/>
            </a:p>
          </p:txBody>
        </p:sp>
        <p:sp>
          <p:nvSpPr>
            <p:cNvPr id="28" name="TextBox 27">
              <a:extLst>
                <a:ext uri="{FF2B5EF4-FFF2-40B4-BE49-F238E27FC236}">
                  <a16:creationId xmlns:a16="http://schemas.microsoft.com/office/drawing/2014/main" id="{56B0FE94-2769-9090-BCA0-A5E0CAB3A040}"/>
                </a:ext>
              </a:extLst>
            </p:cNvPr>
            <p:cNvSpPr txBox="1"/>
            <p:nvPr/>
          </p:nvSpPr>
          <p:spPr>
            <a:xfrm>
              <a:off x="3143447" y="998843"/>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0</a:t>
              </a:r>
            </a:p>
          </p:txBody>
        </p:sp>
        <p:sp>
          <p:nvSpPr>
            <p:cNvPr id="29" name="TextBox 28">
              <a:extLst>
                <a:ext uri="{FF2B5EF4-FFF2-40B4-BE49-F238E27FC236}">
                  <a16:creationId xmlns:a16="http://schemas.microsoft.com/office/drawing/2014/main" id="{A2A4FC0C-5F50-FAE3-7A98-45480EDECC1E}"/>
                </a:ext>
              </a:extLst>
            </p:cNvPr>
            <p:cNvSpPr txBox="1"/>
            <p:nvPr/>
          </p:nvSpPr>
          <p:spPr>
            <a:xfrm>
              <a:off x="3111687" y="1162014"/>
              <a:ext cx="713657" cy="215444"/>
            </a:xfrm>
            <a:prstGeom prst="rect">
              <a:avLst/>
            </a:prstGeom>
            <a:grpFill/>
          </p:spPr>
          <p:txBody>
            <a:bodyPr wrap="none" rtlCol="0">
              <a:spAutoFit/>
            </a:bodyPr>
            <a:lstStyle/>
            <a:p>
              <a:pPr algn="l"/>
              <a:r>
                <a:rPr lang="en-US" sz="800" b="1" spc="0" baseline="0">
                  <a:ln/>
                  <a:latin typeface="Arial"/>
                  <a:cs typeface="Arial"/>
                  <a:sym typeface="Arial"/>
                  <a:rtl val="0"/>
                </a:rPr>
                <a:t>0:00 – 4:00</a:t>
              </a:r>
            </a:p>
          </p:txBody>
        </p:sp>
        <p:sp>
          <p:nvSpPr>
            <p:cNvPr id="30" name="TextBox 29">
              <a:extLst>
                <a:ext uri="{FF2B5EF4-FFF2-40B4-BE49-F238E27FC236}">
                  <a16:creationId xmlns:a16="http://schemas.microsoft.com/office/drawing/2014/main" id="{2B8C4B46-6720-2918-A98C-FF9E01DE0272}"/>
                </a:ext>
              </a:extLst>
            </p:cNvPr>
            <p:cNvSpPr txBox="1"/>
            <p:nvPr/>
          </p:nvSpPr>
          <p:spPr>
            <a:xfrm>
              <a:off x="5319837" y="998843"/>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1</a:t>
              </a:r>
            </a:p>
          </p:txBody>
        </p:sp>
        <p:sp>
          <p:nvSpPr>
            <p:cNvPr id="31" name="TextBox 30">
              <a:extLst>
                <a:ext uri="{FF2B5EF4-FFF2-40B4-BE49-F238E27FC236}">
                  <a16:creationId xmlns:a16="http://schemas.microsoft.com/office/drawing/2014/main" id="{EAAE30FF-2FA3-4363-6827-11F23D99027E}"/>
                </a:ext>
              </a:extLst>
            </p:cNvPr>
            <p:cNvSpPr txBox="1"/>
            <p:nvPr/>
          </p:nvSpPr>
          <p:spPr>
            <a:xfrm>
              <a:off x="5288077" y="1162014"/>
              <a:ext cx="713657" cy="215444"/>
            </a:xfrm>
            <a:prstGeom prst="rect">
              <a:avLst/>
            </a:prstGeom>
            <a:grpFill/>
          </p:spPr>
          <p:txBody>
            <a:bodyPr wrap="none" rtlCol="0">
              <a:spAutoFit/>
            </a:bodyPr>
            <a:lstStyle/>
            <a:p>
              <a:pPr algn="l"/>
              <a:r>
                <a:rPr lang="en-US" sz="800" b="1" spc="0" baseline="0">
                  <a:ln/>
                  <a:latin typeface="Arial"/>
                  <a:cs typeface="Arial"/>
                  <a:sym typeface="Arial"/>
                  <a:rtl val="0"/>
                </a:rPr>
                <a:t>4:00 – 8:00</a:t>
              </a:r>
            </a:p>
          </p:txBody>
        </p:sp>
        <p:sp>
          <p:nvSpPr>
            <p:cNvPr id="32" name="TextBox 31">
              <a:extLst>
                <a:ext uri="{FF2B5EF4-FFF2-40B4-BE49-F238E27FC236}">
                  <a16:creationId xmlns:a16="http://schemas.microsoft.com/office/drawing/2014/main" id="{A30B1807-38B8-C878-4ADA-47AFAC223B00}"/>
                </a:ext>
              </a:extLst>
            </p:cNvPr>
            <p:cNvSpPr txBox="1"/>
            <p:nvPr/>
          </p:nvSpPr>
          <p:spPr>
            <a:xfrm>
              <a:off x="7464501" y="998843"/>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2</a:t>
              </a:r>
            </a:p>
          </p:txBody>
        </p:sp>
        <p:sp>
          <p:nvSpPr>
            <p:cNvPr id="33" name="TextBox 32">
              <a:extLst>
                <a:ext uri="{FF2B5EF4-FFF2-40B4-BE49-F238E27FC236}">
                  <a16:creationId xmlns:a16="http://schemas.microsoft.com/office/drawing/2014/main" id="{1F63A56C-927F-8975-6A08-658479CCDAAD}"/>
                </a:ext>
              </a:extLst>
            </p:cNvPr>
            <p:cNvSpPr txBox="1"/>
            <p:nvPr/>
          </p:nvSpPr>
          <p:spPr>
            <a:xfrm>
              <a:off x="7404510" y="1162014"/>
              <a:ext cx="771365" cy="215444"/>
            </a:xfrm>
            <a:prstGeom prst="rect">
              <a:avLst/>
            </a:prstGeom>
            <a:grpFill/>
          </p:spPr>
          <p:txBody>
            <a:bodyPr wrap="none" rtlCol="0">
              <a:spAutoFit/>
            </a:bodyPr>
            <a:lstStyle/>
            <a:p>
              <a:pPr algn="l"/>
              <a:r>
                <a:rPr lang="en-US" sz="800" b="1" spc="0" baseline="0">
                  <a:ln/>
                  <a:latin typeface="Arial"/>
                  <a:cs typeface="Arial"/>
                  <a:sym typeface="Arial"/>
                  <a:rtl val="0"/>
                </a:rPr>
                <a:t>8:00 – 12:00</a:t>
              </a:r>
            </a:p>
          </p:txBody>
        </p:sp>
      </p:grpSp>
      <p:grpSp>
        <p:nvGrpSpPr>
          <p:cNvPr id="34" name="Graphic 1">
            <a:extLst>
              <a:ext uri="{FF2B5EF4-FFF2-40B4-BE49-F238E27FC236}">
                <a16:creationId xmlns:a16="http://schemas.microsoft.com/office/drawing/2014/main" id="{41B9300D-8993-BBA5-90F7-0DAE71E54415}"/>
              </a:ext>
            </a:extLst>
          </p:cNvPr>
          <p:cNvGrpSpPr/>
          <p:nvPr/>
        </p:nvGrpSpPr>
        <p:grpSpPr>
          <a:xfrm>
            <a:off x="626251" y="1681719"/>
            <a:ext cx="2674480" cy="3162463"/>
            <a:chOff x="1321831" y="1639704"/>
            <a:chExt cx="2473220" cy="3162463"/>
          </a:xfrm>
          <a:noFill/>
        </p:grpSpPr>
        <p:sp>
          <p:nvSpPr>
            <p:cNvPr id="35" name="Rounded Rectangle 34">
              <a:extLst>
                <a:ext uri="{FF2B5EF4-FFF2-40B4-BE49-F238E27FC236}">
                  <a16:creationId xmlns:a16="http://schemas.microsoft.com/office/drawing/2014/main" id="{B40DAD6C-2A2E-F59E-A246-275E9EDAF5F6}"/>
                </a:ext>
              </a:extLst>
            </p:cNvPr>
            <p:cNvSpPr/>
            <p:nvPr/>
          </p:nvSpPr>
          <p:spPr>
            <a:xfrm>
              <a:off x="1349820" y="1642278"/>
              <a:ext cx="2417506" cy="3159889"/>
            </a:xfrm>
            <a:prstGeom prst="roundRect">
              <a:avLst>
                <a:gd name="adj" fmla="val 2624"/>
              </a:avLst>
            </a:prstGeom>
            <a:grpFill/>
            <a:ln w="6978" cap="flat">
              <a:solidFill>
                <a:srgbClr val="2B7C35"/>
              </a:solidFill>
              <a:prstDash val="solid"/>
              <a:miter/>
            </a:ln>
          </p:spPr>
          <p:txBody>
            <a:bodyPr/>
            <a:lstStyle/>
            <a:p>
              <a:endParaRPr lang="en-US" sz="1050"/>
            </a:p>
          </p:txBody>
        </p:sp>
        <p:sp>
          <p:nvSpPr>
            <p:cNvPr id="36" name="TextBox 35">
              <a:extLst>
                <a:ext uri="{FF2B5EF4-FFF2-40B4-BE49-F238E27FC236}">
                  <a16:creationId xmlns:a16="http://schemas.microsoft.com/office/drawing/2014/main" id="{D6DBD04F-DA28-E363-43FA-5CE3E48CB471}"/>
                </a:ext>
              </a:extLst>
            </p:cNvPr>
            <p:cNvSpPr txBox="1"/>
            <p:nvPr/>
          </p:nvSpPr>
          <p:spPr>
            <a:xfrm>
              <a:off x="2236089" y="1639704"/>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0</a:t>
              </a:r>
            </a:p>
          </p:txBody>
        </p:sp>
        <p:sp>
          <p:nvSpPr>
            <p:cNvPr id="37" name="TextBox 36">
              <a:extLst>
                <a:ext uri="{FF2B5EF4-FFF2-40B4-BE49-F238E27FC236}">
                  <a16:creationId xmlns:a16="http://schemas.microsoft.com/office/drawing/2014/main" id="{9ED49C35-ACB9-9DD9-1A2A-CD66D50A1A63}"/>
                </a:ext>
              </a:extLst>
            </p:cNvPr>
            <p:cNvSpPr txBox="1"/>
            <p:nvPr/>
          </p:nvSpPr>
          <p:spPr>
            <a:xfrm>
              <a:off x="1855568" y="1809220"/>
              <a:ext cx="1422184" cy="215444"/>
            </a:xfrm>
            <a:prstGeom prst="rect">
              <a:avLst/>
            </a:prstGeom>
            <a:grpFill/>
          </p:spPr>
          <p:txBody>
            <a:bodyPr wrap="none" rtlCol="0">
              <a:spAutoFit/>
            </a:bodyPr>
            <a:lstStyle/>
            <a:p>
              <a:pPr algn="l"/>
              <a:r>
                <a:rPr lang="en-US" sz="800" b="1" spc="0" baseline="0">
                  <a:ln/>
                  <a:latin typeface="Arial"/>
                  <a:cs typeface="Arial"/>
                  <a:sym typeface="Arial"/>
                  <a:rtl val="0"/>
                </a:rPr>
                <a:t>Time window: 0:00 – 4:00</a:t>
              </a:r>
            </a:p>
          </p:txBody>
        </p:sp>
        <p:sp>
          <p:nvSpPr>
            <p:cNvPr id="38" name="Freeform 37">
              <a:extLst>
                <a:ext uri="{FF2B5EF4-FFF2-40B4-BE49-F238E27FC236}">
                  <a16:creationId xmlns:a16="http://schemas.microsoft.com/office/drawing/2014/main" id="{5ED5EF39-CAB6-2505-7E1F-73240840DF4A}"/>
                </a:ext>
              </a:extLst>
            </p:cNvPr>
            <p:cNvSpPr/>
            <p:nvPr/>
          </p:nvSpPr>
          <p:spPr>
            <a:xfrm>
              <a:off x="1349820" y="2016642"/>
              <a:ext cx="2417506" cy="6345"/>
            </a:xfrm>
            <a:custGeom>
              <a:avLst/>
              <a:gdLst>
                <a:gd name="csX0" fmla="*/ 0 w 2417506"/>
                <a:gd name="csY0" fmla="*/ 0 h 6345"/>
                <a:gd name="csX1" fmla="*/ 2417506 w 2417506"/>
                <a:gd name="csY1" fmla="*/ 0 h 6345"/>
              </a:gdLst>
              <a:ahLst/>
              <a:cxnLst>
                <a:cxn ang="0">
                  <a:pos x="csX0" y="csY0"/>
                </a:cxn>
                <a:cxn ang="0">
                  <a:pos x="csX1" y="csY1"/>
                </a:cxn>
              </a:cxnLst>
              <a:rect l="l" t="t" r="r" b="b"/>
              <a:pathLst>
                <a:path w="2417506" h="6345">
                  <a:moveTo>
                    <a:pt x="0" y="0"/>
                  </a:moveTo>
                  <a:lnTo>
                    <a:pt x="2417506" y="0"/>
                  </a:lnTo>
                </a:path>
              </a:pathLst>
            </a:custGeom>
            <a:grpFill/>
            <a:ln w="6344" cap="flat">
              <a:solidFill>
                <a:srgbClr val="2B7C35"/>
              </a:solidFill>
              <a:prstDash val="solid"/>
              <a:miter/>
            </a:ln>
          </p:spPr>
          <p:txBody>
            <a:bodyPr/>
            <a:lstStyle/>
            <a:p>
              <a:endParaRPr lang="en-US" sz="1050"/>
            </a:p>
          </p:txBody>
        </p:sp>
        <p:sp>
          <p:nvSpPr>
            <p:cNvPr id="39" name="TextBox 38">
              <a:extLst>
                <a:ext uri="{FF2B5EF4-FFF2-40B4-BE49-F238E27FC236}">
                  <a16:creationId xmlns:a16="http://schemas.microsoft.com/office/drawing/2014/main" id="{59F06C71-372A-EE61-3EDB-776F7BFDBF07}"/>
                </a:ext>
              </a:extLst>
            </p:cNvPr>
            <p:cNvSpPr txBox="1"/>
            <p:nvPr/>
          </p:nvSpPr>
          <p:spPr>
            <a:xfrm>
              <a:off x="1615924"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0:00</a:t>
              </a:r>
            </a:p>
          </p:txBody>
        </p:sp>
        <p:sp>
          <p:nvSpPr>
            <p:cNvPr id="40" name="TextBox 39">
              <a:extLst>
                <a:ext uri="{FF2B5EF4-FFF2-40B4-BE49-F238E27FC236}">
                  <a16:creationId xmlns:a16="http://schemas.microsoft.com/office/drawing/2014/main" id="{04D8FDAF-C9D0-3157-E177-6C1D8B09BA8F}"/>
                </a:ext>
              </a:extLst>
            </p:cNvPr>
            <p:cNvSpPr txBox="1"/>
            <p:nvPr/>
          </p:nvSpPr>
          <p:spPr>
            <a:xfrm>
              <a:off x="2504246"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2:00</a:t>
              </a:r>
            </a:p>
          </p:txBody>
        </p:sp>
        <p:sp>
          <p:nvSpPr>
            <p:cNvPr id="41" name="TextBox 40">
              <a:extLst>
                <a:ext uri="{FF2B5EF4-FFF2-40B4-BE49-F238E27FC236}">
                  <a16:creationId xmlns:a16="http://schemas.microsoft.com/office/drawing/2014/main" id="{3E986D95-A6E2-52CB-F7EF-0F1590690D2E}"/>
                </a:ext>
              </a:extLst>
            </p:cNvPr>
            <p:cNvSpPr txBox="1"/>
            <p:nvPr/>
          </p:nvSpPr>
          <p:spPr>
            <a:xfrm>
              <a:off x="3398914"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4:00</a:t>
              </a:r>
            </a:p>
          </p:txBody>
        </p:sp>
        <p:sp>
          <p:nvSpPr>
            <p:cNvPr id="42" name="Freeform 41">
              <a:extLst>
                <a:ext uri="{FF2B5EF4-FFF2-40B4-BE49-F238E27FC236}">
                  <a16:creationId xmlns:a16="http://schemas.microsoft.com/office/drawing/2014/main" id="{AA7EF997-AD0D-3FA9-E446-DEE9B73C1785}"/>
                </a:ext>
              </a:extLst>
            </p:cNvPr>
            <p:cNvSpPr/>
            <p:nvPr/>
          </p:nvSpPr>
          <p:spPr>
            <a:xfrm>
              <a:off x="1787636" y="2200652"/>
              <a:ext cx="1782990" cy="6345"/>
            </a:xfrm>
            <a:custGeom>
              <a:avLst/>
              <a:gdLst>
                <a:gd name="csX0" fmla="*/ 0 w 1782990"/>
                <a:gd name="csY0" fmla="*/ 0 h 6345"/>
                <a:gd name="csX1" fmla="*/ 1782990 w 1782990"/>
                <a:gd name="csY1" fmla="*/ 0 h 6345"/>
              </a:gdLst>
              <a:ahLst/>
              <a:cxnLst>
                <a:cxn ang="0">
                  <a:pos x="csX0" y="csY0"/>
                </a:cxn>
                <a:cxn ang="0">
                  <a:pos x="csX1" y="csY1"/>
                </a:cxn>
              </a:cxnLst>
              <a:rect l="l" t="t" r="r" b="b"/>
              <a:pathLst>
                <a:path w="1782990" h="6345">
                  <a:moveTo>
                    <a:pt x="0" y="0"/>
                  </a:moveTo>
                  <a:lnTo>
                    <a:pt x="1782990" y="0"/>
                  </a:lnTo>
                </a:path>
              </a:pathLst>
            </a:custGeom>
            <a:grpFill/>
            <a:ln w="8247" cap="flat">
              <a:solidFill>
                <a:srgbClr val="222222"/>
              </a:solidFill>
              <a:prstDash val="solid"/>
              <a:miter/>
            </a:ln>
          </p:spPr>
          <p:txBody>
            <a:bodyPr/>
            <a:lstStyle/>
            <a:p>
              <a:endParaRPr lang="en-US" sz="1050"/>
            </a:p>
          </p:txBody>
        </p:sp>
        <p:sp>
          <p:nvSpPr>
            <p:cNvPr id="43" name="Freeform 42">
              <a:extLst>
                <a:ext uri="{FF2B5EF4-FFF2-40B4-BE49-F238E27FC236}">
                  <a16:creationId xmlns:a16="http://schemas.microsoft.com/office/drawing/2014/main" id="{28C7A967-32E6-A0AA-37A0-2DB164699F19}"/>
                </a:ext>
              </a:extLst>
            </p:cNvPr>
            <p:cNvSpPr/>
            <p:nvPr/>
          </p:nvSpPr>
          <p:spPr>
            <a:xfrm>
              <a:off x="1787636" y="2194307"/>
              <a:ext cx="1782990" cy="1211925"/>
            </a:xfrm>
            <a:custGeom>
              <a:avLst/>
              <a:gdLst>
                <a:gd name="csX0" fmla="*/ 0 w 1782990"/>
                <a:gd name="csY0" fmla="*/ 0 h 1211925"/>
                <a:gd name="csX1" fmla="*/ 0 w 1782990"/>
                <a:gd name="csY1" fmla="*/ 1211926 h 1211925"/>
                <a:gd name="csX2" fmla="*/ 1782990 w 1782990"/>
                <a:gd name="csY2" fmla="*/ 0 h 1211925"/>
                <a:gd name="csX3" fmla="*/ 1782990 w 1782990"/>
                <a:gd name="csY3" fmla="*/ 1211926 h 1211925"/>
              </a:gdLst>
              <a:ahLst/>
              <a:cxnLst>
                <a:cxn ang="0">
                  <a:pos x="csX0" y="csY0"/>
                </a:cxn>
                <a:cxn ang="0">
                  <a:pos x="csX1" y="csY1"/>
                </a:cxn>
                <a:cxn ang="0">
                  <a:pos x="csX2" y="csY2"/>
                </a:cxn>
                <a:cxn ang="0">
                  <a:pos x="csX3" y="csY3"/>
                </a:cxn>
              </a:cxnLst>
              <a:rect l="l" t="t" r="r" b="b"/>
              <a:pathLst>
                <a:path w="1782990" h="1211925">
                  <a:moveTo>
                    <a:pt x="0" y="0"/>
                  </a:moveTo>
                  <a:lnTo>
                    <a:pt x="0" y="1211926"/>
                  </a:lnTo>
                  <a:moveTo>
                    <a:pt x="1782990" y="0"/>
                  </a:moveTo>
                  <a:lnTo>
                    <a:pt x="1782990" y="1211926"/>
                  </a:lnTo>
                </a:path>
              </a:pathLst>
            </a:custGeom>
            <a:grpFill/>
            <a:ln w="6344" cap="flat">
              <a:solidFill>
                <a:srgbClr val="9A9A9A"/>
              </a:solidFill>
              <a:custDash>
                <a:ds d="525000" sp="300000"/>
              </a:custDash>
              <a:miter/>
            </a:ln>
          </p:spPr>
          <p:txBody>
            <a:bodyPr/>
            <a:lstStyle/>
            <a:p>
              <a:endParaRPr lang="en-US" sz="1050"/>
            </a:p>
          </p:txBody>
        </p:sp>
        <p:sp>
          <p:nvSpPr>
            <p:cNvPr id="44" name="Freeform 43">
              <a:extLst>
                <a:ext uri="{FF2B5EF4-FFF2-40B4-BE49-F238E27FC236}">
                  <a16:creationId xmlns:a16="http://schemas.microsoft.com/office/drawing/2014/main" id="{01BE0DC2-C50E-37B0-AB90-7AF7383C6665}"/>
                </a:ext>
              </a:extLst>
            </p:cNvPr>
            <p:cNvSpPr/>
            <p:nvPr/>
          </p:nvSpPr>
          <p:spPr>
            <a:xfrm>
              <a:off x="1787636" y="2168926"/>
              <a:ext cx="1782990" cy="63451"/>
            </a:xfrm>
            <a:custGeom>
              <a:avLst/>
              <a:gdLst>
                <a:gd name="csX0" fmla="*/ 0 w 1782990"/>
                <a:gd name="csY0" fmla="*/ 0 h 63451"/>
                <a:gd name="csX1" fmla="*/ 0 w 1782990"/>
                <a:gd name="csY1" fmla="*/ 63452 h 63451"/>
                <a:gd name="csX2" fmla="*/ 888322 w 1782990"/>
                <a:gd name="csY2" fmla="*/ 0 h 63451"/>
                <a:gd name="csX3" fmla="*/ 888322 w 1782990"/>
                <a:gd name="csY3" fmla="*/ 63452 h 63451"/>
                <a:gd name="csX4" fmla="*/ 1782990 w 1782990"/>
                <a:gd name="csY4" fmla="*/ 0 h 63451"/>
                <a:gd name="csX5" fmla="*/ 1782990 w 1782990"/>
                <a:gd name="csY5" fmla="*/ 63452 h 63451"/>
              </a:gdLst>
              <a:ahLst/>
              <a:cxnLst>
                <a:cxn ang="0">
                  <a:pos x="csX0" y="csY0"/>
                </a:cxn>
                <a:cxn ang="0">
                  <a:pos x="csX1" y="csY1"/>
                </a:cxn>
                <a:cxn ang="0">
                  <a:pos x="csX2" y="csY2"/>
                </a:cxn>
                <a:cxn ang="0">
                  <a:pos x="csX3" y="csY3"/>
                </a:cxn>
                <a:cxn ang="0">
                  <a:pos x="csX4" y="csY4"/>
                </a:cxn>
                <a:cxn ang="0">
                  <a:pos x="csX5" y="csY5"/>
                </a:cxn>
              </a:cxnLst>
              <a:rect l="l" t="t" r="r" b="b"/>
              <a:pathLst>
                <a:path w="1782990" h="63451">
                  <a:moveTo>
                    <a:pt x="0" y="0"/>
                  </a:moveTo>
                  <a:lnTo>
                    <a:pt x="0" y="63452"/>
                  </a:lnTo>
                  <a:moveTo>
                    <a:pt x="888322" y="0"/>
                  </a:moveTo>
                  <a:lnTo>
                    <a:pt x="888322" y="63452"/>
                  </a:lnTo>
                  <a:moveTo>
                    <a:pt x="1782990" y="0"/>
                  </a:moveTo>
                  <a:lnTo>
                    <a:pt x="1782990" y="63452"/>
                  </a:lnTo>
                </a:path>
              </a:pathLst>
            </a:custGeom>
            <a:grpFill/>
            <a:ln w="6344" cap="flat">
              <a:solidFill>
                <a:srgbClr val="222222"/>
              </a:solidFill>
              <a:prstDash val="solid"/>
              <a:miter/>
            </a:ln>
          </p:spPr>
          <p:txBody>
            <a:bodyPr/>
            <a:lstStyle/>
            <a:p>
              <a:endParaRPr lang="en-US" sz="1050"/>
            </a:p>
          </p:txBody>
        </p:sp>
        <p:sp>
          <p:nvSpPr>
            <p:cNvPr id="45" name="TextBox 44">
              <a:extLst>
                <a:ext uri="{FF2B5EF4-FFF2-40B4-BE49-F238E27FC236}">
                  <a16:creationId xmlns:a16="http://schemas.microsoft.com/office/drawing/2014/main" id="{93769CD3-B65F-B8F4-A9E9-CB758A19EB35}"/>
                </a:ext>
              </a:extLst>
            </p:cNvPr>
            <p:cNvSpPr txBox="1"/>
            <p:nvPr/>
          </p:nvSpPr>
          <p:spPr>
            <a:xfrm>
              <a:off x="1321831" y="2259726"/>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A</a:t>
              </a:r>
            </a:p>
          </p:txBody>
        </p:sp>
        <p:sp>
          <p:nvSpPr>
            <p:cNvPr id="46" name="TextBox 45">
              <a:extLst>
                <a:ext uri="{FF2B5EF4-FFF2-40B4-BE49-F238E27FC236}">
                  <a16:creationId xmlns:a16="http://schemas.microsoft.com/office/drawing/2014/main" id="{A34CA4FF-8D8D-7B2D-A407-FF07AA60F0A8}"/>
                </a:ext>
              </a:extLst>
            </p:cNvPr>
            <p:cNvSpPr txBox="1"/>
            <p:nvPr/>
          </p:nvSpPr>
          <p:spPr>
            <a:xfrm>
              <a:off x="1321831" y="2488152"/>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B</a:t>
              </a:r>
            </a:p>
          </p:txBody>
        </p:sp>
        <p:sp>
          <p:nvSpPr>
            <p:cNvPr id="47" name="TextBox 46">
              <a:extLst>
                <a:ext uri="{FF2B5EF4-FFF2-40B4-BE49-F238E27FC236}">
                  <a16:creationId xmlns:a16="http://schemas.microsoft.com/office/drawing/2014/main" id="{C73F69E9-44DC-68EE-457F-D393DEF9515C}"/>
                </a:ext>
              </a:extLst>
            </p:cNvPr>
            <p:cNvSpPr txBox="1"/>
            <p:nvPr/>
          </p:nvSpPr>
          <p:spPr>
            <a:xfrm>
              <a:off x="1321831" y="2716578"/>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C</a:t>
              </a:r>
            </a:p>
          </p:txBody>
        </p:sp>
        <p:sp>
          <p:nvSpPr>
            <p:cNvPr id="48" name="TextBox 47">
              <a:extLst>
                <a:ext uri="{FF2B5EF4-FFF2-40B4-BE49-F238E27FC236}">
                  <a16:creationId xmlns:a16="http://schemas.microsoft.com/office/drawing/2014/main" id="{BC7D13DD-F77C-4328-F3F4-E581569AC4AA}"/>
                </a:ext>
              </a:extLst>
            </p:cNvPr>
            <p:cNvSpPr txBox="1"/>
            <p:nvPr/>
          </p:nvSpPr>
          <p:spPr>
            <a:xfrm>
              <a:off x="1321831" y="2945004"/>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D</a:t>
              </a:r>
            </a:p>
          </p:txBody>
        </p:sp>
        <p:sp>
          <p:nvSpPr>
            <p:cNvPr id="49" name="TextBox 48">
              <a:extLst>
                <a:ext uri="{FF2B5EF4-FFF2-40B4-BE49-F238E27FC236}">
                  <a16:creationId xmlns:a16="http://schemas.microsoft.com/office/drawing/2014/main" id="{47B3DF3D-DC89-5102-999E-D38B0B6CF994}"/>
                </a:ext>
              </a:extLst>
            </p:cNvPr>
            <p:cNvSpPr txBox="1"/>
            <p:nvPr/>
          </p:nvSpPr>
          <p:spPr>
            <a:xfrm>
              <a:off x="1321831" y="3192465"/>
              <a:ext cx="534121" cy="215444"/>
            </a:xfrm>
            <a:prstGeom prst="rect">
              <a:avLst/>
            </a:prstGeom>
            <a:grpFill/>
          </p:spPr>
          <p:txBody>
            <a:bodyPr wrap="none" rtlCol="0">
              <a:spAutoFit/>
            </a:bodyPr>
            <a:lstStyle/>
            <a:p>
              <a:pPr algn="l"/>
              <a:r>
                <a:rPr lang="en-US" sz="800" b="1" spc="0" baseline="0">
                  <a:ln/>
                  <a:latin typeface="Arial"/>
                  <a:cs typeface="Arial"/>
                  <a:sym typeface="Arial"/>
                  <a:rtl val="0"/>
                </a:rPr>
                <a:t>Train E</a:t>
              </a:r>
            </a:p>
          </p:txBody>
        </p:sp>
        <p:sp>
          <p:nvSpPr>
            <p:cNvPr id="50" name="TextBox 49">
              <a:extLst>
                <a:ext uri="{FF2B5EF4-FFF2-40B4-BE49-F238E27FC236}">
                  <a16:creationId xmlns:a16="http://schemas.microsoft.com/office/drawing/2014/main" id="{1A1903A2-E0BE-4802-F46C-EF6869AF9D46}"/>
                </a:ext>
              </a:extLst>
            </p:cNvPr>
            <p:cNvSpPr txBox="1"/>
            <p:nvPr/>
          </p:nvSpPr>
          <p:spPr>
            <a:xfrm>
              <a:off x="1740612" y="2276959"/>
              <a:ext cx="308098" cy="169277"/>
            </a:xfrm>
            <a:prstGeom prst="rect">
              <a:avLst/>
            </a:prstGeom>
            <a:grpFill/>
          </p:spPr>
          <p:txBody>
            <a:bodyPr wrap="none" rtlCol="0">
              <a:spAutoFit/>
            </a:bodyPr>
            <a:lstStyle/>
            <a:p>
              <a:pPr algn="l"/>
              <a:r>
                <a:rPr lang="en-US" sz="500" spc="0" baseline="0">
                  <a:ln/>
                  <a:latin typeface="Arial"/>
                  <a:cs typeface="Arial"/>
                  <a:sym typeface="Arial"/>
                  <a:rtl val="0"/>
                </a:rPr>
                <a:t>0:30</a:t>
              </a:r>
            </a:p>
          </p:txBody>
        </p:sp>
        <p:sp>
          <p:nvSpPr>
            <p:cNvPr id="51" name="Freeform 50">
              <a:extLst>
                <a:ext uri="{FF2B5EF4-FFF2-40B4-BE49-F238E27FC236}">
                  <a16:creationId xmlns:a16="http://schemas.microsoft.com/office/drawing/2014/main" id="{49687CD4-9996-CE02-3127-8DCD0415A0D6}"/>
                </a:ext>
              </a:extLst>
            </p:cNvPr>
            <p:cNvSpPr/>
            <p:nvPr/>
          </p:nvSpPr>
          <p:spPr>
            <a:xfrm>
              <a:off x="2047787" y="2371971"/>
              <a:ext cx="672586" cy="6345"/>
            </a:xfrm>
            <a:custGeom>
              <a:avLst/>
              <a:gdLst>
                <a:gd name="csX0" fmla="*/ 0 w 672586"/>
                <a:gd name="csY0" fmla="*/ 0 h 6345"/>
                <a:gd name="csX1" fmla="*/ 672587 w 672586"/>
                <a:gd name="csY1" fmla="*/ 0 h 6345"/>
              </a:gdLst>
              <a:ahLst/>
              <a:cxnLst>
                <a:cxn ang="0">
                  <a:pos x="csX0" y="csY0"/>
                </a:cxn>
                <a:cxn ang="0">
                  <a:pos x="csX1" y="csY1"/>
                </a:cxn>
              </a:cxnLst>
              <a:rect l="l" t="t" r="r" b="b"/>
              <a:pathLst>
                <a:path w="672586" h="6345">
                  <a:moveTo>
                    <a:pt x="0" y="0"/>
                  </a:moveTo>
                  <a:lnTo>
                    <a:pt x="672587" y="0"/>
                  </a:lnTo>
                </a:path>
              </a:pathLst>
            </a:custGeom>
            <a:grpFill/>
            <a:ln w="19031" cap="flat">
              <a:solidFill>
                <a:srgbClr val="144A92"/>
              </a:solidFill>
              <a:prstDash val="solid"/>
              <a:miter/>
            </a:ln>
          </p:spPr>
          <p:txBody>
            <a:bodyPr/>
            <a:lstStyle/>
            <a:p>
              <a:endParaRPr lang="en-US" sz="1050"/>
            </a:p>
          </p:txBody>
        </p:sp>
        <p:sp>
          <p:nvSpPr>
            <p:cNvPr id="52" name="Oval 51">
              <a:extLst>
                <a:ext uri="{FF2B5EF4-FFF2-40B4-BE49-F238E27FC236}">
                  <a16:creationId xmlns:a16="http://schemas.microsoft.com/office/drawing/2014/main" id="{5BAB683D-5282-1B4A-054F-DC969DD3716D}"/>
                </a:ext>
              </a:extLst>
            </p:cNvPr>
            <p:cNvSpPr/>
            <p:nvPr/>
          </p:nvSpPr>
          <p:spPr>
            <a:xfrm>
              <a:off x="2016062" y="2340245"/>
              <a:ext cx="63451" cy="63451"/>
            </a:xfrm>
            <a:prstGeom prst="ellipse">
              <a:avLst/>
            </a:prstGeom>
            <a:grpFill/>
            <a:ln w="6344" cap="flat">
              <a:noFill/>
              <a:prstDash val="solid"/>
              <a:miter/>
            </a:ln>
          </p:spPr>
          <p:txBody>
            <a:bodyPr/>
            <a:lstStyle/>
            <a:p>
              <a:endParaRPr lang="en-US" sz="1050"/>
            </a:p>
          </p:txBody>
        </p:sp>
        <p:sp>
          <p:nvSpPr>
            <p:cNvPr id="53" name="Oval 52">
              <a:extLst>
                <a:ext uri="{FF2B5EF4-FFF2-40B4-BE49-F238E27FC236}">
                  <a16:creationId xmlns:a16="http://schemas.microsoft.com/office/drawing/2014/main" id="{A0C66B2A-8086-75AF-4DE5-188EFD5638AC}"/>
                </a:ext>
              </a:extLst>
            </p:cNvPr>
            <p:cNvSpPr/>
            <p:nvPr/>
          </p:nvSpPr>
          <p:spPr>
            <a:xfrm>
              <a:off x="2688648" y="2340245"/>
              <a:ext cx="63451" cy="63451"/>
            </a:xfrm>
            <a:prstGeom prst="ellipse">
              <a:avLst/>
            </a:prstGeom>
            <a:grpFill/>
            <a:ln w="6344" cap="flat">
              <a:noFill/>
              <a:prstDash val="solid"/>
              <a:miter/>
            </a:ln>
          </p:spPr>
          <p:txBody>
            <a:bodyPr/>
            <a:lstStyle/>
            <a:p>
              <a:endParaRPr lang="en-US" sz="1050"/>
            </a:p>
          </p:txBody>
        </p:sp>
        <p:sp>
          <p:nvSpPr>
            <p:cNvPr id="54" name="TextBox 53">
              <a:extLst>
                <a:ext uri="{FF2B5EF4-FFF2-40B4-BE49-F238E27FC236}">
                  <a16:creationId xmlns:a16="http://schemas.microsoft.com/office/drawing/2014/main" id="{A8923635-BA68-A518-6D0A-3F259514CC07}"/>
                </a:ext>
              </a:extLst>
            </p:cNvPr>
            <p:cNvSpPr txBox="1"/>
            <p:nvPr/>
          </p:nvSpPr>
          <p:spPr>
            <a:xfrm>
              <a:off x="2686041" y="2276959"/>
              <a:ext cx="308098" cy="169277"/>
            </a:xfrm>
            <a:prstGeom prst="rect">
              <a:avLst/>
            </a:prstGeom>
            <a:grpFill/>
          </p:spPr>
          <p:txBody>
            <a:bodyPr wrap="none" rtlCol="0">
              <a:spAutoFit/>
            </a:bodyPr>
            <a:lstStyle/>
            <a:p>
              <a:pPr algn="l"/>
              <a:r>
                <a:rPr lang="en-US" sz="500" spc="0" baseline="0">
                  <a:ln/>
                  <a:latin typeface="Arial"/>
                  <a:cs typeface="Arial"/>
                  <a:sym typeface="Arial"/>
                  <a:rtl val="0"/>
                </a:rPr>
                <a:t>2:30</a:t>
              </a:r>
            </a:p>
          </p:txBody>
        </p:sp>
        <p:sp>
          <p:nvSpPr>
            <p:cNvPr id="55" name="TextBox 54">
              <a:extLst>
                <a:ext uri="{FF2B5EF4-FFF2-40B4-BE49-F238E27FC236}">
                  <a16:creationId xmlns:a16="http://schemas.microsoft.com/office/drawing/2014/main" id="{2BBFFBB6-CA66-4EEA-9CD5-5959730E5B56}"/>
                </a:ext>
              </a:extLst>
            </p:cNvPr>
            <p:cNvSpPr txBox="1"/>
            <p:nvPr/>
          </p:nvSpPr>
          <p:spPr>
            <a:xfrm>
              <a:off x="2178428" y="2505384"/>
              <a:ext cx="308098" cy="169277"/>
            </a:xfrm>
            <a:prstGeom prst="rect">
              <a:avLst/>
            </a:prstGeom>
            <a:grpFill/>
          </p:spPr>
          <p:txBody>
            <a:bodyPr wrap="none" rtlCol="0">
              <a:spAutoFit/>
            </a:bodyPr>
            <a:lstStyle/>
            <a:p>
              <a:pPr algn="l"/>
              <a:r>
                <a:rPr lang="en-US" sz="500" spc="0" baseline="0">
                  <a:ln/>
                  <a:latin typeface="Arial"/>
                  <a:cs typeface="Arial"/>
                  <a:sym typeface="Arial"/>
                  <a:rtl val="0"/>
                </a:rPr>
                <a:t>2:00</a:t>
              </a:r>
            </a:p>
          </p:txBody>
        </p:sp>
        <p:sp>
          <p:nvSpPr>
            <p:cNvPr id="56" name="Freeform 55">
              <a:extLst>
                <a:ext uri="{FF2B5EF4-FFF2-40B4-BE49-F238E27FC236}">
                  <a16:creationId xmlns:a16="http://schemas.microsoft.com/office/drawing/2014/main" id="{7F370D7E-10D5-BE57-9E36-1C78AD687B6C}"/>
                </a:ext>
              </a:extLst>
            </p:cNvPr>
            <p:cNvSpPr/>
            <p:nvPr/>
          </p:nvSpPr>
          <p:spPr>
            <a:xfrm>
              <a:off x="2491949" y="2600397"/>
              <a:ext cx="1224615" cy="6345"/>
            </a:xfrm>
            <a:custGeom>
              <a:avLst/>
              <a:gdLst>
                <a:gd name="csX0" fmla="*/ 0 w 1224615"/>
                <a:gd name="csY0" fmla="*/ 0 h 6345"/>
                <a:gd name="csX1" fmla="*/ 1224616 w 1224615"/>
                <a:gd name="csY1" fmla="*/ 0 h 6345"/>
              </a:gdLst>
              <a:ahLst/>
              <a:cxnLst>
                <a:cxn ang="0">
                  <a:pos x="csX0" y="csY0"/>
                </a:cxn>
                <a:cxn ang="0">
                  <a:pos x="csX1" y="csY1"/>
                </a:cxn>
              </a:cxnLst>
              <a:rect l="l" t="t" r="r" b="b"/>
              <a:pathLst>
                <a:path w="1224615" h="6345">
                  <a:moveTo>
                    <a:pt x="0" y="0"/>
                  </a:moveTo>
                  <a:lnTo>
                    <a:pt x="1224616" y="0"/>
                  </a:lnTo>
                </a:path>
              </a:pathLst>
            </a:custGeom>
            <a:grpFill/>
            <a:ln w="19031" cap="flat">
              <a:solidFill>
                <a:srgbClr val="DF5B0B"/>
              </a:solidFill>
              <a:prstDash val="solid"/>
              <a:miter/>
            </a:ln>
          </p:spPr>
          <p:txBody>
            <a:bodyPr/>
            <a:lstStyle/>
            <a:p>
              <a:endParaRPr lang="en-US" sz="1050"/>
            </a:p>
          </p:txBody>
        </p:sp>
        <p:sp>
          <p:nvSpPr>
            <p:cNvPr id="57" name="Oval 56">
              <a:extLst>
                <a:ext uri="{FF2B5EF4-FFF2-40B4-BE49-F238E27FC236}">
                  <a16:creationId xmlns:a16="http://schemas.microsoft.com/office/drawing/2014/main" id="{28B80F27-A2DD-5F3E-F66D-D3D6C15B1E8B}"/>
                </a:ext>
              </a:extLst>
            </p:cNvPr>
            <p:cNvSpPr/>
            <p:nvPr/>
          </p:nvSpPr>
          <p:spPr>
            <a:xfrm>
              <a:off x="2460223" y="2568671"/>
              <a:ext cx="63451" cy="63451"/>
            </a:xfrm>
            <a:prstGeom prst="ellipse">
              <a:avLst/>
            </a:prstGeom>
            <a:grpFill/>
            <a:ln w="6344" cap="flat">
              <a:noFill/>
              <a:prstDash val="solid"/>
              <a:miter/>
            </a:ln>
          </p:spPr>
          <p:txBody>
            <a:bodyPr/>
            <a:lstStyle/>
            <a:p>
              <a:endParaRPr lang="en-US" sz="1050"/>
            </a:p>
          </p:txBody>
        </p:sp>
        <p:sp>
          <p:nvSpPr>
            <p:cNvPr id="58" name="TextBox 57">
              <a:extLst>
                <a:ext uri="{FF2B5EF4-FFF2-40B4-BE49-F238E27FC236}">
                  <a16:creationId xmlns:a16="http://schemas.microsoft.com/office/drawing/2014/main" id="{D4530083-543A-27AF-CC36-01888BA7235C}"/>
                </a:ext>
              </a:extLst>
            </p:cNvPr>
            <p:cNvSpPr txBox="1"/>
            <p:nvPr/>
          </p:nvSpPr>
          <p:spPr>
            <a:xfrm>
              <a:off x="2387818" y="2733810"/>
              <a:ext cx="308098" cy="169277"/>
            </a:xfrm>
            <a:prstGeom prst="rect">
              <a:avLst/>
            </a:prstGeom>
            <a:grpFill/>
          </p:spPr>
          <p:txBody>
            <a:bodyPr wrap="none" rtlCol="0">
              <a:spAutoFit/>
            </a:bodyPr>
            <a:lstStyle/>
            <a:p>
              <a:pPr algn="l"/>
              <a:r>
                <a:rPr lang="en-US" sz="500" spc="0" baseline="0">
                  <a:ln/>
                  <a:latin typeface="Arial"/>
                  <a:cs typeface="Arial"/>
                  <a:sym typeface="Arial"/>
                  <a:rtl val="0"/>
                </a:rPr>
                <a:t>3:00</a:t>
              </a:r>
            </a:p>
          </p:txBody>
        </p:sp>
        <p:sp>
          <p:nvSpPr>
            <p:cNvPr id="59" name="Freeform 58">
              <a:extLst>
                <a:ext uri="{FF2B5EF4-FFF2-40B4-BE49-F238E27FC236}">
                  <a16:creationId xmlns:a16="http://schemas.microsoft.com/office/drawing/2014/main" id="{3BB72908-72FC-A503-48FC-61B9FDF58444}"/>
                </a:ext>
              </a:extLst>
            </p:cNvPr>
            <p:cNvSpPr/>
            <p:nvPr/>
          </p:nvSpPr>
          <p:spPr>
            <a:xfrm>
              <a:off x="2714029" y="2828823"/>
              <a:ext cx="1002535" cy="6345"/>
            </a:xfrm>
            <a:custGeom>
              <a:avLst/>
              <a:gdLst>
                <a:gd name="csX0" fmla="*/ 0 w 1002535"/>
                <a:gd name="csY0" fmla="*/ 0 h 6345"/>
                <a:gd name="csX1" fmla="*/ 1002535 w 1002535"/>
                <a:gd name="csY1" fmla="*/ 0 h 6345"/>
              </a:gdLst>
              <a:ahLst/>
              <a:cxnLst>
                <a:cxn ang="0">
                  <a:pos x="csX0" y="csY0"/>
                </a:cxn>
                <a:cxn ang="0">
                  <a:pos x="csX1" y="csY1"/>
                </a:cxn>
              </a:cxnLst>
              <a:rect l="l" t="t" r="r" b="b"/>
              <a:pathLst>
                <a:path w="1002535" h="6345">
                  <a:moveTo>
                    <a:pt x="0" y="0"/>
                  </a:moveTo>
                  <a:lnTo>
                    <a:pt x="1002535" y="0"/>
                  </a:lnTo>
                </a:path>
              </a:pathLst>
            </a:custGeom>
            <a:grpFill/>
            <a:ln w="19031" cap="flat">
              <a:solidFill>
                <a:srgbClr val="31803A"/>
              </a:solidFill>
              <a:prstDash val="solid"/>
              <a:miter/>
            </a:ln>
          </p:spPr>
          <p:txBody>
            <a:bodyPr/>
            <a:lstStyle/>
            <a:p>
              <a:endParaRPr lang="en-US" sz="1050"/>
            </a:p>
          </p:txBody>
        </p:sp>
        <p:sp>
          <p:nvSpPr>
            <p:cNvPr id="60" name="Oval 59">
              <a:extLst>
                <a:ext uri="{FF2B5EF4-FFF2-40B4-BE49-F238E27FC236}">
                  <a16:creationId xmlns:a16="http://schemas.microsoft.com/office/drawing/2014/main" id="{5A8F57C0-33C7-1D2D-E64F-B1EBEB1C043A}"/>
                </a:ext>
              </a:extLst>
            </p:cNvPr>
            <p:cNvSpPr/>
            <p:nvPr/>
          </p:nvSpPr>
          <p:spPr>
            <a:xfrm>
              <a:off x="2682303" y="2797097"/>
              <a:ext cx="63451" cy="63451"/>
            </a:xfrm>
            <a:prstGeom prst="ellipse">
              <a:avLst/>
            </a:prstGeom>
            <a:grpFill/>
            <a:ln w="6344" cap="flat">
              <a:noFill/>
              <a:prstDash val="solid"/>
              <a:miter/>
            </a:ln>
          </p:spPr>
          <p:txBody>
            <a:bodyPr/>
            <a:lstStyle/>
            <a:p>
              <a:endParaRPr lang="en-US" sz="1050"/>
            </a:p>
          </p:txBody>
        </p:sp>
        <p:sp>
          <p:nvSpPr>
            <p:cNvPr id="61" name="TextBox 60">
              <a:extLst>
                <a:ext uri="{FF2B5EF4-FFF2-40B4-BE49-F238E27FC236}">
                  <a16:creationId xmlns:a16="http://schemas.microsoft.com/office/drawing/2014/main" id="{5BBB3772-2649-86F5-D739-075806AECA47}"/>
                </a:ext>
              </a:extLst>
            </p:cNvPr>
            <p:cNvSpPr txBox="1"/>
            <p:nvPr/>
          </p:nvSpPr>
          <p:spPr>
            <a:xfrm>
              <a:off x="1804063" y="2962236"/>
              <a:ext cx="308098" cy="169277"/>
            </a:xfrm>
            <a:prstGeom prst="rect">
              <a:avLst/>
            </a:prstGeom>
            <a:grpFill/>
          </p:spPr>
          <p:txBody>
            <a:bodyPr wrap="none" rtlCol="0">
              <a:spAutoFit/>
            </a:bodyPr>
            <a:lstStyle/>
            <a:p>
              <a:pPr algn="l"/>
              <a:r>
                <a:rPr lang="en-US" sz="500" spc="0" baseline="0">
                  <a:ln/>
                  <a:latin typeface="Arial"/>
                  <a:cs typeface="Arial"/>
                  <a:sym typeface="Arial"/>
                  <a:rtl val="0"/>
                </a:rPr>
                <a:t>1:00</a:t>
              </a:r>
            </a:p>
          </p:txBody>
        </p:sp>
        <p:sp>
          <p:nvSpPr>
            <p:cNvPr id="62" name="Freeform 61">
              <a:extLst>
                <a:ext uri="{FF2B5EF4-FFF2-40B4-BE49-F238E27FC236}">
                  <a16:creationId xmlns:a16="http://schemas.microsoft.com/office/drawing/2014/main" id="{DC79BA06-7257-0EA3-8360-9CBE9A80021C}"/>
                </a:ext>
              </a:extLst>
            </p:cNvPr>
            <p:cNvSpPr/>
            <p:nvPr/>
          </p:nvSpPr>
          <p:spPr>
            <a:xfrm>
              <a:off x="2123929" y="3057249"/>
              <a:ext cx="596445" cy="6345"/>
            </a:xfrm>
            <a:custGeom>
              <a:avLst/>
              <a:gdLst>
                <a:gd name="csX0" fmla="*/ 0 w 596445"/>
                <a:gd name="csY0" fmla="*/ 0 h 6345"/>
                <a:gd name="csX1" fmla="*/ 596445 w 596445"/>
                <a:gd name="csY1" fmla="*/ 0 h 6345"/>
              </a:gdLst>
              <a:ahLst/>
              <a:cxnLst>
                <a:cxn ang="0">
                  <a:pos x="csX0" y="csY0"/>
                </a:cxn>
                <a:cxn ang="0">
                  <a:pos x="csX1" y="csY1"/>
                </a:cxn>
              </a:cxnLst>
              <a:rect l="l" t="t" r="r" b="b"/>
              <a:pathLst>
                <a:path w="596445" h="6345">
                  <a:moveTo>
                    <a:pt x="0" y="0"/>
                  </a:moveTo>
                  <a:lnTo>
                    <a:pt x="596445" y="0"/>
                  </a:lnTo>
                </a:path>
              </a:pathLst>
            </a:custGeom>
            <a:grpFill/>
            <a:ln w="19031" cap="flat">
              <a:solidFill>
                <a:srgbClr val="5B24A7"/>
              </a:solidFill>
              <a:prstDash val="solid"/>
              <a:miter/>
            </a:ln>
          </p:spPr>
          <p:txBody>
            <a:bodyPr/>
            <a:lstStyle/>
            <a:p>
              <a:endParaRPr lang="en-US" sz="1050"/>
            </a:p>
          </p:txBody>
        </p:sp>
        <p:sp>
          <p:nvSpPr>
            <p:cNvPr id="63" name="Oval 62">
              <a:extLst>
                <a:ext uri="{FF2B5EF4-FFF2-40B4-BE49-F238E27FC236}">
                  <a16:creationId xmlns:a16="http://schemas.microsoft.com/office/drawing/2014/main" id="{4C1E69F8-3068-56FA-A7A0-2135AA458B4D}"/>
                </a:ext>
              </a:extLst>
            </p:cNvPr>
            <p:cNvSpPr/>
            <p:nvPr/>
          </p:nvSpPr>
          <p:spPr>
            <a:xfrm>
              <a:off x="2092203" y="3025523"/>
              <a:ext cx="63451" cy="63451"/>
            </a:xfrm>
            <a:prstGeom prst="ellipse">
              <a:avLst/>
            </a:prstGeom>
            <a:grpFill/>
            <a:ln w="6344" cap="flat">
              <a:noFill/>
              <a:prstDash val="solid"/>
              <a:miter/>
            </a:ln>
          </p:spPr>
          <p:txBody>
            <a:bodyPr/>
            <a:lstStyle/>
            <a:p>
              <a:endParaRPr lang="en-US" sz="1050"/>
            </a:p>
          </p:txBody>
        </p:sp>
        <p:sp>
          <p:nvSpPr>
            <p:cNvPr id="64" name="Oval 63">
              <a:extLst>
                <a:ext uri="{FF2B5EF4-FFF2-40B4-BE49-F238E27FC236}">
                  <a16:creationId xmlns:a16="http://schemas.microsoft.com/office/drawing/2014/main" id="{65A0BAF7-5E1A-654C-41CA-9481E277BAEF}"/>
                </a:ext>
              </a:extLst>
            </p:cNvPr>
            <p:cNvSpPr/>
            <p:nvPr/>
          </p:nvSpPr>
          <p:spPr>
            <a:xfrm>
              <a:off x="2688648" y="3025523"/>
              <a:ext cx="63451" cy="63451"/>
            </a:xfrm>
            <a:prstGeom prst="ellipse">
              <a:avLst/>
            </a:prstGeom>
            <a:grpFill/>
            <a:ln w="6344" cap="flat">
              <a:noFill/>
              <a:prstDash val="solid"/>
              <a:miter/>
            </a:ln>
          </p:spPr>
          <p:txBody>
            <a:bodyPr/>
            <a:lstStyle/>
            <a:p>
              <a:endParaRPr lang="en-US" sz="1050"/>
            </a:p>
          </p:txBody>
        </p:sp>
        <p:sp>
          <p:nvSpPr>
            <p:cNvPr id="65" name="TextBox 64">
              <a:extLst>
                <a:ext uri="{FF2B5EF4-FFF2-40B4-BE49-F238E27FC236}">
                  <a16:creationId xmlns:a16="http://schemas.microsoft.com/office/drawing/2014/main" id="{8A3DACE3-0A67-BB60-8C4F-EBB8C9E69B70}"/>
                </a:ext>
              </a:extLst>
            </p:cNvPr>
            <p:cNvSpPr txBox="1"/>
            <p:nvPr/>
          </p:nvSpPr>
          <p:spPr>
            <a:xfrm>
              <a:off x="2686041" y="2962236"/>
              <a:ext cx="308098" cy="169277"/>
            </a:xfrm>
            <a:prstGeom prst="rect">
              <a:avLst/>
            </a:prstGeom>
            <a:grpFill/>
          </p:spPr>
          <p:txBody>
            <a:bodyPr wrap="none" rtlCol="0">
              <a:spAutoFit/>
            </a:bodyPr>
            <a:lstStyle/>
            <a:p>
              <a:pPr algn="l"/>
              <a:r>
                <a:rPr lang="en-US" sz="500" spc="0" baseline="0">
                  <a:ln/>
                  <a:latin typeface="Arial"/>
                  <a:cs typeface="Arial"/>
                  <a:sym typeface="Arial"/>
                  <a:rtl val="0"/>
                </a:rPr>
                <a:t>3:30</a:t>
              </a:r>
            </a:p>
          </p:txBody>
        </p:sp>
        <p:sp>
          <p:nvSpPr>
            <p:cNvPr id="66" name="TextBox 65">
              <a:extLst>
                <a:ext uri="{FF2B5EF4-FFF2-40B4-BE49-F238E27FC236}">
                  <a16:creationId xmlns:a16="http://schemas.microsoft.com/office/drawing/2014/main" id="{5792E331-8A6B-35C5-CCF0-8673D572299A}"/>
                </a:ext>
              </a:extLst>
            </p:cNvPr>
            <p:cNvSpPr txBox="1"/>
            <p:nvPr/>
          </p:nvSpPr>
          <p:spPr>
            <a:xfrm>
              <a:off x="2825634" y="3209697"/>
              <a:ext cx="308098" cy="169277"/>
            </a:xfrm>
            <a:prstGeom prst="rect">
              <a:avLst/>
            </a:prstGeom>
            <a:grpFill/>
          </p:spPr>
          <p:txBody>
            <a:bodyPr wrap="none" rtlCol="0">
              <a:spAutoFit/>
            </a:bodyPr>
            <a:lstStyle/>
            <a:p>
              <a:pPr algn="l"/>
              <a:r>
                <a:rPr lang="en-US" sz="500" spc="0" baseline="0">
                  <a:ln/>
                  <a:latin typeface="Arial"/>
                  <a:cs typeface="Arial"/>
                  <a:sym typeface="Arial"/>
                  <a:rtl val="0"/>
                </a:rPr>
                <a:t>4:30</a:t>
              </a:r>
            </a:p>
          </p:txBody>
        </p:sp>
        <p:sp>
          <p:nvSpPr>
            <p:cNvPr id="68" name="Oval 67">
              <a:extLst>
                <a:ext uri="{FF2B5EF4-FFF2-40B4-BE49-F238E27FC236}">
                  <a16:creationId xmlns:a16="http://schemas.microsoft.com/office/drawing/2014/main" id="{F51E2218-7D4C-F6BD-DBA1-062BE0ABEC23}"/>
                </a:ext>
              </a:extLst>
            </p:cNvPr>
            <p:cNvSpPr/>
            <p:nvPr/>
          </p:nvSpPr>
          <p:spPr>
            <a:xfrm>
              <a:off x="3113774" y="3272984"/>
              <a:ext cx="63451" cy="63451"/>
            </a:xfrm>
            <a:prstGeom prst="ellipse">
              <a:avLst/>
            </a:prstGeom>
            <a:grpFill/>
            <a:ln w="6344" cap="flat">
              <a:noFill/>
              <a:prstDash val="solid"/>
              <a:miter/>
            </a:ln>
          </p:spPr>
          <p:txBody>
            <a:bodyPr/>
            <a:lstStyle/>
            <a:p>
              <a:endParaRPr lang="en-US" sz="1050"/>
            </a:p>
          </p:txBody>
        </p:sp>
        <p:sp>
          <p:nvSpPr>
            <p:cNvPr id="69" name="Freeform 68">
              <a:extLst>
                <a:ext uri="{FF2B5EF4-FFF2-40B4-BE49-F238E27FC236}">
                  <a16:creationId xmlns:a16="http://schemas.microsoft.com/office/drawing/2014/main" id="{377BD820-E954-7EAC-CD23-F7A706F914F3}"/>
                </a:ext>
              </a:extLst>
            </p:cNvPr>
            <p:cNvSpPr/>
            <p:nvPr/>
          </p:nvSpPr>
          <p:spPr>
            <a:xfrm>
              <a:off x="2555400" y="3425268"/>
              <a:ext cx="6345" cy="139593"/>
            </a:xfrm>
            <a:custGeom>
              <a:avLst/>
              <a:gdLst>
                <a:gd name="csX0" fmla="*/ 0 w 6345"/>
                <a:gd name="csY0" fmla="*/ 0 h 139593"/>
                <a:gd name="csX1" fmla="*/ 0 w 6345"/>
                <a:gd name="csY1" fmla="*/ 139594 h 139593"/>
              </a:gdLst>
              <a:ahLst/>
              <a:cxnLst>
                <a:cxn ang="0">
                  <a:pos x="csX0" y="csY0"/>
                </a:cxn>
                <a:cxn ang="0">
                  <a:pos x="csX1" y="csY1"/>
                </a:cxn>
              </a:cxnLst>
              <a:rect l="l" t="t" r="r" b="b"/>
              <a:pathLst>
                <a:path w="6345" h="139593">
                  <a:moveTo>
                    <a:pt x="0" y="0"/>
                  </a:moveTo>
                  <a:lnTo>
                    <a:pt x="0" y="139594"/>
                  </a:lnTo>
                </a:path>
              </a:pathLst>
            </a:custGeom>
            <a:grpFill/>
            <a:ln w="38063" cap="flat">
              <a:solidFill>
                <a:srgbClr val="9B9B9B"/>
              </a:solidFill>
              <a:prstDash val="solid"/>
              <a:miter/>
            </a:ln>
          </p:spPr>
          <p:txBody>
            <a:bodyPr/>
            <a:lstStyle/>
            <a:p>
              <a:endParaRPr lang="en-US" sz="1050"/>
            </a:p>
          </p:txBody>
        </p:sp>
        <p:sp>
          <p:nvSpPr>
            <p:cNvPr id="70" name="Rounded Rectangle 69">
              <a:extLst>
                <a:ext uri="{FF2B5EF4-FFF2-40B4-BE49-F238E27FC236}">
                  <a16:creationId xmlns:a16="http://schemas.microsoft.com/office/drawing/2014/main" id="{352C18FF-B2EE-D949-FB1E-518B5C5FFE8B}"/>
                </a:ext>
              </a:extLst>
            </p:cNvPr>
            <p:cNvSpPr/>
            <p:nvPr/>
          </p:nvSpPr>
          <p:spPr>
            <a:xfrm>
              <a:off x="2003371" y="3596587"/>
              <a:ext cx="1142128" cy="317258"/>
            </a:xfrm>
            <a:prstGeom prst="roundRect">
              <a:avLst>
                <a:gd name="adj" fmla="val 15999"/>
              </a:avLst>
            </a:prstGeom>
            <a:grpFill/>
            <a:ln w="6344" cap="flat">
              <a:solidFill>
                <a:srgbClr val="2B7C35"/>
              </a:solidFill>
              <a:prstDash val="solid"/>
              <a:miter/>
            </a:ln>
          </p:spPr>
          <p:txBody>
            <a:bodyPr/>
            <a:lstStyle/>
            <a:p>
              <a:endParaRPr lang="en-US" sz="1050"/>
            </a:p>
          </p:txBody>
        </p:sp>
        <p:sp>
          <p:nvSpPr>
            <p:cNvPr id="71" name="TextBox 70">
              <a:extLst>
                <a:ext uri="{FF2B5EF4-FFF2-40B4-BE49-F238E27FC236}">
                  <a16:creationId xmlns:a16="http://schemas.microsoft.com/office/drawing/2014/main" id="{D8D7CAF4-9F09-2EF1-B752-AA044362B052}"/>
                </a:ext>
              </a:extLst>
            </p:cNvPr>
            <p:cNvSpPr txBox="1"/>
            <p:nvPr/>
          </p:nvSpPr>
          <p:spPr>
            <a:xfrm>
              <a:off x="2164226" y="3598555"/>
              <a:ext cx="832279" cy="215444"/>
            </a:xfrm>
            <a:prstGeom prst="rect">
              <a:avLst/>
            </a:prstGeom>
            <a:grpFill/>
          </p:spPr>
          <p:txBody>
            <a:bodyPr wrap="none" rtlCol="0">
              <a:spAutoFit/>
            </a:bodyPr>
            <a:lstStyle/>
            <a:p>
              <a:pPr algn="l"/>
              <a:r>
                <a:rPr lang="en-US" sz="800" b="1" spc="0" baseline="0">
                  <a:ln/>
                  <a:latin typeface="Arial"/>
                  <a:cs typeface="Arial"/>
                  <a:sym typeface="Arial"/>
                  <a:rtl val="0"/>
                </a:rPr>
                <a:t>CPLEX Solve</a:t>
              </a:r>
            </a:p>
          </p:txBody>
        </p:sp>
        <p:sp>
          <p:nvSpPr>
            <p:cNvPr id="72" name="TextBox 71">
              <a:extLst>
                <a:ext uri="{FF2B5EF4-FFF2-40B4-BE49-F238E27FC236}">
                  <a16:creationId xmlns:a16="http://schemas.microsoft.com/office/drawing/2014/main" id="{360F3571-472A-EF66-C248-510D6C0C37F2}"/>
                </a:ext>
              </a:extLst>
            </p:cNvPr>
            <p:cNvSpPr txBox="1"/>
            <p:nvPr/>
          </p:nvSpPr>
          <p:spPr>
            <a:xfrm>
              <a:off x="2327936" y="3712768"/>
              <a:ext cx="497252" cy="215444"/>
            </a:xfrm>
            <a:prstGeom prst="rect">
              <a:avLst/>
            </a:prstGeom>
            <a:grpFill/>
          </p:spPr>
          <p:txBody>
            <a:bodyPr wrap="none" rtlCol="0">
              <a:spAutoFit/>
            </a:bodyPr>
            <a:lstStyle/>
            <a:p>
              <a:pPr algn="l"/>
              <a:r>
                <a:rPr lang="en-US" sz="800" b="1" spc="0" baseline="0">
                  <a:ln/>
                  <a:latin typeface="Arial"/>
                  <a:cs typeface="Arial"/>
                  <a:sym typeface="Arial"/>
                  <a:rtl val="0"/>
                </a:rPr>
                <a:t>(MILP)</a:t>
              </a:r>
            </a:p>
          </p:txBody>
        </p:sp>
        <p:sp>
          <p:nvSpPr>
            <p:cNvPr id="73" name="Freeform 72">
              <a:extLst>
                <a:ext uri="{FF2B5EF4-FFF2-40B4-BE49-F238E27FC236}">
                  <a16:creationId xmlns:a16="http://schemas.microsoft.com/office/drawing/2014/main" id="{3638C6DF-D91C-4A33-BC20-7D7476048297}"/>
                </a:ext>
              </a:extLst>
            </p:cNvPr>
            <p:cNvSpPr/>
            <p:nvPr/>
          </p:nvSpPr>
          <p:spPr>
            <a:xfrm>
              <a:off x="2574436" y="3913845"/>
              <a:ext cx="6345" cy="107867"/>
            </a:xfrm>
            <a:custGeom>
              <a:avLst/>
              <a:gdLst>
                <a:gd name="csX0" fmla="*/ 0 w 6345"/>
                <a:gd name="csY0" fmla="*/ 0 h 107867"/>
                <a:gd name="csX1" fmla="*/ 0 w 6345"/>
                <a:gd name="csY1" fmla="*/ 107868 h 107867"/>
              </a:gdLst>
              <a:ahLst/>
              <a:cxnLst>
                <a:cxn ang="0">
                  <a:pos x="csX0" y="csY0"/>
                </a:cxn>
                <a:cxn ang="0">
                  <a:pos x="csX1" y="csY1"/>
                </a:cxn>
              </a:cxnLst>
              <a:rect l="l" t="t" r="r" b="b"/>
              <a:pathLst>
                <a:path w="6345" h="107867">
                  <a:moveTo>
                    <a:pt x="0" y="0"/>
                  </a:moveTo>
                  <a:lnTo>
                    <a:pt x="0" y="107868"/>
                  </a:lnTo>
                </a:path>
              </a:pathLst>
            </a:custGeom>
            <a:grpFill/>
            <a:ln w="8881" cap="flat">
              <a:solidFill>
                <a:srgbClr val="2B7C35"/>
              </a:solidFill>
              <a:prstDash val="solid"/>
              <a:miter/>
            </a:ln>
          </p:spPr>
          <p:txBody>
            <a:bodyPr/>
            <a:lstStyle/>
            <a:p>
              <a:endParaRPr lang="en-US" sz="1050"/>
            </a:p>
          </p:txBody>
        </p:sp>
        <p:sp>
          <p:nvSpPr>
            <p:cNvPr id="74" name="Rounded Rectangle 73">
              <a:extLst>
                <a:ext uri="{FF2B5EF4-FFF2-40B4-BE49-F238E27FC236}">
                  <a16:creationId xmlns:a16="http://schemas.microsoft.com/office/drawing/2014/main" id="{C5CC6A26-C733-9E80-4BD7-ED809139BB08}"/>
                </a:ext>
              </a:extLst>
            </p:cNvPr>
            <p:cNvSpPr/>
            <p:nvPr/>
          </p:nvSpPr>
          <p:spPr>
            <a:xfrm>
              <a:off x="1444997" y="4021713"/>
              <a:ext cx="1116748" cy="678932"/>
            </a:xfrm>
            <a:prstGeom prst="roundRect">
              <a:avLst>
                <a:gd name="adj" fmla="val 6542"/>
              </a:avLst>
            </a:prstGeom>
            <a:grpFill/>
            <a:ln w="6344" cap="flat">
              <a:solidFill>
                <a:srgbClr val="2B7C35"/>
              </a:solidFill>
              <a:prstDash val="solid"/>
              <a:miter/>
            </a:ln>
          </p:spPr>
          <p:txBody>
            <a:bodyPr/>
            <a:lstStyle/>
            <a:p>
              <a:endParaRPr lang="en-US" sz="1050"/>
            </a:p>
          </p:txBody>
        </p:sp>
        <p:sp>
          <p:nvSpPr>
            <p:cNvPr id="75" name="Rounded Rectangle 74">
              <a:extLst>
                <a:ext uri="{FF2B5EF4-FFF2-40B4-BE49-F238E27FC236}">
                  <a16:creationId xmlns:a16="http://schemas.microsoft.com/office/drawing/2014/main" id="{ECB75E28-2D62-D010-CD5D-6A7EA846D4C0}"/>
                </a:ext>
              </a:extLst>
            </p:cNvPr>
            <p:cNvSpPr/>
            <p:nvPr/>
          </p:nvSpPr>
          <p:spPr>
            <a:xfrm>
              <a:off x="2561745" y="4021713"/>
              <a:ext cx="1135783" cy="678932"/>
            </a:xfrm>
            <a:prstGeom prst="roundRect">
              <a:avLst>
                <a:gd name="adj" fmla="val 6542"/>
              </a:avLst>
            </a:prstGeom>
            <a:grpFill/>
            <a:ln w="6344" cap="flat">
              <a:solidFill>
                <a:srgbClr val="E56516"/>
              </a:solidFill>
              <a:prstDash val="solid"/>
              <a:miter/>
            </a:ln>
          </p:spPr>
          <p:txBody>
            <a:bodyPr/>
            <a:lstStyle/>
            <a:p>
              <a:endParaRPr lang="en-US" sz="1050"/>
            </a:p>
          </p:txBody>
        </p:sp>
        <p:sp>
          <p:nvSpPr>
            <p:cNvPr id="76" name="TextBox 75">
              <a:extLst>
                <a:ext uri="{FF2B5EF4-FFF2-40B4-BE49-F238E27FC236}">
                  <a16:creationId xmlns:a16="http://schemas.microsoft.com/office/drawing/2014/main" id="{FD9C6233-2F2E-A469-A88F-D84EF40410FD}"/>
                </a:ext>
              </a:extLst>
            </p:cNvPr>
            <p:cNvSpPr txBox="1"/>
            <p:nvPr/>
          </p:nvSpPr>
          <p:spPr>
            <a:xfrm>
              <a:off x="1658125" y="4017336"/>
              <a:ext cx="697627" cy="215444"/>
            </a:xfrm>
            <a:prstGeom prst="rect">
              <a:avLst/>
            </a:prstGeom>
            <a:grpFill/>
          </p:spPr>
          <p:txBody>
            <a:bodyPr wrap="none" rtlCol="0">
              <a:spAutoFit/>
            </a:bodyPr>
            <a:lstStyle/>
            <a:p>
              <a:pPr algn="l"/>
              <a:r>
                <a:rPr lang="en-US" sz="800" b="1" spc="0" baseline="0">
                  <a:ln/>
                  <a:latin typeface="Arial"/>
                  <a:cs typeface="Arial"/>
                  <a:sym typeface="Arial"/>
                  <a:rtl val="0"/>
                </a:rPr>
                <a:t>Confirmed</a:t>
              </a:r>
            </a:p>
          </p:txBody>
        </p:sp>
        <p:sp>
          <p:nvSpPr>
            <p:cNvPr id="77" name="TextBox 76">
              <a:extLst>
                <a:ext uri="{FF2B5EF4-FFF2-40B4-BE49-F238E27FC236}">
                  <a16:creationId xmlns:a16="http://schemas.microsoft.com/office/drawing/2014/main" id="{8560154D-8EFD-DB62-8059-01E2053FA890}"/>
                </a:ext>
              </a:extLst>
            </p:cNvPr>
            <p:cNvSpPr txBox="1"/>
            <p:nvPr/>
          </p:nvSpPr>
          <p:spPr>
            <a:xfrm>
              <a:off x="1474101" y="4155126"/>
              <a:ext cx="861133" cy="169277"/>
            </a:xfrm>
            <a:prstGeom prst="rect">
              <a:avLst/>
            </a:prstGeom>
            <a:grpFill/>
          </p:spPr>
          <p:txBody>
            <a:bodyPr wrap="none" rtlCol="0">
              <a:spAutoFit/>
            </a:bodyPr>
            <a:lstStyle/>
            <a:p>
              <a:pPr algn="l"/>
              <a:r>
                <a:rPr lang="en-US" sz="500" spc="0" baseline="0">
                  <a:ln/>
                  <a:latin typeface="Arial"/>
                  <a:cs typeface="Arial"/>
                  <a:sym typeface="Arial"/>
                  <a:rtl val="0"/>
                </a:rPr>
                <a:t>(finished in this window)</a:t>
              </a:r>
            </a:p>
          </p:txBody>
        </p:sp>
        <p:sp>
          <p:nvSpPr>
            <p:cNvPr id="78" name="TextBox 77">
              <a:extLst>
                <a:ext uri="{FF2B5EF4-FFF2-40B4-BE49-F238E27FC236}">
                  <a16:creationId xmlns:a16="http://schemas.microsoft.com/office/drawing/2014/main" id="{9B3819CF-A239-7990-06AA-DA3FD542C226}"/>
                </a:ext>
              </a:extLst>
            </p:cNvPr>
            <p:cNvSpPr txBox="1"/>
            <p:nvPr/>
          </p:nvSpPr>
          <p:spPr>
            <a:xfrm>
              <a:off x="2747013" y="3995034"/>
              <a:ext cx="649537" cy="215444"/>
            </a:xfrm>
            <a:prstGeom prst="rect">
              <a:avLst/>
            </a:prstGeom>
            <a:grpFill/>
          </p:spPr>
          <p:txBody>
            <a:bodyPr wrap="none" rtlCol="0">
              <a:spAutoFit/>
            </a:bodyPr>
            <a:lstStyle/>
            <a:p>
              <a:pPr algn="l"/>
              <a:r>
                <a:rPr lang="en-US" sz="800" b="1" spc="0" baseline="0" dirty="0">
                  <a:ln/>
                  <a:latin typeface="Arial"/>
                  <a:cs typeface="Arial"/>
                  <a:sym typeface="Arial"/>
                  <a:rtl val="0"/>
                </a:rPr>
                <a:t>Reserved</a:t>
              </a:r>
            </a:p>
          </p:txBody>
        </p:sp>
        <p:sp>
          <p:nvSpPr>
            <p:cNvPr id="79" name="TextBox 78">
              <a:extLst>
                <a:ext uri="{FF2B5EF4-FFF2-40B4-BE49-F238E27FC236}">
                  <a16:creationId xmlns:a16="http://schemas.microsoft.com/office/drawing/2014/main" id="{307B3222-2618-3F16-B724-7160B3BC0432}"/>
                </a:ext>
              </a:extLst>
            </p:cNvPr>
            <p:cNvSpPr txBox="1"/>
            <p:nvPr/>
          </p:nvSpPr>
          <p:spPr>
            <a:xfrm>
              <a:off x="2647662" y="4155126"/>
              <a:ext cx="782587" cy="169277"/>
            </a:xfrm>
            <a:prstGeom prst="rect">
              <a:avLst/>
            </a:prstGeom>
            <a:grpFill/>
          </p:spPr>
          <p:txBody>
            <a:bodyPr wrap="none" rtlCol="0">
              <a:spAutoFit/>
            </a:bodyPr>
            <a:lstStyle/>
            <a:p>
              <a:pPr algn="l"/>
              <a:r>
                <a:rPr lang="en-US" sz="500" spc="0" baseline="0">
                  <a:ln/>
                  <a:latin typeface="Arial"/>
                  <a:cs typeface="Arial"/>
                  <a:sym typeface="Arial"/>
                  <a:rtl val="0"/>
                </a:rPr>
                <a:t>(crosses the window)</a:t>
              </a:r>
            </a:p>
          </p:txBody>
        </p:sp>
        <p:sp>
          <p:nvSpPr>
            <p:cNvPr id="80" name="TextBox 79">
              <a:extLst>
                <a:ext uri="{FF2B5EF4-FFF2-40B4-BE49-F238E27FC236}">
                  <a16:creationId xmlns:a16="http://schemas.microsoft.com/office/drawing/2014/main" id="{F48B681A-C922-2B5B-FF20-A49DD1A639DC}"/>
                </a:ext>
              </a:extLst>
            </p:cNvPr>
            <p:cNvSpPr txBox="1"/>
            <p:nvPr/>
          </p:nvSpPr>
          <p:spPr>
            <a:xfrm>
              <a:off x="1436044" y="4314957"/>
              <a:ext cx="580608" cy="215444"/>
            </a:xfrm>
            <a:prstGeom prst="rect">
              <a:avLst/>
            </a:prstGeom>
            <a:grpFill/>
          </p:spPr>
          <p:txBody>
            <a:bodyPr wrap="none" rtlCol="0">
              <a:spAutoFit/>
            </a:bodyPr>
            <a:lstStyle/>
            <a:p>
              <a:pPr algn="l"/>
              <a:r>
                <a:rPr lang="en-US" sz="800" spc="0" baseline="0">
                  <a:ln/>
                  <a:latin typeface="Arial"/>
                  <a:cs typeface="Arial"/>
                  <a:sym typeface="Arial"/>
                  <a:rtl val="0"/>
                </a:rPr>
                <a:t>• Train A</a:t>
              </a:r>
            </a:p>
          </p:txBody>
        </p:sp>
        <p:sp>
          <p:nvSpPr>
            <p:cNvPr id="81" name="TextBox 80">
              <a:extLst>
                <a:ext uri="{FF2B5EF4-FFF2-40B4-BE49-F238E27FC236}">
                  <a16:creationId xmlns:a16="http://schemas.microsoft.com/office/drawing/2014/main" id="{FA9E505E-3DA0-D3B0-DEB7-1C519C34B26E}"/>
                </a:ext>
              </a:extLst>
            </p:cNvPr>
            <p:cNvSpPr txBox="1"/>
            <p:nvPr/>
          </p:nvSpPr>
          <p:spPr>
            <a:xfrm>
              <a:off x="1866760" y="4326108"/>
              <a:ext cx="771365" cy="215444"/>
            </a:xfrm>
            <a:prstGeom prst="rect">
              <a:avLst/>
            </a:prstGeom>
            <a:grpFill/>
          </p:spPr>
          <p:txBody>
            <a:bodyPr wrap="none" rtlCol="0">
              <a:spAutoFit/>
            </a:bodyPr>
            <a:lstStyle/>
            <a:p>
              <a:pPr algn="l"/>
              <a:r>
                <a:rPr lang="en-US" sz="800" spc="0" baseline="0" dirty="0">
                  <a:ln/>
                  <a:latin typeface="Arial"/>
                  <a:cs typeface="Arial"/>
                  <a:sym typeface="Arial"/>
                  <a:rtl val="0"/>
                </a:rPr>
                <a:t>(0:30 – 2:30)</a:t>
              </a:r>
            </a:p>
          </p:txBody>
        </p:sp>
        <p:sp>
          <p:nvSpPr>
            <p:cNvPr id="82" name="TextBox 81">
              <a:extLst>
                <a:ext uri="{FF2B5EF4-FFF2-40B4-BE49-F238E27FC236}">
                  <a16:creationId xmlns:a16="http://schemas.microsoft.com/office/drawing/2014/main" id="{314E7AD7-1D82-520F-EF05-B558E03BF618}"/>
                </a:ext>
              </a:extLst>
            </p:cNvPr>
            <p:cNvSpPr txBox="1"/>
            <p:nvPr/>
          </p:nvSpPr>
          <p:spPr>
            <a:xfrm>
              <a:off x="1436044" y="4486276"/>
              <a:ext cx="585417" cy="215444"/>
            </a:xfrm>
            <a:prstGeom prst="rect">
              <a:avLst/>
            </a:prstGeom>
            <a:grpFill/>
          </p:spPr>
          <p:txBody>
            <a:bodyPr wrap="none" rtlCol="0">
              <a:spAutoFit/>
            </a:bodyPr>
            <a:lstStyle/>
            <a:p>
              <a:pPr algn="l"/>
              <a:r>
                <a:rPr lang="en-US" sz="800" spc="0" baseline="0">
                  <a:ln/>
                  <a:latin typeface="Arial"/>
                  <a:cs typeface="Arial"/>
                  <a:sym typeface="Arial"/>
                  <a:rtl val="0"/>
                </a:rPr>
                <a:t>• Train D</a:t>
              </a:r>
            </a:p>
          </p:txBody>
        </p:sp>
        <p:sp>
          <p:nvSpPr>
            <p:cNvPr id="83" name="TextBox 82">
              <a:extLst>
                <a:ext uri="{FF2B5EF4-FFF2-40B4-BE49-F238E27FC236}">
                  <a16:creationId xmlns:a16="http://schemas.microsoft.com/office/drawing/2014/main" id="{8863878B-9C62-96D8-75BE-245038A7C13E}"/>
                </a:ext>
              </a:extLst>
            </p:cNvPr>
            <p:cNvSpPr txBox="1"/>
            <p:nvPr/>
          </p:nvSpPr>
          <p:spPr>
            <a:xfrm>
              <a:off x="1844458" y="4486276"/>
              <a:ext cx="771365" cy="215444"/>
            </a:xfrm>
            <a:prstGeom prst="rect">
              <a:avLst/>
            </a:prstGeom>
            <a:grpFill/>
          </p:spPr>
          <p:txBody>
            <a:bodyPr wrap="none" rtlCol="0">
              <a:spAutoFit/>
            </a:bodyPr>
            <a:lstStyle/>
            <a:p>
              <a:pPr algn="l"/>
              <a:r>
                <a:rPr lang="en-US" sz="800" spc="0" baseline="0">
                  <a:ln/>
                  <a:latin typeface="Arial"/>
                  <a:cs typeface="Arial"/>
                  <a:sym typeface="Arial"/>
                  <a:rtl val="0"/>
                </a:rPr>
                <a:t>(1:00 – 3:30)</a:t>
              </a:r>
            </a:p>
          </p:txBody>
        </p:sp>
        <p:sp>
          <p:nvSpPr>
            <p:cNvPr id="84" name="TextBox 83">
              <a:extLst>
                <a:ext uri="{FF2B5EF4-FFF2-40B4-BE49-F238E27FC236}">
                  <a16:creationId xmlns:a16="http://schemas.microsoft.com/office/drawing/2014/main" id="{DA1C80FA-E13B-632A-3352-D990B946D022}"/>
                </a:ext>
              </a:extLst>
            </p:cNvPr>
            <p:cNvSpPr txBox="1"/>
            <p:nvPr/>
          </p:nvSpPr>
          <p:spPr>
            <a:xfrm>
              <a:off x="2552792" y="4314957"/>
              <a:ext cx="580608" cy="215444"/>
            </a:xfrm>
            <a:prstGeom prst="rect">
              <a:avLst/>
            </a:prstGeom>
            <a:grpFill/>
          </p:spPr>
          <p:txBody>
            <a:bodyPr wrap="none" rtlCol="0">
              <a:spAutoFit/>
            </a:bodyPr>
            <a:lstStyle/>
            <a:p>
              <a:pPr algn="l"/>
              <a:r>
                <a:rPr lang="en-US" sz="800" spc="0" baseline="0">
                  <a:ln/>
                  <a:latin typeface="Arial"/>
                  <a:cs typeface="Arial"/>
                  <a:sym typeface="Arial"/>
                  <a:rtl val="0"/>
                </a:rPr>
                <a:t>• Train B</a:t>
              </a:r>
            </a:p>
          </p:txBody>
        </p:sp>
        <p:sp>
          <p:nvSpPr>
            <p:cNvPr id="85" name="TextBox 84">
              <a:extLst>
                <a:ext uri="{FF2B5EF4-FFF2-40B4-BE49-F238E27FC236}">
                  <a16:creationId xmlns:a16="http://schemas.microsoft.com/office/drawing/2014/main" id="{3DBFC659-5511-39D7-936D-9D2224DA7092}"/>
                </a:ext>
              </a:extLst>
            </p:cNvPr>
            <p:cNvSpPr txBox="1"/>
            <p:nvPr/>
          </p:nvSpPr>
          <p:spPr>
            <a:xfrm>
              <a:off x="3023686" y="4314957"/>
              <a:ext cx="771365" cy="215444"/>
            </a:xfrm>
            <a:prstGeom prst="rect">
              <a:avLst/>
            </a:prstGeom>
            <a:grpFill/>
          </p:spPr>
          <p:txBody>
            <a:bodyPr wrap="none" rtlCol="0">
              <a:spAutoFit/>
            </a:bodyPr>
            <a:lstStyle/>
            <a:p>
              <a:pPr algn="l"/>
              <a:r>
                <a:rPr lang="en-US" sz="800" spc="0" baseline="0" dirty="0">
                  <a:ln/>
                  <a:latin typeface="Arial"/>
                  <a:cs typeface="Arial"/>
                  <a:sym typeface="Arial"/>
                  <a:rtl val="0"/>
                </a:rPr>
                <a:t>(2:00 – 5:30)</a:t>
              </a:r>
            </a:p>
          </p:txBody>
        </p:sp>
        <p:sp>
          <p:nvSpPr>
            <p:cNvPr id="86" name="TextBox 85">
              <a:extLst>
                <a:ext uri="{FF2B5EF4-FFF2-40B4-BE49-F238E27FC236}">
                  <a16:creationId xmlns:a16="http://schemas.microsoft.com/office/drawing/2014/main" id="{EB55908D-EFF0-C848-7B45-AAD7693D3B0A}"/>
                </a:ext>
              </a:extLst>
            </p:cNvPr>
            <p:cNvSpPr txBox="1"/>
            <p:nvPr/>
          </p:nvSpPr>
          <p:spPr>
            <a:xfrm>
              <a:off x="2552792" y="4486276"/>
              <a:ext cx="585417" cy="215444"/>
            </a:xfrm>
            <a:prstGeom prst="rect">
              <a:avLst/>
            </a:prstGeom>
            <a:grpFill/>
          </p:spPr>
          <p:txBody>
            <a:bodyPr wrap="none" rtlCol="0">
              <a:spAutoFit/>
            </a:bodyPr>
            <a:lstStyle/>
            <a:p>
              <a:pPr algn="l"/>
              <a:r>
                <a:rPr lang="en-US" sz="800" spc="0" baseline="0">
                  <a:ln/>
                  <a:latin typeface="Arial"/>
                  <a:cs typeface="Arial"/>
                  <a:sym typeface="Arial"/>
                  <a:rtl val="0"/>
                </a:rPr>
                <a:t>• Train C</a:t>
              </a:r>
            </a:p>
          </p:txBody>
        </p:sp>
        <p:sp>
          <p:nvSpPr>
            <p:cNvPr id="87" name="TextBox 86">
              <a:extLst>
                <a:ext uri="{FF2B5EF4-FFF2-40B4-BE49-F238E27FC236}">
                  <a16:creationId xmlns:a16="http://schemas.microsoft.com/office/drawing/2014/main" id="{0A25CAF2-54EF-E741-402F-699683C97F0D}"/>
                </a:ext>
              </a:extLst>
            </p:cNvPr>
            <p:cNvSpPr txBox="1"/>
            <p:nvPr/>
          </p:nvSpPr>
          <p:spPr>
            <a:xfrm>
              <a:off x="3012535" y="4486276"/>
              <a:ext cx="771365" cy="215444"/>
            </a:xfrm>
            <a:prstGeom prst="rect">
              <a:avLst/>
            </a:prstGeom>
            <a:grpFill/>
          </p:spPr>
          <p:txBody>
            <a:bodyPr wrap="none" rtlCol="0">
              <a:spAutoFit/>
            </a:bodyPr>
            <a:lstStyle/>
            <a:p>
              <a:pPr algn="l"/>
              <a:r>
                <a:rPr lang="en-US" sz="800" spc="0" baseline="0" dirty="0">
                  <a:ln/>
                  <a:latin typeface="Arial"/>
                  <a:cs typeface="Arial"/>
                  <a:sym typeface="Arial"/>
                  <a:rtl val="0"/>
                </a:rPr>
                <a:t>(3:00 – 7:00)</a:t>
              </a:r>
            </a:p>
          </p:txBody>
        </p:sp>
      </p:grpSp>
      <p:grpSp>
        <p:nvGrpSpPr>
          <p:cNvPr id="88" name="Graphic 1">
            <a:extLst>
              <a:ext uri="{FF2B5EF4-FFF2-40B4-BE49-F238E27FC236}">
                <a16:creationId xmlns:a16="http://schemas.microsoft.com/office/drawing/2014/main" id="{0AD570FD-C86A-BBEA-2E1C-897F27FF4517}"/>
              </a:ext>
            </a:extLst>
          </p:cNvPr>
          <p:cNvGrpSpPr/>
          <p:nvPr/>
        </p:nvGrpSpPr>
        <p:grpSpPr>
          <a:xfrm>
            <a:off x="3635311" y="1648267"/>
            <a:ext cx="2583055" cy="3162463"/>
            <a:chOff x="4088321" y="1639704"/>
            <a:chExt cx="2388675" cy="3162463"/>
          </a:xfrm>
          <a:noFill/>
        </p:grpSpPr>
        <p:sp>
          <p:nvSpPr>
            <p:cNvPr id="89" name="Rounded Rectangle 88">
              <a:extLst>
                <a:ext uri="{FF2B5EF4-FFF2-40B4-BE49-F238E27FC236}">
                  <a16:creationId xmlns:a16="http://schemas.microsoft.com/office/drawing/2014/main" id="{618B41F6-5793-CB17-16DE-862E65A64B08}"/>
                </a:ext>
              </a:extLst>
            </p:cNvPr>
            <p:cNvSpPr/>
            <p:nvPr/>
          </p:nvSpPr>
          <p:spPr>
            <a:xfrm>
              <a:off x="4138611" y="1642278"/>
              <a:ext cx="2338385" cy="3159889"/>
            </a:xfrm>
            <a:prstGeom prst="roundRect">
              <a:avLst>
                <a:gd name="adj" fmla="val 2808"/>
              </a:avLst>
            </a:prstGeom>
            <a:grpFill/>
            <a:ln w="6978" cap="flat">
              <a:solidFill>
                <a:srgbClr val="E99318"/>
              </a:solidFill>
              <a:prstDash val="solid"/>
              <a:miter/>
            </a:ln>
          </p:spPr>
          <p:txBody>
            <a:bodyPr/>
            <a:lstStyle/>
            <a:p>
              <a:endParaRPr lang="en-US" sz="1050"/>
            </a:p>
          </p:txBody>
        </p:sp>
        <p:sp>
          <p:nvSpPr>
            <p:cNvPr id="90" name="TextBox 89">
              <a:extLst>
                <a:ext uri="{FF2B5EF4-FFF2-40B4-BE49-F238E27FC236}">
                  <a16:creationId xmlns:a16="http://schemas.microsoft.com/office/drawing/2014/main" id="{B5B8570F-DA27-375F-4846-8B7640167779}"/>
                </a:ext>
              </a:extLst>
            </p:cNvPr>
            <p:cNvSpPr txBox="1"/>
            <p:nvPr/>
          </p:nvSpPr>
          <p:spPr>
            <a:xfrm>
              <a:off x="4926437" y="1639704"/>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1</a:t>
              </a:r>
            </a:p>
          </p:txBody>
        </p:sp>
        <p:sp>
          <p:nvSpPr>
            <p:cNvPr id="91" name="TextBox 90">
              <a:extLst>
                <a:ext uri="{FF2B5EF4-FFF2-40B4-BE49-F238E27FC236}">
                  <a16:creationId xmlns:a16="http://schemas.microsoft.com/office/drawing/2014/main" id="{C2EF9F1B-B390-1955-4311-7614DC135676}"/>
                </a:ext>
              </a:extLst>
            </p:cNvPr>
            <p:cNvSpPr txBox="1"/>
            <p:nvPr/>
          </p:nvSpPr>
          <p:spPr>
            <a:xfrm>
              <a:off x="4545916" y="1809220"/>
              <a:ext cx="1422184" cy="215444"/>
            </a:xfrm>
            <a:prstGeom prst="rect">
              <a:avLst/>
            </a:prstGeom>
            <a:grpFill/>
          </p:spPr>
          <p:txBody>
            <a:bodyPr wrap="none" rtlCol="0">
              <a:spAutoFit/>
            </a:bodyPr>
            <a:lstStyle/>
            <a:p>
              <a:pPr algn="l"/>
              <a:r>
                <a:rPr lang="en-US" sz="800" b="1" spc="0" baseline="0">
                  <a:ln/>
                  <a:latin typeface="Arial"/>
                  <a:cs typeface="Arial"/>
                  <a:sym typeface="Arial"/>
                  <a:rtl val="0"/>
                </a:rPr>
                <a:t>Time window: 4:00 – 8:00</a:t>
              </a:r>
            </a:p>
          </p:txBody>
        </p:sp>
        <p:sp>
          <p:nvSpPr>
            <p:cNvPr id="92" name="Freeform 91">
              <a:extLst>
                <a:ext uri="{FF2B5EF4-FFF2-40B4-BE49-F238E27FC236}">
                  <a16:creationId xmlns:a16="http://schemas.microsoft.com/office/drawing/2014/main" id="{19DAD472-CC91-566B-D5B1-0090275AF317}"/>
                </a:ext>
              </a:extLst>
            </p:cNvPr>
            <p:cNvSpPr/>
            <p:nvPr/>
          </p:nvSpPr>
          <p:spPr>
            <a:xfrm>
              <a:off x="4116310" y="2016642"/>
              <a:ext cx="2258877" cy="6345"/>
            </a:xfrm>
            <a:custGeom>
              <a:avLst/>
              <a:gdLst>
                <a:gd name="csX0" fmla="*/ 0 w 2258877"/>
                <a:gd name="csY0" fmla="*/ 0 h 6345"/>
                <a:gd name="csX1" fmla="*/ 2258877 w 2258877"/>
                <a:gd name="csY1" fmla="*/ 0 h 6345"/>
              </a:gdLst>
              <a:ahLst/>
              <a:cxnLst>
                <a:cxn ang="0">
                  <a:pos x="csX0" y="csY0"/>
                </a:cxn>
                <a:cxn ang="0">
                  <a:pos x="csX1" y="csY1"/>
                </a:cxn>
              </a:cxnLst>
              <a:rect l="l" t="t" r="r" b="b"/>
              <a:pathLst>
                <a:path w="2258877" h="6345">
                  <a:moveTo>
                    <a:pt x="0" y="0"/>
                  </a:moveTo>
                  <a:lnTo>
                    <a:pt x="2258877" y="0"/>
                  </a:lnTo>
                </a:path>
              </a:pathLst>
            </a:custGeom>
            <a:grpFill/>
            <a:ln w="6344" cap="flat">
              <a:solidFill>
                <a:srgbClr val="E99318"/>
              </a:solidFill>
              <a:prstDash val="solid"/>
              <a:miter/>
            </a:ln>
          </p:spPr>
          <p:txBody>
            <a:bodyPr/>
            <a:lstStyle/>
            <a:p>
              <a:endParaRPr lang="en-US" sz="1050"/>
            </a:p>
          </p:txBody>
        </p:sp>
        <p:sp>
          <p:nvSpPr>
            <p:cNvPr id="93" name="TextBox 92">
              <a:extLst>
                <a:ext uri="{FF2B5EF4-FFF2-40B4-BE49-F238E27FC236}">
                  <a16:creationId xmlns:a16="http://schemas.microsoft.com/office/drawing/2014/main" id="{32D864E5-F8A2-A651-C75D-890F980CF183}"/>
                </a:ext>
              </a:extLst>
            </p:cNvPr>
            <p:cNvSpPr txBox="1"/>
            <p:nvPr/>
          </p:nvSpPr>
          <p:spPr>
            <a:xfrm>
              <a:off x="4376069"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4:00</a:t>
              </a:r>
            </a:p>
          </p:txBody>
        </p:sp>
        <p:sp>
          <p:nvSpPr>
            <p:cNvPr id="94" name="TextBox 93">
              <a:extLst>
                <a:ext uri="{FF2B5EF4-FFF2-40B4-BE49-F238E27FC236}">
                  <a16:creationId xmlns:a16="http://schemas.microsoft.com/office/drawing/2014/main" id="{B79E8E88-CE35-74B1-D86C-C5B7E0DAB3CF}"/>
                </a:ext>
              </a:extLst>
            </p:cNvPr>
            <p:cNvSpPr txBox="1"/>
            <p:nvPr/>
          </p:nvSpPr>
          <p:spPr>
            <a:xfrm>
              <a:off x="5188249"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6:00</a:t>
              </a:r>
            </a:p>
          </p:txBody>
        </p:sp>
        <p:sp>
          <p:nvSpPr>
            <p:cNvPr id="95" name="TextBox 94">
              <a:extLst>
                <a:ext uri="{FF2B5EF4-FFF2-40B4-BE49-F238E27FC236}">
                  <a16:creationId xmlns:a16="http://schemas.microsoft.com/office/drawing/2014/main" id="{00D47B5F-42F8-9D9A-A512-48A7555D8A92}"/>
                </a:ext>
              </a:extLst>
            </p:cNvPr>
            <p:cNvSpPr txBox="1"/>
            <p:nvPr/>
          </p:nvSpPr>
          <p:spPr>
            <a:xfrm>
              <a:off x="6013120"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8:00</a:t>
              </a:r>
            </a:p>
          </p:txBody>
        </p:sp>
        <p:sp>
          <p:nvSpPr>
            <p:cNvPr id="96" name="Freeform 95">
              <a:extLst>
                <a:ext uri="{FF2B5EF4-FFF2-40B4-BE49-F238E27FC236}">
                  <a16:creationId xmlns:a16="http://schemas.microsoft.com/office/drawing/2014/main" id="{2C94C4C0-784F-D7CE-7B62-C91A4B106BFB}"/>
                </a:ext>
              </a:extLst>
            </p:cNvPr>
            <p:cNvSpPr/>
            <p:nvPr/>
          </p:nvSpPr>
          <p:spPr>
            <a:xfrm>
              <a:off x="4547780" y="2200652"/>
              <a:ext cx="1637051" cy="6345"/>
            </a:xfrm>
            <a:custGeom>
              <a:avLst/>
              <a:gdLst>
                <a:gd name="csX0" fmla="*/ 0 w 1637051"/>
                <a:gd name="csY0" fmla="*/ 0 h 6345"/>
                <a:gd name="csX1" fmla="*/ 1637051 w 1637051"/>
                <a:gd name="csY1" fmla="*/ 0 h 6345"/>
              </a:gdLst>
              <a:ahLst/>
              <a:cxnLst>
                <a:cxn ang="0">
                  <a:pos x="csX0" y="csY0"/>
                </a:cxn>
                <a:cxn ang="0">
                  <a:pos x="csX1" y="csY1"/>
                </a:cxn>
              </a:cxnLst>
              <a:rect l="l" t="t" r="r" b="b"/>
              <a:pathLst>
                <a:path w="1637051" h="6345">
                  <a:moveTo>
                    <a:pt x="0" y="0"/>
                  </a:moveTo>
                  <a:lnTo>
                    <a:pt x="1637051" y="0"/>
                  </a:lnTo>
                </a:path>
              </a:pathLst>
            </a:custGeom>
            <a:grpFill/>
            <a:ln w="8247" cap="flat">
              <a:solidFill>
                <a:srgbClr val="222222"/>
              </a:solidFill>
              <a:prstDash val="solid"/>
              <a:miter/>
            </a:ln>
          </p:spPr>
          <p:txBody>
            <a:bodyPr/>
            <a:lstStyle/>
            <a:p>
              <a:endParaRPr lang="en-US" sz="1050"/>
            </a:p>
          </p:txBody>
        </p:sp>
        <p:sp>
          <p:nvSpPr>
            <p:cNvPr id="97" name="Freeform 96">
              <a:extLst>
                <a:ext uri="{FF2B5EF4-FFF2-40B4-BE49-F238E27FC236}">
                  <a16:creationId xmlns:a16="http://schemas.microsoft.com/office/drawing/2014/main" id="{A9082AF6-D51D-32A3-2836-A236C90CFB7A}"/>
                </a:ext>
              </a:extLst>
            </p:cNvPr>
            <p:cNvSpPr/>
            <p:nvPr/>
          </p:nvSpPr>
          <p:spPr>
            <a:xfrm>
              <a:off x="4547780" y="2194307"/>
              <a:ext cx="1637051" cy="1211925"/>
            </a:xfrm>
            <a:custGeom>
              <a:avLst/>
              <a:gdLst>
                <a:gd name="csX0" fmla="*/ 0 w 1637051"/>
                <a:gd name="csY0" fmla="*/ 0 h 1211925"/>
                <a:gd name="csX1" fmla="*/ 0 w 1637051"/>
                <a:gd name="csY1" fmla="*/ 1211926 h 1211925"/>
                <a:gd name="csX2" fmla="*/ 1637051 w 1637051"/>
                <a:gd name="csY2" fmla="*/ 0 h 1211925"/>
                <a:gd name="csX3" fmla="*/ 1637051 w 1637051"/>
                <a:gd name="csY3" fmla="*/ 1211926 h 1211925"/>
              </a:gdLst>
              <a:ahLst/>
              <a:cxnLst>
                <a:cxn ang="0">
                  <a:pos x="csX0" y="csY0"/>
                </a:cxn>
                <a:cxn ang="0">
                  <a:pos x="csX1" y="csY1"/>
                </a:cxn>
                <a:cxn ang="0">
                  <a:pos x="csX2" y="csY2"/>
                </a:cxn>
                <a:cxn ang="0">
                  <a:pos x="csX3" y="csY3"/>
                </a:cxn>
              </a:cxnLst>
              <a:rect l="l" t="t" r="r" b="b"/>
              <a:pathLst>
                <a:path w="1637051" h="1211925">
                  <a:moveTo>
                    <a:pt x="0" y="0"/>
                  </a:moveTo>
                  <a:lnTo>
                    <a:pt x="0" y="1211926"/>
                  </a:lnTo>
                  <a:moveTo>
                    <a:pt x="1637051" y="0"/>
                  </a:moveTo>
                  <a:lnTo>
                    <a:pt x="1637051" y="1211926"/>
                  </a:lnTo>
                </a:path>
              </a:pathLst>
            </a:custGeom>
            <a:grpFill/>
            <a:ln w="6344" cap="flat">
              <a:solidFill>
                <a:srgbClr val="9A9A9A"/>
              </a:solidFill>
              <a:custDash>
                <a:ds d="525000" sp="300000"/>
              </a:custDash>
              <a:miter/>
            </a:ln>
          </p:spPr>
          <p:txBody>
            <a:bodyPr/>
            <a:lstStyle/>
            <a:p>
              <a:endParaRPr lang="en-US" sz="1050"/>
            </a:p>
          </p:txBody>
        </p:sp>
        <p:sp>
          <p:nvSpPr>
            <p:cNvPr id="98" name="Freeform 97">
              <a:extLst>
                <a:ext uri="{FF2B5EF4-FFF2-40B4-BE49-F238E27FC236}">
                  <a16:creationId xmlns:a16="http://schemas.microsoft.com/office/drawing/2014/main" id="{4059CCFF-076D-D47C-A270-A4B882CB1AAD}"/>
                </a:ext>
              </a:extLst>
            </p:cNvPr>
            <p:cNvSpPr/>
            <p:nvPr/>
          </p:nvSpPr>
          <p:spPr>
            <a:xfrm>
              <a:off x="4547780" y="2168926"/>
              <a:ext cx="1637051" cy="63451"/>
            </a:xfrm>
            <a:custGeom>
              <a:avLst/>
              <a:gdLst>
                <a:gd name="csX0" fmla="*/ 0 w 1637051"/>
                <a:gd name="csY0" fmla="*/ 0 h 63451"/>
                <a:gd name="csX1" fmla="*/ 0 w 1637051"/>
                <a:gd name="csY1" fmla="*/ 63452 h 63451"/>
                <a:gd name="csX2" fmla="*/ 812181 w 1637051"/>
                <a:gd name="csY2" fmla="*/ 0 h 63451"/>
                <a:gd name="csX3" fmla="*/ 812181 w 1637051"/>
                <a:gd name="csY3" fmla="*/ 63452 h 63451"/>
                <a:gd name="csX4" fmla="*/ 1637051 w 1637051"/>
                <a:gd name="csY4" fmla="*/ 0 h 63451"/>
                <a:gd name="csX5" fmla="*/ 1637051 w 1637051"/>
                <a:gd name="csY5" fmla="*/ 63452 h 63451"/>
              </a:gdLst>
              <a:ahLst/>
              <a:cxnLst>
                <a:cxn ang="0">
                  <a:pos x="csX0" y="csY0"/>
                </a:cxn>
                <a:cxn ang="0">
                  <a:pos x="csX1" y="csY1"/>
                </a:cxn>
                <a:cxn ang="0">
                  <a:pos x="csX2" y="csY2"/>
                </a:cxn>
                <a:cxn ang="0">
                  <a:pos x="csX3" y="csY3"/>
                </a:cxn>
                <a:cxn ang="0">
                  <a:pos x="csX4" y="csY4"/>
                </a:cxn>
                <a:cxn ang="0">
                  <a:pos x="csX5" y="csY5"/>
                </a:cxn>
              </a:cxnLst>
              <a:rect l="l" t="t" r="r" b="b"/>
              <a:pathLst>
                <a:path w="1637051" h="63451">
                  <a:moveTo>
                    <a:pt x="0" y="0"/>
                  </a:moveTo>
                  <a:lnTo>
                    <a:pt x="0" y="63452"/>
                  </a:lnTo>
                  <a:moveTo>
                    <a:pt x="812181" y="0"/>
                  </a:moveTo>
                  <a:lnTo>
                    <a:pt x="812181" y="63452"/>
                  </a:lnTo>
                  <a:moveTo>
                    <a:pt x="1637051" y="0"/>
                  </a:moveTo>
                  <a:lnTo>
                    <a:pt x="1637051" y="63452"/>
                  </a:lnTo>
                </a:path>
              </a:pathLst>
            </a:custGeom>
            <a:grpFill/>
            <a:ln w="6344" cap="flat">
              <a:solidFill>
                <a:srgbClr val="222222"/>
              </a:solidFill>
              <a:prstDash val="solid"/>
              <a:miter/>
            </a:ln>
          </p:spPr>
          <p:txBody>
            <a:bodyPr/>
            <a:lstStyle/>
            <a:p>
              <a:endParaRPr lang="en-US" sz="1050"/>
            </a:p>
          </p:txBody>
        </p:sp>
        <p:sp>
          <p:nvSpPr>
            <p:cNvPr id="99" name="TextBox 98">
              <a:extLst>
                <a:ext uri="{FF2B5EF4-FFF2-40B4-BE49-F238E27FC236}">
                  <a16:creationId xmlns:a16="http://schemas.microsoft.com/office/drawing/2014/main" id="{67401F04-62E1-0BA7-CD2B-DB156AB2F046}"/>
                </a:ext>
              </a:extLst>
            </p:cNvPr>
            <p:cNvSpPr txBox="1"/>
            <p:nvPr/>
          </p:nvSpPr>
          <p:spPr>
            <a:xfrm>
              <a:off x="4088321" y="2259726"/>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A</a:t>
              </a:r>
            </a:p>
          </p:txBody>
        </p:sp>
        <p:sp>
          <p:nvSpPr>
            <p:cNvPr id="100" name="TextBox 99">
              <a:extLst>
                <a:ext uri="{FF2B5EF4-FFF2-40B4-BE49-F238E27FC236}">
                  <a16:creationId xmlns:a16="http://schemas.microsoft.com/office/drawing/2014/main" id="{DD42A95E-553E-E530-CA42-F1E5285BC0BB}"/>
                </a:ext>
              </a:extLst>
            </p:cNvPr>
            <p:cNvSpPr txBox="1"/>
            <p:nvPr/>
          </p:nvSpPr>
          <p:spPr>
            <a:xfrm>
              <a:off x="4088321" y="2488152"/>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B</a:t>
              </a:r>
            </a:p>
          </p:txBody>
        </p:sp>
        <p:sp>
          <p:nvSpPr>
            <p:cNvPr id="101" name="TextBox 100">
              <a:extLst>
                <a:ext uri="{FF2B5EF4-FFF2-40B4-BE49-F238E27FC236}">
                  <a16:creationId xmlns:a16="http://schemas.microsoft.com/office/drawing/2014/main" id="{B73F51AB-D3F6-EBDC-AD0E-84F67D16F047}"/>
                </a:ext>
              </a:extLst>
            </p:cNvPr>
            <p:cNvSpPr txBox="1"/>
            <p:nvPr/>
          </p:nvSpPr>
          <p:spPr>
            <a:xfrm>
              <a:off x="4088321" y="2716578"/>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C</a:t>
              </a:r>
            </a:p>
          </p:txBody>
        </p:sp>
        <p:sp>
          <p:nvSpPr>
            <p:cNvPr id="102" name="TextBox 101">
              <a:extLst>
                <a:ext uri="{FF2B5EF4-FFF2-40B4-BE49-F238E27FC236}">
                  <a16:creationId xmlns:a16="http://schemas.microsoft.com/office/drawing/2014/main" id="{9D60CF93-3267-16E8-4AD2-0CF215A0D480}"/>
                </a:ext>
              </a:extLst>
            </p:cNvPr>
            <p:cNvSpPr txBox="1"/>
            <p:nvPr/>
          </p:nvSpPr>
          <p:spPr>
            <a:xfrm>
              <a:off x="4088321" y="2945004"/>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D</a:t>
              </a:r>
            </a:p>
          </p:txBody>
        </p:sp>
        <p:sp>
          <p:nvSpPr>
            <p:cNvPr id="103" name="TextBox 102">
              <a:extLst>
                <a:ext uri="{FF2B5EF4-FFF2-40B4-BE49-F238E27FC236}">
                  <a16:creationId xmlns:a16="http://schemas.microsoft.com/office/drawing/2014/main" id="{FDDB19D7-AC68-5D56-E3AD-C605F0DB1EC3}"/>
                </a:ext>
              </a:extLst>
            </p:cNvPr>
            <p:cNvSpPr txBox="1"/>
            <p:nvPr/>
          </p:nvSpPr>
          <p:spPr>
            <a:xfrm>
              <a:off x="4088321" y="3192465"/>
              <a:ext cx="534121" cy="215444"/>
            </a:xfrm>
            <a:prstGeom prst="rect">
              <a:avLst/>
            </a:prstGeom>
            <a:grpFill/>
          </p:spPr>
          <p:txBody>
            <a:bodyPr wrap="none" rtlCol="0">
              <a:spAutoFit/>
            </a:bodyPr>
            <a:lstStyle/>
            <a:p>
              <a:pPr algn="l"/>
              <a:r>
                <a:rPr lang="en-US" sz="800" b="1" spc="0" baseline="0">
                  <a:ln/>
                  <a:latin typeface="Arial"/>
                  <a:cs typeface="Arial"/>
                  <a:sym typeface="Arial"/>
                  <a:rtl val="0"/>
                </a:rPr>
                <a:t>Train E</a:t>
              </a:r>
            </a:p>
          </p:txBody>
        </p:sp>
        <p:sp>
          <p:nvSpPr>
            <p:cNvPr id="104" name="Freeform 103">
              <a:extLst>
                <a:ext uri="{FF2B5EF4-FFF2-40B4-BE49-F238E27FC236}">
                  <a16:creationId xmlns:a16="http://schemas.microsoft.com/office/drawing/2014/main" id="{3A10B1D8-2D85-50F7-9CE4-667C88C9E5DF}"/>
                </a:ext>
              </a:extLst>
            </p:cNvPr>
            <p:cNvSpPr/>
            <p:nvPr/>
          </p:nvSpPr>
          <p:spPr>
            <a:xfrm>
              <a:off x="4547780" y="2371971"/>
              <a:ext cx="799490" cy="6345"/>
            </a:xfrm>
            <a:custGeom>
              <a:avLst/>
              <a:gdLst>
                <a:gd name="csX0" fmla="*/ 0 w 799490"/>
                <a:gd name="csY0" fmla="*/ 0 h 6345"/>
                <a:gd name="csX1" fmla="*/ 799490 w 799490"/>
                <a:gd name="csY1" fmla="*/ 0 h 6345"/>
              </a:gdLst>
              <a:ahLst/>
              <a:cxnLst>
                <a:cxn ang="0">
                  <a:pos x="csX0" y="csY0"/>
                </a:cxn>
                <a:cxn ang="0">
                  <a:pos x="csX1" y="csY1"/>
                </a:cxn>
              </a:cxnLst>
              <a:rect l="l" t="t" r="r" b="b"/>
              <a:pathLst>
                <a:path w="799490" h="6345">
                  <a:moveTo>
                    <a:pt x="0" y="0"/>
                  </a:moveTo>
                  <a:lnTo>
                    <a:pt x="799490" y="0"/>
                  </a:lnTo>
                </a:path>
              </a:pathLst>
            </a:custGeom>
            <a:grpFill/>
            <a:ln w="12688" cap="flat">
              <a:solidFill>
                <a:srgbClr val="B7B7B7"/>
              </a:solidFill>
              <a:custDash>
                <a:ds d="450000" sp="300000"/>
              </a:custDash>
              <a:miter/>
            </a:ln>
          </p:spPr>
          <p:txBody>
            <a:bodyPr/>
            <a:lstStyle/>
            <a:p>
              <a:endParaRPr lang="en-US" sz="1050"/>
            </a:p>
          </p:txBody>
        </p:sp>
        <p:sp>
          <p:nvSpPr>
            <p:cNvPr id="105" name="Oval 104">
              <a:extLst>
                <a:ext uri="{FF2B5EF4-FFF2-40B4-BE49-F238E27FC236}">
                  <a16:creationId xmlns:a16="http://schemas.microsoft.com/office/drawing/2014/main" id="{62ACDB5F-4F23-DDA0-5313-7F58AB460857}"/>
                </a:ext>
              </a:extLst>
            </p:cNvPr>
            <p:cNvSpPr/>
            <p:nvPr/>
          </p:nvSpPr>
          <p:spPr>
            <a:xfrm>
              <a:off x="4541435" y="2340245"/>
              <a:ext cx="63451" cy="63451"/>
            </a:xfrm>
            <a:prstGeom prst="ellipse">
              <a:avLst/>
            </a:prstGeom>
            <a:grpFill/>
            <a:ln w="6344" cap="flat">
              <a:solidFill>
                <a:srgbClr val="B7B7B7"/>
              </a:solidFill>
              <a:prstDash val="solid"/>
              <a:miter/>
            </a:ln>
          </p:spPr>
          <p:txBody>
            <a:bodyPr/>
            <a:lstStyle/>
            <a:p>
              <a:endParaRPr lang="en-US" sz="1050"/>
            </a:p>
          </p:txBody>
        </p:sp>
        <p:sp>
          <p:nvSpPr>
            <p:cNvPr id="106" name="TextBox 105">
              <a:extLst>
                <a:ext uri="{FF2B5EF4-FFF2-40B4-BE49-F238E27FC236}">
                  <a16:creationId xmlns:a16="http://schemas.microsoft.com/office/drawing/2014/main" id="{E61ADADE-7BCA-960C-11D0-163D62543C73}"/>
                </a:ext>
              </a:extLst>
            </p:cNvPr>
            <p:cNvSpPr txBox="1"/>
            <p:nvPr/>
          </p:nvSpPr>
          <p:spPr>
            <a:xfrm>
              <a:off x="4456340" y="2505384"/>
              <a:ext cx="308098" cy="169277"/>
            </a:xfrm>
            <a:prstGeom prst="rect">
              <a:avLst/>
            </a:prstGeom>
            <a:grpFill/>
          </p:spPr>
          <p:txBody>
            <a:bodyPr wrap="none" rtlCol="0">
              <a:spAutoFit/>
            </a:bodyPr>
            <a:lstStyle/>
            <a:p>
              <a:pPr algn="l"/>
              <a:r>
                <a:rPr lang="en-US" sz="500" spc="0" baseline="0">
                  <a:ln/>
                  <a:latin typeface="Arial"/>
                  <a:cs typeface="Arial"/>
                  <a:sym typeface="Arial"/>
                  <a:rtl val="0"/>
                </a:rPr>
                <a:t>4:00</a:t>
              </a:r>
            </a:p>
          </p:txBody>
        </p:sp>
        <p:sp>
          <p:nvSpPr>
            <p:cNvPr id="107" name="Freeform 106">
              <a:extLst>
                <a:ext uri="{FF2B5EF4-FFF2-40B4-BE49-F238E27FC236}">
                  <a16:creationId xmlns:a16="http://schemas.microsoft.com/office/drawing/2014/main" id="{B78D4C40-0423-47E4-7555-3F9A0C6AE918}"/>
                </a:ext>
              </a:extLst>
            </p:cNvPr>
            <p:cNvSpPr/>
            <p:nvPr/>
          </p:nvSpPr>
          <p:spPr>
            <a:xfrm>
              <a:off x="4573161" y="2600397"/>
              <a:ext cx="786799" cy="6345"/>
            </a:xfrm>
            <a:custGeom>
              <a:avLst/>
              <a:gdLst>
                <a:gd name="csX0" fmla="*/ 0 w 786799"/>
                <a:gd name="csY0" fmla="*/ 0 h 6345"/>
                <a:gd name="csX1" fmla="*/ 786800 w 786799"/>
                <a:gd name="csY1" fmla="*/ 0 h 6345"/>
              </a:gdLst>
              <a:ahLst/>
              <a:cxnLst>
                <a:cxn ang="0">
                  <a:pos x="csX0" y="csY0"/>
                </a:cxn>
                <a:cxn ang="0">
                  <a:pos x="csX1" y="csY1"/>
                </a:cxn>
              </a:cxnLst>
              <a:rect l="l" t="t" r="r" b="b"/>
              <a:pathLst>
                <a:path w="786799" h="6345">
                  <a:moveTo>
                    <a:pt x="0" y="0"/>
                  </a:moveTo>
                  <a:lnTo>
                    <a:pt x="786800" y="0"/>
                  </a:lnTo>
                </a:path>
              </a:pathLst>
            </a:custGeom>
            <a:grpFill/>
            <a:ln w="19031" cap="flat">
              <a:solidFill>
                <a:srgbClr val="DF5B0B"/>
              </a:solidFill>
              <a:prstDash val="solid"/>
              <a:miter/>
            </a:ln>
          </p:spPr>
          <p:txBody>
            <a:bodyPr/>
            <a:lstStyle/>
            <a:p>
              <a:endParaRPr lang="en-US" sz="1050"/>
            </a:p>
          </p:txBody>
        </p:sp>
        <p:sp>
          <p:nvSpPr>
            <p:cNvPr id="108" name="Oval 107">
              <a:extLst>
                <a:ext uri="{FF2B5EF4-FFF2-40B4-BE49-F238E27FC236}">
                  <a16:creationId xmlns:a16="http://schemas.microsoft.com/office/drawing/2014/main" id="{3B3E6C32-1075-C389-4F70-D10C06DEB4FB}"/>
                </a:ext>
              </a:extLst>
            </p:cNvPr>
            <p:cNvSpPr/>
            <p:nvPr/>
          </p:nvSpPr>
          <p:spPr>
            <a:xfrm>
              <a:off x="4541435" y="2568671"/>
              <a:ext cx="63451" cy="63451"/>
            </a:xfrm>
            <a:prstGeom prst="ellipse">
              <a:avLst/>
            </a:prstGeom>
            <a:grpFill/>
            <a:ln w="6344" cap="flat">
              <a:noFill/>
              <a:prstDash val="solid"/>
              <a:miter/>
            </a:ln>
          </p:spPr>
          <p:txBody>
            <a:bodyPr/>
            <a:lstStyle/>
            <a:p>
              <a:endParaRPr lang="en-US" sz="1050"/>
            </a:p>
          </p:txBody>
        </p:sp>
        <p:sp>
          <p:nvSpPr>
            <p:cNvPr id="109" name="Oval 108">
              <a:extLst>
                <a:ext uri="{FF2B5EF4-FFF2-40B4-BE49-F238E27FC236}">
                  <a16:creationId xmlns:a16="http://schemas.microsoft.com/office/drawing/2014/main" id="{ADB633A2-E483-B52E-254C-34E066593ACB}"/>
                </a:ext>
              </a:extLst>
            </p:cNvPr>
            <p:cNvSpPr/>
            <p:nvPr/>
          </p:nvSpPr>
          <p:spPr>
            <a:xfrm>
              <a:off x="5328235" y="2568671"/>
              <a:ext cx="63451" cy="63451"/>
            </a:xfrm>
            <a:prstGeom prst="ellipse">
              <a:avLst/>
            </a:prstGeom>
            <a:grpFill/>
            <a:ln w="6344" cap="flat">
              <a:noFill/>
              <a:prstDash val="solid"/>
              <a:miter/>
            </a:ln>
          </p:spPr>
          <p:txBody>
            <a:bodyPr/>
            <a:lstStyle/>
            <a:p>
              <a:endParaRPr lang="en-US" sz="1050"/>
            </a:p>
          </p:txBody>
        </p:sp>
        <p:sp>
          <p:nvSpPr>
            <p:cNvPr id="110" name="Freeform 109">
              <a:extLst>
                <a:ext uri="{FF2B5EF4-FFF2-40B4-BE49-F238E27FC236}">
                  <a16:creationId xmlns:a16="http://schemas.microsoft.com/office/drawing/2014/main" id="{B190D3A9-D361-9B94-37E1-EBF53B359ABF}"/>
                </a:ext>
              </a:extLst>
            </p:cNvPr>
            <p:cNvSpPr/>
            <p:nvPr/>
          </p:nvSpPr>
          <p:spPr>
            <a:xfrm>
              <a:off x="5359961" y="2600397"/>
              <a:ext cx="901012" cy="6345"/>
            </a:xfrm>
            <a:custGeom>
              <a:avLst/>
              <a:gdLst>
                <a:gd name="csX0" fmla="*/ 0 w 901012"/>
                <a:gd name="csY0" fmla="*/ 0 h 6345"/>
                <a:gd name="csX1" fmla="*/ 901013 w 901012"/>
                <a:gd name="csY1" fmla="*/ 0 h 6345"/>
              </a:gdLst>
              <a:ahLst/>
              <a:cxnLst>
                <a:cxn ang="0">
                  <a:pos x="csX0" y="csY0"/>
                </a:cxn>
                <a:cxn ang="0">
                  <a:pos x="csX1" y="csY1"/>
                </a:cxn>
              </a:cxnLst>
              <a:rect l="l" t="t" r="r" b="b"/>
              <a:pathLst>
                <a:path w="901012" h="6345">
                  <a:moveTo>
                    <a:pt x="0" y="0"/>
                  </a:moveTo>
                  <a:lnTo>
                    <a:pt x="901013" y="0"/>
                  </a:lnTo>
                </a:path>
              </a:pathLst>
            </a:custGeom>
            <a:grpFill/>
            <a:ln w="12688" cap="flat">
              <a:solidFill>
                <a:srgbClr val="DF5B0B"/>
              </a:solidFill>
              <a:custDash>
                <a:ds d="450000" sp="300000"/>
              </a:custDash>
              <a:miter/>
            </a:ln>
          </p:spPr>
          <p:txBody>
            <a:bodyPr/>
            <a:lstStyle/>
            <a:p>
              <a:endParaRPr lang="en-US" sz="1050"/>
            </a:p>
          </p:txBody>
        </p:sp>
        <p:sp>
          <p:nvSpPr>
            <p:cNvPr id="111" name="TextBox 110">
              <a:extLst>
                <a:ext uri="{FF2B5EF4-FFF2-40B4-BE49-F238E27FC236}">
                  <a16:creationId xmlns:a16="http://schemas.microsoft.com/office/drawing/2014/main" id="{B5E3995E-6129-1A43-E5CD-E8CFC616689A}"/>
                </a:ext>
              </a:extLst>
            </p:cNvPr>
            <p:cNvSpPr txBox="1"/>
            <p:nvPr/>
          </p:nvSpPr>
          <p:spPr>
            <a:xfrm>
              <a:off x="5268521" y="2378481"/>
              <a:ext cx="308098" cy="169277"/>
            </a:xfrm>
            <a:prstGeom prst="rect">
              <a:avLst/>
            </a:prstGeom>
            <a:grpFill/>
          </p:spPr>
          <p:txBody>
            <a:bodyPr wrap="none" rtlCol="0">
              <a:spAutoFit/>
            </a:bodyPr>
            <a:lstStyle/>
            <a:p>
              <a:pPr algn="l"/>
              <a:r>
                <a:rPr lang="en-US" sz="500" spc="0" baseline="0">
                  <a:ln/>
                  <a:latin typeface="Arial"/>
                  <a:cs typeface="Arial"/>
                  <a:sym typeface="Arial"/>
                  <a:rtl val="0"/>
                </a:rPr>
                <a:t>5:30</a:t>
              </a:r>
            </a:p>
          </p:txBody>
        </p:sp>
        <p:sp>
          <p:nvSpPr>
            <p:cNvPr id="112" name="TextBox 111">
              <a:extLst>
                <a:ext uri="{FF2B5EF4-FFF2-40B4-BE49-F238E27FC236}">
                  <a16:creationId xmlns:a16="http://schemas.microsoft.com/office/drawing/2014/main" id="{0FB2AADE-7B08-0701-C7E2-F881E08F242E}"/>
                </a:ext>
              </a:extLst>
            </p:cNvPr>
            <p:cNvSpPr txBox="1"/>
            <p:nvPr/>
          </p:nvSpPr>
          <p:spPr>
            <a:xfrm>
              <a:off x="4462686" y="2733810"/>
              <a:ext cx="308098" cy="169277"/>
            </a:xfrm>
            <a:prstGeom prst="rect">
              <a:avLst/>
            </a:prstGeom>
            <a:grpFill/>
          </p:spPr>
          <p:txBody>
            <a:bodyPr wrap="none" rtlCol="0">
              <a:spAutoFit/>
            </a:bodyPr>
            <a:lstStyle/>
            <a:p>
              <a:pPr algn="l"/>
              <a:r>
                <a:rPr lang="en-US" sz="500" spc="0" baseline="0">
                  <a:ln/>
                  <a:latin typeface="Arial"/>
                  <a:cs typeface="Arial"/>
                  <a:sym typeface="Arial"/>
                  <a:rtl val="0"/>
                </a:rPr>
                <a:t>4:00</a:t>
              </a:r>
            </a:p>
          </p:txBody>
        </p:sp>
        <p:sp>
          <p:nvSpPr>
            <p:cNvPr id="113" name="Freeform 112">
              <a:extLst>
                <a:ext uri="{FF2B5EF4-FFF2-40B4-BE49-F238E27FC236}">
                  <a16:creationId xmlns:a16="http://schemas.microsoft.com/office/drawing/2014/main" id="{8F9B3A19-E322-FF1A-3DD7-95C4A2E9A75A}"/>
                </a:ext>
              </a:extLst>
            </p:cNvPr>
            <p:cNvSpPr/>
            <p:nvPr/>
          </p:nvSpPr>
          <p:spPr>
            <a:xfrm>
              <a:off x="4573161" y="2828823"/>
              <a:ext cx="1205580" cy="6345"/>
            </a:xfrm>
            <a:custGeom>
              <a:avLst/>
              <a:gdLst>
                <a:gd name="csX0" fmla="*/ 0 w 1205580"/>
                <a:gd name="csY0" fmla="*/ 0 h 6345"/>
                <a:gd name="csX1" fmla="*/ 1205580 w 1205580"/>
                <a:gd name="csY1" fmla="*/ 0 h 6345"/>
              </a:gdLst>
              <a:ahLst/>
              <a:cxnLst>
                <a:cxn ang="0">
                  <a:pos x="csX0" y="csY0"/>
                </a:cxn>
                <a:cxn ang="0">
                  <a:pos x="csX1" y="csY1"/>
                </a:cxn>
              </a:cxnLst>
              <a:rect l="l" t="t" r="r" b="b"/>
              <a:pathLst>
                <a:path w="1205580" h="6345">
                  <a:moveTo>
                    <a:pt x="0" y="0"/>
                  </a:moveTo>
                  <a:lnTo>
                    <a:pt x="1205580" y="0"/>
                  </a:lnTo>
                </a:path>
              </a:pathLst>
            </a:custGeom>
            <a:grpFill/>
            <a:ln w="19031" cap="flat">
              <a:solidFill>
                <a:srgbClr val="31803A"/>
              </a:solidFill>
              <a:prstDash val="solid"/>
              <a:miter/>
            </a:ln>
          </p:spPr>
          <p:txBody>
            <a:bodyPr/>
            <a:lstStyle/>
            <a:p>
              <a:endParaRPr lang="en-US" sz="1050"/>
            </a:p>
          </p:txBody>
        </p:sp>
        <p:sp>
          <p:nvSpPr>
            <p:cNvPr id="114" name="Oval 113">
              <a:extLst>
                <a:ext uri="{FF2B5EF4-FFF2-40B4-BE49-F238E27FC236}">
                  <a16:creationId xmlns:a16="http://schemas.microsoft.com/office/drawing/2014/main" id="{17558655-63B1-F681-0B90-570294C83AD9}"/>
                </a:ext>
              </a:extLst>
            </p:cNvPr>
            <p:cNvSpPr/>
            <p:nvPr/>
          </p:nvSpPr>
          <p:spPr>
            <a:xfrm>
              <a:off x="4541435" y="2797097"/>
              <a:ext cx="63451" cy="63451"/>
            </a:xfrm>
            <a:prstGeom prst="ellipse">
              <a:avLst/>
            </a:prstGeom>
            <a:grpFill/>
            <a:ln w="6344" cap="flat">
              <a:noFill/>
              <a:prstDash val="solid"/>
              <a:miter/>
            </a:ln>
          </p:spPr>
          <p:txBody>
            <a:bodyPr/>
            <a:lstStyle/>
            <a:p>
              <a:endParaRPr lang="en-US" sz="1050"/>
            </a:p>
          </p:txBody>
        </p:sp>
        <p:sp>
          <p:nvSpPr>
            <p:cNvPr id="115" name="Oval 114">
              <a:extLst>
                <a:ext uri="{FF2B5EF4-FFF2-40B4-BE49-F238E27FC236}">
                  <a16:creationId xmlns:a16="http://schemas.microsoft.com/office/drawing/2014/main" id="{A2DF18D2-B059-CB4F-BB2A-E13FD4FE9D54}"/>
                </a:ext>
              </a:extLst>
            </p:cNvPr>
            <p:cNvSpPr/>
            <p:nvPr/>
          </p:nvSpPr>
          <p:spPr>
            <a:xfrm>
              <a:off x="5747016" y="2797097"/>
              <a:ext cx="63451" cy="63451"/>
            </a:xfrm>
            <a:prstGeom prst="ellipse">
              <a:avLst/>
            </a:prstGeom>
            <a:grpFill/>
            <a:ln w="6344" cap="flat">
              <a:noFill/>
              <a:prstDash val="solid"/>
              <a:miter/>
            </a:ln>
          </p:spPr>
          <p:txBody>
            <a:bodyPr/>
            <a:lstStyle/>
            <a:p>
              <a:endParaRPr lang="en-US" sz="1050"/>
            </a:p>
          </p:txBody>
        </p:sp>
        <p:sp>
          <p:nvSpPr>
            <p:cNvPr id="116" name="Freeform 115">
              <a:extLst>
                <a:ext uri="{FF2B5EF4-FFF2-40B4-BE49-F238E27FC236}">
                  <a16:creationId xmlns:a16="http://schemas.microsoft.com/office/drawing/2014/main" id="{101E9D5A-3639-0422-485F-5F9390B6934B}"/>
                </a:ext>
              </a:extLst>
            </p:cNvPr>
            <p:cNvSpPr/>
            <p:nvPr/>
          </p:nvSpPr>
          <p:spPr>
            <a:xfrm>
              <a:off x="5778741" y="2828823"/>
              <a:ext cx="482232" cy="6345"/>
            </a:xfrm>
            <a:custGeom>
              <a:avLst/>
              <a:gdLst>
                <a:gd name="csX0" fmla="*/ 0 w 482232"/>
                <a:gd name="csY0" fmla="*/ 0 h 6345"/>
                <a:gd name="csX1" fmla="*/ 482232 w 482232"/>
                <a:gd name="csY1" fmla="*/ 0 h 6345"/>
              </a:gdLst>
              <a:ahLst/>
              <a:cxnLst>
                <a:cxn ang="0">
                  <a:pos x="csX0" y="csY0"/>
                </a:cxn>
                <a:cxn ang="0">
                  <a:pos x="csX1" y="csY1"/>
                </a:cxn>
              </a:cxnLst>
              <a:rect l="l" t="t" r="r" b="b"/>
              <a:pathLst>
                <a:path w="482232" h="6345">
                  <a:moveTo>
                    <a:pt x="0" y="0"/>
                  </a:moveTo>
                  <a:lnTo>
                    <a:pt x="482232" y="0"/>
                  </a:lnTo>
                </a:path>
              </a:pathLst>
            </a:custGeom>
            <a:grpFill/>
            <a:ln w="12688" cap="flat">
              <a:solidFill>
                <a:srgbClr val="31803A"/>
              </a:solidFill>
              <a:custDash>
                <a:ds d="450000" sp="300000"/>
              </a:custDash>
              <a:miter/>
            </a:ln>
          </p:spPr>
          <p:txBody>
            <a:bodyPr/>
            <a:lstStyle/>
            <a:p>
              <a:endParaRPr lang="en-US" sz="1050"/>
            </a:p>
          </p:txBody>
        </p:sp>
        <p:sp>
          <p:nvSpPr>
            <p:cNvPr id="117" name="TextBox 116">
              <a:extLst>
                <a:ext uri="{FF2B5EF4-FFF2-40B4-BE49-F238E27FC236}">
                  <a16:creationId xmlns:a16="http://schemas.microsoft.com/office/drawing/2014/main" id="{23C81274-CE0E-51A8-A242-3DC39D46DEFF}"/>
                </a:ext>
              </a:extLst>
            </p:cNvPr>
            <p:cNvSpPr txBox="1"/>
            <p:nvPr/>
          </p:nvSpPr>
          <p:spPr>
            <a:xfrm>
              <a:off x="5687301" y="2606907"/>
              <a:ext cx="308098" cy="169277"/>
            </a:xfrm>
            <a:prstGeom prst="rect">
              <a:avLst/>
            </a:prstGeom>
            <a:grpFill/>
          </p:spPr>
          <p:txBody>
            <a:bodyPr wrap="none" rtlCol="0">
              <a:spAutoFit/>
            </a:bodyPr>
            <a:lstStyle/>
            <a:p>
              <a:pPr algn="l"/>
              <a:r>
                <a:rPr lang="en-US" sz="500" spc="0" baseline="0">
                  <a:ln/>
                  <a:latin typeface="Arial"/>
                  <a:cs typeface="Arial"/>
                  <a:sym typeface="Arial"/>
                  <a:rtl val="0"/>
                </a:rPr>
                <a:t>7:00</a:t>
              </a:r>
            </a:p>
          </p:txBody>
        </p:sp>
        <p:sp>
          <p:nvSpPr>
            <p:cNvPr id="118" name="Freeform 117">
              <a:extLst>
                <a:ext uri="{FF2B5EF4-FFF2-40B4-BE49-F238E27FC236}">
                  <a16:creationId xmlns:a16="http://schemas.microsoft.com/office/drawing/2014/main" id="{E6A9CD71-7EF2-BA4B-1B50-E00D3877C0F5}"/>
                </a:ext>
              </a:extLst>
            </p:cNvPr>
            <p:cNvSpPr/>
            <p:nvPr/>
          </p:nvSpPr>
          <p:spPr>
            <a:xfrm>
              <a:off x="4573161" y="3057249"/>
              <a:ext cx="774109" cy="6345"/>
            </a:xfrm>
            <a:custGeom>
              <a:avLst/>
              <a:gdLst>
                <a:gd name="csX0" fmla="*/ 0 w 774109"/>
                <a:gd name="csY0" fmla="*/ 0 h 6345"/>
                <a:gd name="csX1" fmla="*/ 774110 w 774109"/>
                <a:gd name="csY1" fmla="*/ 0 h 6345"/>
              </a:gdLst>
              <a:ahLst/>
              <a:cxnLst>
                <a:cxn ang="0">
                  <a:pos x="csX0" y="csY0"/>
                </a:cxn>
                <a:cxn ang="0">
                  <a:pos x="csX1" y="csY1"/>
                </a:cxn>
              </a:cxnLst>
              <a:rect l="l" t="t" r="r" b="b"/>
              <a:pathLst>
                <a:path w="774109" h="6345">
                  <a:moveTo>
                    <a:pt x="0" y="0"/>
                  </a:moveTo>
                  <a:lnTo>
                    <a:pt x="774110" y="0"/>
                  </a:lnTo>
                </a:path>
              </a:pathLst>
            </a:custGeom>
            <a:grpFill/>
            <a:ln w="12688" cap="flat">
              <a:solidFill>
                <a:srgbClr val="B7B7B7"/>
              </a:solidFill>
              <a:custDash>
                <a:ds d="450000" sp="300000"/>
              </a:custDash>
              <a:miter/>
            </a:ln>
          </p:spPr>
          <p:txBody>
            <a:bodyPr/>
            <a:lstStyle/>
            <a:p>
              <a:endParaRPr lang="en-US" sz="1050"/>
            </a:p>
          </p:txBody>
        </p:sp>
        <p:sp>
          <p:nvSpPr>
            <p:cNvPr id="119" name="Oval 118">
              <a:extLst>
                <a:ext uri="{FF2B5EF4-FFF2-40B4-BE49-F238E27FC236}">
                  <a16:creationId xmlns:a16="http://schemas.microsoft.com/office/drawing/2014/main" id="{539F9BBB-9E56-24B0-36C8-F8623BA58BD6}"/>
                </a:ext>
              </a:extLst>
            </p:cNvPr>
            <p:cNvSpPr/>
            <p:nvPr/>
          </p:nvSpPr>
          <p:spPr>
            <a:xfrm>
              <a:off x="4541435" y="3025523"/>
              <a:ext cx="63451" cy="63451"/>
            </a:xfrm>
            <a:prstGeom prst="ellipse">
              <a:avLst/>
            </a:prstGeom>
            <a:grpFill/>
            <a:ln w="6344" cap="flat">
              <a:solidFill>
                <a:srgbClr val="B7B7B7"/>
              </a:solidFill>
              <a:prstDash val="solid"/>
              <a:miter/>
            </a:ln>
          </p:spPr>
          <p:txBody>
            <a:bodyPr/>
            <a:lstStyle/>
            <a:p>
              <a:endParaRPr lang="en-US" sz="1050"/>
            </a:p>
          </p:txBody>
        </p:sp>
        <p:sp>
          <p:nvSpPr>
            <p:cNvPr id="120" name="TextBox 119">
              <a:extLst>
                <a:ext uri="{FF2B5EF4-FFF2-40B4-BE49-F238E27FC236}">
                  <a16:creationId xmlns:a16="http://schemas.microsoft.com/office/drawing/2014/main" id="{112B1EE3-ABA7-C575-8D43-4E6AD8AC9104}"/>
                </a:ext>
              </a:extLst>
            </p:cNvPr>
            <p:cNvSpPr txBox="1"/>
            <p:nvPr/>
          </p:nvSpPr>
          <p:spPr>
            <a:xfrm>
              <a:off x="4477916" y="3228509"/>
              <a:ext cx="308098" cy="169277"/>
            </a:xfrm>
            <a:prstGeom prst="rect">
              <a:avLst/>
            </a:prstGeom>
            <a:grpFill/>
          </p:spPr>
          <p:txBody>
            <a:bodyPr wrap="none" rtlCol="0">
              <a:spAutoFit/>
            </a:bodyPr>
            <a:lstStyle/>
            <a:p>
              <a:pPr algn="l"/>
              <a:r>
                <a:rPr lang="en-US" sz="500" spc="0" baseline="0" dirty="0">
                  <a:ln/>
                  <a:latin typeface="Arial"/>
                  <a:cs typeface="Arial"/>
                  <a:sym typeface="Arial"/>
                  <a:rtl val="0"/>
                </a:rPr>
                <a:t>4:30</a:t>
              </a:r>
            </a:p>
          </p:txBody>
        </p:sp>
        <p:sp>
          <p:nvSpPr>
            <p:cNvPr id="122" name="Oval 121">
              <a:extLst>
                <a:ext uri="{FF2B5EF4-FFF2-40B4-BE49-F238E27FC236}">
                  <a16:creationId xmlns:a16="http://schemas.microsoft.com/office/drawing/2014/main" id="{EC6CA4B2-D7DB-B8FE-0F3E-68DFDA10A687}"/>
                </a:ext>
              </a:extLst>
            </p:cNvPr>
            <p:cNvSpPr/>
            <p:nvPr/>
          </p:nvSpPr>
          <p:spPr>
            <a:xfrm>
              <a:off x="4985596" y="3272984"/>
              <a:ext cx="63451" cy="63451"/>
            </a:xfrm>
            <a:prstGeom prst="ellipse">
              <a:avLst/>
            </a:prstGeom>
            <a:grpFill/>
            <a:ln w="6344" cap="flat">
              <a:noFill/>
              <a:prstDash val="solid"/>
              <a:miter/>
            </a:ln>
          </p:spPr>
          <p:txBody>
            <a:bodyPr/>
            <a:lstStyle/>
            <a:p>
              <a:endParaRPr lang="en-US" sz="1050"/>
            </a:p>
          </p:txBody>
        </p:sp>
        <p:sp>
          <p:nvSpPr>
            <p:cNvPr id="124" name="Freeform 123">
              <a:extLst>
                <a:ext uri="{FF2B5EF4-FFF2-40B4-BE49-F238E27FC236}">
                  <a16:creationId xmlns:a16="http://schemas.microsoft.com/office/drawing/2014/main" id="{AC488752-6F03-634F-93D8-C5BED67D9773}"/>
                </a:ext>
              </a:extLst>
            </p:cNvPr>
            <p:cNvSpPr/>
            <p:nvPr/>
          </p:nvSpPr>
          <p:spPr>
            <a:xfrm>
              <a:off x="5245748" y="3425268"/>
              <a:ext cx="6345" cy="139593"/>
            </a:xfrm>
            <a:custGeom>
              <a:avLst/>
              <a:gdLst>
                <a:gd name="csX0" fmla="*/ 0 w 6345"/>
                <a:gd name="csY0" fmla="*/ 0 h 139593"/>
                <a:gd name="csX1" fmla="*/ 0 w 6345"/>
                <a:gd name="csY1" fmla="*/ 139594 h 139593"/>
              </a:gdLst>
              <a:ahLst/>
              <a:cxnLst>
                <a:cxn ang="0">
                  <a:pos x="csX0" y="csY0"/>
                </a:cxn>
                <a:cxn ang="0">
                  <a:pos x="csX1" y="csY1"/>
                </a:cxn>
              </a:cxnLst>
              <a:rect l="l" t="t" r="r" b="b"/>
              <a:pathLst>
                <a:path w="6345" h="139593">
                  <a:moveTo>
                    <a:pt x="0" y="0"/>
                  </a:moveTo>
                  <a:lnTo>
                    <a:pt x="0" y="139594"/>
                  </a:lnTo>
                </a:path>
              </a:pathLst>
            </a:custGeom>
            <a:grpFill/>
            <a:ln w="38063" cap="flat">
              <a:solidFill>
                <a:srgbClr val="9B9B9B"/>
              </a:solidFill>
              <a:prstDash val="solid"/>
              <a:miter/>
            </a:ln>
          </p:spPr>
          <p:txBody>
            <a:bodyPr/>
            <a:lstStyle/>
            <a:p>
              <a:endParaRPr lang="en-US" sz="1050"/>
            </a:p>
          </p:txBody>
        </p:sp>
        <p:sp>
          <p:nvSpPr>
            <p:cNvPr id="125" name="Rounded Rectangle 124">
              <a:extLst>
                <a:ext uri="{FF2B5EF4-FFF2-40B4-BE49-F238E27FC236}">
                  <a16:creationId xmlns:a16="http://schemas.microsoft.com/office/drawing/2014/main" id="{55E9637F-0994-5767-2E97-494A06894B00}"/>
                </a:ext>
              </a:extLst>
            </p:cNvPr>
            <p:cNvSpPr/>
            <p:nvPr/>
          </p:nvSpPr>
          <p:spPr>
            <a:xfrm>
              <a:off x="4731790" y="3596587"/>
              <a:ext cx="1142128" cy="317258"/>
            </a:xfrm>
            <a:prstGeom prst="roundRect">
              <a:avLst>
                <a:gd name="adj" fmla="val 15999"/>
              </a:avLst>
            </a:prstGeom>
            <a:grpFill/>
            <a:ln w="6344" cap="flat">
              <a:solidFill>
                <a:srgbClr val="E99318"/>
              </a:solidFill>
              <a:prstDash val="solid"/>
              <a:miter/>
            </a:ln>
          </p:spPr>
          <p:txBody>
            <a:bodyPr/>
            <a:lstStyle/>
            <a:p>
              <a:endParaRPr lang="en-US" sz="1050"/>
            </a:p>
          </p:txBody>
        </p:sp>
        <p:sp>
          <p:nvSpPr>
            <p:cNvPr id="126" name="TextBox 125">
              <a:extLst>
                <a:ext uri="{FF2B5EF4-FFF2-40B4-BE49-F238E27FC236}">
                  <a16:creationId xmlns:a16="http://schemas.microsoft.com/office/drawing/2014/main" id="{DA59EEBB-F2C9-FC50-ABDA-8820606B467C}"/>
                </a:ext>
              </a:extLst>
            </p:cNvPr>
            <p:cNvSpPr txBox="1"/>
            <p:nvPr/>
          </p:nvSpPr>
          <p:spPr>
            <a:xfrm>
              <a:off x="4892645" y="3598555"/>
              <a:ext cx="832279" cy="215444"/>
            </a:xfrm>
            <a:prstGeom prst="rect">
              <a:avLst/>
            </a:prstGeom>
            <a:grpFill/>
          </p:spPr>
          <p:txBody>
            <a:bodyPr wrap="none" rtlCol="0">
              <a:spAutoFit/>
            </a:bodyPr>
            <a:lstStyle/>
            <a:p>
              <a:pPr algn="l"/>
              <a:r>
                <a:rPr lang="en-US" sz="800" b="1" spc="0" baseline="0">
                  <a:ln/>
                  <a:latin typeface="Arial"/>
                  <a:cs typeface="Arial"/>
                  <a:sym typeface="Arial"/>
                  <a:rtl val="0"/>
                </a:rPr>
                <a:t>CPLEX Solve</a:t>
              </a:r>
            </a:p>
          </p:txBody>
        </p:sp>
        <p:sp>
          <p:nvSpPr>
            <p:cNvPr id="127" name="TextBox 126">
              <a:extLst>
                <a:ext uri="{FF2B5EF4-FFF2-40B4-BE49-F238E27FC236}">
                  <a16:creationId xmlns:a16="http://schemas.microsoft.com/office/drawing/2014/main" id="{67D577D9-54CA-127B-4FBE-42B2408F8E44}"/>
                </a:ext>
              </a:extLst>
            </p:cNvPr>
            <p:cNvSpPr txBox="1"/>
            <p:nvPr/>
          </p:nvSpPr>
          <p:spPr>
            <a:xfrm>
              <a:off x="5056355" y="3712768"/>
              <a:ext cx="497252" cy="215444"/>
            </a:xfrm>
            <a:prstGeom prst="rect">
              <a:avLst/>
            </a:prstGeom>
            <a:grpFill/>
          </p:spPr>
          <p:txBody>
            <a:bodyPr wrap="none" rtlCol="0">
              <a:spAutoFit/>
            </a:bodyPr>
            <a:lstStyle/>
            <a:p>
              <a:pPr algn="l"/>
              <a:r>
                <a:rPr lang="en-US" sz="800" b="1" spc="0" baseline="0">
                  <a:ln/>
                  <a:latin typeface="Arial"/>
                  <a:cs typeface="Arial"/>
                  <a:sym typeface="Arial"/>
                  <a:rtl val="0"/>
                </a:rPr>
                <a:t>(MILP)</a:t>
              </a:r>
            </a:p>
          </p:txBody>
        </p:sp>
        <p:sp>
          <p:nvSpPr>
            <p:cNvPr id="128" name="Freeform 127">
              <a:extLst>
                <a:ext uri="{FF2B5EF4-FFF2-40B4-BE49-F238E27FC236}">
                  <a16:creationId xmlns:a16="http://schemas.microsoft.com/office/drawing/2014/main" id="{EACD9E22-F920-6413-7EDF-34CE910D2A9A}"/>
                </a:ext>
              </a:extLst>
            </p:cNvPr>
            <p:cNvSpPr/>
            <p:nvPr/>
          </p:nvSpPr>
          <p:spPr>
            <a:xfrm>
              <a:off x="5302854" y="3913845"/>
              <a:ext cx="6345" cy="107867"/>
            </a:xfrm>
            <a:custGeom>
              <a:avLst/>
              <a:gdLst>
                <a:gd name="csX0" fmla="*/ 0 w 6345"/>
                <a:gd name="csY0" fmla="*/ 0 h 107867"/>
                <a:gd name="csX1" fmla="*/ 0 w 6345"/>
                <a:gd name="csY1" fmla="*/ 107868 h 107867"/>
              </a:gdLst>
              <a:ahLst/>
              <a:cxnLst>
                <a:cxn ang="0">
                  <a:pos x="csX0" y="csY0"/>
                </a:cxn>
                <a:cxn ang="0">
                  <a:pos x="csX1" y="csY1"/>
                </a:cxn>
              </a:cxnLst>
              <a:rect l="l" t="t" r="r" b="b"/>
              <a:pathLst>
                <a:path w="6345" h="107867">
                  <a:moveTo>
                    <a:pt x="0" y="0"/>
                  </a:moveTo>
                  <a:lnTo>
                    <a:pt x="0" y="107868"/>
                  </a:lnTo>
                </a:path>
              </a:pathLst>
            </a:custGeom>
            <a:grpFill/>
            <a:ln w="8881" cap="flat">
              <a:solidFill>
                <a:srgbClr val="E99318"/>
              </a:solidFill>
              <a:prstDash val="solid"/>
              <a:miter/>
            </a:ln>
          </p:spPr>
          <p:txBody>
            <a:bodyPr/>
            <a:lstStyle/>
            <a:p>
              <a:endParaRPr lang="en-US" sz="1050"/>
            </a:p>
          </p:txBody>
        </p:sp>
        <p:sp>
          <p:nvSpPr>
            <p:cNvPr id="129" name="Rounded Rectangle 128">
              <a:extLst>
                <a:ext uri="{FF2B5EF4-FFF2-40B4-BE49-F238E27FC236}">
                  <a16:creationId xmlns:a16="http://schemas.microsoft.com/office/drawing/2014/main" id="{8C572E83-1598-4D6E-A393-D9BFF97286C6}"/>
                </a:ext>
              </a:extLst>
            </p:cNvPr>
            <p:cNvSpPr/>
            <p:nvPr/>
          </p:nvSpPr>
          <p:spPr>
            <a:xfrm>
              <a:off x="4179761" y="4021713"/>
              <a:ext cx="1116748" cy="678932"/>
            </a:xfrm>
            <a:prstGeom prst="roundRect">
              <a:avLst>
                <a:gd name="adj" fmla="val 6542"/>
              </a:avLst>
            </a:prstGeom>
            <a:grpFill/>
            <a:ln w="6344" cap="flat">
              <a:solidFill>
                <a:srgbClr val="2B7C35"/>
              </a:solidFill>
              <a:prstDash val="solid"/>
              <a:miter/>
            </a:ln>
          </p:spPr>
          <p:txBody>
            <a:bodyPr/>
            <a:lstStyle/>
            <a:p>
              <a:endParaRPr lang="en-US" sz="1050"/>
            </a:p>
          </p:txBody>
        </p:sp>
        <p:sp>
          <p:nvSpPr>
            <p:cNvPr id="130" name="Rounded Rectangle 129">
              <a:extLst>
                <a:ext uri="{FF2B5EF4-FFF2-40B4-BE49-F238E27FC236}">
                  <a16:creationId xmlns:a16="http://schemas.microsoft.com/office/drawing/2014/main" id="{159681AF-2F83-4247-DD7C-AFE6A9389B04}"/>
                </a:ext>
              </a:extLst>
            </p:cNvPr>
            <p:cNvSpPr/>
            <p:nvPr/>
          </p:nvSpPr>
          <p:spPr>
            <a:xfrm>
              <a:off x="5296508" y="4021713"/>
              <a:ext cx="1129440" cy="678932"/>
            </a:xfrm>
            <a:prstGeom prst="roundRect">
              <a:avLst>
                <a:gd name="adj" fmla="val 6542"/>
              </a:avLst>
            </a:prstGeom>
            <a:grpFill/>
            <a:ln w="6344" cap="flat">
              <a:solidFill>
                <a:srgbClr val="E56516"/>
              </a:solidFill>
              <a:prstDash val="solid"/>
              <a:miter/>
            </a:ln>
          </p:spPr>
          <p:txBody>
            <a:bodyPr/>
            <a:lstStyle/>
            <a:p>
              <a:endParaRPr lang="en-US" sz="1050"/>
            </a:p>
          </p:txBody>
        </p:sp>
        <p:sp>
          <p:nvSpPr>
            <p:cNvPr id="131" name="TextBox 130">
              <a:extLst>
                <a:ext uri="{FF2B5EF4-FFF2-40B4-BE49-F238E27FC236}">
                  <a16:creationId xmlns:a16="http://schemas.microsoft.com/office/drawing/2014/main" id="{F1DA7C46-19B9-D083-0897-5A00D4D73F51}"/>
                </a:ext>
              </a:extLst>
            </p:cNvPr>
            <p:cNvSpPr txBox="1"/>
            <p:nvPr/>
          </p:nvSpPr>
          <p:spPr>
            <a:xfrm>
              <a:off x="4392889" y="4017336"/>
              <a:ext cx="697627" cy="215444"/>
            </a:xfrm>
            <a:prstGeom prst="rect">
              <a:avLst/>
            </a:prstGeom>
            <a:grpFill/>
          </p:spPr>
          <p:txBody>
            <a:bodyPr wrap="none" rtlCol="0">
              <a:spAutoFit/>
            </a:bodyPr>
            <a:lstStyle/>
            <a:p>
              <a:pPr algn="l"/>
              <a:r>
                <a:rPr lang="en-US" sz="800" b="1" spc="0" baseline="0">
                  <a:ln/>
                  <a:latin typeface="Arial"/>
                  <a:cs typeface="Arial"/>
                  <a:sym typeface="Arial"/>
                  <a:rtl val="0"/>
                </a:rPr>
                <a:t>Confirmed</a:t>
              </a:r>
            </a:p>
          </p:txBody>
        </p:sp>
        <p:sp>
          <p:nvSpPr>
            <p:cNvPr id="132" name="TextBox 131">
              <a:extLst>
                <a:ext uri="{FF2B5EF4-FFF2-40B4-BE49-F238E27FC236}">
                  <a16:creationId xmlns:a16="http://schemas.microsoft.com/office/drawing/2014/main" id="{99CBB904-9BC8-B0A4-2D76-9AB34C81C5D1}"/>
                </a:ext>
              </a:extLst>
            </p:cNvPr>
            <p:cNvSpPr txBox="1"/>
            <p:nvPr/>
          </p:nvSpPr>
          <p:spPr>
            <a:xfrm>
              <a:off x="4208865" y="4155126"/>
              <a:ext cx="861133" cy="169277"/>
            </a:xfrm>
            <a:prstGeom prst="rect">
              <a:avLst/>
            </a:prstGeom>
            <a:grpFill/>
          </p:spPr>
          <p:txBody>
            <a:bodyPr wrap="none" rtlCol="0">
              <a:spAutoFit/>
            </a:bodyPr>
            <a:lstStyle/>
            <a:p>
              <a:pPr algn="l"/>
              <a:r>
                <a:rPr lang="en-US" sz="500" spc="0" baseline="0">
                  <a:ln/>
                  <a:latin typeface="Arial"/>
                  <a:cs typeface="Arial"/>
                  <a:sym typeface="Arial"/>
                  <a:rtl val="0"/>
                </a:rPr>
                <a:t>(finished in this window)</a:t>
              </a:r>
            </a:p>
          </p:txBody>
        </p:sp>
        <p:sp>
          <p:nvSpPr>
            <p:cNvPr id="133" name="TextBox 132">
              <a:extLst>
                <a:ext uri="{FF2B5EF4-FFF2-40B4-BE49-F238E27FC236}">
                  <a16:creationId xmlns:a16="http://schemas.microsoft.com/office/drawing/2014/main" id="{6481D54F-83E6-8A3B-CD9C-64755414E242}"/>
                </a:ext>
              </a:extLst>
            </p:cNvPr>
            <p:cNvSpPr txBox="1"/>
            <p:nvPr/>
          </p:nvSpPr>
          <p:spPr>
            <a:xfrm>
              <a:off x="5471417" y="4017336"/>
              <a:ext cx="649537" cy="215444"/>
            </a:xfrm>
            <a:prstGeom prst="rect">
              <a:avLst/>
            </a:prstGeom>
            <a:grpFill/>
          </p:spPr>
          <p:txBody>
            <a:bodyPr wrap="none" rtlCol="0">
              <a:spAutoFit/>
            </a:bodyPr>
            <a:lstStyle/>
            <a:p>
              <a:pPr algn="l"/>
              <a:r>
                <a:rPr lang="en-US" sz="800" b="1" spc="0" baseline="0">
                  <a:ln/>
                  <a:latin typeface="Arial"/>
                  <a:cs typeface="Arial"/>
                  <a:sym typeface="Arial"/>
                  <a:rtl val="0"/>
                </a:rPr>
                <a:t>Reserved</a:t>
              </a:r>
            </a:p>
          </p:txBody>
        </p:sp>
        <p:sp>
          <p:nvSpPr>
            <p:cNvPr id="134" name="TextBox 133">
              <a:extLst>
                <a:ext uri="{FF2B5EF4-FFF2-40B4-BE49-F238E27FC236}">
                  <a16:creationId xmlns:a16="http://schemas.microsoft.com/office/drawing/2014/main" id="{4FF05F20-139C-7B47-D538-79D1804D18F5}"/>
                </a:ext>
              </a:extLst>
            </p:cNvPr>
            <p:cNvSpPr txBox="1"/>
            <p:nvPr/>
          </p:nvSpPr>
          <p:spPr>
            <a:xfrm>
              <a:off x="5312629" y="4155126"/>
              <a:ext cx="782587" cy="169277"/>
            </a:xfrm>
            <a:prstGeom prst="rect">
              <a:avLst/>
            </a:prstGeom>
            <a:grpFill/>
          </p:spPr>
          <p:txBody>
            <a:bodyPr wrap="none" rtlCol="0">
              <a:spAutoFit/>
            </a:bodyPr>
            <a:lstStyle/>
            <a:p>
              <a:pPr algn="l"/>
              <a:r>
                <a:rPr lang="en-US" sz="500" spc="0" baseline="0">
                  <a:ln/>
                  <a:latin typeface="Arial"/>
                  <a:cs typeface="Arial"/>
                  <a:sym typeface="Arial"/>
                  <a:rtl val="0"/>
                </a:rPr>
                <a:t>(crosses the window)</a:t>
              </a:r>
            </a:p>
          </p:txBody>
        </p:sp>
        <p:sp>
          <p:nvSpPr>
            <p:cNvPr id="135" name="TextBox 134">
              <a:extLst>
                <a:ext uri="{FF2B5EF4-FFF2-40B4-BE49-F238E27FC236}">
                  <a16:creationId xmlns:a16="http://schemas.microsoft.com/office/drawing/2014/main" id="{21542057-12E4-9EAF-2792-E16C20105970}"/>
                </a:ext>
              </a:extLst>
            </p:cNvPr>
            <p:cNvSpPr txBox="1"/>
            <p:nvPr/>
          </p:nvSpPr>
          <p:spPr>
            <a:xfrm>
              <a:off x="4164463" y="4314957"/>
              <a:ext cx="580608" cy="215444"/>
            </a:xfrm>
            <a:prstGeom prst="rect">
              <a:avLst/>
            </a:prstGeom>
            <a:grpFill/>
          </p:spPr>
          <p:txBody>
            <a:bodyPr wrap="none" rtlCol="0">
              <a:spAutoFit/>
            </a:bodyPr>
            <a:lstStyle/>
            <a:p>
              <a:pPr algn="l"/>
              <a:r>
                <a:rPr lang="en-US" sz="800" spc="0" baseline="0">
                  <a:ln/>
                  <a:latin typeface="Arial"/>
                  <a:cs typeface="Arial"/>
                  <a:sym typeface="Arial"/>
                  <a:rtl val="0"/>
                </a:rPr>
                <a:t>• Train B</a:t>
              </a:r>
            </a:p>
          </p:txBody>
        </p:sp>
        <p:sp>
          <p:nvSpPr>
            <p:cNvPr id="136" name="TextBox 135">
              <a:extLst>
                <a:ext uri="{FF2B5EF4-FFF2-40B4-BE49-F238E27FC236}">
                  <a16:creationId xmlns:a16="http://schemas.microsoft.com/office/drawing/2014/main" id="{4D4E1D9D-1971-251F-0176-55FC834287E3}"/>
                </a:ext>
              </a:extLst>
            </p:cNvPr>
            <p:cNvSpPr txBox="1"/>
            <p:nvPr/>
          </p:nvSpPr>
          <p:spPr>
            <a:xfrm>
              <a:off x="4606520" y="4314957"/>
              <a:ext cx="771365" cy="215444"/>
            </a:xfrm>
            <a:prstGeom prst="rect">
              <a:avLst/>
            </a:prstGeom>
            <a:grpFill/>
          </p:spPr>
          <p:txBody>
            <a:bodyPr wrap="none" rtlCol="0">
              <a:spAutoFit/>
            </a:bodyPr>
            <a:lstStyle/>
            <a:p>
              <a:pPr algn="l"/>
              <a:r>
                <a:rPr lang="en-US" sz="800" spc="0" baseline="0">
                  <a:ln/>
                  <a:latin typeface="Arial"/>
                  <a:cs typeface="Arial"/>
                  <a:sym typeface="Arial"/>
                  <a:rtl val="0"/>
                </a:rPr>
                <a:t>(2:00 – 5:30)</a:t>
              </a:r>
            </a:p>
          </p:txBody>
        </p:sp>
        <p:sp>
          <p:nvSpPr>
            <p:cNvPr id="137" name="TextBox 136">
              <a:extLst>
                <a:ext uri="{FF2B5EF4-FFF2-40B4-BE49-F238E27FC236}">
                  <a16:creationId xmlns:a16="http://schemas.microsoft.com/office/drawing/2014/main" id="{7D33D530-0CA1-BCB8-1FFE-098F5E6DC356}"/>
                </a:ext>
              </a:extLst>
            </p:cNvPr>
            <p:cNvSpPr txBox="1"/>
            <p:nvPr/>
          </p:nvSpPr>
          <p:spPr>
            <a:xfrm>
              <a:off x="5281211" y="4314957"/>
              <a:ext cx="585417" cy="215444"/>
            </a:xfrm>
            <a:prstGeom prst="rect">
              <a:avLst/>
            </a:prstGeom>
            <a:grpFill/>
          </p:spPr>
          <p:txBody>
            <a:bodyPr wrap="none" rtlCol="0">
              <a:spAutoFit/>
            </a:bodyPr>
            <a:lstStyle/>
            <a:p>
              <a:pPr algn="l"/>
              <a:r>
                <a:rPr lang="en-US" sz="800" spc="0" baseline="0">
                  <a:ln/>
                  <a:latin typeface="Arial"/>
                  <a:cs typeface="Arial"/>
                  <a:sym typeface="Arial"/>
                  <a:rtl val="0"/>
                </a:rPr>
                <a:t>• Train C</a:t>
              </a:r>
            </a:p>
          </p:txBody>
        </p:sp>
        <p:sp>
          <p:nvSpPr>
            <p:cNvPr id="138" name="TextBox 137">
              <a:extLst>
                <a:ext uri="{FF2B5EF4-FFF2-40B4-BE49-F238E27FC236}">
                  <a16:creationId xmlns:a16="http://schemas.microsoft.com/office/drawing/2014/main" id="{38E67889-CF3B-0B55-EF4C-F32B484F154F}"/>
                </a:ext>
              </a:extLst>
            </p:cNvPr>
            <p:cNvSpPr txBox="1"/>
            <p:nvPr/>
          </p:nvSpPr>
          <p:spPr>
            <a:xfrm>
              <a:off x="5699804" y="4303806"/>
              <a:ext cx="771365" cy="215444"/>
            </a:xfrm>
            <a:prstGeom prst="rect">
              <a:avLst/>
            </a:prstGeom>
            <a:grpFill/>
          </p:spPr>
          <p:txBody>
            <a:bodyPr wrap="none" rtlCol="0">
              <a:spAutoFit/>
            </a:bodyPr>
            <a:lstStyle/>
            <a:p>
              <a:pPr algn="l"/>
              <a:r>
                <a:rPr lang="en-US" sz="800" spc="0" baseline="0" dirty="0">
                  <a:ln/>
                  <a:latin typeface="Arial"/>
                  <a:cs typeface="Arial"/>
                  <a:sym typeface="Arial"/>
                  <a:rtl val="0"/>
                </a:rPr>
                <a:t>(3:00 – 7:00)</a:t>
              </a:r>
            </a:p>
          </p:txBody>
        </p:sp>
        <p:sp>
          <p:nvSpPr>
            <p:cNvPr id="139" name="TextBox 138">
              <a:extLst>
                <a:ext uri="{FF2B5EF4-FFF2-40B4-BE49-F238E27FC236}">
                  <a16:creationId xmlns:a16="http://schemas.microsoft.com/office/drawing/2014/main" id="{AB623100-0226-F3B7-E32E-AF43AA8EAE3F}"/>
                </a:ext>
              </a:extLst>
            </p:cNvPr>
            <p:cNvSpPr txBox="1"/>
            <p:nvPr/>
          </p:nvSpPr>
          <p:spPr>
            <a:xfrm>
              <a:off x="5281211" y="4486276"/>
              <a:ext cx="580608" cy="215444"/>
            </a:xfrm>
            <a:prstGeom prst="rect">
              <a:avLst/>
            </a:prstGeom>
            <a:grpFill/>
          </p:spPr>
          <p:txBody>
            <a:bodyPr wrap="none" rtlCol="0">
              <a:spAutoFit/>
            </a:bodyPr>
            <a:lstStyle/>
            <a:p>
              <a:pPr algn="l"/>
              <a:r>
                <a:rPr lang="en-US" sz="800" spc="0" baseline="0">
                  <a:ln/>
                  <a:latin typeface="Arial"/>
                  <a:cs typeface="Arial"/>
                  <a:sym typeface="Arial"/>
                  <a:rtl val="0"/>
                </a:rPr>
                <a:t>• Train E</a:t>
              </a:r>
            </a:p>
          </p:txBody>
        </p:sp>
        <p:sp>
          <p:nvSpPr>
            <p:cNvPr id="140" name="TextBox 139">
              <a:extLst>
                <a:ext uri="{FF2B5EF4-FFF2-40B4-BE49-F238E27FC236}">
                  <a16:creationId xmlns:a16="http://schemas.microsoft.com/office/drawing/2014/main" id="{03515662-8F49-E018-BAF4-BEA33C71C450}"/>
                </a:ext>
              </a:extLst>
            </p:cNvPr>
            <p:cNvSpPr txBox="1"/>
            <p:nvPr/>
          </p:nvSpPr>
          <p:spPr>
            <a:xfrm>
              <a:off x="5688653" y="4486276"/>
              <a:ext cx="771365" cy="215444"/>
            </a:xfrm>
            <a:prstGeom prst="rect">
              <a:avLst/>
            </a:prstGeom>
            <a:grpFill/>
          </p:spPr>
          <p:txBody>
            <a:bodyPr wrap="none" rtlCol="0">
              <a:spAutoFit/>
            </a:bodyPr>
            <a:lstStyle/>
            <a:p>
              <a:pPr algn="l"/>
              <a:r>
                <a:rPr lang="en-US" sz="800" spc="0" baseline="0" dirty="0">
                  <a:ln/>
                  <a:latin typeface="Arial"/>
                  <a:cs typeface="Arial"/>
                  <a:sym typeface="Arial"/>
                  <a:rtl val="0"/>
                </a:rPr>
                <a:t>(4:30 – 9:30)</a:t>
              </a:r>
            </a:p>
          </p:txBody>
        </p:sp>
      </p:grpSp>
      <p:grpSp>
        <p:nvGrpSpPr>
          <p:cNvPr id="141" name="Graphic 1">
            <a:extLst>
              <a:ext uri="{FF2B5EF4-FFF2-40B4-BE49-F238E27FC236}">
                <a16:creationId xmlns:a16="http://schemas.microsoft.com/office/drawing/2014/main" id="{D9ACA61D-4BBB-0232-44CB-6ED9DA8839D6}"/>
              </a:ext>
            </a:extLst>
          </p:cNvPr>
          <p:cNvGrpSpPr/>
          <p:nvPr/>
        </p:nvGrpSpPr>
        <p:grpSpPr>
          <a:xfrm>
            <a:off x="6522542" y="1648267"/>
            <a:ext cx="2472962" cy="3162463"/>
            <a:chOff x="6702527" y="1639704"/>
            <a:chExt cx="2286866" cy="3162463"/>
          </a:xfrm>
          <a:noFill/>
        </p:grpSpPr>
        <p:sp>
          <p:nvSpPr>
            <p:cNvPr id="142" name="Rounded Rectangle 141">
              <a:extLst>
                <a:ext uri="{FF2B5EF4-FFF2-40B4-BE49-F238E27FC236}">
                  <a16:creationId xmlns:a16="http://schemas.microsoft.com/office/drawing/2014/main" id="{0945C805-96AD-7B11-76B4-4E7CEDC1E26D}"/>
                </a:ext>
              </a:extLst>
            </p:cNvPr>
            <p:cNvSpPr/>
            <p:nvPr/>
          </p:nvSpPr>
          <p:spPr>
            <a:xfrm>
              <a:off x="6730516" y="1642278"/>
              <a:ext cx="2258877" cy="3159889"/>
            </a:xfrm>
            <a:prstGeom prst="roundRect">
              <a:avLst>
                <a:gd name="adj" fmla="val 2808"/>
              </a:avLst>
            </a:prstGeom>
            <a:grpFill/>
            <a:ln w="6978" cap="flat">
              <a:solidFill>
                <a:srgbClr val="3F76C9"/>
              </a:solidFill>
              <a:prstDash val="solid"/>
              <a:miter/>
            </a:ln>
          </p:spPr>
          <p:txBody>
            <a:bodyPr/>
            <a:lstStyle/>
            <a:p>
              <a:endParaRPr lang="en-US" sz="1050"/>
            </a:p>
          </p:txBody>
        </p:sp>
        <p:sp>
          <p:nvSpPr>
            <p:cNvPr id="143" name="TextBox 142">
              <a:extLst>
                <a:ext uri="{FF2B5EF4-FFF2-40B4-BE49-F238E27FC236}">
                  <a16:creationId xmlns:a16="http://schemas.microsoft.com/office/drawing/2014/main" id="{10F98328-8D01-0E12-72D7-21E5CFE72DB5}"/>
                </a:ext>
              </a:extLst>
            </p:cNvPr>
            <p:cNvSpPr txBox="1"/>
            <p:nvPr/>
          </p:nvSpPr>
          <p:spPr>
            <a:xfrm>
              <a:off x="7540643" y="1639704"/>
              <a:ext cx="665567" cy="246221"/>
            </a:xfrm>
            <a:prstGeom prst="rect">
              <a:avLst/>
            </a:prstGeom>
            <a:grpFill/>
          </p:spPr>
          <p:txBody>
            <a:bodyPr wrap="none" rtlCol="0">
              <a:spAutoFit/>
            </a:bodyPr>
            <a:lstStyle/>
            <a:p>
              <a:pPr algn="l"/>
              <a:r>
                <a:rPr lang="en-US" sz="1000" b="1" spc="0" baseline="0">
                  <a:ln/>
                  <a:latin typeface="Arial"/>
                  <a:cs typeface="Arial"/>
                  <a:sym typeface="Arial"/>
                  <a:rtl val="0"/>
                </a:rPr>
                <a:t>Phase 2</a:t>
              </a:r>
            </a:p>
          </p:txBody>
        </p:sp>
        <p:sp>
          <p:nvSpPr>
            <p:cNvPr id="144" name="TextBox 143">
              <a:extLst>
                <a:ext uri="{FF2B5EF4-FFF2-40B4-BE49-F238E27FC236}">
                  <a16:creationId xmlns:a16="http://schemas.microsoft.com/office/drawing/2014/main" id="{8E947B92-9F3A-DAD6-1D2B-0EE4E418DBB6}"/>
                </a:ext>
              </a:extLst>
            </p:cNvPr>
            <p:cNvSpPr txBox="1"/>
            <p:nvPr/>
          </p:nvSpPr>
          <p:spPr>
            <a:xfrm>
              <a:off x="7131891" y="1809220"/>
              <a:ext cx="1479892" cy="215444"/>
            </a:xfrm>
            <a:prstGeom prst="rect">
              <a:avLst/>
            </a:prstGeom>
            <a:grpFill/>
          </p:spPr>
          <p:txBody>
            <a:bodyPr wrap="none" rtlCol="0">
              <a:spAutoFit/>
            </a:bodyPr>
            <a:lstStyle/>
            <a:p>
              <a:pPr algn="l"/>
              <a:r>
                <a:rPr lang="en-US" sz="800" b="1" spc="0" baseline="0">
                  <a:ln/>
                  <a:latin typeface="Arial"/>
                  <a:cs typeface="Arial"/>
                  <a:sym typeface="Arial"/>
                  <a:rtl val="0"/>
                </a:rPr>
                <a:t>Time window: 8:00 – 12:00</a:t>
              </a:r>
            </a:p>
          </p:txBody>
        </p:sp>
        <p:sp>
          <p:nvSpPr>
            <p:cNvPr id="145" name="Freeform 144">
              <a:extLst>
                <a:ext uri="{FF2B5EF4-FFF2-40B4-BE49-F238E27FC236}">
                  <a16:creationId xmlns:a16="http://schemas.microsoft.com/office/drawing/2014/main" id="{9E06A835-9418-0BD0-017E-17F14AB5234B}"/>
                </a:ext>
              </a:extLst>
            </p:cNvPr>
            <p:cNvSpPr/>
            <p:nvPr/>
          </p:nvSpPr>
          <p:spPr>
            <a:xfrm>
              <a:off x="6730516" y="2016642"/>
              <a:ext cx="2258877" cy="6345"/>
            </a:xfrm>
            <a:custGeom>
              <a:avLst/>
              <a:gdLst>
                <a:gd name="csX0" fmla="*/ 0 w 2258877"/>
                <a:gd name="csY0" fmla="*/ 0 h 6345"/>
                <a:gd name="csX1" fmla="*/ 2258877 w 2258877"/>
                <a:gd name="csY1" fmla="*/ 0 h 6345"/>
              </a:gdLst>
              <a:ahLst/>
              <a:cxnLst>
                <a:cxn ang="0">
                  <a:pos x="csX0" y="csY0"/>
                </a:cxn>
                <a:cxn ang="0">
                  <a:pos x="csX1" y="csY1"/>
                </a:cxn>
              </a:cxnLst>
              <a:rect l="l" t="t" r="r" b="b"/>
              <a:pathLst>
                <a:path w="2258877" h="6345">
                  <a:moveTo>
                    <a:pt x="0" y="0"/>
                  </a:moveTo>
                  <a:lnTo>
                    <a:pt x="2258877" y="0"/>
                  </a:lnTo>
                </a:path>
              </a:pathLst>
            </a:custGeom>
            <a:grpFill/>
            <a:ln w="6344" cap="flat">
              <a:solidFill>
                <a:srgbClr val="3F76C9"/>
              </a:solidFill>
              <a:prstDash val="solid"/>
              <a:miter/>
            </a:ln>
          </p:spPr>
          <p:txBody>
            <a:bodyPr/>
            <a:lstStyle/>
            <a:p>
              <a:endParaRPr lang="en-US" sz="1050"/>
            </a:p>
          </p:txBody>
        </p:sp>
        <p:sp>
          <p:nvSpPr>
            <p:cNvPr id="146" name="TextBox 145">
              <a:extLst>
                <a:ext uri="{FF2B5EF4-FFF2-40B4-BE49-F238E27FC236}">
                  <a16:creationId xmlns:a16="http://schemas.microsoft.com/office/drawing/2014/main" id="{5515BF59-5A5C-ED4B-4F64-296725DCA4F8}"/>
                </a:ext>
              </a:extLst>
            </p:cNvPr>
            <p:cNvSpPr txBox="1"/>
            <p:nvPr/>
          </p:nvSpPr>
          <p:spPr>
            <a:xfrm>
              <a:off x="6990275" y="2004117"/>
              <a:ext cx="308098" cy="169277"/>
            </a:xfrm>
            <a:prstGeom prst="rect">
              <a:avLst/>
            </a:prstGeom>
            <a:grpFill/>
          </p:spPr>
          <p:txBody>
            <a:bodyPr wrap="none" rtlCol="0">
              <a:spAutoFit/>
            </a:bodyPr>
            <a:lstStyle/>
            <a:p>
              <a:pPr algn="l"/>
              <a:r>
                <a:rPr lang="en-US" sz="500" spc="0" baseline="0">
                  <a:ln/>
                  <a:latin typeface="Arial"/>
                  <a:cs typeface="Arial"/>
                  <a:sym typeface="Arial"/>
                  <a:rtl val="0"/>
                </a:rPr>
                <a:t>8:00</a:t>
              </a:r>
            </a:p>
          </p:txBody>
        </p:sp>
        <p:sp>
          <p:nvSpPr>
            <p:cNvPr id="147" name="TextBox 146">
              <a:extLst>
                <a:ext uri="{FF2B5EF4-FFF2-40B4-BE49-F238E27FC236}">
                  <a16:creationId xmlns:a16="http://schemas.microsoft.com/office/drawing/2014/main" id="{AF6D3146-0713-2ECC-45F5-B4B582CD31DB}"/>
                </a:ext>
              </a:extLst>
            </p:cNvPr>
            <p:cNvSpPr txBox="1"/>
            <p:nvPr/>
          </p:nvSpPr>
          <p:spPr>
            <a:xfrm>
              <a:off x="7766827" y="2004117"/>
              <a:ext cx="343364" cy="169277"/>
            </a:xfrm>
            <a:prstGeom prst="rect">
              <a:avLst/>
            </a:prstGeom>
            <a:grpFill/>
          </p:spPr>
          <p:txBody>
            <a:bodyPr wrap="none" rtlCol="0">
              <a:spAutoFit/>
            </a:bodyPr>
            <a:lstStyle/>
            <a:p>
              <a:pPr algn="l"/>
              <a:r>
                <a:rPr lang="en-US" sz="500" spc="0" baseline="0">
                  <a:ln/>
                  <a:latin typeface="Arial"/>
                  <a:cs typeface="Arial"/>
                  <a:sym typeface="Arial"/>
                  <a:rtl val="0"/>
                </a:rPr>
                <a:t>10:00</a:t>
              </a:r>
            </a:p>
          </p:txBody>
        </p:sp>
        <p:sp>
          <p:nvSpPr>
            <p:cNvPr id="148" name="TextBox 147">
              <a:extLst>
                <a:ext uri="{FF2B5EF4-FFF2-40B4-BE49-F238E27FC236}">
                  <a16:creationId xmlns:a16="http://schemas.microsoft.com/office/drawing/2014/main" id="{D73C9A1E-25AD-2087-0B3C-A28E3FAB225F}"/>
                </a:ext>
              </a:extLst>
            </p:cNvPr>
            <p:cNvSpPr txBox="1"/>
            <p:nvPr/>
          </p:nvSpPr>
          <p:spPr>
            <a:xfrm>
              <a:off x="8547282" y="2004117"/>
              <a:ext cx="343364" cy="169277"/>
            </a:xfrm>
            <a:prstGeom prst="rect">
              <a:avLst/>
            </a:prstGeom>
            <a:grpFill/>
          </p:spPr>
          <p:txBody>
            <a:bodyPr wrap="none" rtlCol="0">
              <a:spAutoFit/>
            </a:bodyPr>
            <a:lstStyle/>
            <a:p>
              <a:pPr algn="l"/>
              <a:r>
                <a:rPr lang="en-US" sz="500" spc="0" baseline="0">
                  <a:ln/>
                  <a:latin typeface="Arial"/>
                  <a:cs typeface="Arial"/>
                  <a:sym typeface="Arial"/>
                  <a:rtl val="0"/>
                </a:rPr>
                <a:t>12:00</a:t>
              </a:r>
            </a:p>
          </p:txBody>
        </p:sp>
        <p:sp>
          <p:nvSpPr>
            <p:cNvPr id="149" name="Freeform 148">
              <a:extLst>
                <a:ext uri="{FF2B5EF4-FFF2-40B4-BE49-F238E27FC236}">
                  <a16:creationId xmlns:a16="http://schemas.microsoft.com/office/drawing/2014/main" id="{A9CF2654-6D3D-8159-9D43-0483DFAAC55B}"/>
                </a:ext>
              </a:extLst>
            </p:cNvPr>
            <p:cNvSpPr/>
            <p:nvPr/>
          </p:nvSpPr>
          <p:spPr>
            <a:xfrm>
              <a:off x="7161986" y="2200652"/>
              <a:ext cx="1579944" cy="6345"/>
            </a:xfrm>
            <a:custGeom>
              <a:avLst/>
              <a:gdLst>
                <a:gd name="csX0" fmla="*/ 0 w 1579944"/>
                <a:gd name="csY0" fmla="*/ 0 h 6345"/>
                <a:gd name="csX1" fmla="*/ 1579945 w 1579944"/>
                <a:gd name="csY1" fmla="*/ 0 h 6345"/>
              </a:gdLst>
              <a:ahLst/>
              <a:cxnLst>
                <a:cxn ang="0">
                  <a:pos x="csX0" y="csY0"/>
                </a:cxn>
                <a:cxn ang="0">
                  <a:pos x="csX1" y="csY1"/>
                </a:cxn>
              </a:cxnLst>
              <a:rect l="l" t="t" r="r" b="b"/>
              <a:pathLst>
                <a:path w="1579944" h="6345">
                  <a:moveTo>
                    <a:pt x="0" y="0"/>
                  </a:moveTo>
                  <a:lnTo>
                    <a:pt x="1579945" y="0"/>
                  </a:lnTo>
                </a:path>
              </a:pathLst>
            </a:custGeom>
            <a:grpFill/>
            <a:ln w="8247" cap="flat">
              <a:solidFill>
                <a:srgbClr val="222222"/>
              </a:solidFill>
              <a:prstDash val="solid"/>
              <a:miter/>
            </a:ln>
          </p:spPr>
          <p:txBody>
            <a:bodyPr/>
            <a:lstStyle/>
            <a:p>
              <a:endParaRPr lang="en-US" sz="1050"/>
            </a:p>
          </p:txBody>
        </p:sp>
        <p:sp>
          <p:nvSpPr>
            <p:cNvPr id="150" name="Freeform 149">
              <a:extLst>
                <a:ext uri="{FF2B5EF4-FFF2-40B4-BE49-F238E27FC236}">
                  <a16:creationId xmlns:a16="http://schemas.microsoft.com/office/drawing/2014/main" id="{BB9B20A5-CF6E-F5F6-FC37-F2EB3441EB36}"/>
                </a:ext>
              </a:extLst>
            </p:cNvPr>
            <p:cNvSpPr/>
            <p:nvPr/>
          </p:nvSpPr>
          <p:spPr>
            <a:xfrm>
              <a:off x="7161986" y="2194307"/>
              <a:ext cx="1579944" cy="1211925"/>
            </a:xfrm>
            <a:custGeom>
              <a:avLst/>
              <a:gdLst>
                <a:gd name="csX0" fmla="*/ 0 w 1579944"/>
                <a:gd name="csY0" fmla="*/ 0 h 1211925"/>
                <a:gd name="csX1" fmla="*/ 0 w 1579944"/>
                <a:gd name="csY1" fmla="*/ 1211926 h 1211925"/>
                <a:gd name="csX2" fmla="*/ 1579945 w 1579944"/>
                <a:gd name="csY2" fmla="*/ 0 h 1211925"/>
                <a:gd name="csX3" fmla="*/ 1579945 w 1579944"/>
                <a:gd name="csY3" fmla="*/ 1211926 h 1211925"/>
              </a:gdLst>
              <a:ahLst/>
              <a:cxnLst>
                <a:cxn ang="0">
                  <a:pos x="csX0" y="csY0"/>
                </a:cxn>
                <a:cxn ang="0">
                  <a:pos x="csX1" y="csY1"/>
                </a:cxn>
                <a:cxn ang="0">
                  <a:pos x="csX2" y="csY2"/>
                </a:cxn>
                <a:cxn ang="0">
                  <a:pos x="csX3" y="csY3"/>
                </a:cxn>
              </a:cxnLst>
              <a:rect l="l" t="t" r="r" b="b"/>
              <a:pathLst>
                <a:path w="1579944" h="1211925">
                  <a:moveTo>
                    <a:pt x="0" y="0"/>
                  </a:moveTo>
                  <a:lnTo>
                    <a:pt x="0" y="1211926"/>
                  </a:lnTo>
                  <a:moveTo>
                    <a:pt x="1579945" y="0"/>
                  </a:moveTo>
                  <a:lnTo>
                    <a:pt x="1579945" y="1211926"/>
                  </a:lnTo>
                </a:path>
              </a:pathLst>
            </a:custGeom>
            <a:grpFill/>
            <a:ln w="6344" cap="flat">
              <a:solidFill>
                <a:srgbClr val="9A9A9A"/>
              </a:solidFill>
              <a:custDash>
                <a:ds d="525000" sp="300000"/>
              </a:custDash>
              <a:miter/>
            </a:ln>
          </p:spPr>
          <p:txBody>
            <a:bodyPr/>
            <a:lstStyle/>
            <a:p>
              <a:endParaRPr lang="en-US" sz="1050"/>
            </a:p>
          </p:txBody>
        </p:sp>
        <p:sp>
          <p:nvSpPr>
            <p:cNvPr id="151" name="Freeform 150">
              <a:extLst>
                <a:ext uri="{FF2B5EF4-FFF2-40B4-BE49-F238E27FC236}">
                  <a16:creationId xmlns:a16="http://schemas.microsoft.com/office/drawing/2014/main" id="{A890FBB9-E419-7049-3F61-3E1B216E31AA}"/>
                </a:ext>
              </a:extLst>
            </p:cNvPr>
            <p:cNvSpPr/>
            <p:nvPr/>
          </p:nvSpPr>
          <p:spPr>
            <a:xfrm>
              <a:off x="7161986" y="2168926"/>
              <a:ext cx="1579944" cy="63451"/>
            </a:xfrm>
            <a:custGeom>
              <a:avLst/>
              <a:gdLst>
                <a:gd name="csX0" fmla="*/ 0 w 1579944"/>
                <a:gd name="csY0" fmla="*/ 0 h 63451"/>
                <a:gd name="csX1" fmla="*/ 0 w 1579944"/>
                <a:gd name="csY1" fmla="*/ 63452 h 63451"/>
                <a:gd name="csX2" fmla="*/ 799490 w 1579944"/>
                <a:gd name="csY2" fmla="*/ 0 h 63451"/>
                <a:gd name="csX3" fmla="*/ 799490 w 1579944"/>
                <a:gd name="csY3" fmla="*/ 63452 h 63451"/>
                <a:gd name="csX4" fmla="*/ 1579945 w 1579944"/>
                <a:gd name="csY4" fmla="*/ 0 h 63451"/>
                <a:gd name="csX5" fmla="*/ 1579945 w 1579944"/>
                <a:gd name="csY5" fmla="*/ 63452 h 63451"/>
              </a:gdLst>
              <a:ahLst/>
              <a:cxnLst>
                <a:cxn ang="0">
                  <a:pos x="csX0" y="csY0"/>
                </a:cxn>
                <a:cxn ang="0">
                  <a:pos x="csX1" y="csY1"/>
                </a:cxn>
                <a:cxn ang="0">
                  <a:pos x="csX2" y="csY2"/>
                </a:cxn>
                <a:cxn ang="0">
                  <a:pos x="csX3" y="csY3"/>
                </a:cxn>
                <a:cxn ang="0">
                  <a:pos x="csX4" y="csY4"/>
                </a:cxn>
                <a:cxn ang="0">
                  <a:pos x="csX5" y="csY5"/>
                </a:cxn>
              </a:cxnLst>
              <a:rect l="l" t="t" r="r" b="b"/>
              <a:pathLst>
                <a:path w="1579944" h="63451">
                  <a:moveTo>
                    <a:pt x="0" y="0"/>
                  </a:moveTo>
                  <a:lnTo>
                    <a:pt x="0" y="63452"/>
                  </a:lnTo>
                  <a:moveTo>
                    <a:pt x="799490" y="0"/>
                  </a:moveTo>
                  <a:lnTo>
                    <a:pt x="799490" y="63452"/>
                  </a:lnTo>
                  <a:moveTo>
                    <a:pt x="1579945" y="0"/>
                  </a:moveTo>
                  <a:lnTo>
                    <a:pt x="1579945" y="63452"/>
                  </a:lnTo>
                </a:path>
              </a:pathLst>
            </a:custGeom>
            <a:grpFill/>
            <a:ln w="6344" cap="flat">
              <a:solidFill>
                <a:srgbClr val="222222"/>
              </a:solidFill>
              <a:prstDash val="solid"/>
              <a:miter/>
            </a:ln>
          </p:spPr>
          <p:txBody>
            <a:bodyPr/>
            <a:lstStyle/>
            <a:p>
              <a:endParaRPr lang="en-US" sz="1050"/>
            </a:p>
          </p:txBody>
        </p:sp>
        <p:sp>
          <p:nvSpPr>
            <p:cNvPr id="152" name="TextBox 151">
              <a:extLst>
                <a:ext uri="{FF2B5EF4-FFF2-40B4-BE49-F238E27FC236}">
                  <a16:creationId xmlns:a16="http://schemas.microsoft.com/office/drawing/2014/main" id="{242321C1-5D37-DBAE-6733-5F5A9C5FD8A2}"/>
                </a:ext>
              </a:extLst>
            </p:cNvPr>
            <p:cNvSpPr txBox="1"/>
            <p:nvPr/>
          </p:nvSpPr>
          <p:spPr>
            <a:xfrm>
              <a:off x="6702527" y="2259726"/>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A</a:t>
              </a:r>
            </a:p>
          </p:txBody>
        </p:sp>
        <p:sp>
          <p:nvSpPr>
            <p:cNvPr id="153" name="TextBox 152">
              <a:extLst>
                <a:ext uri="{FF2B5EF4-FFF2-40B4-BE49-F238E27FC236}">
                  <a16:creationId xmlns:a16="http://schemas.microsoft.com/office/drawing/2014/main" id="{D3CE0178-D8EA-4B09-50E6-C7B8B65A1A3D}"/>
                </a:ext>
              </a:extLst>
            </p:cNvPr>
            <p:cNvSpPr txBox="1"/>
            <p:nvPr/>
          </p:nvSpPr>
          <p:spPr>
            <a:xfrm>
              <a:off x="6702527" y="2488152"/>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B</a:t>
              </a:r>
            </a:p>
          </p:txBody>
        </p:sp>
        <p:sp>
          <p:nvSpPr>
            <p:cNvPr id="154" name="TextBox 153">
              <a:extLst>
                <a:ext uri="{FF2B5EF4-FFF2-40B4-BE49-F238E27FC236}">
                  <a16:creationId xmlns:a16="http://schemas.microsoft.com/office/drawing/2014/main" id="{3B49446F-A682-E014-2597-2F4176E94F4E}"/>
                </a:ext>
              </a:extLst>
            </p:cNvPr>
            <p:cNvSpPr txBox="1"/>
            <p:nvPr/>
          </p:nvSpPr>
          <p:spPr>
            <a:xfrm>
              <a:off x="6702527" y="2716578"/>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C</a:t>
              </a:r>
            </a:p>
          </p:txBody>
        </p:sp>
        <p:sp>
          <p:nvSpPr>
            <p:cNvPr id="155" name="TextBox 154">
              <a:extLst>
                <a:ext uri="{FF2B5EF4-FFF2-40B4-BE49-F238E27FC236}">
                  <a16:creationId xmlns:a16="http://schemas.microsoft.com/office/drawing/2014/main" id="{C39176A5-2B17-F5D5-64C3-B22F09EDE28E}"/>
                </a:ext>
              </a:extLst>
            </p:cNvPr>
            <p:cNvSpPr txBox="1"/>
            <p:nvPr/>
          </p:nvSpPr>
          <p:spPr>
            <a:xfrm>
              <a:off x="6702527" y="2945004"/>
              <a:ext cx="538930" cy="215444"/>
            </a:xfrm>
            <a:prstGeom prst="rect">
              <a:avLst/>
            </a:prstGeom>
            <a:grpFill/>
          </p:spPr>
          <p:txBody>
            <a:bodyPr wrap="none" rtlCol="0">
              <a:spAutoFit/>
            </a:bodyPr>
            <a:lstStyle/>
            <a:p>
              <a:pPr algn="l"/>
              <a:r>
                <a:rPr lang="en-US" sz="800" b="1" spc="0" baseline="0">
                  <a:ln/>
                  <a:latin typeface="Arial"/>
                  <a:cs typeface="Arial"/>
                  <a:sym typeface="Arial"/>
                  <a:rtl val="0"/>
                </a:rPr>
                <a:t>Train D</a:t>
              </a:r>
            </a:p>
          </p:txBody>
        </p:sp>
        <p:sp>
          <p:nvSpPr>
            <p:cNvPr id="156" name="TextBox 155">
              <a:extLst>
                <a:ext uri="{FF2B5EF4-FFF2-40B4-BE49-F238E27FC236}">
                  <a16:creationId xmlns:a16="http://schemas.microsoft.com/office/drawing/2014/main" id="{EC6D6F27-E16F-1884-DC93-54DEC24D4388}"/>
                </a:ext>
              </a:extLst>
            </p:cNvPr>
            <p:cNvSpPr txBox="1"/>
            <p:nvPr/>
          </p:nvSpPr>
          <p:spPr>
            <a:xfrm>
              <a:off x="6702527" y="3192465"/>
              <a:ext cx="534121" cy="215444"/>
            </a:xfrm>
            <a:prstGeom prst="rect">
              <a:avLst/>
            </a:prstGeom>
            <a:grpFill/>
          </p:spPr>
          <p:txBody>
            <a:bodyPr wrap="none" rtlCol="0">
              <a:spAutoFit/>
            </a:bodyPr>
            <a:lstStyle/>
            <a:p>
              <a:pPr algn="l"/>
              <a:r>
                <a:rPr lang="en-US" sz="800" b="1" spc="0" baseline="0">
                  <a:ln/>
                  <a:latin typeface="Arial"/>
                  <a:cs typeface="Arial"/>
                  <a:sym typeface="Arial"/>
                  <a:rtl val="0"/>
                </a:rPr>
                <a:t>Train E</a:t>
              </a:r>
            </a:p>
          </p:txBody>
        </p:sp>
        <p:sp>
          <p:nvSpPr>
            <p:cNvPr id="157" name="Freeform 156">
              <a:extLst>
                <a:ext uri="{FF2B5EF4-FFF2-40B4-BE49-F238E27FC236}">
                  <a16:creationId xmlns:a16="http://schemas.microsoft.com/office/drawing/2014/main" id="{B4B88979-DCD9-A4D5-CCCD-6022F2710C36}"/>
                </a:ext>
              </a:extLst>
            </p:cNvPr>
            <p:cNvSpPr/>
            <p:nvPr/>
          </p:nvSpPr>
          <p:spPr>
            <a:xfrm>
              <a:off x="7187367" y="2371971"/>
              <a:ext cx="774109" cy="6345"/>
            </a:xfrm>
            <a:custGeom>
              <a:avLst/>
              <a:gdLst>
                <a:gd name="csX0" fmla="*/ 0 w 774109"/>
                <a:gd name="csY0" fmla="*/ 0 h 6345"/>
                <a:gd name="csX1" fmla="*/ 774110 w 774109"/>
                <a:gd name="csY1" fmla="*/ 0 h 6345"/>
              </a:gdLst>
              <a:ahLst/>
              <a:cxnLst>
                <a:cxn ang="0">
                  <a:pos x="csX0" y="csY0"/>
                </a:cxn>
                <a:cxn ang="0">
                  <a:pos x="csX1" y="csY1"/>
                </a:cxn>
              </a:cxnLst>
              <a:rect l="l" t="t" r="r" b="b"/>
              <a:pathLst>
                <a:path w="774109" h="6345">
                  <a:moveTo>
                    <a:pt x="0" y="0"/>
                  </a:moveTo>
                  <a:lnTo>
                    <a:pt x="774110" y="0"/>
                  </a:lnTo>
                </a:path>
              </a:pathLst>
            </a:custGeom>
            <a:grpFill/>
            <a:ln w="12688" cap="flat">
              <a:solidFill>
                <a:srgbClr val="B7B7B7"/>
              </a:solidFill>
              <a:custDash>
                <a:ds d="450000" sp="300000"/>
              </a:custDash>
              <a:miter/>
            </a:ln>
          </p:spPr>
          <p:txBody>
            <a:bodyPr/>
            <a:lstStyle/>
            <a:p>
              <a:endParaRPr lang="en-US" sz="1050"/>
            </a:p>
          </p:txBody>
        </p:sp>
        <p:sp>
          <p:nvSpPr>
            <p:cNvPr id="158" name="Oval 157">
              <a:extLst>
                <a:ext uri="{FF2B5EF4-FFF2-40B4-BE49-F238E27FC236}">
                  <a16:creationId xmlns:a16="http://schemas.microsoft.com/office/drawing/2014/main" id="{92B54347-123E-3D7A-5411-1FB559D397C1}"/>
                </a:ext>
              </a:extLst>
            </p:cNvPr>
            <p:cNvSpPr/>
            <p:nvPr/>
          </p:nvSpPr>
          <p:spPr>
            <a:xfrm>
              <a:off x="7155641" y="2340245"/>
              <a:ext cx="63451" cy="63451"/>
            </a:xfrm>
            <a:prstGeom prst="ellipse">
              <a:avLst/>
            </a:prstGeom>
            <a:grpFill/>
            <a:ln w="6344" cap="flat">
              <a:solidFill>
                <a:srgbClr val="B7B7B7"/>
              </a:solidFill>
              <a:prstDash val="solid"/>
              <a:miter/>
            </a:ln>
          </p:spPr>
          <p:txBody>
            <a:bodyPr/>
            <a:lstStyle/>
            <a:p>
              <a:endParaRPr lang="en-US" sz="1050"/>
            </a:p>
          </p:txBody>
        </p:sp>
        <p:sp>
          <p:nvSpPr>
            <p:cNvPr id="159" name="Freeform 158">
              <a:extLst>
                <a:ext uri="{FF2B5EF4-FFF2-40B4-BE49-F238E27FC236}">
                  <a16:creationId xmlns:a16="http://schemas.microsoft.com/office/drawing/2014/main" id="{8EDB6F12-5733-929C-E928-2E3074E6B349}"/>
                </a:ext>
              </a:extLst>
            </p:cNvPr>
            <p:cNvSpPr/>
            <p:nvPr/>
          </p:nvSpPr>
          <p:spPr>
            <a:xfrm>
              <a:off x="7187367" y="2600397"/>
              <a:ext cx="774109" cy="6345"/>
            </a:xfrm>
            <a:custGeom>
              <a:avLst/>
              <a:gdLst>
                <a:gd name="csX0" fmla="*/ 0 w 774109"/>
                <a:gd name="csY0" fmla="*/ 0 h 6345"/>
                <a:gd name="csX1" fmla="*/ 774110 w 774109"/>
                <a:gd name="csY1" fmla="*/ 0 h 6345"/>
              </a:gdLst>
              <a:ahLst/>
              <a:cxnLst>
                <a:cxn ang="0">
                  <a:pos x="csX0" y="csY0"/>
                </a:cxn>
                <a:cxn ang="0">
                  <a:pos x="csX1" y="csY1"/>
                </a:cxn>
              </a:cxnLst>
              <a:rect l="l" t="t" r="r" b="b"/>
              <a:pathLst>
                <a:path w="774109" h="6345">
                  <a:moveTo>
                    <a:pt x="0" y="0"/>
                  </a:moveTo>
                  <a:lnTo>
                    <a:pt x="774110" y="0"/>
                  </a:lnTo>
                </a:path>
              </a:pathLst>
            </a:custGeom>
            <a:grpFill/>
            <a:ln w="12688" cap="flat">
              <a:solidFill>
                <a:srgbClr val="B7B7B7"/>
              </a:solidFill>
              <a:custDash>
                <a:ds d="450000" sp="300000"/>
              </a:custDash>
              <a:miter/>
            </a:ln>
          </p:spPr>
          <p:txBody>
            <a:bodyPr/>
            <a:lstStyle/>
            <a:p>
              <a:endParaRPr lang="en-US" sz="1050"/>
            </a:p>
          </p:txBody>
        </p:sp>
        <p:sp>
          <p:nvSpPr>
            <p:cNvPr id="160" name="Oval 159">
              <a:extLst>
                <a:ext uri="{FF2B5EF4-FFF2-40B4-BE49-F238E27FC236}">
                  <a16:creationId xmlns:a16="http://schemas.microsoft.com/office/drawing/2014/main" id="{4E1E69E9-0BA5-32AD-0A14-0AF58BBE446E}"/>
                </a:ext>
              </a:extLst>
            </p:cNvPr>
            <p:cNvSpPr/>
            <p:nvPr/>
          </p:nvSpPr>
          <p:spPr>
            <a:xfrm>
              <a:off x="7155641" y="2568671"/>
              <a:ext cx="63451" cy="63451"/>
            </a:xfrm>
            <a:prstGeom prst="ellipse">
              <a:avLst/>
            </a:prstGeom>
            <a:grpFill/>
            <a:ln w="6344" cap="flat">
              <a:solidFill>
                <a:srgbClr val="B7B7B7"/>
              </a:solidFill>
              <a:prstDash val="solid"/>
              <a:miter/>
            </a:ln>
          </p:spPr>
          <p:txBody>
            <a:bodyPr/>
            <a:lstStyle/>
            <a:p>
              <a:endParaRPr lang="en-US" sz="1050"/>
            </a:p>
          </p:txBody>
        </p:sp>
        <p:sp>
          <p:nvSpPr>
            <p:cNvPr id="161" name="Freeform 160">
              <a:extLst>
                <a:ext uri="{FF2B5EF4-FFF2-40B4-BE49-F238E27FC236}">
                  <a16:creationId xmlns:a16="http://schemas.microsoft.com/office/drawing/2014/main" id="{98A0E7C9-C4C6-AFC0-59FD-F83BC8C7C8AA}"/>
                </a:ext>
              </a:extLst>
            </p:cNvPr>
            <p:cNvSpPr/>
            <p:nvPr/>
          </p:nvSpPr>
          <p:spPr>
            <a:xfrm>
              <a:off x="7187367" y="2828823"/>
              <a:ext cx="1237306" cy="6345"/>
            </a:xfrm>
            <a:custGeom>
              <a:avLst/>
              <a:gdLst>
                <a:gd name="csX0" fmla="*/ 0 w 1237306"/>
                <a:gd name="csY0" fmla="*/ 0 h 6345"/>
                <a:gd name="csX1" fmla="*/ 1237306 w 1237306"/>
                <a:gd name="csY1" fmla="*/ 0 h 6345"/>
              </a:gdLst>
              <a:ahLst/>
              <a:cxnLst>
                <a:cxn ang="0">
                  <a:pos x="csX0" y="csY0"/>
                </a:cxn>
                <a:cxn ang="0">
                  <a:pos x="csX1" y="csY1"/>
                </a:cxn>
              </a:cxnLst>
              <a:rect l="l" t="t" r="r" b="b"/>
              <a:pathLst>
                <a:path w="1237306" h="6345">
                  <a:moveTo>
                    <a:pt x="0" y="0"/>
                  </a:moveTo>
                  <a:lnTo>
                    <a:pt x="1237306" y="0"/>
                  </a:lnTo>
                </a:path>
              </a:pathLst>
            </a:custGeom>
            <a:grpFill/>
            <a:ln w="19031" cap="flat">
              <a:solidFill>
                <a:srgbClr val="31803A"/>
              </a:solidFill>
              <a:prstDash val="solid"/>
              <a:miter/>
            </a:ln>
          </p:spPr>
          <p:txBody>
            <a:bodyPr/>
            <a:lstStyle/>
            <a:p>
              <a:endParaRPr lang="en-US" sz="1050"/>
            </a:p>
          </p:txBody>
        </p:sp>
        <p:sp>
          <p:nvSpPr>
            <p:cNvPr id="162" name="Oval 161">
              <a:extLst>
                <a:ext uri="{FF2B5EF4-FFF2-40B4-BE49-F238E27FC236}">
                  <a16:creationId xmlns:a16="http://schemas.microsoft.com/office/drawing/2014/main" id="{C6AE7D90-0DA3-29B5-B740-8C7418F20B16}"/>
                </a:ext>
              </a:extLst>
            </p:cNvPr>
            <p:cNvSpPr/>
            <p:nvPr/>
          </p:nvSpPr>
          <p:spPr>
            <a:xfrm>
              <a:off x="7155641" y="2797097"/>
              <a:ext cx="63451" cy="63451"/>
            </a:xfrm>
            <a:prstGeom prst="ellipse">
              <a:avLst/>
            </a:prstGeom>
            <a:grpFill/>
            <a:ln w="6344" cap="flat">
              <a:noFill/>
              <a:prstDash val="solid"/>
              <a:miter/>
            </a:ln>
          </p:spPr>
          <p:txBody>
            <a:bodyPr/>
            <a:lstStyle/>
            <a:p>
              <a:endParaRPr lang="en-US" sz="1050"/>
            </a:p>
          </p:txBody>
        </p:sp>
        <p:sp>
          <p:nvSpPr>
            <p:cNvPr id="163" name="Oval 162">
              <a:extLst>
                <a:ext uri="{FF2B5EF4-FFF2-40B4-BE49-F238E27FC236}">
                  <a16:creationId xmlns:a16="http://schemas.microsoft.com/office/drawing/2014/main" id="{69579E39-EB56-25D0-63FD-A9F40C815FD4}"/>
                </a:ext>
              </a:extLst>
            </p:cNvPr>
            <p:cNvSpPr/>
            <p:nvPr/>
          </p:nvSpPr>
          <p:spPr>
            <a:xfrm>
              <a:off x="8392947" y="2797097"/>
              <a:ext cx="63451" cy="63451"/>
            </a:xfrm>
            <a:prstGeom prst="ellipse">
              <a:avLst/>
            </a:prstGeom>
            <a:grpFill/>
            <a:ln w="6344" cap="flat">
              <a:noFill/>
              <a:prstDash val="solid"/>
              <a:miter/>
            </a:ln>
          </p:spPr>
          <p:txBody>
            <a:bodyPr/>
            <a:lstStyle/>
            <a:p>
              <a:endParaRPr lang="en-US" sz="1050"/>
            </a:p>
          </p:txBody>
        </p:sp>
        <p:sp>
          <p:nvSpPr>
            <p:cNvPr id="164" name="TextBox 163">
              <a:extLst>
                <a:ext uri="{FF2B5EF4-FFF2-40B4-BE49-F238E27FC236}">
                  <a16:creationId xmlns:a16="http://schemas.microsoft.com/office/drawing/2014/main" id="{2004D28D-5811-C374-0539-2F1A51829927}"/>
                </a:ext>
              </a:extLst>
            </p:cNvPr>
            <p:cNvSpPr txBox="1"/>
            <p:nvPr/>
          </p:nvSpPr>
          <p:spPr>
            <a:xfrm>
              <a:off x="8358614" y="2733810"/>
              <a:ext cx="343364" cy="169277"/>
            </a:xfrm>
            <a:prstGeom prst="rect">
              <a:avLst/>
            </a:prstGeom>
            <a:grpFill/>
          </p:spPr>
          <p:txBody>
            <a:bodyPr wrap="none" rtlCol="0">
              <a:spAutoFit/>
            </a:bodyPr>
            <a:lstStyle/>
            <a:p>
              <a:pPr algn="l"/>
              <a:r>
                <a:rPr lang="en-US" sz="500" spc="0" baseline="0">
                  <a:ln/>
                  <a:latin typeface="Arial"/>
                  <a:cs typeface="Arial"/>
                  <a:sym typeface="Arial"/>
                  <a:rtl val="0"/>
                </a:rPr>
                <a:t>11:00</a:t>
              </a:r>
            </a:p>
          </p:txBody>
        </p:sp>
        <p:sp>
          <p:nvSpPr>
            <p:cNvPr id="165" name="Freeform 164">
              <a:extLst>
                <a:ext uri="{FF2B5EF4-FFF2-40B4-BE49-F238E27FC236}">
                  <a16:creationId xmlns:a16="http://schemas.microsoft.com/office/drawing/2014/main" id="{4275AB20-1ED3-AFE4-6BF5-F439CF4B8DF1}"/>
                </a:ext>
              </a:extLst>
            </p:cNvPr>
            <p:cNvSpPr/>
            <p:nvPr/>
          </p:nvSpPr>
          <p:spPr>
            <a:xfrm>
              <a:off x="7187367" y="3057249"/>
              <a:ext cx="774109" cy="6345"/>
            </a:xfrm>
            <a:custGeom>
              <a:avLst/>
              <a:gdLst>
                <a:gd name="csX0" fmla="*/ 0 w 774109"/>
                <a:gd name="csY0" fmla="*/ 0 h 6345"/>
                <a:gd name="csX1" fmla="*/ 774110 w 774109"/>
                <a:gd name="csY1" fmla="*/ 0 h 6345"/>
              </a:gdLst>
              <a:ahLst/>
              <a:cxnLst>
                <a:cxn ang="0">
                  <a:pos x="csX0" y="csY0"/>
                </a:cxn>
                <a:cxn ang="0">
                  <a:pos x="csX1" y="csY1"/>
                </a:cxn>
              </a:cxnLst>
              <a:rect l="l" t="t" r="r" b="b"/>
              <a:pathLst>
                <a:path w="774109" h="6345">
                  <a:moveTo>
                    <a:pt x="0" y="0"/>
                  </a:moveTo>
                  <a:lnTo>
                    <a:pt x="774110" y="0"/>
                  </a:lnTo>
                </a:path>
              </a:pathLst>
            </a:custGeom>
            <a:grpFill/>
            <a:ln w="12688" cap="flat">
              <a:solidFill>
                <a:srgbClr val="B7B7B7"/>
              </a:solidFill>
              <a:custDash>
                <a:ds d="450000" sp="300000"/>
              </a:custDash>
              <a:miter/>
            </a:ln>
          </p:spPr>
          <p:txBody>
            <a:bodyPr/>
            <a:lstStyle/>
            <a:p>
              <a:endParaRPr lang="en-US" sz="1050"/>
            </a:p>
          </p:txBody>
        </p:sp>
        <p:sp>
          <p:nvSpPr>
            <p:cNvPr id="166" name="Oval 165">
              <a:extLst>
                <a:ext uri="{FF2B5EF4-FFF2-40B4-BE49-F238E27FC236}">
                  <a16:creationId xmlns:a16="http://schemas.microsoft.com/office/drawing/2014/main" id="{274F4621-B691-48E6-6F19-6D77E8352E23}"/>
                </a:ext>
              </a:extLst>
            </p:cNvPr>
            <p:cNvSpPr/>
            <p:nvPr/>
          </p:nvSpPr>
          <p:spPr>
            <a:xfrm>
              <a:off x="7155641" y="3025523"/>
              <a:ext cx="63451" cy="63451"/>
            </a:xfrm>
            <a:prstGeom prst="ellipse">
              <a:avLst/>
            </a:prstGeom>
            <a:grpFill/>
            <a:ln w="6344" cap="flat">
              <a:solidFill>
                <a:srgbClr val="B7B7B7"/>
              </a:solidFill>
              <a:prstDash val="solid"/>
              <a:miter/>
            </a:ln>
          </p:spPr>
          <p:txBody>
            <a:bodyPr/>
            <a:lstStyle/>
            <a:p>
              <a:endParaRPr lang="en-US" sz="1050"/>
            </a:p>
          </p:txBody>
        </p:sp>
        <p:sp>
          <p:nvSpPr>
            <p:cNvPr id="167" name="Freeform 166">
              <a:extLst>
                <a:ext uri="{FF2B5EF4-FFF2-40B4-BE49-F238E27FC236}">
                  <a16:creationId xmlns:a16="http://schemas.microsoft.com/office/drawing/2014/main" id="{CC301FDC-9E77-6A97-6F4C-7F82012D96BE}"/>
                </a:ext>
              </a:extLst>
            </p:cNvPr>
            <p:cNvSpPr/>
            <p:nvPr/>
          </p:nvSpPr>
          <p:spPr>
            <a:xfrm>
              <a:off x="7187367" y="3304710"/>
              <a:ext cx="824870" cy="6345"/>
            </a:xfrm>
            <a:custGeom>
              <a:avLst/>
              <a:gdLst>
                <a:gd name="csX0" fmla="*/ 0 w 824870"/>
                <a:gd name="csY0" fmla="*/ 0 h 6345"/>
                <a:gd name="csX1" fmla="*/ 824871 w 824870"/>
                <a:gd name="csY1" fmla="*/ 0 h 6345"/>
              </a:gdLst>
              <a:ahLst/>
              <a:cxnLst>
                <a:cxn ang="0">
                  <a:pos x="csX0" y="csY0"/>
                </a:cxn>
                <a:cxn ang="0">
                  <a:pos x="csX1" y="csY1"/>
                </a:cxn>
              </a:cxnLst>
              <a:rect l="l" t="t" r="r" b="b"/>
              <a:pathLst>
                <a:path w="824870" h="6345">
                  <a:moveTo>
                    <a:pt x="0" y="0"/>
                  </a:moveTo>
                  <a:lnTo>
                    <a:pt x="824871" y="0"/>
                  </a:lnTo>
                </a:path>
              </a:pathLst>
            </a:custGeom>
            <a:grpFill/>
            <a:ln w="19031" cap="flat">
              <a:solidFill>
                <a:srgbClr val="777777"/>
              </a:solidFill>
              <a:prstDash val="solid"/>
              <a:miter/>
            </a:ln>
          </p:spPr>
          <p:txBody>
            <a:bodyPr/>
            <a:lstStyle/>
            <a:p>
              <a:endParaRPr lang="en-US" sz="1050"/>
            </a:p>
          </p:txBody>
        </p:sp>
        <p:sp>
          <p:nvSpPr>
            <p:cNvPr id="168" name="Oval 167">
              <a:extLst>
                <a:ext uri="{FF2B5EF4-FFF2-40B4-BE49-F238E27FC236}">
                  <a16:creationId xmlns:a16="http://schemas.microsoft.com/office/drawing/2014/main" id="{01DF62EB-39A9-0EC3-1114-5C4BDC2F579D}"/>
                </a:ext>
              </a:extLst>
            </p:cNvPr>
            <p:cNvSpPr/>
            <p:nvPr/>
          </p:nvSpPr>
          <p:spPr>
            <a:xfrm>
              <a:off x="7155641" y="3272984"/>
              <a:ext cx="63451" cy="63451"/>
            </a:xfrm>
            <a:prstGeom prst="ellipse">
              <a:avLst/>
            </a:prstGeom>
            <a:grpFill/>
            <a:ln w="6344" cap="flat">
              <a:noFill/>
              <a:prstDash val="solid"/>
              <a:miter/>
            </a:ln>
          </p:spPr>
          <p:txBody>
            <a:bodyPr/>
            <a:lstStyle/>
            <a:p>
              <a:endParaRPr lang="en-US" sz="1050"/>
            </a:p>
          </p:txBody>
        </p:sp>
        <p:sp>
          <p:nvSpPr>
            <p:cNvPr id="169" name="Oval 168">
              <a:extLst>
                <a:ext uri="{FF2B5EF4-FFF2-40B4-BE49-F238E27FC236}">
                  <a16:creationId xmlns:a16="http://schemas.microsoft.com/office/drawing/2014/main" id="{F0568BD8-8C48-BCFA-E9FB-56BEB8F5EA1D}"/>
                </a:ext>
              </a:extLst>
            </p:cNvPr>
            <p:cNvSpPr/>
            <p:nvPr/>
          </p:nvSpPr>
          <p:spPr>
            <a:xfrm>
              <a:off x="7980512" y="3272984"/>
              <a:ext cx="63451" cy="63451"/>
            </a:xfrm>
            <a:prstGeom prst="ellipse">
              <a:avLst/>
            </a:prstGeom>
            <a:grpFill/>
            <a:ln w="6344" cap="flat">
              <a:noFill/>
              <a:prstDash val="solid"/>
              <a:miter/>
            </a:ln>
          </p:spPr>
          <p:txBody>
            <a:bodyPr/>
            <a:lstStyle/>
            <a:p>
              <a:endParaRPr lang="en-US" sz="1050"/>
            </a:p>
          </p:txBody>
        </p:sp>
        <p:sp>
          <p:nvSpPr>
            <p:cNvPr id="170" name="TextBox 169">
              <a:extLst>
                <a:ext uri="{FF2B5EF4-FFF2-40B4-BE49-F238E27FC236}">
                  <a16:creationId xmlns:a16="http://schemas.microsoft.com/office/drawing/2014/main" id="{446AC82E-9812-F63D-55C7-919C60FF29E9}"/>
                </a:ext>
              </a:extLst>
            </p:cNvPr>
            <p:cNvSpPr txBox="1"/>
            <p:nvPr/>
          </p:nvSpPr>
          <p:spPr>
            <a:xfrm>
              <a:off x="7971559" y="3209697"/>
              <a:ext cx="308098" cy="169277"/>
            </a:xfrm>
            <a:prstGeom prst="rect">
              <a:avLst/>
            </a:prstGeom>
            <a:grpFill/>
          </p:spPr>
          <p:txBody>
            <a:bodyPr wrap="none" rtlCol="0">
              <a:spAutoFit/>
            </a:bodyPr>
            <a:lstStyle/>
            <a:p>
              <a:pPr algn="l"/>
              <a:r>
                <a:rPr lang="en-US" sz="500" spc="0" baseline="0">
                  <a:ln/>
                  <a:latin typeface="Arial"/>
                  <a:cs typeface="Arial"/>
                  <a:sym typeface="Arial"/>
                  <a:rtl val="0"/>
                </a:rPr>
                <a:t>9:30</a:t>
              </a:r>
            </a:p>
          </p:txBody>
        </p:sp>
        <p:sp>
          <p:nvSpPr>
            <p:cNvPr id="171" name="Freeform 170">
              <a:extLst>
                <a:ext uri="{FF2B5EF4-FFF2-40B4-BE49-F238E27FC236}">
                  <a16:creationId xmlns:a16="http://schemas.microsoft.com/office/drawing/2014/main" id="{54833274-427A-54C4-D092-AF62A1031A2E}"/>
                </a:ext>
              </a:extLst>
            </p:cNvPr>
            <p:cNvSpPr/>
            <p:nvPr/>
          </p:nvSpPr>
          <p:spPr>
            <a:xfrm>
              <a:off x="7859954" y="3425268"/>
              <a:ext cx="6345" cy="139593"/>
            </a:xfrm>
            <a:custGeom>
              <a:avLst/>
              <a:gdLst>
                <a:gd name="csX0" fmla="*/ 0 w 6345"/>
                <a:gd name="csY0" fmla="*/ 0 h 139593"/>
                <a:gd name="csX1" fmla="*/ 0 w 6345"/>
                <a:gd name="csY1" fmla="*/ 139594 h 139593"/>
              </a:gdLst>
              <a:ahLst/>
              <a:cxnLst>
                <a:cxn ang="0">
                  <a:pos x="csX0" y="csY0"/>
                </a:cxn>
                <a:cxn ang="0">
                  <a:pos x="csX1" y="csY1"/>
                </a:cxn>
              </a:cxnLst>
              <a:rect l="l" t="t" r="r" b="b"/>
              <a:pathLst>
                <a:path w="6345" h="139593">
                  <a:moveTo>
                    <a:pt x="0" y="0"/>
                  </a:moveTo>
                  <a:lnTo>
                    <a:pt x="0" y="139594"/>
                  </a:lnTo>
                </a:path>
              </a:pathLst>
            </a:custGeom>
            <a:grpFill/>
            <a:ln w="38063" cap="flat">
              <a:solidFill>
                <a:srgbClr val="9B9B9B"/>
              </a:solidFill>
              <a:prstDash val="solid"/>
              <a:miter/>
            </a:ln>
          </p:spPr>
          <p:txBody>
            <a:bodyPr/>
            <a:lstStyle/>
            <a:p>
              <a:endParaRPr lang="en-US" sz="1050"/>
            </a:p>
          </p:txBody>
        </p:sp>
        <p:sp>
          <p:nvSpPr>
            <p:cNvPr id="172" name="Rounded Rectangle 171">
              <a:extLst>
                <a:ext uri="{FF2B5EF4-FFF2-40B4-BE49-F238E27FC236}">
                  <a16:creationId xmlns:a16="http://schemas.microsoft.com/office/drawing/2014/main" id="{EE28BE2F-926C-66AC-71E9-993FC00DD9EC}"/>
                </a:ext>
              </a:extLst>
            </p:cNvPr>
            <p:cNvSpPr/>
            <p:nvPr/>
          </p:nvSpPr>
          <p:spPr>
            <a:xfrm>
              <a:off x="7282544" y="3596587"/>
              <a:ext cx="1142128" cy="317258"/>
            </a:xfrm>
            <a:prstGeom prst="roundRect">
              <a:avLst>
                <a:gd name="adj" fmla="val 15999"/>
              </a:avLst>
            </a:prstGeom>
            <a:grpFill/>
            <a:ln w="6344" cap="flat">
              <a:solidFill>
                <a:srgbClr val="3F76C9"/>
              </a:solidFill>
              <a:prstDash val="solid"/>
              <a:miter/>
            </a:ln>
          </p:spPr>
          <p:txBody>
            <a:bodyPr/>
            <a:lstStyle/>
            <a:p>
              <a:endParaRPr lang="en-US" sz="1050"/>
            </a:p>
          </p:txBody>
        </p:sp>
        <p:sp>
          <p:nvSpPr>
            <p:cNvPr id="173" name="TextBox 172">
              <a:extLst>
                <a:ext uri="{FF2B5EF4-FFF2-40B4-BE49-F238E27FC236}">
                  <a16:creationId xmlns:a16="http://schemas.microsoft.com/office/drawing/2014/main" id="{3BFEFAB6-42AD-354C-C5EF-3A4B19A5DFF6}"/>
                </a:ext>
              </a:extLst>
            </p:cNvPr>
            <p:cNvSpPr txBox="1"/>
            <p:nvPr/>
          </p:nvSpPr>
          <p:spPr>
            <a:xfrm>
              <a:off x="7443399" y="3598555"/>
              <a:ext cx="832279" cy="215444"/>
            </a:xfrm>
            <a:prstGeom prst="rect">
              <a:avLst/>
            </a:prstGeom>
            <a:grpFill/>
          </p:spPr>
          <p:txBody>
            <a:bodyPr wrap="none" rtlCol="0">
              <a:spAutoFit/>
            </a:bodyPr>
            <a:lstStyle/>
            <a:p>
              <a:pPr algn="l"/>
              <a:r>
                <a:rPr lang="en-US" sz="800" b="1" spc="0" baseline="0">
                  <a:ln/>
                  <a:latin typeface="Arial"/>
                  <a:cs typeface="Arial"/>
                  <a:sym typeface="Arial"/>
                  <a:rtl val="0"/>
                </a:rPr>
                <a:t>CPLEX Solve</a:t>
              </a:r>
            </a:p>
          </p:txBody>
        </p:sp>
        <p:sp>
          <p:nvSpPr>
            <p:cNvPr id="174" name="TextBox 173">
              <a:extLst>
                <a:ext uri="{FF2B5EF4-FFF2-40B4-BE49-F238E27FC236}">
                  <a16:creationId xmlns:a16="http://schemas.microsoft.com/office/drawing/2014/main" id="{AE987BE4-3B04-ABD5-EDF2-35E92C2E1E74}"/>
                </a:ext>
              </a:extLst>
            </p:cNvPr>
            <p:cNvSpPr txBox="1"/>
            <p:nvPr/>
          </p:nvSpPr>
          <p:spPr>
            <a:xfrm>
              <a:off x="7607109" y="3712768"/>
              <a:ext cx="497252" cy="215444"/>
            </a:xfrm>
            <a:prstGeom prst="rect">
              <a:avLst/>
            </a:prstGeom>
            <a:grpFill/>
          </p:spPr>
          <p:txBody>
            <a:bodyPr wrap="none" rtlCol="0">
              <a:spAutoFit/>
            </a:bodyPr>
            <a:lstStyle/>
            <a:p>
              <a:pPr algn="l"/>
              <a:r>
                <a:rPr lang="en-US" sz="800" b="1" spc="0" baseline="0">
                  <a:ln/>
                  <a:latin typeface="Arial"/>
                  <a:cs typeface="Arial"/>
                  <a:sym typeface="Arial"/>
                  <a:rtl val="0"/>
                </a:rPr>
                <a:t>(MILP)</a:t>
              </a:r>
            </a:p>
          </p:txBody>
        </p:sp>
        <p:sp>
          <p:nvSpPr>
            <p:cNvPr id="175" name="Freeform 174">
              <a:extLst>
                <a:ext uri="{FF2B5EF4-FFF2-40B4-BE49-F238E27FC236}">
                  <a16:creationId xmlns:a16="http://schemas.microsoft.com/office/drawing/2014/main" id="{3B12537D-876C-E8C6-2058-86F8DF84ADC0}"/>
                </a:ext>
              </a:extLst>
            </p:cNvPr>
            <p:cNvSpPr/>
            <p:nvPr/>
          </p:nvSpPr>
          <p:spPr>
            <a:xfrm>
              <a:off x="7853609" y="3913845"/>
              <a:ext cx="6345" cy="107867"/>
            </a:xfrm>
            <a:custGeom>
              <a:avLst/>
              <a:gdLst>
                <a:gd name="csX0" fmla="*/ 0 w 6345"/>
                <a:gd name="csY0" fmla="*/ 0 h 107867"/>
                <a:gd name="csX1" fmla="*/ 0 w 6345"/>
                <a:gd name="csY1" fmla="*/ 107868 h 107867"/>
              </a:gdLst>
              <a:ahLst/>
              <a:cxnLst>
                <a:cxn ang="0">
                  <a:pos x="csX0" y="csY0"/>
                </a:cxn>
                <a:cxn ang="0">
                  <a:pos x="csX1" y="csY1"/>
                </a:cxn>
              </a:cxnLst>
              <a:rect l="l" t="t" r="r" b="b"/>
              <a:pathLst>
                <a:path w="6345" h="107867">
                  <a:moveTo>
                    <a:pt x="0" y="0"/>
                  </a:moveTo>
                  <a:lnTo>
                    <a:pt x="0" y="107868"/>
                  </a:lnTo>
                </a:path>
              </a:pathLst>
            </a:custGeom>
            <a:grpFill/>
            <a:ln w="8881" cap="flat">
              <a:solidFill>
                <a:srgbClr val="3F76C9"/>
              </a:solidFill>
              <a:prstDash val="solid"/>
              <a:miter/>
            </a:ln>
          </p:spPr>
          <p:txBody>
            <a:bodyPr/>
            <a:lstStyle/>
            <a:p>
              <a:endParaRPr lang="en-US" sz="1050"/>
            </a:p>
          </p:txBody>
        </p:sp>
        <p:sp>
          <p:nvSpPr>
            <p:cNvPr id="176" name="Rounded Rectangle 175">
              <a:extLst>
                <a:ext uri="{FF2B5EF4-FFF2-40B4-BE49-F238E27FC236}">
                  <a16:creationId xmlns:a16="http://schemas.microsoft.com/office/drawing/2014/main" id="{8052CFF6-3231-735A-5294-8F9597859DC1}"/>
                </a:ext>
              </a:extLst>
            </p:cNvPr>
            <p:cNvSpPr/>
            <p:nvPr/>
          </p:nvSpPr>
          <p:spPr>
            <a:xfrm>
              <a:off x="6990667" y="4021713"/>
              <a:ext cx="1713193" cy="678932"/>
            </a:xfrm>
            <a:prstGeom prst="roundRect">
              <a:avLst>
                <a:gd name="adj" fmla="val 6542"/>
              </a:avLst>
            </a:prstGeom>
            <a:grpFill/>
            <a:ln w="6344" cap="flat">
              <a:solidFill>
                <a:srgbClr val="2B7C35"/>
              </a:solidFill>
              <a:prstDash val="solid"/>
              <a:miter/>
            </a:ln>
          </p:spPr>
          <p:txBody>
            <a:bodyPr/>
            <a:lstStyle/>
            <a:p>
              <a:endParaRPr lang="en-US" sz="1050"/>
            </a:p>
          </p:txBody>
        </p:sp>
        <p:sp>
          <p:nvSpPr>
            <p:cNvPr id="177" name="TextBox 176">
              <a:extLst>
                <a:ext uri="{FF2B5EF4-FFF2-40B4-BE49-F238E27FC236}">
                  <a16:creationId xmlns:a16="http://schemas.microsoft.com/office/drawing/2014/main" id="{AE2EA789-E972-3AD0-CAB0-F8A9A5874970}"/>
                </a:ext>
              </a:extLst>
            </p:cNvPr>
            <p:cNvSpPr txBox="1"/>
            <p:nvPr/>
          </p:nvSpPr>
          <p:spPr>
            <a:xfrm>
              <a:off x="7502017" y="4017336"/>
              <a:ext cx="697627" cy="215444"/>
            </a:xfrm>
            <a:prstGeom prst="rect">
              <a:avLst/>
            </a:prstGeom>
            <a:grpFill/>
          </p:spPr>
          <p:txBody>
            <a:bodyPr wrap="none" rtlCol="0">
              <a:spAutoFit/>
            </a:bodyPr>
            <a:lstStyle/>
            <a:p>
              <a:pPr algn="l"/>
              <a:r>
                <a:rPr lang="en-US" sz="800" b="1" spc="0" baseline="0">
                  <a:ln/>
                  <a:latin typeface="Arial"/>
                  <a:cs typeface="Arial"/>
                  <a:sym typeface="Arial"/>
                  <a:rtl val="0"/>
                </a:rPr>
                <a:t>Confirmed</a:t>
              </a:r>
            </a:p>
          </p:txBody>
        </p:sp>
        <p:sp>
          <p:nvSpPr>
            <p:cNvPr id="178" name="TextBox 177">
              <a:extLst>
                <a:ext uri="{FF2B5EF4-FFF2-40B4-BE49-F238E27FC236}">
                  <a16:creationId xmlns:a16="http://schemas.microsoft.com/office/drawing/2014/main" id="{FE35948A-75E6-1CBF-AB5F-2881A6E548EA}"/>
                </a:ext>
              </a:extLst>
            </p:cNvPr>
            <p:cNvSpPr txBox="1"/>
            <p:nvPr/>
          </p:nvSpPr>
          <p:spPr>
            <a:xfrm>
              <a:off x="7317994" y="4155126"/>
              <a:ext cx="861133" cy="169277"/>
            </a:xfrm>
            <a:prstGeom prst="rect">
              <a:avLst/>
            </a:prstGeom>
            <a:grpFill/>
          </p:spPr>
          <p:txBody>
            <a:bodyPr wrap="none" rtlCol="0">
              <a:spAutoFit/>
            </a:bodyPr>
            <a:lstStyle/>
            <a:p>
              <a:pPr algn="l"/>
              <a:r>
                <a:rPr lang="en-US" sz="500" spc="0" baseline="0">
                  <a:ln/>
                  <a:latin typeface="Arial"/>
                  <a:cs typeface="Arial"/>
                  <a:sym typeface="Arial"/>
                  <a:rtl val="0"/>
                </a:rPr>
                <a:t>(finished in this window)</a:t>
              </a:r>
            </a:p>
          </p:txBody>
        </p:sp>
        <p:sp>
          <p:nvSpPr>
            <p:cNvPr id="179" name="TextBox 178">
              <a:extLst>
                <a:ext uri="{FF2B5EF4-FFF2-40B4-BE49-F238E27FC236}">
                  <a16:creationId xmlns:a16="http://schemas.microsoft.com/office/drawing/2014/main" id="{3244B312-5655-4F94-A1F5-6BCB7BCF021E}"/>
                </a:ext>
              </a:extLst>
            </p:cNvPr>
            <p:cNvSpPr txBox="1"/>
            <p:nvPr/>
          </p:nvSpPr>
          <p:spPr>
            <a:xfrm>
              <a:off x="6981714" y="4314957"/>
              <a:ext cx="585417" cy="215444"/>
            </a:xfrm>
            <a:prstGeom prst="rect">
              <a:avLst/>
            </a:prstGeom>
            <a:grpFill/>
          </p:spPr>
          <p:txBody>
            <a:bodyPr wrap="none" rtlCol="0">
              <a:spAutoFit/>
            </a:bodyPr>
            <a:lstStyle/>
            <a:p>
              <a:pPr algn="l"/>
              <a:r>
                <a:rPr lang="en-US" sz="800" spc="0" baseline="0">
                  <a:ln/>
                  <a:latin typeface="Arial"/>
                  <a:cs typeface="Arial"/>
                  <a:sym typeface="Arial"/>
                  <a:rtl val="0"/>
                </a:rPr>
                <a:t>• Train C</a:t>
              </a:r>
            </a:p>
          </p:txBody>
        </p:sp>
        <p:sp>
          <p:nvSpPr>
            <p:cNvPr id="180" name="TextBox 179">
              <a:extLst>
                <a:ext uri="{FF2B5EF4-FFF2-40B4-BE49-F238E27FC236}">
                  <a16:creationId xmlns:a16="http://schemas.microsoft.com/office/drawing/2014/main" id="{E1753247-6EC9-184E-FFE3-0744791C072E}"/>
                </a:ext>
              </a:extLst>
            </p:cNvPr>
            <p:cNvSpPr txBox="1"/>
            <p:nvPr/>
          </p:nvSpPr>
          <p:spPr>
            <a:xfrm>
              <a:off x="7590850" y="4314957"/>
              <a:ext cx="771365" cy="215444"/>
            </a:xfrm>
            <a:prstGeom prst="rect">
              <a:avLst/>
            </a:prstGeom>
            <a:grpFill/>
          </p:spPr>
          <p:txBody>
            <a:bodyPr wrap="none" rtlCol="0">
              <a:spAutoFit/>
            </a:bodyPr>
            <a:lstStyle/>
            <a:p>
              <a:pPr algn="l"/>
              <a:r>
                <a:rPr lang="en-US" sz="800" spc="0" baseline="0">
                  <a:ln/>
                  <a:latin typeface="Arial"/>
                  <a:cs typeface="Arial"/>
                  <a:sym typeface="Arial"/>
                  <a:rtl val="0"/>
                </a:rPr>
                <a:t>(3:00 – 7:00)</a:t>
              </a:r>
            </a:p>
          </p:txBody>
        </p:sp>
        <p:sp>
          <p:nvSpPr>
            <p:cNvPr id="181" name="TextBox 180">
              <a:extLst>
                <a:ext uri="{FF2B5EF4-FFF2-40B4-BE49-F238E27FC236}">
                  <a16:creationId xmlns:a16="http://schemas.microsoft.com/office/drawing/2014/main" id="{215FAD97-C05E-2338-6151-23A211B17CC8}"/>
                </a:ext>
              </a:extLst>
            </p:cNvPr>
            <p:cNvSpPr txBox="1"/>
            <p:nvPr/>
          </p:nvSpPr>
          <p:spPr>
            <a:xfrm>
              <a:off x="6981714" y="4486276"/>
              <a:ext cx="580608" cy="215444"/>
            </a:xfrm>
            <a:prstGeom prst="rect">
              <a:avLst/>
            </a:prstGeom>
            <a:grpFill/>
          </p:spPr>
          <p:txBody>
            <a:bodyPr wrap="none" rtlCol="0">
              <a:spAutoFit/>
            </a:bodyPr>
            <a:lstStyle/>
            <a:p>
              <a:pPr algn="l"/>
              <a:r>
                <a:rPr lang="en-US" sz="800" spc="0" baseline="0">
                  <a:ln/>
                  <a:latin typeface="Arial"/>
                  <a:cs typeface="Arial"/>
                  <a:sym typeface="Arial"/>
                  <a:rtl val="0"/>
                </a:rPr>
                <a:t>• Train E</a:t>
              </a:r>
            </a:p>
          </p:txBody>
        </p:sp>
        <p:sp>
          <p:nvSpPr>
            <p:cNvPr id="182" name="TextBox 181">
              <a:extLst>
                <a:ext uri="{FF2B5EF4-FFF2-40B4-BE49-F238E27FC236}">
                  <a16:creationId xmlns:a16="http://schemas.microsoft.com/office/drawing/2014/main" id="{07BF2931-36BA-063F-5F9D-1AE025C4DA6C}"/>
                </a:ext>
              </a:extLst>
            </p:cNvPr>
            <p:cNvSpPr txBox="1"/>
            <p:nvPr/>
          </p:nvSpPr>
          <p:spPr>
            <a:xfrm>
              <a:off x="7590850" y="4486276"/>
              <a:ext cx="771365" cy="215444"/>
            </a:xfrm>
            <a:prstGeom prst="rect">
              <a:avLst/>
            </a:prstGeom>
            <a:grpFill/>
          </p:spPr>
          <p:txBody>
            <a:bodyPr wrap="none" rtlCol="0">
              <a:spAutoFit/>
            </a:bodyPr>
            <a:lstStyle/>
            <a:p>
              <a:pPr algn="l"/>
              <a:r>
                <a:rPr lang="en-US" sz="800" spc="0" baseline="0">
                  <a:ln/>
                  <a:latin typeface="Arial"/>
                  <a:cs typeface="Arial"/>
                  <a:sym typeface="Arial"/>
                  <a:rtl val="0"/>
                </a:rPr>
                <a:t>(4:30 – 9:30)</a:t>
              </a:r>
            </a:p>
          </p:txBody>
        </p:sp>
      </p:grpSp>
      <p:sp>
        <p:nvSpPr>
          <p:cNvPr id="183" name="Freeform 182">
            <a:extLst>
              <a:ext uri="{FF2B5EF4-FFF2-40B4-BE49-F238E27FC236}">
                <a16:creationId xmlns:a16="http://schemas.microsoft.com/office/drawing/2014/main" id="{4B13EF18-CBFA-3D1C-29BB-89423E085217}"/>
              </a:ext>
            </a:extLst>
          </p:cNvPr>
          <p:cNvSpPr/>
          <p:nvPr/>
        </p:nvSpPr>
        <p:spPr>
          <a:xfrm>
            <a:off x="3343087" y="2996015"/>
            <a:ext cx="267598" cy="6345"/>
          </a:xfrm>
          <a:custGeom>
            <a:avLst/>
            <a:gdLst>
              <a:gd name="csX0" fmla="*/ 0 w 247461"/>
              <a:gd name="csY0" fmla="*/ 0 h 6345"/>
              <a:gd name="csX1" fmla="*/ 247461 w 247461"/>
              <a:gd name="csY1" fmla="*/ 0 h 6345"/>
            </a:gdLst>
            <a:ahLst/>
            <a:cxnLst>
              <a:cxn ang="0">
                <a:pos x="csX0" y="csY0"/>
              </a:cxn>
              <a:cxn ang="0">
                <a:pos x="csX1" y="csY1"/>
              </a:cxn>
            </a:cxnLst>
            <a:rect l="l" t="t" r="r" b="b"/>
            <a:pathLst>
              <a:path w="247461" h="6345">
                <a:moveTo>
                  <a:pt x="0" y="0"/>
                </a:moveTo>
                <a:lnTo>
                  <a:pt x="247461" y="0"/>
                </a:lnTo>
              </a:path>
            </a:pathLst>
          </a:custGeom>
          <a:noFill/>
          <a:ln w="57094" cap="flat">
            <a:solidFill>
              <a:srgbClr val="9B9B9B"/>
            </a:solidFill>
            <a:prstDash val="solid"/>
            <a:miter/>
          </a:ln>
        </p:spPr>
        <p:txBody>
          <a:bodyPr/>
          <a:lstStyle/>
          <a:p>
            <a:endParaRPr lang="en-US" sz="1050"/>
          </a:p>
        </p:txBody>
      </p:sp>
      <p:sp>
        <p:nvSpPr>
          <p:cNvPr id="184" name="Freeform 183">
            <a:extLst>
              <a:ext uri="{FF2B5EF4-FFF2-40B4-BE49-F238E27FC236}">
                <a16:creationId xmlns:a16="http://schemas.microsoft.com/office/drawing/2014/main" id="{CAE4049A-F5DA-11BC-568D-6BA284A85F47}"/>
              </a:ext>
            </a:extLst>
          </p:cNvPr>
          <p:cNvSpPr/>
          <p:nvPr/>
        </p:nvSpPr>
        <p:spPr>
          <a:xfrm>
            <a:off x="6249194" y="3006091"/>
            <a:ext cx="267598" cy="6345"/>
          </a:xfrm>
          <a:custGeom>
            <a:avLst/>
            <a:gdLst>
              <a:gd name="csX0" fmla="*/ 0 w 247461"/>
              <a:gd name="csY0" fmla="*/ 0 h 6345"/>
              <a:gd name="csX1" fmla="*/ 247461 w 247461"/>
              <a:gd name="csY1" fmla="*/ 0 h 6345"/>
            </a:gdLst>
            <a:ahLst/>
            <a:cxnLst>
              <a:cxn ang="0">
                <a:pos x="csX0" y="csY0"/>
              </a:cxn>
              <a:cxn ang="0">
                <a:pos x="csX1" y="csY1"/>
              </a:cxn>
            </a:cxnLst>
            <a:rect l="l" t="t" r="r" b="b"/>
            <a:pathLst>
              <a:path w="247461" h="6345">
                <a:moveTo>
                  <a:pt x="0" y="0"/>
                </a:moveTo>
                <a:lnTo>
                  <a:pt x="247461" y="0"/>
                </a:lnTo>
              </a:path>
            </a:pathLst>
          </a:custGeom>
          <a:noFill/>
          <a:ln w="57094" cap="flat">
            <a:solidFill>
              <a:srgbClr val="9B9B9B"/>
            </a:solidFill>
            <a:prstDash val="solid"/>
            <a:miter/>
          </a:ln>
        </p:spPr>
        <p:txBody>
          <a:bodyPr/>
          <a:lstStyle/>
          <a:p>
            <a:endParaRPr lang="en-US" sz="1050"/>
          </a:p>
        </p:txBody>
      </p:sp>
      <p:grpSp>
        <p:nvGrpSpPr>
          <p:cNvPr id="298" name="Group 297">
            <a:extLst>
              <a:ext uri="{FF2B5EF4-FFF2-40B4-BE49-F238E27FC236}">
                <a16:creationId xmlns:a16="http://schemas.microsoft.com/office/drawing/2014/main" id="{E902A0A5-A828-936B-4C95-4733EB4D09CD}"/>
              </a:ext>
            </a:extLst>
          </p:cNvPr>
          <p:cNvGrpSpPr/>
          <p:nvPr/>
        </p:nvGrpSpPr>
        <p:grpSpPr>
          <a:xfrm>
            <a:off x="632111" y="4977408"/>
            <a:ext cx="4967727" cy="1700502"/>
            <a:chOff x="3247023" y="4954451"/>
            <a:chExt cx="4593895" cy="1700502"/>
          </a:xfrm>
          <a:noFill/>
        </p:grpSpPr>
        <p:grpSp>
          <p:nvGrpSpPr>
            <p:cNvPr id="234" name="Graphic 1">
              <a:extLst>
                <a:ext uri="{FF2B5EF4-FFF2-40B4-BE49-F238E27FC236}">
                  <a16:creationId xmlns:a16="http://schemas.microsoft.com/office/drawing/2014/main" id="{1C0ACB93-0429-9554-D8B7-C53DBE318D11}"/>
                </a:ext>
              </a:extLst>
            </p:cNvPr>
            <p:cNvGrpSpPr/>
            <p:nvPr/>
          </p:nvGrpSpPr>
          <p:grpSpPr>
            <a:xfrm>
              <a:off x="3247023" y="4954451"/>
              <a:ext cx="4593895" cy="1700502"/>
              <a:chOff x="3247023" y="4954451"/>
              <a:chExt cx="4593895" cy="1700502"/>
            </a:xfrm>
            <a:grpFill/>
          </p:grpSpPr>
          <p:sp>
            <p:nvSpPr>
              <p:cNvPr id="235" name="Rounded Rectangle 234">
                <a:extLst>
                  <a:ext uri="{FF2B5EF4-FFF2-40B4-BE49-F238E27FC236}">
                    <a16:creationId xmlns:a16="http://schemas.microsoft.com/office/drawing/2014/main" id="{459FFE28-CE3D-66E6-468D-40D458EFFC7E}"/>
                  </a:ext>
                </a:extLst>
              </p:cNvPr>
              <p:cNvSpPr/>
              <p:nvPr/>
            </p:nvSpPr>
            <p:spPr>
              <a:xfrm>
                <a:off x="3247023" y="4954451"/>
                <a:ext cx="4593895" cy="1700502"/>
              </a:xfrm>
              <a:prstGeom prst="roundRect">
                <a:avLst>
                  <a:gd name="adj" fmla="val 2238"/>
                </a:avLst>
              </a:prstGeom>
              <a:grpFill/>
              <a:ln w="6344" cap="flat">
                <a:solidFill>
                  <a:srgbClr val="A5BFE8"/>
                </a:solidFill>
                <a:prstDash val="solid"/>
                <a:miter/>
              </a:ln>
            </p:spPr>
            <p:txBody>
              <a:bodyPr/>
              <a:lstStyle/>
              <a:p>
                <a:endParaRPr lang="en-US" sz="1050"/>
              </a:p>
            </p:txBody>
          </p:sp>
          <p:sp>
            <p:nvSpPr>
              <p:cNvPr id="236" name="TextBox 235">
                <a:extLst>
                  <a:ext uri="{FF2B5EF4-FFF2-40B4-BE49-F238E27FC236}">
                    <a16:creationId xmlns:a16="http://schemas.microsoft.com/office/drawing/2014/main" id="{A8C32156-AB7A-D425-AFD0-59155056B86C}"/>
                  </a:ext>
                </a:extLst>
              </p:cNvPr>
              <p:cNvSpPr txBox="1"/>
              <p:nvPr/>
            </p:nvSpPr>
            <p:spPr>
              <a:xfrm>
                <a:off x="4755878" y="5015329"/>
                <a:ext cx="1662635" cy="246221"/>
              </a:xfrm>
              <a:prstGeom prst="rect">
                <a:avLst/>
              </a:prstGeom>
              <a:grpFill/>
            </p:spPr>
            <p:txBody>
              <a:bodyPr wrap="none" rtlCol="0">
                <a:spAutoFit/>
              </a:bodyPr>
              <a:lstStyle/>
              <a:p>
                <a:pPr algn="l"/>
                <a:r>
                  <a:rPr lang="en-US" sz="1000" b="1" spc="0" baseline="0">
                    <a:ln/>
                    <a:latin typeface="Arial"/>
                    <a:cs typeface="Arial"/>
                    <a:sym typeface="Arial"/>
                    <a:rtl val="0"/>
                  </a:rPr>
                  <a:t>Rolling Horizon Process</a:t>
                </a:r>
              </a:p>
            </p:txBody>
          </p:sp>
          <p:sp>
            <p:nvSpPr>
              <p:cNvPr id="237" name="Freeform 236">
                <a:extLst>
                  <a:ext uri="{FF2B5EF4-FFF2-40B4-BE49-F238E27FC236}">
                    <a16:creationId xmlns:a16="http://schemas.microsoft.com/office/drawing/2014/main" id="{D808CB21-5D1C-10F6-C699-FF32D20EF338}"/>
                  </a:ext>
                </a:extLst>
              </p:cNvPr>
              <p:cNvSpPr/>
              <p:nvPr/>
            </p:nvSpPr>
            <p:spPr>
              <a:xfrm>
                <a:off x="3881539" y="5684145"/>
                <a:ext cx="120558" cy="6345"/>
              </a:xfrm>
              <a:custGeom>
                <a:avLst/>
                <a:gdLst>
                  <a:gd name="csX0" fmla="*/ 0 w 120558"/>
                  <a:gd name="csY0" fmla="*/ 0 h 6345"/>
                  <a:gd name="csX1" fmla="*/ 120558 w 120558"/>
                  <a:gd name="csY1" fmla="*/ 0 h 6345"/>
                </a:gdLst>
                <a:ahLst/>
                <a:cxnLst>
                  <a:cxn ang="0">
                    <a:pos x="csX0" y="csY0"/>
                  </a:cxn>
                  <a:cxn ang="0">
                    <a:pos x="csX1" y="csY1"/>
                  </a:cxn>
                </a:cxnLst>
                <a:rect l="l" t="t" r="r" b="b"/>
                <a:pathLst>
                  <a:path w="120558" h="6345">
                    <a:moveTo>
                      <a:pt x="0" y="0"/>
                    </a:moveTo>
                    <a:lnTo>
                      <a:pt x="120558" y="0"/>
                    </a:lnTo>
                  </a:path>
                </a:pathLst>
              </a:custGeom>
              <a:grpFill/>
              <a:ln w="12688" cap="flat">
                <a:solidFill>
                  <a:srgbClr val="143C85"/>
                </a:solidFill>
                <a:prstDash val="solid"/>
                <a:miter/>
              </a:ln>
            </p:spPr>
            <p:txBody>
              <a:bodyPr/>
              <a:lstStyle/>
              <a:p>
                <a:endParaRPr lang="en-US" sz="1050"/>
              </a:p>
            </p:txBody>
          </p:sp>
          <p:sp>
            <p:nvSpPr>
              <p:cNvPr id="238" name="Freeform 237">
                <a:extLst>
                  <a:ext uri="{FF2B5EF4-FFF2-40B4-BE49-F238E27FC236}">
                    <a16:creationId xmlns:a16="http://schemas.microsoft.com/office/drawing/2014/main" id="{40470E3C-A9F9-B0E6-707F-47E436DA7FAB}"/>
                  </a:ext>
                </a:extLst>
              </p:cNvPr>
              <p:cNvSpPr/>
              <p:nvPr/>
            </p:nvSpPr>
            <p:spPr>
              <a:xfrm>
                <a:off x="4769861" y="5684145"/>
                <a:ext cx="126903" cy="6345"/>
              </a:xfrm>
              <a:custGeom>
                <a:avLst/>
                <a:gdLst>
                  <a:gd name="csX0" fmla="*/ 0 w 126903"/>
                  <a:gd name="csY0" fmla="*/ 0 h 6345"/>
                  <a:gd name="csX1" fmla="*/ 126903 w 126903"/>
                  <a:gd name="csY1" fmla="*/ 0 h 6345"/>
                </a:gdLst>
                <a:ahLst/>
                <a:cxnLst>
                  <a:cxn ang="0">
                    <a:pos x="csX0" y="csY0"/>
                  </a:cxn>
                  <a:cxn ang="0">
                    <a:pos x="csX1" y="csY1"/>
                  </a:cxn>
                </a:cxnLst>
                <a:rect l="l" t="t" r="r" b="b"/>
                <a:pathLst>
                  <a:path w="126903" h="6345">
                    <a:moveTo>
                      <a:pt x="0" y="0"/>
                    </a:moveTo>
                    <a:lnTo>
                      <a:pt x="126903" y="0"/>
                    </a:lnTo>
                  </a:path>
                </a:pathLst>
              </a:custGeom>
              <a:grpFill/>
              <a:ln w="12688" cap="flat">
                <a:solidFill>
                  <a:srgbClr val="143C85"/>
                </a:solidFill>
                <a:prstDash val="solid"/>
                <a:miter/>
              </a:ln>
            </p:spPr>
            <p:txBody>
              <a:bodyPr/>
              <a:lstStyle/>
              <a:p>
                <a:endParaRPr lang="en-US" sz="1050"/>
              </a:p>
            </p:txBody>
          </p:sp>
          <p:sp>
            <p:nvSpPr>
              <p:cNvPr id="239" name="Freeform 238">
                <a:extLst>
                  <a:ext uri="{FF2B5EF4-FFF2-40B4-BE49-F238E27FC236}">
                    <a16:creationId xmlns:a16="http://schemas.microsoft.com/office/drawing/2014/main" id="{78CC6748-5B00-A5DC-39B3-800070603D21}"/>
                  </a:ext>
                </a:extLst>
              </p:cNvPr>
              <p:cNvSpPr/>
              <p:nvPr/>
            </p:nvSpPr>
            <p:spPr>
              <a:xfrm>
                <a:off x="5463277" y="5671175"/>
                <a:ext cx="126903" cy="6345"/>
              </a:xfrm>
              <a:custGeom>
                <a:avLst/>
                <a:gdLst>
                  <a:gd name="csX0" fmla="*/ 0 w 126903"/>
                  <a:gd name="csY0" fmla="*/ 0 h 6345"/>
                  <a:gd name="csX1" fmla="*/ 126903 w 126903"/>
                  <a:gd name="csY1" fmla="*/ 0 h 6345"/>
                </a:gdLst>
                <a:ahLst/>
                <a:cxnLst>
                  <a:cxn ang="0">
                    <a:pos x="csX0" y="csY0"/>
                  </a:cxn>
                  <a:cxn ang="0">
                    <a:pos x="csX1" y="csY1"/>
                  </a:cxn>
                </a:cxnLst>
                <a:rect l="l" t="t" r="r" b="b"/>
                <a:pathLst>
                  <a:path w="126903" h="6345">
                    <a:moveTo>
                      <a:pt x="0" y="0"/>
                    </a:moveTo>
                    <a:lnTo>
                      <a:pt x="126903" y="0"/>
                    </a:lnTo>
                  </a:path>
                </a:pathLst>
              </a:custGeom>
              <a:grpFill/>
              <a:ln w="12688" cap="flat">
                <a:solidFill>
                  <a:srgbClr val="143C85"/>
                </a:solidFill>
                <a:prstDash val="solid"/>
                <a:miter/>
              </a:ln>
            </p:spPr>
            <p:txBody>
              <a:bodyPr/>
              <a:lstStyle/>
              <a:p>
                <a:endParaRPr lang="en-US" sz="1050"/>
              </a:p>
            </p:txBody>
          </p:sp>
          <p:sp>
            <p:nvSpPr>
              <p:cNvPr id="240" name="Freeform 239">
                <a:extLst>
                  <a:ext uri="{FF2B5EF4-FFF2-40B4-BE49-F238E27FC236}">
                    <a16:creationId xmlns:a16="http://schemas.microsoft.com/office/drawing/2014/main" id="{055C211D-6E9B-7F40-3609-81DE66D4C27B}"/>
                  </a:ext>
                </a:extLst>
              </p:cNvPr>
              <p:cNvSpPr/>
              <p:nvPr/>
            </p:nvSpPr>
            <p:spPr>
              <a:xfrm>
                <a:off x="6351601" y="5687387"/>
                <a:ext cx="126903" cy="6345"/>
              </a:xfrm>
              <a:custGeom>
                <a:avLst/>
                <a:gdLst>
                  <a:gd name="csX0" fmla="*/ 0 w 126903"/>
                  <a:gd name="csY0" fmla="*/ 0 h 6345"/>
                  <a:gd name="csX1" fmla="*/ 126903 w 126903"/>
                  <a:gd name="csY1" fmla="*/ 0 h 6345"/>
                </a:gdLst>
                <a:ahLst/>
                <a:cxnLst>
                  <a:cxn ang="0">
                    <a:pos x="csX0" y="csY0"/>
                  </a:cxn>
                  <a:cxn ang="0">
                    <a:pos x="csX1" y="csY1"/>
                  </a:cxn>
                </a:cxnLst>
                <a:rect l="l" t="t" r="r" b="b"/>
                <a:pathLst>
                  <a:path w="126903" h="6345">
                    <a:moveTo>
                      <a:pt x="0" y="0"/>
                    </a:moveTo>
                    <a:lnTo>
                      <a:pt x="126903" y="0"/>
                    </a:lnTo>
                  </a:path>
                </a:pathLst>
              </a:custGeom>
              <a:grpFill/>
              <a:ln w="12688" cap="flat">
                <a:solidFill>
                  <a:srgbClr val="143C85"/>
                </a:solidFill>
                <a:prstDash val="solid"/>
                <a:miter/>
              </a:ln>
            </p:spPr>
            <p:txBody>
              <a:bodyPr/>
              <a:lstStyle/>
              <a:p>
                <a:endParaRPr lang="en-US" sz="1050"/>
              </a:p>
            </p:txBody>
          </p:sp>
          <p:sp>
            <p:nvSpPr>
              <p:cNvPr id="241" name="Rounded Rectangle 240">
                <a:extLst>
                  <a:ext uri="{FF2B5EF4-FFF2-40B4-BE49-F238E27FC236}">
                    <a16:creationId xmlns:a16="http://schemas.microsoft.com/office/drawing/2014/main" id="{A29D7B7E-8848-8144-5579-2F1647410AE8}"/>
                  </a:ext>
                </a:extLst>
              </p:cNvPr>
              <p:cNvSpPr/>
              <p:nvPr/>
            </p:nvSpPr>
            <p:spPr>
              <a:xfrm>
                <a:off x="3316819" y="5341506"/>
                <a:ext cx="564719" cy="685277"/>
              </a:xfrm>
              <a:prstGeom prst="roundRect">
                <a:avLst>
                  <a:gd name="adj" fmla="val 8988"/>
                </a:avLst>
              </a:prstGeom>
              <a:grpFill/>
              <a:ln w="6344" cap="flat">
                <a:solidFill>
                  <a:srgbClr val="2B7C35"/>
                </a:solidFill>
                <a:prstDash val="solid"/>
                <a:miter/>
              </a:ln>
            </p:spPr>
            <p:txBody>
              <a:bodyPr/>
              <a:lstStyle/>
              <a:p>
                <a:endParaRPr lang="en-US" sz="1050"/>
              </a:p>
            </p:txBody>
          </p:sp>
          <p:sp>
            <p:nvSpPr>
              <p:cNvPr id="242" name="TextBox 241">
                <a:extLst>
                  <a:ext uri="{FF2B5EF4-FFF2-40B4-BE49-F238E27FC236}">
                    <a16:creationId xmlns:a16="http://schemas.microsoft.com/office/drawing/2014/main" id="{FC26446D-8AE3-02B7-F9C2-13DA40BD7C9A}"/>
                  </a:ext>
                </a:extLst>
              </p:cNvPr>
              <p:cNvSpPr txBox="1"/>
              <p:nvPr/>
            </p:nvSpPr>
            <p:spPr>
              <a:xfrm>
                <a:off x="3312675" y="5387890"/>
                <a:ext cx="575799" cy="215444"/>
              </a:xfrm>
              <a:prstGeom prst="rect">
                <a:avLst/>
              </a:prstGeom>
              <a:grpFill/>
            </p:spPr>
            <p:txBody>
              <a:bodyPr wrap="none" rtlCol="0">
                <a:spAutoFit/>
              </a:bodyPr>
              <a:lstStyle/>
              <a:p>
                <a:pPr algn="l"/>
                <a:r>
                  <a:rPr lang="en-US" sz="800" b="1" spc="0" baseline="0">
                    <a:ln/>
                    <a:latin typeface="Arial"/>
                    <a:cs typeface="Arial"/>
                    <a:sym typeface="Arial"/>
                    <a:rtl val="0"/>
                  </a:rPr>
                  <a:t>Phase 0</a:t>
                </a:r>
              </a:p>
            </p:txBody>
          </p:sp>
          <p:sp>
            <p:nvSpPr>
              <p:cNvPr id="243" name="TextBox 242">
                <a:extLst>
                  <a:ext uri="{FF2B5EF4-FFF2-40B4-BE49-F238E27FC236}">
                    <a16:creationId xmlns:a16="http://schemas.microsoft.com/office/drawing/2014/main" id="{0F8EAA35-36CC-75AB-AB67-C9F13D88AD25}"/>
                  </a:ext>
                </a:extLst>
              </p:cNvPr>
              <p:cNvSpPr txBox="1"/>
              <p:nvPr/>
            </p:nvSpPr>
            <p:spPr>
              <a:xfrm>
                <a:off x="3373888" y="5544716"/>
                <a:ext cx="385042" cy="169277"/>
              </a:xfrm>
              <a:prstGeom prst="rect">
                <a:avLst/>
              </a:prstGeom>
              <a:grpFill/>
            </p:spPr>
            <p:txBody>
              <a:bodyPr wrap="none" rtlCol="0">
                <a:spAutoFit/>
              </a:bodyPr>
              <a:lstStyle/>
              <a:p>
                <a:pPr algn="l"/>
                <a:r>
                  <a:rPr lang="en-US" sz="500" spc="0" baseline="0">
                    <a:ln/>
                    <a:latin typeface="Arial"/>
                    <a:cs typeface="Arial"/>
                    <a:sym typeface="Arial"/>
                    <a:rtl val="0"/>
                  </a:rPr>
                  <a:t>(0–4 h)</a:t>
                </a:r>
              </a:p>
            </p:txBody>
          </p:sp>
          <p:sp>
            <p:nvSpPr>
              <p:cNvPr id="245" name="Rounded Rectangle 244">
                <a:extLst>
                  <a:ext uri="{FF2B5EF4-FFF2-40B4-BE49-F238E27FC236}">
                    <a16:creationId xmlns:a16="http://schemas.microsoft.com/office/drawing/2014/main" id="{B833C4B3-E865-298F-BDAA-3ADDDCE2BD7F}"/>
                  </a:ext>
                </a:extLst>
              </p:cNvPr>
              <p:cNvSpPr/>
              <p:nvPr/>
            </p:nvSpPr>
            <p:spPr>
              <a:xfrm>
                <a:off x="4002097" y="5487445"/>
                <a:ext cx="767764" cy="406090"/>
              </a:xfrm>
              <a:prstGeom prst="roundRect">
                <a:avLst>
                  <a:gd name="adj" fmla="val 9375"/>
                </a:avLst>
              </a:prstGeom>
              <a:grpFill/>
              <a:ln w="6344" cap="flat">
                <a:solidFill>
                  <a:srgbClr val="B9C9DD"/>
                </a:solidFill>
                <a:prstDash val="solid"/>
                <a:miter/>
              </a:ln>
            </p:spPr>
            <p:txBody>
              <a:bodyPr/>
              <a:lstStyle/>
              <a:p>
                <a:endParaRPr lang="en-US" sz="1050"/>
              </a:p>
            </p:txBody>
          </p:sp>
          <p:sp>
            <p:nvSpPr>
              <p:cNvPr id="246" name="TextBox 245">
                <a:extLst>
                  <a:ext uri="{FF2B5EF4-FFF2-40B4-BE49-F238E27FC236}">
                    <a16:creationId xmlns:a16="http://schemas.microsoft.com/office/drawing/2014/main" id="{C5E6E821-F82F-6AD1-B6DE-40B44067ECD9}"/>
                  </a:ext>
                </a:extLst>
              </p:cNvPr>
              <p:cNvSpPr txBox="1"/>
              <p:nvPr/>
            </p:nvSpPr>
            <p:spPr>
              <a:xfrm>
                <a:off x="3974108" y="5514192"/>
                <a:ext cx="780983" cy="184666"/>
              </a:xfrm>
              <a:prstGeom prst="rect">
                <a:avLst/>
              </a:prstGeom>
              <a:grpFill/>
            </p:spPr>
            <p:txBody>
              <a:bodyPr wrap="none" rtlCol="0">
                <a:spAutoFit/>
              </a:bodyPr>
              <a:lstStyle/>
              <a:p>
                <a:pPr algn="l"/>
                <a:r>
                  <a:rPr lang="en-US" sz="600" spc="0" baseline="0">
                    <a:ln/>
                    <a:latin typeface="Arial"/>
                    <a:cs typeface="Arial"/>
                    <a:sym typeface="Arial"/>
                    <a:rtl val="0"/>
                  </a:rPr>
                  <a:t>• Confirmed: A, D</a:t>
                </a:r>
              </a:p>
            </p:txBody>
          </p:sp>
          <p:sp>
            <p:nvSpPr>
              <p:cNvPr id="247" name="TextBox 246">
                <a:extLst>
                  <a:ext uri="{FF2B5EF4-FFF2-40B4-BE49-F238E27FC236}">
                    <a16:creationId xmlns:a16="http://schemas.microsoft.com/office/drawing/2014/main" id="{6A8DC3F3-F471-DF53-D5AA-557EC34F2704}"/>
                  </a:ext>
                </a:extLst>
              </p:cNvPr>
              <p:cNvSpPr txBox="1"/>
              <p:nvPr/>
            </p:nvSpPr>
            <p:spPr>
              <a:xfrm>
                <a:off x="3974108" y="5666476"/>
                <a:ext cx="755335" cy="184666"/>
              </a:xfrm>
              <a:prstGeom prst="rect">
                <a:avLst/>
              </a:prstGeom>
              <a:grpFill/>
            </p:spPr>
            <p:txBody>
              <a:bodyPr wrap="none" rtlCol="0">
                <a:spAutoFit/>
              </a:bodyPr>
              <a:lstStyle/>
              <a:p>
                <a:pPr algn="l"/>
                <a:r>
                  <a:rPr lang="en-US" sz="600" spc="0" baseline="0">
                    <a:ln/>
                    <a:latin typeface="Arial"/>
                    <a:cs typeface="Arial"/>
                    <a:sym typeface="Arial"/>
                    <a:rtl val="0"/>
                  </a:rPr>
                  <a:t>• Reserved: B, C</a:t>
                </a:r>
              </a:p>
            </p:txBody>
          </p:sp>
          <p:sp>
            <p:nvSpPr>
              <p:cNvPr id="248" name="Rounded Rectangle 247">
                <a:extLst>
                  <a:ext uri="{FF2B5EF4-FFF2-40B4-BE49-F238E27FC236}">
                    <a16:creationId xmlns:a16="http://schemas.microsoft.com/office/drawing/2014/main" id="{DDF8E477-D3EE-BBEE-707C-30E4003E5126}"/>
                  </a:ext>
                </a:extLst>
              </p:cNvPr>
              <p:cNvSpPr/>
              <p:nvPr/>
            </p:nvSpPr>
            <p:spPr>
              <a:xfrm>
                <a:off x="4896764" y="5341506"/>
                <a:ext cx="564719" cy="685277"/>
              </a:xfrm>
              <a:prstGeom prst="roundRect">
                <a:avLst>
                  <a:gd name="adj" fmla="val 8988"/>
                </a:avLst>
              </a:prstGeom>
              <a:grpFill/>
              <a:ln w="6344" cap="flat">
                <a:solidFill>
                  <a:srgbClr val="E99318"/>
                </a:solidFill>
                <a:prstDash val="solid"/>
                <a:miter/>
              </a:ln>
            </p:spPr>
            <p:txBody>
              <a:bodyPr/>
              <a:lstStyle/>
              <a:p>
                <a:endParaRPr lang="en-US" sz="1050"/>
              </a:p>
            </p:txBody>
          </p:sp>
          <p:sp>
            <p:nvSpPr>
              <p:cNvPr id="249" name="TextBox 248">
                <a:extLst>
                  <a:ext uri="{FF2B5EF4-FFF2-40B4-BE49-F238E27FC236}">
                    <a16:creationId xmlns:a16="http://schemas.microsoft.com/office/drawing/2014/main" id="{C68995BE-647D-450B-C86D-BAFAB256C9EE}"/>
                  </a:ext>
                </a:extLst>
              </p:cNvPr>
              <p:cNvSpPr txBox="1"/>
              <p:nvPr/>
            </p:nvSpPr>
            <p:spPr>
              <a:xfrm>
                <a:off x="4892620" y="5387890"/>
                <a:ext cx="575799" cy="215444"/>
              </a:xfrm>
              <a:prstGeom prst="rect">
                <a:avLst/>
              </a:prstGeom>
              <a:grpFill/>
            </p:spPr>
            <p:txBody>
              <a:bodyPr wrap="none" rtlCol="0">
                <a:spAutoFit/>
              </a:bodyPr>
              <a:lstStyle/>
              <a:p>
                <a:pPr algn="l"/>
                <a:r>
                  <a:rPr lang="en-US" sz="800" b="1" spc="0" baseline="0">
                    <a:ln/>
                    <a:latin typeface="Arial"/>
                    <a:cs typeface="Arial"/>
                    <a:sym typeface="Arial"/>
                    <a:rtl val="0"/>
                  </a:rPr>
                  <a:t>Phase 1</a:t>
                </a:r>
              </a:p>
            </p:txBody>
          </p:sp>
          <p:sp>
            <p:nvSpPr>
              <p:cNvPr id="250" name="TextBox 249">
                <a:extLst>
                  <a:ext uri="{FF2B5EF4-FFF2-40B4-BE49-F238E27FC236}">
                    <a16:creationId xmlns:a16="http://schemas.microsoft.com/office/drawing/2014/main" id="{169D77AA-8277-EC19-F764-C205F38C8DEF}"/>
                  </a:ext>
                </a:extLst>
              </p:cNvPr>
              <p:cNvSpPr txBox="1"/>
              <p:nvPr/>
            </p:nvSpPr>
            <p:spPr>
              <a:xfrm>
                <a:off x="4953833" y="5544716"/>
                <a:ext cx="385042" cy="169277"/>
              </a:xfrm>
              <a:prstGeom prst="rect">
                <a:avLst/>
              </a:prstGeom>
              <a:grpFill/>
            </p:spPr>
            <p:txBody>
              <a:bodyPr wrap="none" rtlCol="0">
                <a:spAutoFit/>
              </a:bodyPr>
              <a:lstStyle/>
              <a:p>
                <a:pPr algn="l"/>
                <a:r>
                  <a:rPr lang="en-US" sz="500" spc="0" baseline="0">
                    <a:ln/>
                    <a:latin typeface="Arial"/>
                    <a:cs typeface="Arial"/>
                    <a:sym typeface="Arial"/>
                    <a:rtl val="0"/>
                  </a:rPr>
                  <a:t>(4–8 h)</a:t>
                </a:r>
              </a:p>
            </p:txBody>
          </p:sp>
          <p:sp>
            <p:nvSpPr>
              <p:cNvPr id="251" name="TextBox 250">
                <a:extLst>
                  <a:ext uri="{FF2B5EF4-FFF2-40B4-BE49-F238E27FC236}">
                    <a16:creationId xmlns:a16="http://schemas.microsoft.com/office/drawing/2014/main" id="{21702163-895D-D3A4-EA53-4E43BDFDD41A}"/>
                  </a:ext>
                </a:extLst>
              </p:cNvPr>
              <p:cNvSpPr txBox="1"/>
              <p:nvPr/>
            </p:nvSpPr>
            <p:spPr>
              <a:xfrm>
                <a:off x="4866100" y="5724184"/>
                <a:ext cx="667170" cy="184666"/>
              </a:xfrm>
              <a:prstGeom prst="rect">
                <a:avLst/>
              </a:prstGeom>
              <a:grpFill/>
            </p:spPr>
            <p:txBody>
              <a:bodyPr wrap="none" rtlCol="0">
                <a:spAutoFit/>
              </a:bodyPr>
              <a:lstStyle/>
              <a:p>
                <a:pPr algn="l"/>
                <a:r>
                  <a:rPr lang="en-US" sz="600" b="1" spc="0" baseline="0" dirty="0">
                    <a:ln/>
                    <a:latin typeface="Arial"/>
                    <a:cs typeface="Arial"/>
                    <a:sym typeface="Arial"/>
                    <a:rtl val="0"/>
                  </a:rPr>
                  <a:t>CPLEX Solve</a:t>
                </a:r>
              </a:p>
            </p:txBody>
          </p:sp>
          <p:sp>
            <p:nvSpPr>
              <p:cNvPr id="252" name="Rounded Rectangle 251">
                <a:extLst>
                  <a:ext uri="{FF2B5EF4-FFF2-40B4-BE49-F238E27FC236}">
                    <a16:creationId xmlns:a16="http://schemas.microsoft.com/office/drawing/2014/main" id="{D6C9E184-AF23-DB38-9798-620106C8E75E}"/>
                  </a:ext>
                </a:extLst>
              </p:cNvPr>
              <p:cNvSpPr/>
              <p:nvPr/>
            </p:nvSpPr>
            <p:spPr>
              <a:xfrm>
                <a:off x="5588387" y="5487445"/>
                <a:ext cx="767764" cy="406090"/>
              </a:xfrm>
              <a:prstGeom prst="roundRect">
                <a:avLst>
                  <a:gd name="adj" fmla="val 9375"/>
                </a:avLst>
              </a:prstGeom>
              <a:grpFill/>
              <a:ln w="6344" cap="flat">
                <a:solidFill>
                  <a:srgbClr val="E2C27F"/>
                </a:solidFill>
                <a:prstDash val="solid"/>
                <a:miter/>
              </a:ln>
            </p:spPr>
            <p:txBody>
              <a:bodyPr/>
              <a:lstStyle/>
              <a:p>
                <a:endParaRPr lang="en-US" sz="1050"/>
              </a:p>
            </p:txBody>
          </p:sp>
          <p:sp>
            <p:nvSpPr>
              <p:cNvPr id="253" name="TextBox 252">
                <a:extLst>
                  <a:ext uri="{FF2B5EF4-FFF2-40B4-BE49-F238E27FC236}">
                    <a16:creationId xmlns:a16="http://schemas.microsoft.com/office/drawing/2014/main" id="{0CFC0959-4679-93B5-30B2-E033CEFCCBDE}"/>
                  </a:ext>
                </a:extLst>
              </p:cNvPr>
              <p:cNvSpPr txBox="1"/>
              <p:nvPr/>
            </p:nvSpPr>
            <p:spPr>
              <a:xfrm>
                <a:off x="5560398" y="5514192"/>
                <a:ext cx="683200" cy="184666"/>
              </a:xfrm>
              <a:prstGeom prst="rect">
                <a:avLst/>
              </a:prstGeom>
              <a:grpFill/>
            </p:spPr>
            <p:txBody>
              <a:bodyPr wrap="none" rtlCol="0">
                <a:spAutoFit/>
              </a:bodyPr>
              <a:lstStyle/>
              <a:p>
                <a:pPr algn="l"/>
                <a:r>
                  <a:rPr lang="en-US" sz="600" spc="0" baseline="0">
                    <a:ln/>
                    <a:latin typeface="Arial"/>
                    <a:cs typeface="Arial"/>
                    <a:sym typeface="Arial"/>
                    <a:rtl val="0"/>
                  </a:rPr>
                  <a:t>• Confirmed: B</a:t>
                </a:r>
              </a:p>
            </p:txBody>
          </p:sp>
          <p:sp>
            <p:nvSpPr>
              <p:cNvPr id="254" name="TextBox 253">
                <a:extLst>
                  <a:ext uri="{FF2B5EF4-FFF2-40B4-BE49-F238E27FC236}">
                    <a16:creationId xmlns:a16="http://schemas.microsoft.com/office/drawing/2014/main" id="{E41FCC71-0583-08E2-3D60-CD87F092A07E}"/>
                  </a:ext>
                </a:extLst>
              </p:cNvPr>
              <p:cNvSpPr txBox="1"/>
              <p:nvPr/>
            </p:nvSpPr>
            <p:spPr>
              <a:xfrm>
                <a:off x="5560398" y="5666476"/>
                <a:ext cx="755335" cy="184666"/>
              </a:xfrm>
              <a:prstGeom prst="rect">
                <a:avLst/>
              </a:prstGeom>
              <a:grpFill/>
            </p:spPr>
            <p:txBody>
              <a:bodyPr wrap="none" rtlCol="0">
                <a:spAutoFit/>
              </a:bodyPr>
              <a:lstStyle/>
              <a:p>
                <a:pPr algn="l"/>
                <a:r>
                  <a:rPr lang="en-US" sz="600" spc="0" baseline="0" dirty="0">
                    <a:ln/>
                    <a:latin typeface="Arial"/>
                    <a:cs typeface="Arial"/>
                    <a:sym typeface="Arial"/>
                    <a:rtl val="0"/>
                  </a:rPr>
                  <a:t>• Reserved: C, E</a:t>
                </a:r>
              </a:p>
            </p:txBody>
          </p:sp>
          <p:sp>
            <p:nvSpPr>
              <p:cNvPr id="255" name="Rounded Rectangle 254">
                <a:extLst>
                  <a:ext uri="{FF2B5EF4-FFF2-40B4-BE49-F238E27FC236}">
                    <a16:creationId xmlns:a16="http://schemas.microsoft.com/office/drawing/2014/main" id="{C79428AA-E753-DDB8-DC22-34CF71CB12E7}"/>
                  </a:ext>
                </a:extLst>
              </p:cNvPr>
              <p:cNvSpPr/>
              <p:nvPr/>
            </p:nvSpPr>
            <p:spPr>
              <a:xfrm>
                <a:off x="6483054" y="5341506"/>
                <a:ext cx="564719" cy="685277"/>
              </a:xfrm>
              <a:prstGeom prst="roundRect">
                <a:avLst>
                  <a:gd name="adj" fmla="val 8988"/>
                </a:avLst>
              </a:prstGeom>
              <a:grpFill/>
              <a:ln w="6344" cap="flat">
                <a:solidFill>
                  <a:srgbClr val="3F76C9"/>
                </a:solidFill>
                <a:prstDash val="solid"/>
                <a:miter/>
              </a:ln>
            </p:spPr>
            <p:txBody>
              <a:bodyPr/>
              <a:lstStyle/>
              <a:p>
                <a:endParaRPr lang="en-US" sz="1050"/>
              </a:p>
            </p:txBody>
          </p:sp>
          <p:sp>
            <p:nvSpPr>
              <p:cNvPr id="256" name="TextBox 255">
                <a:extLst>
                  <a:ext uri="{FF2B5EF4-FFF2-40B4-BE49-F238E27FC236}">
                    <a16:creationId xmlns:a16="http://schemas.microsoft.com/office/drawing/2014/main" id="{9952E5B0-A0D7-526F-5A5B-8A0193CC89A4}"/>
                  </a:ext>
                </a:extLst>
              </p:cNvPr>
              <p:cNvSpPr txBox="1"/>
              <p:nvPr/>
            </p:nvSpPr>
            <p:spPr>
              <a:xfrm>
                <a:off x="6478910" y="5387890"/>
                <a:ext cx="575799" cy="215444"/>
              </a:xfrm>
              <a:prstGeom prst="rect">
                <a:avLst/>
              </a:prstGeom>
              <a:grpFill/>
            </p:spPr>
            <p:txBody>
              <a:bodyPr wrap="none" rtlCol="0">
                <a:spAutoFit/>
              </a:bodyPr>
              <a:lstStyle/>
              <a:p>
                <a:pPr algn="l"/>
                <a:r>
                  <a:rPr lang="en-US" sz="800" b="1" spc="0" baseline="0">
                    <a:ln/>
                    <a:latin typeface="Arial"/>
                    <a:cs typeface="Arial"/>
                    <a:sym typeface="Arial"/>
                    <a:rtl val="0"/>
                  </a:rPr>
                  <a:t>Phase 2</a:t>
                </a:r>
              </a:p>
            </p:txBody>
          </p:sp>
          <p:sp>
            <p:nvSpPr>
              <p:cNvPr id="257" name="TextBox 256">
                <a:extLst>
                  <a:ext uri="{FF2B5EF4-FFF2-40B4-BE49-F238E27FC236}">
                    <a16:creationId xmlns:a16="http://schemas.microsoft.com/office/drawing/2014/main" id="{60076917-2A74-CA5A-E83B-1B1B164C10D8}"/>
                  </a:ext>
                </a:extLst>
              </p:cNvPr>
              <p:cNvSpPr txBox="1"/>
              <p:nvPr/>
            </p:nvSpPr>
            <p:spPr>
              <a:xfrm>
                <a:off x="6517185" y="5544716"/>
                <a:ext cx="420308" cy="169277"/>
              </a:xfrm>
              <a:prstGeom prst="rect">
                <a:avLst/>
              </a:prstGeom>
              <a:grpFill/>
            </p:spPr>
            <p:txBody>
              <a:bodyPr wrap="none" rtlCol="0">
                <a:spAutoFit/>
              </a:bodyPr>
              <a:lstStyle/>
              <a:p>
                <a:pPr algn="l"/>
                <a:r>
                  <a:rPr lang="en-US" sz="500" spc="0" baseline="0" dirty="0">
                    <a:ln/>
                    <a:latin typeface="Arial"/>
                    <a:cs typeface="Arial"/>
                    <a:sym typeface="Arial"/>
                    <a:rtl val="0"/>
                  </a:rPr>
                  <a:t>(8–12 h)</a:t>
                </a:r>
              </a:p>
            </p:txBody>
          </p:sp>
          <p:sp>
            <p:nvSpPr>
              <p:cNvPr id="259" name="Rounded Rectangle 258">
                <a:extLst>
                  <a:ext uri="{FF2B5EF4-FFF2-40B4-BE49-F238E27FC236}">
                    <a16:creationId xmlns:a16="http://schemas.microsoft.com/office/drawing/2014/main" id="{4DE05C25-63D9-6DDE-9934-1EE1AFA42A51}"/>
                  </a:ext>
                </a:extLst>
              </p:cNvPr>
              <p:cNvSpPr/>
              <p:nvPr/>
            </p:nvSpPr>
            <p:spPr>
              <a:xfrm>
                <a:off x="7066110" y="5502056"/>
                <a:ext cx="704312" cy="406090"/>
              </a:xfrm>
              <a:prstGeom prst="roundRect">
                <a:avLst>
                  <a:gd name="adj" fmla="val 9374"/>
                </a:avLst>
              </a:prstGeom>
              <a:grpFill/>
              <a:ln w="6344" cap="flat">
                <a:solidFill>
                  <a:srgbClr val="A5BFE8"/>
                </a:solidFill>
                <a:prstDash val="solid"/>
                <a:miter/>
              </a:ln>
            </p:spPr>
            <p:txBody>
              <a:bodyPr/>
              <a:lstStyle/>
              <a:p>
                <a:endParaRPr lang="en-US" sz="1050"/>
              </a:p>
            </p:txBody>
          </p:sp>
          <p:sp>
            <p:nvSpPr>
              <p:cNvPr id="260" name="TextBox 259">
                <a:extLst>
                  <a:ext uri="{FF2B5EF4-FFF2-40B4-BE49-F238E27FC236}">
                    <a16:creationId xmlns:a16="http://schemas.microsoft.com/office/drawing/2014/main" id="{F7E05683-0FF6-F642-FD9F-5C77D38446A5}"/>
                  </a:ext>
                </a:extLst>
              </p:cNvPr>
              <p:cNvSpPr txBox="1"/>
              <p:nvPr/>
            </p:nvSpPr>
            <p:spPr>
              <a:xfrm>
                <a:off x="7019785" y="5514192"/>
                <a:ext cx="780983" cy="184666"/>
              </a:xfrm>
              <a:prstGeom prst="rect">
                <a:avLst/>
              </a:prstGeom>
              <a:grpFill/>
            </p:spPr>
            <p:txBody>
              <a:bodyPr wrap="none" rtlCol="0">
                <a:spAutoFit/>
              </a:bodyPr>
              <a:lstStyle/>
              <a:p>
                <a:pPr algn="l"/>
                <a:r>
                  <a:rPr lang="en-US" sz="600" spc="0" baseline="0" dirty="0">
                    <a:ln/>
                    <a:latin typeface="Arial"/>
                    <a:cs typeface="Arial"/>
                    <a:sym typeface="Arial"/>
                    <a:rtl val="0"/>
                  </a:rPr>
                  <a:t>• Confirmed: C, E</a:t>
                </a:r>
              </a:p>
            </p:txBody>
          </p:sp>
          <p:sp>
            <p:nvSpPr>
              <p:cNvPr id="261" name="TextBox 260">
                <a:extLst>
                  <a:ext uri="{FF2B5EF4-FFF2-40B4-BE49-F238E27FC236}">
                    <a16:creationId xmlns:a16="http://schemas.microsoft.com/office/drawing/2014/main" id="{864B645E-3824-64C9-91E1-61F02D34D883}"/>
                  </a:ext>
                </a:extLst>
              </p:cNvPr>
              <p:cNvSpPr txBox="1"/>
              <p:nvPr/>
            </p:nvSpPr>
            <p:spPr>
              <a:xfrm>
                <a:off x="7019785" y="5666476"/>
                <a:ext cx="779381" cy="184666"/>
              </a:xfrm>
              <a:prstGeom prst="rect">
                <a:avLst/>
              </a:prstGeom>
              <a:grpFill/>
            </p:spPr>
            <p:txBody>
              <a:bodyPr wrap="none" rtlCol="0">
                <a:spAutoFit/>
              </a:bodyPr>
              <a:lstStyle/>
              <a:p>
                <a:pPr algn="l"/>
                <a:r>
                  <a:rPr lang="en-US" sz="600" spc="0" baseline="0">
                    <a:ln/>
                    <a:latin typeface="Arial"/>
                    <a:cs typeface="Arial"/>
                    <a:sym typeface="Arial"/>
                    <a:rtl val="0"/>
                  </a:rPr>
                  <a:t>• Reserved: none</a:t>
                </a:r>
              </a:p>
            </p:txBody>
          </p:sp>
          <p:sp>
            <p:nvSpPr>
              <p:cNvPr id="262" name="Freeform 261">
                <a:extLst>
                  <a:ext uri="{FF2B5EF4-FFF2-40B4-BE49-F238E27FC236}">
                    <a16:creationId xmlns:a16="http://schemas.microsoft.com/office/drawing/2014/main" id="{B72C262E-20EE-2DED-EF84-E4776661AB36}"/>
                  </a:ext>
                </a:extLst>
              </p:cNvPr>
              <p:cNvSpPr/>
              <p:nvPr/>
            </p:nvSpPr>
            <p:spPr>
              <a:xfrm>
                <a:off x="3596006" y="6096580"/>
                <a:ext cx="3166234" cy="158629"/>
              </a:xfrm>
              <a:custGeom>
                <a:avLst/>
                <a:gdLst>
                  <a:gd name="csX0" fmla="*/ 0 w 3166234"/>
                  <a:gd name="csY0" fmla="*/ 0 h 158629"/>
                  <a:gd name="csX1" fmla="*/ 0 w 3166234"/>
                  <a:gd name="csY1" fmla="*/ 158629 h 158629"/>
                  <a:gd name="csX2" fmla="*/ 3166235 w 3166234"/>
                  <a:gd name="csY2" fmla="*/ 158629 h 158629"/>
                  <a:gd name="csX3" fmla="*/ 3166235 w 3166234"/>
                  <a:gd name="csY3" fmla="*/ 0 h 158629"/>
                </a:gdLst>
                <a:ahLst/>
                <a:cxnLst>
                  <a:cxn ang="0">
                    <a:pos x="csX0" y="csY0"/>
                  </a:cxn>
                  <a:cxn ang="0">
                    <a:pos x="csX1" y="csY1"/>
                  </a:cxn>
                  <a:cxn ang="0">
                    <a:pos x="csX2" y="csY2"/>
                  </a:cxn>
                  <a:cxn ang="0">
                    <a:pos x="csX3" y="csY3"/>
                  </a:cxn>
                </a:cxnLst>
                <a:rect l="l" t="t" r="r" b="b"/>
                <a:pathLst>
                  <a:path w="3166234" h="158629">
                    <a:moveTo>
                      <a:pt x="0" y="0"/>
                    </a:moveTo>
                    <a:lnTo>
                      <a:pt x="0" y="158629"/>
                    </a:lnTo>
                    <a:lnTo>
                      <a:pt x="3166235" y="158629"/>
                    </a:lnTo>
                    <a:lnTo>
                      <a:pt x="3166235" y="0"/>
                    </a:lnTo>
                  </a:path>
                </a:pathLst>
              </a:custGeom>
              <a:grpFill/>
              <a:ln w="10150" cap="flat">
                <a:solidFill>
                  <a:srgbClr val="143C85"/>
                </a:solidFill>
                <a:prstDash val="solid"/>
                <a:miter/>
              </a:ln>
            </p:spPr>
            <p:txBody>
              <a:bodyPr/>
              <a:lstStyle/>
              <a:p>
                <a:endParaRPr lang="en-US" sz="1050"/>
              </a:p>
            </p:txBody>
          </p:sp>
          <p:sp>
            <p:nvSpPr>
              <p:cNvPr id="263" name="TextBox 262">
                <a:extLst>
                  <a:ext uri="{FF2B5EF4-FFF2-40B4-BE49-F238E27FC236}">
                    <a16:creationId xmlns:a16="http://schemas.microsoft.com/office/drawing/2014/main" id="{0389C1D7-AF54-6995-3250-A00E429BD100}"/>
                  </a:ext>
                </a:extLst>
              </p:cNvPr>
              <p:cNvSpPr txBox="1"/>
              <p:nvPr/>
            </p:nvSpPr>
            <p:spPr>
              <a:xfrm>
                <a:off x="3967037" y="6256576"/>
                <a:ext cx="2603598" cy="215444"/>
              </a:xfrm>
              <a:prstGeom prst="rect">
                <a:avLst/>
              </a:prstGeom>
              <a:grpFill/>
            </p:spPr>
            <p:txBody>
              <a:bodyPr wrap="none" rtlCol="0">
                <a:spAutoFit/>
              </a:bodyPr>
              <a:lstStyle/>
              <a:p>
                <a:pPr algn="l"/>
                <a:r>
                  <a:rPr lang="en-US" sz="800" spc="0" baseline="0">
                    <a:ln/>
                    <a:latin typeface="Arial"/>
                    <a:cs typeface="Arial"/>
                    <a:sym typeface="Arial"/>
                    <a:rtl val="0"/>
                  </a:rPr>
                  <a:t>Information (confirmed + reserved) is passed forward</a:t>
                </a:r>
              </a:p>
            </p:txBody>
          </p:sp>
        </p:grpSp>
        <p:sp>
          <p:nvSpPr>
            <p:cNvPr id="296" name="TextBox 295">
              <a:extLst>
                <a:ext uri="{FF2B5EF4-FFF2-40B4-BE49-F238E27FC236}">
                  <a16:creationId xmlns:a16="http://schemas.microsoft.com/office/drawing/2014/main" id="{8233FB32-0B92-A574-3DB6-18AEB9E214BD}"/>
                </a:ext>
              </a:extLst>
            </p:cNvPr>
            <p:cNvSpPr txBox="1"/>
            <p:nvPr/>
          </p:nvSpPr>
          <p:spPr>
            <a:xfrm>
              <a:off x="3274647" y="5753920"/>
              <a:ext cx="667170" cy="184666"/>
            </a:xfrm>
            <a:prstGeom prst="rect">
              <a:avLst/>
            </a:prstGeom>
            <a:grpFill/>
          </p:spPr>
          <p:txBody>
            <a:bodyPr wrap="none" rtlCol="0">
              <a:spAutoFit/>
            </a:bodyPr>
            <a:lstStyle/>
            <a:p>
              <a:pPr algn="l"/>
              <a:r>
                <a:rPr lang="en-US" sz="600" b="1" spc="0" baseline="0" dirty="0">
                  <a:ln/>
                  <a:latin typeface="Arial"/>
                  <a:cs typeface="Arial"/>
                  <a:sym typeface="Arial"/>
                  <a:rtl val="0"/>
                </a:rPr>
                <a:t>CPLEX Solve</a:t>
              </a:r>
            </a:p>
          </p:txBody>
        </p:sp>
        <p:sp>
          <p:nvSpPr>
            <p:cNvPr id="297" name="TextBox 296">
              <a:extLst>
                <a:ext uri="{FF2B5EF4-FFF2-40B4-BE49-F238E27FC236}">
                  <a16:creationId xmlns:a16="http://schemas.microsoft.com/office/drawing/2014/main" id="{F5DD31E8-2DA2-E312-1BFB-95F03EA667A0}"/>
                </a:ext>
              </a:extLst>
            </p:cNvPr>
            <p:cNvSpPr txBox="1"/>
            <p:nvPr/>
          </p:nvSpPr>
          <p:spPr>
            <a:xfrm>
              <a:off x="6454695" y="5753920"/>
              <a:ext cx="667170" cy="184666"/>
            </a:xfrm>
            <a:prstGeom prst="rect">
              <a:avLst/>
            </a:prstGeom>
            <a:grpFill/>
          </p:spPr>
          <p:txBody>
            <a:bodyPr wrap="none" rtlCol="0">
              <a:spAutoFit/>
            </a:bodyPr>
            <a:lstStyle/>
            <a:p>
              <a:pPr algn="l"/>
              <a:r>
                <a:rPr lang="en-US" sz="600" b="1" spc="0" baseline="0" dirty="0">
                  <a:ln/>
                  <a:latin typeface="Arial"/>
                  <a:cs typeface="Arial"/>
                  <a:sym typeface="Arial"/>
                  <a:rtl val="0"/>
                </a:rPr>
                <a:t>CPLEX Solve</a:t>
              </a:r>
            </a:p>
          </p:txBody>
        </p:sp>
      </p:grpSp>
      <p:grpSp>
        <p:nvGrpSpPr>
          <p:cNvPr id="301" name="Graphic 1">
            <a:extLst>
              <a:ext uri="{FF2B5EF4-FFF2-40B4-BE49-F238E27FC236}">
                <a16:creationId xmlns:a16="http://schemas.microsoft.com/office/drawing/2014/main" id="{EB0BF41B-8254-ADD9-D5FD-CECA94B4D84B}"/>
              </a:ext>
            </a:extLst>
          </p:cNvPr>
          <p:cNvGrpSpPr/>
          <p:nvPr/>
        </p:nvGrpSpPr>
        <p:grpSpPr>
          <a:xfrm>
            <a:off x="5761494" y="4974983"/>
            <a:ext cx="3828585" cy="1681516"/>
            <a:chOff x="10003377" y="7223629"/>
            <a:chExt cx="4238625" cy="2649038"/>
          </a:xfrm>
        </p:grpSpPr>
        <p:sp>
          <p:nvSpPr>
            <p:cNvPr id="302" name="Rounded Rectangle 301">
              <a:extLst>
                <a:ext uri="{FF2B5EF4-FFF2-40B4-BE49-F238E27FC236}">
                  <a16:creationId xmlns:a16="http://schemas.microsoft.com/office/drawing/2014/main" id="{C45E5F41-91E5-11D2-7A18-3EF549AA0559}"/>
                </a:ext>
              </a:extLst>
            </p:cNvPr>
            <p:cNvSpPr/>
            <p:nvPr/>
          </p:nvSpPr>
          <p:spPr>
            <a:xfrm>
              <a:off x="10003377" y="7223629"/>
              <a:ext cx="4238625" cy="2649038"/>
            </a:xfrm>
            <a:prstGeom prst="roundRect">
              <a:avLst>
                <a:gd name="adj" fmla="val 2238"/>
              </a:avLst>
            </a:prstGeom>
            <a:solidFill>
              <a:srgbClr val="FFFFFF"/>
            </a:solidFill>
            <a:ln w="9525" cap="flat">
              <a:solidFill>
                <a:srgbClr val="A5BFE8"/>
              </a:solidFill>
              <a:prstDash val="solid"/>
              <a:miter/>
            </a:ln>
          </p:spPr>
          <p:txBody>
            <a:bodyPr/>
            <a:lstStyle/>
            <a:p>
              <a:endParaRPr lang="en-US" sz="1100"/>
            </a:p>
          </p:txBody>
        </p:sp>
        <p:sp>
          <p:nvSpPr>
            <p:cNvPr id="303" name="TextBox 302">
              <a:extLst>
                <a:ext uri="{FF2B5EF4-FFF2-40B4-BE49-F238E27FC236}">
                  <a16:creationId xmlns:a16="http://schemas.microsoft.com/office/drawing/2014/main" id="{E9B68A58-C721-D687-675C-42300F010CA9}"/>
                </a:ext>
              </a:extLst>
            </p:cNvPr>
            <p:cNvSpPr txBox="1"/>
            <p:nvPr/>
          </p:nvSpPr>
          <p:spPr>
            <a:xfrm>
              <a:off x="11076389" y="7363994"/>
              <a:ext cx="1709122" cy="253916"/>
            </a:xfrm>
            <a:prstGeom prst="rect">
              <a:avLst/>
            </a:prstGeom>
            <a:noFill/>
          </p:spPr>
          <p:txBody>
            <a:bodyPr wrap="none" rtlCol="0">
              <a:spAutoFit/>
            </a:bodyPr>
            <a:lstStyle/>
            <a:p>
              <a:pPr algn="l"/>
              <a:r>
                <a:rPr lang="en-US" sz="1050" b="1" spc="0" baseline="0" dirty="0">
                  <a:ln/>
                  <a:solidFill>
                    <a:srgbClr val="123A83"/>
                  </a:solidFill>
                  <a:latin typeface="Arial"/>
                  <a:cs typeface="Arial"/>
                  <a:sym typeface="Arial"/>
                  <a:rtl val="0"/>
                </a:rPr>
                <a:t>Final Timetable (0–12 h)</a:t>
              </a:r>
            </a:p>
          </p:txBody>
        </p:sp>
        <p:sp>
          <p:nvSpPr>
            <p:cNvPr id="304" name="TextBox 303">
              <a:extLst>
                <a:ext uri="{FF2B5EF4-FFF2-40B4-BE49-F238E27FC236}">
                  <a16:creationId xmlns:a16="http://schemas.microsoft.com/office/drawing/2014/main" id="{9933C71D-605B-9281-E250-E1B569EE98D0}"/>
                </a:ext>
              </a:extLst>
            </p:cNvPr>
            <p:cNvSpPr txBox="1"/>
            <p:nvPr/>
          </p:nvSpPr>
          <p:spPr>
            <a:xfrm>
              <a:off x="10586085" y="7713118"/>
              <a:ext cx="335348" cy="184666"/>
            </a:xfrm>
            <a:prstGeom prst="rect">
              <a:avLst/>
            </a:prstGeom>
            <a:noFill/>
          </p:spPr>
          <p:txBody>
            <a:bodyPr wrap="none" rtlCol="0">
              <a:spAutoFit/>
            </a:bodyPr>
            <a:lstStyle/>
            <a:p>
              <a:pPr algn="l"/>
              <a:r>
                <a:rPr lang="en-US" sz="600" spc="0" baseline="0">
                  <a:ln/>
                  <a:solidFill>
                    <a:srgbClr val="111111"/>
                  </a:solidFill>
                  <a:latin typeface="Arial"/>
                  <a:cs typeface="Arial"/>
                  <a:sym typeface="Arial"/>
                  <a:rtl val="0"/>
                </a:rPr>
                <a:t>0:00</a:t>
              </a:r>
            </a:p>
          </p:txBody>
        </p:sp>
        <p:sp>
          <p:nvSpPr>
            <p:cNvPr id="305" name="TextBox 304">
              <a:extLst>
                <a:ext uri="{FF2B5EF4-FFF2-40B4-BE49-F238E27FC236}">
                  <a16:creationId xmlns:a16="http://schemas.microsoft.com/office/drawing/2014/main" id="{D3CCE37D-7A0C-B4FA-B5CC-6B6899ED8042}"/>
                </a:ext>
              </a:extLst>
            </p:cNvPr>
            <p:cNvSpPr txBox="1"/>
            <p:nvPr/>
          </p:nvSpPr>
          <p:spPr>
            <a:xfrm>
              <a:off x="11331534" y="7713117"/>
              <a:ext cx="335348" cy="184665"/>
            </a:xfrm>
            <a:prstGeom prst="rect">
              <a:avLst/>
            </a:prstGeom>
            <a:noFill/>
          </p:spPr>
          <p:txBody>
            <a:bodyPr wrap="none" rtlCol="0">
              <a:spAutoFit/>
            </a:bodyPr>
            <a:lstStyle/>
            <a:p>
              <a:pPr algn="l"/>
              <a:r>
                <a:rPr lang="en-US" sz="600" spc="0" baseline="0" dirty="0">
                  <a:ln/>
                  <a:solidFill>
                    <a:srgbClr val="111111"/>
                  </a:solidFill>
                  <a:latin typeface="Arial"/>
                  <a:cs typeface="Arial"/>
                  <a:sym typeface="Arial"/>
                  <a:rtl val="0"/>
                </a:rPr>
                <a:t>4:00</a:t>
              </a:r>
            </a:p>
          </p:txBody>
        </p:sp>
        <p:sp>
          <p:nvSpPr>
            <p:cNvPr id="306" name="TextBox 305">
              <a:extLst>
                <a:ext uri="{FF2B5EF4-FFF2-40B4-BE49-F238E27FC236}">
                  <a16:creationId xmlns:a16="http://schemas.microsoft.com/office/drawing/2014/main" id="{E47B4B68-57EA-D577-E484-727C2BE15802}"/>
                </a:ext>
              </a:extLst>
            </p:cNvPr>
            <p:cNvSpPr txBox="1"/>
            <p:nvPr/>
          </p:nvSpPr>
          <p:spPr>
            <a:xfrm>
              <a:off x="12180269" y="7730684"/>
              <a:ext cx="469443" cy="290920"/>
            </a:xfrm>
            <a:prstGeom prst="rect">
              <a:avLst/>
            </a:prstGeom>
            <a:noFill/>
          </p:spPr>
          <p:txBody>
            <a:bodyPr wrap="square" rtlCol="0">
              <a:spAutoFit/>
            </a:bodyPr>
            <a:lstStyle/>
            <a:p>
              <a:pPr algn="l"/>
              <a:r>
                <a:rPr lang="en-US" sz="600" spc="0" baseline="0" dirty="0">
                  <a:ln/>
                  <a:solidFill>
                    <a:srgbClr val="111111"/>
                  </a:solidFill>
                  <a:latin typeface="Arial"/>
                  <a:cs typeface="Arial"/>
                  <a:sym typeface="Arial"/>
                  <a:rtl val="0"/>
                </a:rPr>
                <a:t>8:00</a:t>
              </a:r>
            </a:p>
          </p:txBody>
        </p:sp>
        <p:sp>
          <p:nvSpPr>
            <p:cNvPr id="307" name="TextBox 306">
              <a:extLst>
                <a:ext uri="{FF2B5EF4-FFF2-40B4-BE49-F238E27FC236}">
                  <a16:creationId xmlns:a16="http://schemas.microsoft.com/office/drawing/2014/main" id="{F57769C5-AB65-2991-729D-435048FAB738}"/>
                </a:ext>
              </a:extLst>
            </p:cNvPr>
            <p:cNvSpPr txBox="1"/>
            <p:nvPr/>
          </p:nvSpPr>
          <p:spPr>
            <a:xfrm>
              <a:off x="12983611" y="7695550"/>
              <a:ext cx="378630" cy="184665"/>
            </a:xfrm>
            <a:prstGeom prst="rect">
              <a:avLst/>
            </a:prstGeom>
            <a:noFill/>
          </p:spPr>
          <p:txBody>
            <a:bodyPr wrap="none" rtlCol="0">
              <a:spAutoFit/>
            </a:bodyPr>
            <a:lstStyle/>
            <a:p>
              <a:pPr algn="l"/>
              <a:r>
                <a:rPr lang="en-US" sz="600" spc="0" baseline="0" dirty="0">
                  <a:ln/>
                  <a:solidFill>
                    <a:srgbClr val="111111"/>
                  </a:solidFill>
                  <a:latin typeface="Arial"/>
                  <a:cs typeface="Arial"/>
                  <a:sym typeface="Arial"/>
                  <a:rtl val="0"/>
                </a:rPr>
                <a:t>12:00</a:t>
              </a:r>
            </a:p>
          </p:txBody>
        </p:sp>
        <p:sp>
          <p:nvSpPr>
            <p:cNvPr id="308" name="Freeform 307">
              <a:extLst>
                <a:ext uri="{FF2B5EF4-FFF2-40B4-BE49-F238E27FC236}">
                  <a16:creationId xmlns:a16="http://schemas.microsoft.com/office/drawing/2014/main" id="{9C566AF3-1850-D91A-2E3B-0095C16D33BE}"/>
                </a:ext>
              </a:extLst>
            </p:cNvPr>
            <p:cNvSpPr/>
            <p:nvPr/>
          </p:nvSpPr>
          <p:spPr>
            <a:xfrm>
              <a:off x="10677525" y="7985234"/>
              <a:ext cx="2428875" cy="9525"/>
            </a:xfrm>
            <a:custGeom>
              <a:avLst/>
              <a:gdLst>
                <a:gd name="csX0" fmla="*/ 0 w 2428875"/>
                <a:gd name="csY0" fmla="*/ 0 h 9525"/>
                <a:gd name="csX1" fmla="*/ 2428875 w 2428875"/>
                <a:gd name="csY1" fmla="*/ 0 h 9525"/>
              </a:gdLst>
              <a:ahLst/>
              <a:cxnLst>
                <a:cxn ang="0">
                  <a:pos x="csX0" y="csY0"/>
                </a:cxn>
                <a:cxn ang="0">
                  <a:pos x="csX1" y="csY1"/>
                </a:cxn>
              </a:cxnLst>
              <a:rect l="l" t="t" r="r" b="b"/>
              <a:pathLst>
                <a:path w="2428875" h="9525">
                  <a:moveTo>
                    <a:pt x="0" y="0"/>
                  </a:moveTo>
                  <a:lnTo>
                    <a:pt x="2428875" y="0"/>
                  </a:lnTo>
                </a:path>
              </a:pathLst>
            </a:custGeom>
            <a:solidFill>
              <a:srgbClr val="000000"/>
            </a:solidFill>
            <a:ln w="11430" cap="flat">
              <a:solidFill>
                <a:srgbClr val="222222"/>
              </a:solidFill>
              <a:prstDash val="solid"/>
              <a:miter/>
            </a:ln>
          </p:spPr>
          <p:txBody>
            <a:bodyPr/>
            <a:lstStyle/>
            <a:p>
              <a:endParaRPr lang="en-US" sz="1100"/>
            </a:p>
          </p:txBody>
        </p:sp>
        <p:sp>
          <p:nvSpPr>
            <p:cNvPr id="309" name="Freeform 308">
              <a:extLst>
                <a:ext uri="{FF2B5EF4-FFF2-40B4-BE49-F238E27FC236}">
                  <a16:creationId xmlns:a16="http://schemas.microsoft.com/office/drawing/2014/main" id="{E8A52375-D3BC-0831-9A48-F181C5D38FDE}"/>
                </a:ext>
              </a:extLst>
            </p:cNvPr>
            <p:cNvSpPr/>
            <p:nvPr/>
          </p:nvSpPr>
          <p:spPr>
            <a:xfrm>
              <a:off x="10677525" y="7966184"/>
              <a:ext cx="2428875" cy="1504950"/>
            </a:xfrm>
            <a:custGeom>
              <a:avLst/>
              <a:gdLst>
                <a:gd name="csX0" fmla="*/ 0 w 2428875"/>
                <a:gd name="csY0" fmla="*/ 0 h 1504950"/>
                <a:gd name="csX1" fmla="*/ 0 w 2428875"/>
                <a:gd name="csY1" fmla="*/ 1504950 h 1504950"/>
                <a:gd name="csX2" fmla="*/ 2428875 w 2428875"/>
                <a:gd name="csY2" fmla="*/ 0 h 1504950"/>
                <a:gd name="csX3" fmla="*/ 2428875 w 2428875"/>
                <a:gd name="csY3" fmla="*/ 1504950 h 1504950"/>
              </a:gdLst>
              <a:ahLst/>
              <a:cxnLst>
                <a:cxn ang="0">
                  <a:pos x="csX0" y="csY0"/>
                </a:cxn>
                <a:cxn ang="0">
                  <a:pos x="csX1" y="csY1"/>
                </a:cxn>
                <a:cxn ang="0">
                  <a:pos x="csX2" y="csY2"/>
                </a:cxn>
                <a:cxn ang="0">
                  <a:pos x="csX3" y="csY3"/>
                </a:cxn>
              </a:cxnLst>
              <a:rect l="l" t="t" r="r" b="b"/>
              <a:pathLst>
                <a:path w="2428875" h="1504950">
                  <a:moveTo>
                    <a:pt x="0" y="0"/>
                  </a:moveTo>
                  <a:lnTo>
                    <a:pt x="0" y="1504950"/>
                  </a:lnTo>
                  <a:moveTo>
                    <a:pt x="2428875" y="0"/>
                  </a:moveTo>
                  <a:lnTo>
                    <a:pt x="2428875" y="1504950"/>
                  </a:lnTo>
                </a:path>
              </a:pathLst>
            </a:custGeom>
            <a:solidFill>
              <a:srgbClr val="000000"/>
            </a:solidFill>
            <a:ln w="9525" cap="flat">
              <a:solidFill>
                <a:srgbClr val="999999"/>
              </a:solidFill>
              <a:custDash>
                <a:ds d="450000" sp="300000"/>
              </a:custDash>
              <a:miter/>
            </a:ln>
          </p:spPr>
          <p:txBody>
            <a:bodyPr/>
            <a:lstStyle/>
            <a:p>
              <a:endParaRPr lang="en-US" sz="1100"/>
            </a:p>
          </p:txBody>
        </p:sp>
        <p:sp>
          <p:nvSpPr>
            <p:cNvPr id="310" name="Freeform 309">
              <a:extLst>
                <a:ext uri="{FF2B5EF4-FFF2-40B4-BE49-F238E27FC236}">
                  <a16:creationId xmlns:a16="http://schemas.microsoft.com/office/drawing/2014/main" id="{C4CF150E-D1E2-8A4B-FDE2-3FBFABC49873}"/>
                </a:ext>
              </a:extLst>
            </p:cNvPr>
            <p:cNvSpPr/>
            <p:nvPr/>
          </p:nvSpPr>
          <p:spPr>
            <a:xfrm>
              <a:off x="11487150" y="7937609"/>
              <a:ext cx="809625" cy="1552575"/>
            </a:xfrm>
            <a:custGeom>
              <a:avLst/>
              <a:gdLst>
                <a:gd name="csX0" fmla="*/ 0 w 809625"/>
                <a:gd name="csY0" fmla="*/ 0 h 1552575"/>
                <a:gd name="csX1" fmla="*/ 0 w 809625"/>
                <a:gd name="csY1" fmla="*/ 1552575 h 1552575"/>
                <a:gd name="csX2" fmla="*/ 809625 w 809625"/>
                <a:gd name="csY2" fmla="*/ 0 h 1552575"/>
                <a:gd name="csX3" fmla="*/ 809625 w 809625"/>
                <a:gd name="csY3" fmla="*/ 1552575 h 1552575"/>
              </a:gdLst>
              <a:ahLst/>
              <a:cxnLst>
                <a:cxn ang="0">
                  <a:pos x="csX0" y="csY0"/>
                </a:cxn>
                <a:cxn ang="0">
                  <a:pos x="csX1" y="csY1"/>
                </a:cxn>
                <a:cxn ang="0">
                  <a:pos x="csX2" y="csY2"/>
                </a:cxn>
                <a:cxn ang="0">
                  <a:pos x="csX3" y="csY3"/>
                </a:cxn>
              </a:cxnLst>
              <a:rect l="l" t="t" r="r" b="b"/>
              <a:pathLst>
                <a:path w="809625" h="1552575">
                  <a:moveTo>
                    <a:pt x="0" y="0"/>
                  </a:moveTo>
                  <a:lnTo>
                    <a:pt x="0" y="1552575"/>
                  </a:lnTo>
                  <a:moveTo>
                    <a:pt x="809625" y="0"/>
                  </a:moveTo>
                  <a:lnTo>
                    <a:pt x="809625" y="1552575"/>
                  </a:lnTo>
                </a:path>
              </a:pathLst>
            </a:custGeom>
            <a:solidFill>
              <a:srgbClr val="000000"/>
            </a:solidFill>
            <a:ln w="9525" cap="flat">
              <a:solidFill>
                <a:srgbClr val="999999"/>
              </a:solidFill>
              <a:custDash>
                <a:ds d="450000" sp="300000"/>
              </a:custDash>
              <a:miter/>
            </a:ln>
          </p:spPr>
          <p:txBody>
            <a:bodyPr/>
            <a:lstStyle/>
            <a:p>
              <a:endParaRPr lang="en-US" sz="1100"/>
            </a:p>
          </p:txBody>
        </p:sp>
        <p:sp>
          <p:nvSpPr>
            <p:cNvPr id="311" name="TextBox 310">
              <a:extLst>
                <a:ext uri="{FF2B5EF4-FFF2-40B4-BE49-F238E27FC236}">
                  <a16:creationId xmlns:a16="http://schemas.microsoft.com/office/drawing/2014/main" id="{C7BCD6F3-31C8-E4D5-A256-469A7DC48FED}"/>
                </a:ext>
              </a:extLst>
            </p:cNvPr>
            <p:cNvSpPr txBox="1"/>
            <p:nvPr/>
          </p:nvSpPr>
          <p:spPr>
            <a:xfrm>
              <a:off x="10109835" y="7992050"/>
              <a:ext cx="582211" cy="230832"/>
            </a:xfrm>
            <a:prstGeom prst="rect">
              <a:avLst/>
            </a:prstGeom>
            <a:noFill/>
          </p:spPr>
          <p:txBody>
            <a:bodyPr wrap="none" rtlCol="0">
              <a:spAutoFit/>
            </a:bodyPr>
            <a:lstStyle/>
            <a:p>
              <a:pPr algn="l"/>
              <a:r>
                <a:rPr lang="en-US" sz="900" b="1" spc="0" baseline="0">
                  <a:ln/>
                  <a:solidFill>
                    <a:srgbClr val="123A83"/>
                  </a:solidFill>
                  <a:latin typeface="Arial"/>
                  <a:cs typeface="Arial"/>
                  <a:sym typeface="Arial"/>
                  <a:rtl val="0"/>
                </a:rPr>
                <a:t>Train A</a:t>
              </a:r>
            </a:p>
          </p:txBody>
        </p:sp>
        <p:sp>
          <p:nvSpPr>
            <p:cNvPr id="312" name="TextBox 311">
              <a:extLst>
                <a:ext uri="{FF2B5EF4-FFF2-40B4-BE49-F238E27FC236}">
                  <a16:creationId xmlns:a16="http://schemas.microsoft.com/office/drawing/2014/main" id="{6388D0A2-FA8D-924F-0FBE-834705C3F44A}"/>
                </a:ext>
              </a:extLst>
            </p:cNvPr>
            <p:cNvSpPr txBox="1"/>
            <p:nvPr/>
          </p:nvSpPr>
          <p:spPr>
            <a:xfrm>
              <a:off x="10109835" y="8287325"/>
              <a:ext cx="582211" cy="230832"/>
            </a:xfrm>
            <a:prstGeom prst="rect">
              <a:avLst/>
            </a:prstGeom>
            <a:noFill/>
          </p:spPr>
          <p:txBody>
            <a:bodyPr wrap="none" rtlCol="0">
              <a:spAutoFit/>
            </a:bodyPr>
            <a:lstStyle/>
            <a:p>
              <a:pPr algn="l"/>
              <a:r>
                <a:rPr lang="en-US" sz="900" b="1" spc="0" baseline="0">
                  <a:ln/>
                  <a:solidFill>
                    <a:srgbClr val="D4540B"/>
                  </a:solidFill>
                  <a:latin typeface="Arial"/>
                  <a:cs typeface="Arial"/>
                  <a:sym typeface="Arial"/>
                  <a:rtl val="0"/>
                </a:rPr>
                <a:t>Train B</a:t>
              </a:r>
            </a:p>
          </p:txBody>
        </p:sp>
        <p:sp>
          <p:nvSpPr>
            <p:cNvPr id="313" name="TextBox 312">
              <a:extLst>
                <a:ext uri="{FF2B5EF4-FFF2-40B4-BE49-F238E27FC236}">
                  <a16:creationId xmlns:a16="http://schemas.microsoft.com/office/drawing/2014/main" id="{894FB96F-52B8-88BD-D58F-F8561AD4AB71}"/>
                </a:ext>
              </a:extLst>
            </p:cNvPr>
            <p:cNvSpPr txBox="1"/>
            <p:nvPr/>
          </p:nvSpPr>
          <p:spPr>
            <a:xfrm>
              <a:off x="10109835" y="8582600"/>
              <a:ext cx="582211" cy="230832"/>
            </a:xfrm>
            <a:prstGeom prst="rect">
              <a:avLst/>
            </a:prstGeom>
            <a:noFill/>
          </p:spPr>
          <p:txBody>
            <a:bodyPr wrap="none" rtlCol="0">
              <a:spAutoFit/>
            </a:bodyPr>
            <a:lstStyle/>
            <a:p>
              <a:pPr algn="l"/>
              <a:r>
                <a:rPr lang="en-US" sz="900" b="1" spc="0" baseline="0">
                  <a:ln/>
                  <a:solidFill>
                    <a:srgbClr val="1C6A2A"/>
                  </a:solidFill>
                  <a:latin typeface="Arial"/>
                  <a:cs typeface="Arial"/>
                  <a:sym typeface="Arial"/>
                  <a:rtl val="0"/>
                </a:rPr>
                <a:t>Train C</a:t>
              </a:r>
            </a:p>
          </p:txBody>
        </p:sp>
        <p:sp>
          <p:nvSpPr>
            <p:cNvPr id="314" name="TextBox 313">
              <a:extLst>
                <a:ext uri="{FF2B5EF4-FFF2-40B4-BE49-F238E27FC236}">
                  <a16:creationId xmlns:a16="http://schemas.microsoft.com/office/drawing/2014/main" id="{56687E2F-A46C-EF19-2D64-610CB25BEE90}"/>
                </a:ext>
              </a:extLst>
            </p:cNvPr>
            <p:cNvSpPr txBox="1"/>
            <p:nvPr/>
          </p:nvSpPr>
          <p:spPr>
            <a:xfrm>
              <a:off x="10109835" y="8877875"/>
              <a:ext cx="582211" cy="230832"/>
            </a:xfrm>
            <a:prstGeom prst="rect">
              <a:avLst/>
            </a:prstGeom>
            <a:noFill/>
          </p:spPr>
          <p:txBody>
            <a:bodyPr wrap="none" rtlCol="0">
              <a:spAutoFit/>
            </a:bodyPr>
            <a:lstStyle/>
            <a:p>
              <a:pPr algn="l"/>
              <a:r>
                <a:rPr lang="en-US" sz="900" b="1" spc="0" baseline="0">
                  <a:ln/>
                  <a:solidFill>
                    <a:srgbClr val="5A1AA6"/>
                  </a:solidFill>
                  <a:latin typeface="Arial"/>
                  <a:cs typeface="Arial"/>
                  <a:sym typeface="Arial"/>
                  <a:rtl val="0"/>
                </a:rPr>
                <a:t>Train D</a:t>
              </a:r>
            </a:p>
          </p:txBody>
        </p:sp>
        <p:sp>
          <p:nvSpPr>
            <p:cNvPr id="315" name="TextBox 314">
              <a:extLst>
                <a:ext uri="{FF2B5EF4-FFF2-40B4-BE49-F238E27FC236}">
                  <a16:creationId xmlns:a16="http://schemas.microsoft.com/office/drawing/2014/main" id="{3D88BFE4-DF08-8640-0046-2C00961BF5F1}"/>
                </a:ext>
              </a:extLst>
            </p:cNvPr>
            <p:cNvSpPr txBox="1"/>
            <p:nvPr/>
          </p:nvSpPr>
          <p:spPr>
            <a:xfrm>
              <a:off x="10109835" y="9173150"/>
              <a:ext cx="575799" cy="230832"/>
            </a:xfrm>
            <a:prstGeom prst="rect">
              <a:avLst/>
            </a:prstGeom>
            <a:noFill/>
          </p:spPr>
          <p:txBody>
            <a:bodyPr wrap="none" rtlCol="0">
              <a:spAutoFit/>
            </a:bodyPr>
            <a:lstStyle/>
            <a:p>
              <a:pPr algn="l"/>
              <a:r>
                <a:rPr lang="en-US" sz="900" b="1" spc="0" baseline="0">
                  <a:ln/>
                  <a:solidFill>
                    <a:srgbClr val="5D5D5D"/>
                  </a:solidFill>
                  <a:latin typeface="Arial"/>
                  <a:cs typeface="Arial"/>
                  <a:sym typeface="Arial"/>
                  <a:rtl val="0"/>
                </a:rPr>
                <a:t>Train E</a:t>
              </a:r>
            </a:p>
          </p:txBody>
        </p:sp>
        <p:sp>
          <p:nvSpPr>
            <p:cNvPr id="316" name="Rounded Rectangle 315">
              <a:extLst>
                <a:ext uri="{FF2B5EF4-FFF2-40B4-BE49-F238E27FC236}">
                  <a16:creationId xmlns:a16="http://schemas.microsoft.com/office/drawing/2014/main" id="{A6ED3152-FD08-50B9-E087-6AB53CE84815}"/>
                </a:ext>
              </a:extLst>
            </p:cNvPr>
            <p:cNvSpPr/>
            <p:nvPr/>
          </p:nvSpPr>
          <p:spPr>
            <a:xfrm>
              <a:off x="10810875" y="8090009"/>
              <a:ext cx="533400" cy="104775"/>
            </a:xfrm>
            <a:prstGeom prst="roundRect">
              <a:avLst>
                <a:gd name="adj" fmla="val 27272"/>
              </a:avLst>
            </a:prstGeom>
            <a:solidFill>
              <a:srgbClr val="144A92"/>
            </a:solidFill>
            <a:ln w="9525" cap="flat">
              <a:noFill/>
              <a:prstDash val="solid"/>
              <a:miter/>
            </a:ln>
          </p:spPr>
          <p:txBody>
            <a:bodyPr/>
            <a:lstStyle/>
            <a:p>
              <a:endParaRPr lang="en-US" sz="1100"/>
            </a:p>
          </p:txBody>
        </p:sp>
        <p:sp>
          <p:nvSpPr>
            <p:cNvPr id="317" name="TextBox 316">
              <a:extLst>
                <a:ext uri="{FF2B5EF4-FFF2-40B4-BE49-F238E27FC236}">
                  <a16:creationId xmlns:a16="http://schemas.microsoft.com/office/drawing/2014/main" id="{7097018D-5A69-F8F7-0F77-0952BB02568D}"/>
                </a:ext>
              </a:extLst>
            </p:cNvPr>
            <p:cNvSpPr txBox="1"/>
            <p:nvPr/>
          </p:nvSpPr>
          <p:spPr>
            <a:xfrm>
              <a:off x="10738485" y="7902716"/>
              <a:ext cx="502061" cy="169277"/>
            </a:xfrm>
            <a:prstGeom prst="rect">
              <a:avLst/>
            </a:prstGeom>
            <a:noFill/>
          </p:spPr>
          <p:txBody>
            <a:bodyPr wrap="none" rtlCol="0">
              <a:spAutoFit/>
            </a:bodyPr>
            <a:lstStyle/>
            <a:p>
              <a:pPr algn="l"/>
              <a:r>
                <a:rPr lang="en-US" sz="500" spc="0" baseline="0">
                  <a:ln/>
                  <a:solidFill>
                    <a:srgbClr val="123A83"/>
                  </a:solidFill>
                  <a:latin typeface="Arial"/>
                  <a:cs typeface="Arial"/>
                  <a:sym typeface="Arial"/>
                  <a:rtl val="0"/>
                </a:rPr>
                <a:t>0:30 – 2:30</a:t>
              </a:r>
            </a:p>
          </p:txBody>
        </p:sp>
        <p:sp>
          <p:nvSpPr>
            <p:cNvPr id="318" name="Rounded Rectangle 317">
              <a:extLst>
                <a:ext uri="{FF2B5EF4-FFF2-40B4-BE49-F238E27FC236}">
                  <a16:creationId xmlns:a16="http://schemas.microsoft.com/office/drawing/2014/main" id="{377A2709-507A-7C60-72DD-3276B93B4BFE}"/>
                </a:ext>
              </a:extLst>
            </p:cNvPr>
            <p:cNvSpPr/>
            <p:nvPr/>
          </p:nvSpPr>
          <p:spPr>
            <a:xfrm>
              <a:off x="11029950" y="8385284"/>
              <a:ext cx="876300" cy="104775"/>
            </a:xfrm>
            <a:prstGeom prst="roundRect">
              <a:avLst>
                <a:gd name="adj" fmla="val 27272"/>
              </a:avLst>
            </a:prstGeom>
            <a:solidFill>
              <a:srgbClr val="DF5B0B"/>
            </a:solidFill>
            <a:ln w="9525" cap="flat">
              <a:noFill/>
              <a:prstDash val="solid"/>
              <a:miter/>
            </a:ln>
          </p:spPr>
          <p:txBody>
            <a:bodyPr/>
            <a:lstStyle/>
            <a:p>
              <a:endParaRPr lang="en-US" sz="1100"/>
            </a:p>
          </p:txBody>
        </p:sp>
        <p:sp>
          <p:nvSpPr>
            <p:cNvPr id="319" name="TextBox 318">
              <a:extLst>
                <a:ext uri="{FF2B5EF4-FFF2-40B4-BE49-F238E27FC236}">
                  <a16:creationId xmlns:a16="http://schemas.microsoft.com/office/drawing/2014/main" id="{3B22CEAC-B2BD-63D6-CCA2-64A9E0F628CF}"/>
                </a:ext>
              </a:extLst>
            </p:cNvPr>
            <p:cNvSpPr txBox="1"/>
            <p:nvPr/>
          </p:nvSpPr>
          <p:spPr>
            <a:xfrm>
              <a:off x="10948035" y="8197991"/>
              <a:ext cx="502061" cy="169277"/>
            </a:xfrm>
            <a:prstGeom prst="rect">
              <a:avLst/>
            </a:prstGeom>
            <a:noFill/>
          </p:spPr>
          <p:txBody>
            <a:bodyPr wrap="none" rtlCol="0">
              <a:spAutoFit/>
            </a:bodyPr>
            <a:lstStyle/>
            <a:p>
              <a:pPr algn="l"/>
              <a:r>
                <a:rPr lang="en-US" sz="500" spc="0" baseline="0">
                  <a:ln/>
                  <a:solidFill>
                    <a:srgbClr val="D4540B"/>
                  </a:solidFill>
                  <a:latin typeface="Arial"/>
                  <a:cs typeface="Arial"/>
                  <a:sym typeface="Arial"/>
                  <a:rtl val="0"/>
                </a:rPr>
                <a:t>2:00 – 5:30</a:t>
              </a:r>
            </a:p>
          </p:txBody>
        </p:sp>
        <p:sp>
          <p:nvSpPr>
            <p:cNvPr id="320" name="Rounded Rectangle 319">
              <a:extLst>
                <a:ext uri="{FF2B5EF4-FFF2-40B4-BE49-F238E27FC236}">
                  <a16:creationId xmlns:a16="http://schemas.microsoft.com/office/drawing/2014/main" id="{6A987829-41AA-CB6C-59ED-DD100B9D3599}"/>
                </a:ext>
              </a:extLst>
            </p:cNvPr>
            <p:cNvSpPr/>
            <p:nvPr/>
          </p:nvSpPr>
          <p:spPr>
            <a:xfrm>
              <a:off x="11306175" y="8680559"/>
              <a:ext cx="1543050" cy="104775"/>
            </a:xfrm>
            <a:prstGeom prst="roundRect">
              <a:avLst>
                <a:gd name="adj" fmla="val 27272"/>
              </a:avLst>
            </a:prstGeom>
            <a:solidFill>
              <a:srgbClr val="31803A"/>
            </a:solidFill>
            <a:ln w="9525" cap="flat">
              <a:noFill/>
              <a:prstDash val="solid"/>
              <a:miter/>
            </a:ln>
          </p:spPr>
          <p:txBody>
            <a:bodyPr/>
            <a:lstStyle/>
            <a:p>
              <a:endParaRPr lang="en-US" sz="1100"/>
            </a:p>
          </p:txBody>
        </p:sp>
        <p:sp>
          <p:nvSpPr>
            <p:cNvPr id="321" name="TextBox 320">
              <a:extLst>
                <a:ext uri="{FF2B5EF4-FFF2-40B4-BE49-F238E27FC236}">
                  <a16:creationId xmlns:a16="http://schemas.microsoft.com/office/drawing/2014/main" id="{3949A6BF-90BD-E226-5D4D-97692D4ECCA0}"/>
                </a:ext>
              </a:extLst>
            </p:cNvPr>
            <p:cNvSpPr txBox="1"/>
            <p:nvPr/>
          </p:nvSpPr>
          <p:spPr>
            <a:xfrm>
              <a:off x="11233785" y="8493266"/>
              <a:ext cx="537327" cy="169277"/>
            </a:xfrm>
            <a:prstGeom prst="rect">
              <a:avLst/>
            </a:prstGeom>
            <a:noFill/>
          </p:spPr>
          <p:txBody>
            <a:bodyPr wrap="none" rtlCol="0">
              <a:spAutoFit/>
            </a:bodyPr>
            <a:lstStyle/>
            <a:p>
              <a:pPr algn="l"/>
              <a:r>
                <a:rPr lang="en-US" sz="500" spc="0" baseline="0">
                  <a:ln/>
                  <a:solidFill>
                    <a:srgbClr val="1C6A2A"/>
                  </a:solidFill>
                  <a:latin typeface="Arial"/>
                  <a:cs typeface="Arial"/>
                  <a:sym typeface="Arial"/>
                  <a:rtl val="0"/>
                </a:rPr>
                <a:t>3:00 – 11:00</a:t>
              </a:r>
            </a:p>
          </p:txBody>
        </p:sp>
        <p:sp>
          <p:nvSpPr>
            <p:cNvPr id="322" name="Rounded Rectangle 321">
              <a:extLst>
                <a:ext uri="{FF2B5EF4-FFF2-40B4-BE49-F238E27FC236}">
                  <a16:creationId xmlns:a16="http://schemas.microsoft.com/office/drawing/2014/main" id="{C2256366-0B67-F4F3-0A09-DB46333AC77A}"/>
                </a:ext>
              </a:extLst>
            </p:cNvPr>
            <p:cNvSpPr/>
            <p:nvPr/>
          </p:nvSpPr>
          <p:spPr>
            <a:xfrm>
              <a:off x="10982325" y="8975834"/>
              <a:ext cx="523875" cy="104775"/>
            </a:xfrm>
            <a:prstGeom prst="roundRect">
              <a:avLst>
                <a:gd name="adj" fmla="val 27272"/>
              </a:avLst>
            </a:prstGeom>
            <a:solidFill>
              <a:srgbClr val="5B24A7"/>
            </a:solidFill>
            <a:ln w="9525" cap="flat">
              <a:noFill/>
              <a:prstDash val="solid"/>
              <a:miter/>
            </a:ln>
          </p:spPr>
          <p:txBody>
            <a:bodyPr/>
            <a:lstStyle/>
            <a:p>
              <a:endParaRPr lang="en-US" sz="1100"/>
            </a:p>
          </p:txBody>
        </p:sp>
        <p:sp>
          <p:nvSpPr>
            <p:cNvPr id="323" name="TextBox 322">
              <a:extLst>
                <a:ext uri="{FF2B5EF4-FFF2-40B4-BE49-F238E27FC236}">
                  <a16:creationId xmlns:a16="http://schemas.microsoft.com/office/drawing/2014/main" id="{BAFA326C-4A7D-8618-134E-1B5040BD9C38}"/>
                </a:ext>
              </a:extLst>
            </p:cNvPr>
            <p:cNvSpPr txBox="1"/>
            <p:nvPr/>
          </p:nvSpPr>
          <p:spPr>
            <a:xfrm>
              <a:off x="10900410" y="8788541"/>
              <a:ext cx="502061" cy="169277"/>
            </a:xfrm>
            <a:prstGeom prst="rect">
              <a:avLst/>
            </a:prstGeom>
            <a:noFill/>
          </p:spPr>
          <p:txBody>
            <a:bodyPr wrap="none" rtlCol="0">
              <a:spAutoFit/>
            </a:bodyPr>
            <a:lstStyle/>
            <a:p>
              <a:pPr algn="l"/>
              <a:r>
                <a:rPr lang="en-US" sz="500" spc="0" baseline="0">
                  <a:ln/>
                  <a:solidFill>
                    <a:srgbClr val="5A1AA6"/>
                  </a:solidFill>
                  <a:latin typeface="Arial"/>
                  <a:cs typeface="Arial"/>
                  <a:sym typeface="Arial"/>
                  <a:rtl val="0"/>
                </a:rPr>
                <a:t>1:00 – 3:30</a:t>
              </a:r>
            </a:p>
          </p:txBody>
        </p:sp>
        <p:sp>
          <p:nvSpPr>
            <p:cNvPr id="324" name="Rounded Rectangle 323">
              <a:extLst>
                <a:ext uri="{FF2B5EF4-FFF2-40B4-BE49-F238E27FC236}">
                  <a16:creationId xmlns:a16="http://schemas.microsoft.com/office/drawing/2014/main" id="{E5B6323D-A0D5-FA26-B105-EE4E0E6E9EB2}"/>
                </a:ext>
              </a:extLst>
            </p:cNvPr>
            <p:cNvSpPr/>
            <p:nvPr/>
          </p:nvSpPr>
          <p:spPr>
            <a:xfrm>
              <a:off x="11410950" y="9271109"/>
              <a:ext cx="1152525" cy="104775"/>
            </a:xfrm>
            <a:prstGeom prst="roundRect">
              <a:avLst>
                <a:gd name="adj" fmla="val 27272"/>
              </a:avLst>
            </a:prstGeom>
            <a:solidFill>
              <a:srgbClr val="777777"/>
            </a:solidFill>
            <a:ln w="9525" cap="flat">
              <a:noFill/>
              <a:prstDash val="solid"/>
              <a:miter/>
            </a:ln>
          </p:spPr>
          <p:txBody>
            <a:bodyPr/>
            <a:lstStyle/>
            <a:p>
              <a:endParaRPr lang="en-US" sz="1100"/>
            </a:p>
          </p:txBody>
        </p:sp>
        <p:sp>
          <p:nvSpPr>
            <p:cNvPr id="325" name="TextBox 324">
              <a:extLst>
                <a:ext uri="{FF2B5EF4-FFF2-40B4-BE49-F238E27FC236}">
                  <a16:creationId xmlns:a16="http://schemas.microsoft.com/office/drawing/2014/main" id="{8DAD5DCE-7B14-AB99-5C31-96A78D254FDB}"/>
                </a:ext>
              </a:extLst>
            </p:cNvPr>
            <p:cNvSpPr txBox="1"/>
            <p:nvPr/>
          </p:nvSpPr>
          <p:spPr>
            <a:xfrm>
              <a:off x="11338560" y="9083816"/>
              <a:ext cx="502061" cy="169277"/>
            </a:xfrm>
            <a:prstGeom prst="rect">
              <a:avLst/>
            </a:prstGeom>
            <a:noFill/>
          </p:spPr>
          <p:txBody>
            <a:bodyPr wrap="none" rtlCol="0">
              <a:spAutoFit/>
            </a:bodyPr>
            <a:lstStyle/>
            <a:p>
              <a:pPr algn="l"/>
              <a:r>
                <a:rPr lang="en-US" sz="500" spc="0" baseline="0">
                  <a:ln/>
                  <a:solidFill>
                    <a:srgbClr val="5D5D5D"/>
                  </a:solidFill>
                  <a:latin typeface="Arial"/>
                  <a:cs typeface="Arial"/>
                  <a:sym typeface="Arial"/>
                  <a:rtl val="0"/>
                </a:rPr>
                <a:t>4:30 – 9:30</a:t>
              </a:r>
            </a:p>
          </p:txBody>
        </p:sp>
        <p:sp>
          <p:nvSpPr>
            <p:cNvPr id="326" name="TextBox 325">
              <a:extLst>
                <a:ext uri="{FF2B5EF4-FFF2-40B4-BE49-F238E27FC236}">
                  <a16:creationId xmlns:a16="http://schemas.microsoft.com/office/drawing/2014/main" id="{B8DE6C03-F0F1-0C41-9989-CA633D313A4C}"/>
                </a:ext>
              </a:extLst>
            </p:cNvPr>
            <p:cNvSpPr txBox="1"/>
            <p:nvPr/>
          </p:nvSpPr>
          <p:spPr>
            <a:xfrm>
              <a:off x="11403065" y="9505623"/>
              <a:ext cx="838691" cy="230832"/>
            </a:xfrm>
            <a:prstGeom prst="rect">
              <a:avLst/>
            </a:prstGeom>
            <a:noFill/>
          </p:spPr>
          <p:txBody>
            <a:bodyPr wrap="none" rtlCol="0">
              <a:spAutoFit/>
            </a:bodyPr>
            <a:lstStyle/>
            <a:p>
              <a:pPr algn="l"/>
              <a:r>
                <a:rPr lang="en-US" sz="900" spc="0" baseline="0">
                  <a:ln/>
                  <a:solidFill>
                    <a:srgbClr val="123A83"/>
                  </a:solidFill>
                  <a:latin typeface="Arial"/>
                  <a:cs typeface="Arial"/>
                  <a:sym typeface="Arial"/>
                  <a:rtl val="0"/>
                </a:rPr>
                <a:t>Time (hours)</a:t>
              </a:r>
            </a:p>
          </p:txBody>
        </p:sp>
      </p:grpSp>
      <p:sp>
        <p:nvSpPr>
          <p:cNvPr id="333" name="Freeform 332">
            <a:extLst>
              <a:ext uri="{FF2B5EF4-FFF2-40B4-BE49-F238E27FC236}">
                <a16:creationId xmlns:a16="http://schemas.microsoft.com/office/drawing/2014/main" id="{46934231-1819-5235-8F67-2DB5EC9DC494}"/>
              </a:ext>
            </a:extLst>
          </p:cNvPr>
          <p:cNvSpPr/>
          <p:nvPr/>
        </p:nvSpPr>
        <p:spPr>
          <a:xfrm flipV="1">
            <a:off x="4089861" y="3224603"/>
            <a:ext cx="1895302" cy="45719"/>
          </a:xfrm>
          <a:custGeom>
            <a:avLst/>
            <a:gdLst>
              <a:gd name="csX0" fmla="*/ 0 w 824870"/>
              <a:gd name="csY0" fmla="*/ 0 h 6345"/>
              <a:gd name="csX1" fmla="*/ 824871 w 824870"/>
              <a:gd name="csY1" fmla="*/ 0 h 6345"/>
            </a:gdLst>
            <a:ahLst/>
            <a:cxnLst>
              <a:cxn ang="0">
                <a:pos x="csX0" y="csY0"/>
              </a:cxn>
              <a:cxn ang="0">
                <a:pos x="csX1" y="csY1"/>
              </a:cxn>
            </a:cxnLst>
            <a:rect l="l" t="t" r="r" b="b"/>
            <a:pathLst>
              <a:path w="824870" h="6345">
                <a:moveTo>
                  <a:pt x="0" y="0"/>
                </a:moveTo>
                <a:lnTo>
                  <a:pt x="824871" y="0"/>
                </a:lnTo>
              </a:path>
            </a:pathLst>
          </a:custGeom>
          <a:noFill/>
          <a:ln w="19031" cap="flat">
            <a:solidFill>
              <a:srgbClr val="777777"/>
            </a:solidFill>
            <a:prstDash val="solid"/>
            <a:miter/>
          </a:ln>
        </p:spPr>
        <p:txBody>
          <a:bodyPr/>
          <a:lstStyle/>
          <a:p>
            <a:endParaRPr lang="en-US" sz="1050"/>
          </a:p>
        </p:txBody>
      </p:sp>
      <p:sp>
        <p:nvSpPr>
          <p:cNvPr id="334" name="Freeform 333">
            <a:extLst>
              <a:ext uri="{FF2B5EF4-FFF2-40B4-BE49-F238E27FC236}">
                <a16:creationId xmlns:a16="http://schemas.microsoft.com/office/drawing/2014/main" id="{6CABBC3F-F69F-74A4-1248-62A78AF97E01}"/>
              </a:ext>
            </a:extLst>
          </p:cNvPr>
          <p:cNvSpPr/>
          <p:nvPr/>
        </p:nvSpPr>
        <p:spPr>
          <a:xfrm flipV="1">
            <a:off x="2584892" y="3295997"/>
            <a:ext cx="582258" cy="45719"/>
          </a:xfrm>
          <a:custGeom>
            <a:avLst/>
            <a:gdLst>
              <a:gd name="csX0" fmla="*/ 0 w 824870"/>
              <a:gd name="csY0" fmla="*/ 0 h 6345"/>
              <a:gd name="csX1" fmla="*/ 824871 w 824870"/>
              <a:gd name="csY1" fmla="*/ 0 h 6345"/>
            </a:gdLst>
            <a:ahLst/>
            <a:cxnLst>
              <a:cxn ang="0">
                <a:pos x="csX0" y="csY0"/>
              </a:cxn>
              <a:cxn ang="0">
                <a:pos x="csX1" y="csY1"/>
              </a:cxn>
            </a:cxnLst>
            <a:rect l="l" t="t" r="r" b="b"/>
            <a:pathLst>
              <a:path w="824870" h="6345">
                <a:moveTo>
                  <a:pt x="0" y="0"/>
                </a:moveTo>
                <a:lnTo>
                  <a:pt x="824871" y="0"/>
                </a:lnTo>
              </a:path>
            </a:pathLst>
          </a:custGeom>
          <a:noFill/>
          <a:ln w="19031" cap="flat">
            <a:solidFill>
              <a:srgbClr val="777777"/>
            </a:solidFill>
            <a:prstDash val="solid"/>
            <a:miter/>
          </a:ln>
        </p:spPr>
        <p:txBody>
          <a:bodyPr/>
          <a:lstStyle/>
          <a:p>
            <a:endParaRPr lang="en-US" sz="1050"/>
          </a:p>
        </p:txBody>
      </p:sp>
    </p:spTree>
    <p:extLst>
      <p:ext uri="{BB962C8B-B14F-4D97-AF65-F5344CB8AC3E}">
        <p14:creationId xmlns:p14="http://schemas.microsoft.com/office/powerpoint/2010/main" val="299542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26A8A-09A2-4BB6-B2CC-6A13906DAEB2}"/>
              </a:ext>
            </a:extLst>
          </p:cNvPr>
          <p:cNvSpPr>
            <a:spLocks noGrp="1"/>
          </p:cNvSpPr>
          <p:nvPr/>
        </p:nvSpPr>
        <p:spPr>
          <a:xfrm>
            <a:off x="412595" y="301083"/>
            <a:ext cx="3044283" cy="369332"/>
          </a:xfrm>
          <a:prstGeom prst="rect">
            <a:avLst/>
          </a:prstGeom>
          <a:noFill/>
        </p:spPr>
        <p:txBody>
          <a:bodyPr wrap="square">
            <a:spAutoFit/>
          </a:bodyPr>
          <a:lstStyle/>
          <a:p>
            <a:r>
              <a:rPr dirty="0"/>
              <a:t>Small case result (12 trains)</a:t>
            </a:r>
          </a:p>
        </p:txBody>
      </p:sp>
      <p:graphicFrame>
        <p:nvGraphicFramePr>
          <p:cNvPr id="8" name="Table 2"/>
          <p:cNvGraphicFramePr/>
          <p:nvPr>
            <p:extLst>
              <p:ext uri="{D42A27DB-BD31-4B8C-83A1-F6EECF244321}">
                <p14:modId xmlns:p14="http://schemas.microsoft.com/office/powerpoint/2010/main" val="775113841"/>
              </p:ext>
            </p:extLst>
          </p:nvPr>
        </p:nvGraphicFramePr>
        <p:xfrm>
          <a:off x="592873" y="921327"/>
          <a:ext cx="9264805" cy="2377440"/>
        </p:xfrm>
        <a:graphic>
          <a:graphicData uri="http://schemas.openxmlformats.org/drawingml/2006/table">
            <a:tbl>
              <a:tblPr>
                <a:tableStyleId>{9D7B26C5-4107-4FEC-AEDC-1716B250A1EF}</a:tableStyleId>
              </a:tblPr>
              <a:tblGrid>
                <a:gridCol w="2032100">
                  <a:extLst>
                    <a:ext uri="{9D8B030D-6E8A-4147-A177-3AD203B41FA5}">
                      <a16:colId xmlns:a16="http://schemas.microsoft.com/office/drawing/2014/main" val="20000"/>
                    </a:ext>
                  </a:extLst>
                </a:gridCol>
                <a:gridCol w="7232705">
                  <a:extLst>
                    <a:ext uri="{9D8B030D-6E8A-4147-A177-3AD203B41FA5}">
                      <a16:colId xmlns:a16="http://schemas.microsoft.com/office/drawing/2014/main" val="20001"/>
                    </a:ext>
                  </a:extLst>
                </a:gridCol>
              </a:tblGrid>
              <a:tr h="240630">
                <a:tc>
                  <a:txBody>
                    <a:bodyPr/>
                    <a:lstStyle/>
                    <a:p>
                      <a:pPr algn="l">
                        <a:buNone/>
                      </a:pPr>
                      <a:r>
                        <a:rPr b="0">
                          <a:latin typeface="Times New Roman"/>
                          <a:ea typeface="Times New Roman"/>
                          <a:cs typeface="Times New Roman"/>
                        </a:rPr>
                        <a:t>Territory</a:t>
                      </a:r>
                    </a:p>
                  </a:txBody>
                  <a:tcPr anchor="ctr">
                    <a:lnB w="12700" cmpd="sng">
                      <a:solidFill>
                        <a:schemeClr val="tx1"/>
                      </a:solidFill>
                      <a:prstDash val="solid"/>
                    </a:lnB>
                  </a:tcPr>
                </a:tc>
                <a:tc>
                  <a:txBody>
                    <a:bodyPr/>
                    <a:lstStyle/>
                    <a:p>
                      <a:pPr algn="l">
                        <a:buNone/>
                      </a:pPr>
                      <a:r>
                        <a:rPr b="0">
                          <a:latin typeface="Times New Roman"/>
                          <a:ea typeface="Times New Roman"/>
                          <a:cs typeface="Times New Roman"/>
                        </a:rPr>
                        <a:t>MP 1590–1651 (Newton–Emporia), 88 arcs / 73 nodes</a:t>
                      </a:r>
                    </a:p>
                  </a:txBody>
                  <a:tcPr anchor="ctr">
                    <a:lnB w="12700" cmpd="sng">
                      <a:solidFill>
                        <a:schemeClr val="tx1"/>
                      </a:solidFill>
                      <a:prstDash val="solid"/>
                    </a:lnB>
                  </a:tcPr>
                </a:tc>
                <a:extLst>
                  <a:ext uri="{0D108BD9-81ED-4DB2-BD59-A6C34878D82A}">
                    <a16:rowId xmlns:a16="http://schemas.microsoft.com/office/drawing/2014/main" val="10000"/>
                  </a:ext>
                </a:extLst>
              </a:tr>
              <a:tr h="0">
                <a:tc>
                  <a:txBody>
                    <a:bodyPr/>
                    <a:lstStyle/>
                    <a:p>
                      <a:pPr algn="l">
                        <a:buNone/>
                      </a:pPr>
                      <a:r>
                        <a:rPr b="0">
                          <a:latin typeface="Times New Roman"/>
                          <a:ea typeface="Times New Roman"/>
                          <a:cs typeface="Times New Roman"/>
                        </a:rPr>
                        <a:t>Solution</a:t>
                      </a:r>
                    </a:p>
                  </a:txBody>
                  <a:tcPr anchor="ctr">
                    <a:lnT w="12700" cmpd="sng">
                      <a:solidFill>
                        <a:schemeClr val="tx1"/>
                      </a:solidFill>
                      <a:prstDash val="solid"/>
                    </a:lnT>
                  </a:tcPr>
                </a:tc>
                <a:tc>
                  <a:txBody>
                    <a:bodyPr/>
                    <a:lstStyle/>
                    <a:p>
                      <a:pPr algn="l">
                        <a:buNone/>
                      </a:pPr>
                      <a:r>
                        <a:rPr b="0">
                          <a:latin typeface="Times New Roman"/>
                          <a:ea typeface="Times New Roman"/>
                          <a:cs typeface="Times New Roman"/>
                        </a:rPr>
                        <a:t>Phase 0 = 2617.63; Phase 1 = 2632.03; both solved to Optimal</a:t>
                      </a:r>
                    </a:p>
                  </a:txBody>
                  <a:tcPr anchor="ctr">
                    <a:lnT w="12700" cmpd="sng">
                      <a:solidFill>
                        <a:schemeClr val="tx1"/>
                      </a:solidFill>
                      <a:prstDash val="solid"/>
                    </a:lnT>
                  </a:tcPr>
                </a:tc>
                <a:extLst>
                  <a:ext uri="{0D108BD9-81ED-4DB2-BD59-A6C34878D82A}">
                    <a16:rowId xmlns:a16="http://schemas.microsoft.com/office/drawing/2014/main" val="10001"/>
                  </a:ext>
                </a:extLst>
              </a:tr>
              <a:tr h="0">
                <a:tc>
                  <a:txBody>
                    <a:bodyPr/>
                    <a:lstStyle/>
                    <a:p>
                      <a:pPr algn="l">
                        <a:buNone/>
                      </a:pPr>
                      <a:r>
                        <a:rPr b="0">
                          <a:latin typeface="Times New Roman"/>
                          <a:ea typeface="Times New Roman"/>
                          <a:cs typeface="Times New Roman"/>
                        </a:rPr>
                        <a:t>Output</a:t>
                      </a:r>
                    </a:p>
                  </a:txBody>
                  <a:tcPr anchor="ctr"/>
                </a:tc>
                <a:tc>
                  <a:txBody>
                    <a:bodyPr/>
                    <a:lstStyle/>
                    <a:p>
                      <a:pPr algn="l">
                        <a:buNone/>
                      </a:pPr>
                      <a:r>
                        <a:rPr b="0">
                          <a:latin typeface="Times New Roman"/>
                          <a:ea typeface="Times New Roman"/>
                          <a:cs typeface="Times New Roman"/>
                        </a:rPr>
                        <a:t>497 movements, 12 trains, with no temporal discontinuities and no disconnected arcs</a:t>
                      </a:r>
                    </a:p>
                  </a:txBody>
                  <a:tcPr anchor="ctr"/>
                </a:tc>
                <a:extLst>
                  <a:ext uri="{0D108BD9-81ED-4DB2-BD59-A6C34878D82A}">
                    <a16:rowId xmlns:a16="http://schemas.microsoft.com/office/drawing/2014/main" val="10002"/>
                  </a:ext>
                </a:extLst>
              </a:tr>
              <a:tr h="0">
                <a:tc>
                  <a:txBody>
                    <a:bodyPr/>
                    <a:lstStyle/>
                    <a:p>
                      <a:pPr algn="l">
                        <a:buNone/>
                      </a:pPr>
                      <a:r>
                        <a:rPr b="0">
                          <a:latin typeface="Times New Roman"/>
                          <a:ea typeface="Times New Roman"/>
                          <a:cs typeface="Times New Roman"/>
                        </a:rPr>
                        <a:t>Direction</a:t>
                      </a:r>
                    </a:p>
                  </a:txBody>
                  <a:tcPr anchor="ctr"/>
                </a:tc>
                <a:tc>
                  <a:txBody>
                    <a:bodyPr/>
                    <a:lstStyle/>
                    <a:p>
                      <a:pPr algn="l">
                        <a:buNone/>
                      </a:pPr>
                      <a:r>
                        <a:rPr b="0">
                          <a:latin typeface="Times New Roman"/>
                          <a:ea typeface="Times New Roman"/>
                          <a:cs typeface="Times New Roman"/>
                        </a:rPr>
                        <a:t>7 eastbound / 5 westbound; 11 trains traverse all 44 cross-sections, while B169_T0006 terminates mid-territory at node 25 as scheduled</a:t>
                      </a:r>
                    </a:p>
                  </a:txBody>
                  <a:tcPr anchor="ctr"/>
                </a:tc>
                <a:extLst>
                  <a:ext uri="{0D108BD9-81ED-4DB2-BD59-A6C34878D82A}">
                    <a16:rowId xmlns:a16="http://schemas.microsoft.com/office/drawing/2014/main" val="10003"/>
                  </a:ext>
                </a:extLst>
              </a:tr>
              <a:tr h="0">
                <a:tc>
                  <a:txBody>
                    <a:bodyPr/>
                    <a:lstStyle/>
                    <a:p>
                      <a:pPr algn="l">
                        <a:buNone/>
                      </a:pPr>
                      <a:r>
                        <a:rPr b="0">
                          <a:latin typeface="Times New Roman"/>
                          <a:ea typeface="Times New Roman"/>
                          <a:cs typeface="Times New Roman"/>
                        </a:rPr>
                        <a:t>Total waiting time</a:t>
                      </a:r>
                    </a:p>
                  </a:txBody>
                  <a:tcPr anchor="ctr"/>
                </a:tc>
                <a:tc>
                  <a:txBody>
                    <a:bodyPr/>
                    <a:lstStyle/>
                    <a:p>
                      <a:pPr algn="l">
                        <a:buNone/>
                      </a:pPr>
                      <a:r>
                        <a:rPr b="0" dirty="0">
                          <a:solidFill>
                            <a:srgbClr val="FF0000"/>
                          </a:solidFill>
                          <a:latin typeface="Times New Roman"/>
                          <a:ea typeface="Times New Roman"/>
                          <a:cs typeface="Times New Roman"/>
                        </a:rPr>
                        <a:t>163.7 minutes</a:t>
                      </a:r>
                      <a:r>
                        <a:rPr lang="en-US" b="0" dirty="0">
                          <a:solidFill>
                            <a:srgbClr val="FF0000"/>
                          </a:solidFill>
                          <a:latin typeface="Times New Roman"/>
                          <a:ea typeface="Times New Roman"/>
                          <a:cs typeface="Times New Roman"/>
                        </a:rPr>
                        <a:t> (vs transit vs free flow time) remember we have siding only</a:t>
                      </a:r>
                      <a:endParaRPr b="0" dirty="0">
                        <a:solidFill>
                          <a:srgbClr val="FF0000"/>
                        </a:solidFill>
                        <a:latin typeface="Times New Roman"/>
                        <a:ea typeface="Times New Roman"/>
                        <a:cs typeface="Times New Roman"/>
                      </a:endParaRPr>
                    </a:p>
                  </a:txBody>
                  <a:tcPr anchor="ct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A673121-80AE-C139-633F-1E83A93C25F1}"/>
              </a:ext>
            </a:extLst>
          </p:cNvPr>
          <p:cNvSpPr>
            <a:spLocks noGrp="1"/>
          </p:cNvSpPr>
          <p:nvPr/>
        </p:nvSpPr>
        <p:spPr>
          <a:xfrm>
            <a:off x="488795" y="3661191"/>
            <a:ext cx="9472960" cy="2585323"/>
          </a:xfrm>
          <a:prstGeom prst="rect">
            <a:avLst/>
          </a:prstGeom>
          <a:noFill/>
        </p:spPr>
        <p:txBody>
          <a:bodyPr wrap="square">
            <a:spAutoFit/>
          </a:bodyPr>
          <a:lstStyle/>
          <a:p>
            <a:pPr>
              <a:buNone/>
            </a:pPr>
            <a:r>
              <a:rPr dirty="0">
                <a:latin typeface="Times New Roman"/>
                <a:ea typeface="Times New Roman"/>
                <a:cs typeface="Times New Roman"/>
              </a:rPr>
              <a:t>Train meets occur exactly where they should. MP 1618.64–1620.32 contains a 1.68-mile single-track mainline section (arc 43→45), with a parallel siding of the same length (44→46). The solver routes eastbound trains into the siding to wait while westbound trains pass:</a:t>
            </a:r>
          </a:p>
          <a:p>
            <a:pPr>
              <a:buNone/>
            </a:pPr>
            <a:endParaRPr dirty="0">
              <a:latin typeface="Times New Roman"/>
              <a:ea typeface="Times New Roman"/>
              <a:cs typeface="Times New Roman"/>
            </a:endParaRPr>
          </a:p>
          <a:p>
            <a:r>
              <a:rPr dirty="0"/>
              <a:t>B4807_T0247 waits 79 minutes in the siding</a:t>
            </a:r>
          </a:p>
          <a:p>
            <a:r>
              <a:rPr dirty="0"/>
              <a:t>→ during this period, westbound trains B1291_T0166, B4796_T0220, and B4459_T0419 pass in sequence.</a:t>
            </a:r>
          </a:p>
          <a:p>
            <a:r>
              <a:rPr dirty="0"/>
              <a:t>B6117_T0009 waits 12 minutes → B4461_T0044 passes during the wait.</a:t>
            </a:r>
          </a:p>
          <a:p>
            <a:r>
              <a:rPr dirty="0"/>
              <a:t>B4847_T0068 waits 26 minutes → B4461_T0044 and B4804_T0083 pass during the wait.</a:t>
            </a:r>
          </a:p>
        </p:txBody>
      </p:sp>
    </p:spTree>
    <p:extLst>
      <p:ext uri="{BB962C8B-B14F-4D97-AF65-F5344CB8AC3E}">
        <p14:creationId xmlns:p14="http://schemas.microsoft.com/office/powerpoint/2010/main" val="987345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1837</TotalTime>
  <Words>4619</Words>
  <Application>Microsoft Macintosh PowerPoint</Application>
  <DocSecurity>0</DocSecurity>
  <PresentationFormat>Widescreen</PresentationFormat>
  <Paragraphs>902</Paragraphs>
  <Slides>22</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anthropic-sans</vt:lpstr>
      <vt:lpstr>Arial</vt:lpstr>
      <vt:lpstr>Calibri</vt:lpstr>
      <vt:lpstr>Cambria</vt:lpstr>
      <vt:lpstr>Cambria Math</vt:lpstr>
      <vt:lpstr>Courier New</vt:lpstr>
      <vt:lpstr>Segoe UI 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Wenlin Li</cp:lastModifiedBy>
  <cp:revision>5</cp:revision>
  <dcterms:created xsi:type="dcterms:W3CDTF">2026-08-11T06:52:54Z</dcterms:created>
  <dcterms:modified xsi:type="dcterms:W3CDTF">2026-08-12T21:13:53Z</dcterms:modified>
</cp:coreProperties>
</file>