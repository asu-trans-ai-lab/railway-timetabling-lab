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69" r:id="rId2"/>
    <p:sldId id="258" r:id="rId3"/>
    <p:sldId id="256" r:id="rId4"/>
    <p:sldId id="257" r:id="rId5"/>
    <p:sldId id="261" r:id="rId6"/>
    <p:sldId id="267" r:id="rId7"/>
    <p:sldId id="271" r:id="rId8"/>
    <p:sldId id="264" r:id="rId9"/>
    <p:sldId id="265" r:id="rId10"/>
    <p:sldId id="266" r:id="rId11"/>
    <p:sldId id="268" r:id="rId12"/>
    <p:sldId id="262" r:id="rId13"/>
    <p:sldId id="263" r:id="rId14"/>
    <p:sldId id="259" r:id="rId15"/>
    <p:sldId id="260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88000"/>
  </p:normalViewPr>
  <p:slideViewPr>
    <p:cSldViewPr snapToGrid="0">
      <p:cViewPr varScale="1">
        <p:scale>
          <a:sx n="106" d="100"/>
          <a:sy n="106" d="100"/>
        </p:scale>
        <p:origin x="10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6:11:52.8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23344 2152 24575,'59'0'0,"-1"0"0,-12 0 0,2 0 0,4 0 0,-3 0 0,5 0 0,2 0 0,2 0 0,-1 0-1639,-5 0 1,0 0-1,0 0 1,1 0 0,2 0-1,0 0 1426,-1 0 0,2 0 0,1 0 0,0 0 1,1 0-1,1 0 0,-1 0-95,2 0 0,2 0 0,0 0 0,0 0 1,0 0-1,-1 0 0,0 0 308,-4 0 0,0 0 0,0 0 0,0 0 0,-1 0 0,1 0 0,1 0-126,3 0 1,1 0-1,0 0 1,0 0-1,0 0 1,-1 0-1,-2 0 126,0 0 0,-2 0 0,-1 0 0,0 0 0,-1 0 0,2 0-339,2 0 1,1 0 0,1 0 0,-2 0 0,-3 0 0,-5 0 338,12 0 0,-7 0 0,2 0 449,-8 0 0,3 0 1,-2 0-1,-6 0-449,6 0 0,-5 0 0,3 0 0,-2 0 0,-10 0 0,-2 0 2919,16 0-2919,-33-2 0,-4 2 0,-11-1 0</inkml:trace>
  <inkml:trace contextRef="#ctx0" brushRef="#br0" timeOffset="1">11265 5568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8T16:11:58.5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7063 1602 24575,'20'0'0,"14"0"0,13 0 0,0 0 0,-5 0 0,0 0 0,5 0-2015,11 0 0,6 0 0,2 0 0,-1 0 2015,-5 0 0,0 0 0,1 0 0,4 0-549,-13 0 1,4 0 0,2 0-1,2 0 1,-1 0 0,-1 0-1,-3 0 549,9 0 0,-3 0 0,0 0 0,1 0 0,5 0 0,-10 0 0,3 0 0,3 0 0,2 0 0,-1 0 0,-1 0 0,-3 0 0,-3 0 89,1 0 1,-3 0-1,-3 0 1,0 0-1,0 0 1,1 0-90,1 0 0,1 0 0,1 0 0,-2 0 0,-2 0 0,-3 0 0,6 0 0,-3 0 0,-4 0 0,-4 0 0,12 0 0,-11 0 0,-1 0 2590,-18 0-2590,-12 0 5800,-1 0-5800,-2 0 2972,7 0-2972,3 0 0,4 0 0,-1 0 0,2 0 0,38 0 0,-17 0 0,-9-1 0,4 0 0,11-1 0,0 1 0,-9-1 0,1 1 0,16-2 0,3 1 0,-2 0 0,-4 1-637,-18-1 0,-1 1 637,12 0 0,-3 0 0,4-1 0,3-1 0,-24 1 0,0 0 0,-16-1 0,-5 2 0,0-1 318,-5 2 1,-2 0-1,0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3CF41-8D4C-BC49-9D66-85DC9634AB8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4EC7B-23BC-A447-87A2-8CEFB21840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39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94EC7B-23BC-A447-87A2-8CEFB21840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605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6A2B-9AD4-292C-75C7-6E8FA7499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3C0FBB-D5F6-AFA1-B55A-3CC405229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9937D-540B-0B29-0B2E-F585D016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6034-51D5-604D-A533-FBB7EDEC7E09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60438-1834-FB3D-B8EF-1AA795AD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93876-B4E8-90D2-1422-47D0EC95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709A7-6EA0-E044-BFC5-DE2B54822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8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1A466-544C-68A0-02FE-1FA9AF94A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443BE-7A73-112C-4281-D260D6399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47673-7640-1C8D-FA89-23CC80090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6034-51D5-604D-A533-FBB7EDEC7E09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22CA1-E3E0-2B12-AA68-FFD70F289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4FB9B-9C71-1C9C-B19E-B4044565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709A7-6EA0-E044-BFC5-DE2B54822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4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64D7-5CE9-9012-149F-C73226338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7A5AA-8A4A-2ACE-A342-D5EF30F2F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E0D58-5873-16F3-0DE5-08EAE7893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6034-51D5-604D-A533-FBB7EDEC7E09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D9F81-2703-99DD-2BEC-CB9F52C47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F0446-E178-4A91-9795-8097783D7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709A7-6EA0-E044-BFC5-DE2B54822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3A0AC-EADD-3DD7-7863-9DA00DEE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F57B-57BA-DC1C-8C5C-8CB919164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D3F48-7817-3993-DFC0-5DB2E6C0A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BDB58-8C74-1CFD-CE57-175E1797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6034-51D5-604D-A533-FBB7EDEC7E09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BDBDE-BFEE-D58F-2AF5-B1E2B38AD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70A3D-8F2A-16CB-CD37-734030DC4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709A7-6EA0-E044-BFC5-DE2B54822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04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0A591-B3FD-8D56-B826-39AF8592D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440C0-D7C7-3969-A391-C93CC144A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DBF94-470E-6883-2EED-E4547EAE6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37DCCA-9519-251E-8BBF-B2027B410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4059C5-9379-5DD4-A2B5-BE85386E9A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1215C7-3B6D-91BA-624E-13CA4DA0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6034-51D5-604D-A533-FBB7EDEC7E09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44B804-C190-AF42-D7AE-181BFFF75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3A4BBC-B2A1-CBF9-88D6-EB08169C9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709A7-6EA0-E044-BFC5-DE2B54822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2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AFCE-79CF-FE9D-55FE-843A67141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F3C10E-CF6F-9CFB-1C6C-AF3FA4D72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6034-51D5-604D-A533-FBB7EDEC7E09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A0A419-B282-CD24-1ACF-4D77F7FF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46E47-3476-9809-A0E4-463A554F8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709A7-6EA0-E044-BFC5-DE2B54822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98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48D54E-FAED-7D76-BDAF-2AB44FE99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6034-51D5-604D-A533-FBB7EDEC7E09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0E28D9-9A84-E0E0-B509-029695F1C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863EC-5F47-2413-F237-26DAE02C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709A7-6EA0-E044-BFC5-DE2B54822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66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FE00-AA24-0079-977F-599BFF495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31376-5C7B-6C73-E203-5A0F4DB4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C8B0B-E3BF-FD04-360F-A049BCD18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AB43A-FA12-9944-D9CC-5CA3BA115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6034-51D5-604D-A533-FBB7EDEC7E09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63344-ED7D-191D-4569-5BD3158D3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2AEB0-0179-022A-15E6-FF07CE68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709A7-6EA0-E044-BFC5-DE2B54822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82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0576D-C397-B2BA-93A9-92F53FD93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2C7CFF-DACC-5808-262C-E9629F8F9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145CA-FC61-36AD-BD4D-55CCB4EBB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9FF74-5DD3-DF02-9E15-FFE48B53A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6034-51D5-604D-A533-FBB7EDEC7E09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1E7CF-A717-2DAA-BC7B-74CCBC70F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5384E-C792-F0A0-83BD-F3341C192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709A7-6EA0-E044-BFC5-DE2B54822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55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E7D0-5DD4-89FE-8193-A3CB9A829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724DD-E44C-8C38-E0D9-1D8EAE6CD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61946-50FE-EC52-BCCD-8D6D7F1D7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6034-51D5-604D-A533-FBB7EDEC7E09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BE9F1-9D41-F15F-91DB-189C5C52F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0A01E-15E7-E631-8800-CC43771D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709A7-6EA0-E044-BFC5-DE2B54822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32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E0835-438D-0DD9-ACF7-08C653511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FF388-03CB-8BEB-1F87-06C8216E8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1D243-D499-30D9-376D-F399DAE3E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66034-51D5-604D-A533-FBB7EDEC7E09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15247-D834-7A0F-514B-2787177F9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DBC2B-6FC0-7511-1B41-FC30E211F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709A7-6EA0-E044-BFC5-DE2B54822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21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697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92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FBCD0D-C859-DF85-F854-2C4203201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ADCC1-0844-B112-91F0-C509DB19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5A5A5-19A8-1031-FD1D-D342E88EC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66034-51D5-604D-A533-FBB7EDEC7E09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8703-ADA3-6C06-C240-DFEFA416D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698FB-1BEF-097C-586D-CB5A44B9D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709A7-6EA0-E044-BFC5-DE2B54822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06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59A46D-E9AF-41F1-9AAA-A7CC6702603D}"/>
              </a:ext>
            </a:extLst>
          </p:cNvPr>
          <p:cNvSpPr>
            <a:spLocks noGrp="1"/>
          </p:cNvSpPr>
          <p:nvPr/>
        </p:nvSpPr>
        <p:spPr>
          <a:xfrm>
            <a:off x="685800" y="566928"/>
            <a:ext cx="10820095" cy="0"/>
          </a:xfrm>
          <a:prstGeom prst="line">
            <a:avLst/>
          </a:prstGeom>
          <a:noFill/>
          <a:ln w="12700">
            <a:solidFill>
              <a:srgbClr val="B9C2CE"/>
            </a:solidFill>
            <a:prstDash val="solid"/>
          </a:ln>
        </p:spPr>
        <p:txBody>
          <a:bodyPr/>
          <a:lstStyle/>
          <a:p>
            <a:endParaRPr sz="2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AB96FD-DE45-4000-8C11-5F1EC1B13424}"/>
              </a:ext>
            </a:extLst>
          </p:cNvPr>
          <p:cNvSpPr>
            <a:spLocks noGrp="1"/>
          </p:cNvSpPr>
          <p:nvPr/>
        </p:nvSpPr>
        <p:spPr>
          <a:xfrm>
            <a:off x="685800" y="1975104"/>
            <a:ext cx="10820095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800" b="1">
                <a:latin typeface="Times New Roman"/>
                <a:ea typeface="Times New Roman"/>
                <a:cs typeface="Times New Roman"/>
              </a:rPr>
              <a:t>WEEKLY UPDATE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C836C77-B985-4660-843E-8A4A677D08D0}"/>
              </a:ext>
            </a:extLst>
          </p:cNvPr>
          <p:cNvSpPr>
            <a:spLocks noGrp="1"/>
          </p:cNvSpPr>
          <p:nvPr/>
        </p:nvSpPr>
        <p:spPr>
          <a:xfrm>
            <a:off x="685799" y="2441449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latin typeface="Times New Roman"/>
                <a:ea typeface="Times New Roman"/>
                <a:cs typeface="Times New Roman"/>
              </a:rPr>
              <a:t>Argonne National Laboratory</a:t>
            </a:r>
            <a:endParaRPr sz="32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2F3EE0A-42ED-4742-8E25-822DF32F72D1}"/>
              </a:ext>
            </a:extLst>
          </p:cNvPr>
          <p:cNvSpPr>
            <a:spLocks noGrp="1"/>
          </p:cNvSpPr>
          <p:nvPr/>
        </p:nvSpPr>
        <p:spPr>
          <a:xfrm>
            <a:off x="759372" y="34290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dirty="0">
                <a:latin typeface="Times New Roman"/>
                <a:ea typeface="Times New Roman"/>
                <a:cs typeface="Times New Roman"/>
              </a:rPr>
              <a:t>August 1</a:t>
            </a:r>
            <a:r>
              <a:rPr lang="en-US" altLang="zh-CN" dirty="0">
                <a:latin typeface="Times New Roman"/>
                <a:ea typeface="Times New Roman"/>
                <a:cs typeface="Times New Roman"/>
              </a:rPr>
              <a:t>8</a:t>
            </a:r>
            <a:r>
              <a:rPr dirty="0">
                <a:latin typeface="Times New Roman"/>
                <a:ea typeface="Times New Roman"/>
                <a:cs typeface="Times New Roman"/>
              </a:rPr>
              <a:t>, 2026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9D348F4-78A6-4350-BF92-D8C0CC1D2BA7}"/>
              </a:ext>
            </a:extLst>
          </p:cNvPr>
          <p:cNvSpPr>
            <a:spLocks noGrp="1"/>
          </p:cNvSpPr>
          <p:nvPr/>
        </p:nvSpPr>
        <p:spPr>
          <a:xfrm>
            <a:off x="685800" y="6291072"/>
            <a:ext cx="10820095" cy="0"/>
          </a:xfrm>
          <a:prstGeom prst="line">
            <a:avLst/>
          </a:prstGeom>
          <a:noFill/>
          <a:ln w="12700">
            <a:solidFill>
              <a:srgbClr val="B9C2CE"/>
            </a:solidFill>
            <a:prstDash val="solid"/>
          </a:ln>
        </p:spPr>
        <p:txBody>
          <a:bodyPr/>
          <a:lstStyle/>
          <a:p>
            <a:endParaRPr sz="2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3230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B0E84D-6699-CF01-A582-2317BE645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18388"/>
            <a:ext cx="7772400" cy="5829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0312"/>
            <a:ext cx="8686800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dirty="0">
                <a:solidFill>
                  <a:srgbClr val="1A1A1A"/>
                </a:solidFill>
                <a:latin typeface="Calibri"/>
              </a:rPr>
              <a:t>Solver architecture: Python ↔ C++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327648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777777"/>
                </a:solidFill>
                <a:latin typeface="Calibri"/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F1128D-6949-85A5-5FA9-33E4B2299A11}"/>
              </a:ext>
            </a:extLst>
          </p:cNvPr>
          <p:cNvSpPr txBox="1"/>
          <p:nvPr/>
        </p:nvSpPr>
        <p:spPr>
          <a:xfrm>
            <a:off x="735980" y="978408"/>
            <a:ext cx="343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Input</a:t>
            </a:r>
            <a:r>
              <a:rPr lang="zh-CN" altLang="en-US" dirty="0"/>
              <a:t> </a:t>
            </a:r>
            <a:r>
              <a:rPr lang="en-US" altLang="zh-CN" dirty="0"/>
              <a:t>data:</a:t>
            </a:r>
            <a:r>
              <a:rPr lang="zh-CN" altLang="en-US" dirty="0"/>
              <a:t> </a:t>
            </a:r>
            <a:r>
              <a:rPr lang="en-US" altLang="zh-CN" dirty="0"/>
              <a:t>RAS</a:t>
            </a:r>
            <a:r>
              <a:rPr lang="zh-CN" altLang="en-US" dirty="0"/>
              <a:t> </a:t>
            </a:r>
            <a:r>
              <a:rPr lang="en-US" altLang="zh-CN" dirty="0"/>
              <a:t>dataset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645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8498F8-2B0E-1952-9C47-B8CBA2B97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44" y="1146811"/>
            <a:ext cx="6085837" cy="45643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057486-3CDB-E591-8F09-F3BB53F2E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640" y="1146811"/>
            <a:ext cx="5740400" cy="430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146304"/>
            <a:ext cx="8686800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dirty="0" err="1">
                <a:solidFill>
                  <a:srgbClr val="1A1A1A"/>
                </a:solidFill>
                <a:latin typeface="Calibri"/>
              </a:rPr>
              <a:t>Lagrangian</a:t>
            </a:r>
            <a:r>
              <a:rPr sz="2400" b="1" dirty="0">
                <a:solidFill>
                  <a:srgbClr val="1A1A1A"/>
                </a:solidFill>
                <a:latin typeface="Calibri"/>
              </a:rPr>
              <a:t> decomposition &amp; dual price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327648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777777"/>
                </a:solidFill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98813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40016" y="1776389"/>
            <a:ext cx="11064240" cy="30175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Assume:</a:t>
            </a:r>
          </a:p>
          <a:p>
            <a:pPr marL="256032" indent="-164592">
              <a:spcAft>
                <a:spcPts val="17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•  N = number of trains;</a:t>
            </a:r>
          </a:p>
          <a:p>
            <a:pPr marL="256032" indent="-164592">
              <a:spcAft>
                <a:spcPts val="17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•  K = number of operational routes per train;</a:t>
            </a:r>
          </a:p>
          <a:p>
            <a:pPr marL="256032" indent="-164592">
              <a:spcAft>
                <a:spcPts val="17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•  I = number of </a:t>
            </a:r>
            <a:r>
              <a:rPr sz="2100" dirty="0" err="1">
                <a:solidFill>
                  <a:srgbClr val="444444"/>
                </a:solidFill>
                <a:latin typeface="Calibri"/>
              </a:rPr>
              <a:t>Lagrangian</a:t>
            </a:r>
            <a:r>
              <a:rPr sz="2100" dirty="0">
                <a:solidFill>
                  <a:srgbClr val="444444"/>
                </a:solidFill>
                <a:latin typeface="Calibri"/>
              </a:rPr>
              <a:t> / DTA iterations;</a:t>
            </a:r>
          </a:p>
          <a:p>
            <a:pPr marL="256032" indent="-164592">
              <a:spcAft>
                <a:spcPts val="17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•  S = state size of a single space-time DP.</a:t>
            </a: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Then the rough computational effort is:</a:t>
            </a:r>
          </a:p>
          <a:p>
            <a:pPr algn="ctr">
              <a:spcBef>
                <a:spcPts val="700"/>
              </a:spcBef>
              <a:spcAft>
                <a:spcPts val="700"/>
              </a:spcAft>
            </a:pPr>
            <a:r>
              <a:rPr sz="2275" b="0" i="1" dirty="0">
                <a:solidFill>
                  <a:srgbClr val="444444"/>
                </a:solidFill>
                <a:latin typeface="Cambria"/>
              </a:rPr>
              <a:t>O(I × N × K × 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"/>
            <a:ext cx="8686800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dirty="0">
                <a:solidFill>
                  <a:srgbClr val="1A1A1A"/>
                </a:solidFill>
                <a:latin typeface="Calibri"/>
              </a:rPr>
              <a:t>Computational complexity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327648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777777"/>
                </a:solidFill>
                <a:latin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25194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371C5A0-05B3-63D1-7C6A-DA74C07C21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59"/>
          <a:stretch>
            <a:fillRect/>
          </a:stretch>
        </p:blipFill>
        <p:spPr>
          <a:xfrm>
            <a:off x="134791" y="709293"/>
            <a:ext cx="5015664" cy="18872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44534" y="146304"/>
            <a:ext cx="6312675" cy="667259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Bef>
                <a:spcPts val="900"/>
              </a:spcBef>
              <a:spcAft>
                <a:spcPts val="220"/>
              </a:spcAft>
            </a:pPr>
            <a:r>
              <a:rPr sz="1400" b="1" dirty="0">
                <a:solidFill>
                  <a:srgbClr val="1A1A1A"/>
                </a:solidFill>
                <a:latin typeface="Calibri"/>
              </a:rPr>
              <a:t>α: penalty scale</a:t>
            </a:r>
          </a:p>
          <a:p>
            <a:pPr>
              <a:spcAft>
                <a:spcPts val="340"/>
              </a:spcAft>
            </a:pPr>
            <a:r>
              <a:rPr sz="1100" dirty="0">
                <a:solidFill>
                  <a:srgbClr val="444444"/>
                </a:solidFill>
                <a:latin typeface="Calibri"/>
              </a:rPr>
              <a:t>Controls how large the congestion cost is overall:</a:t>
            </a:r>
          </a:p>
          <a:p>
            <a:pPr algn="ctr">
              <a:spcBef>
                <a:spcPts val="450"/>
              </a:spcBef>
              <a:spcAft>
                <a:spcPts val="450"/>
              </a:spcAft>
            </a:pPr>
            <a:r>
              <a:rPr sz="1100" b="0" dirty="0" err="1">
                <a:solidFill>
                  <a:srgbClr val="444444"/>
                </a:solidFill>
                <a:latin typeface="Cambria"/>
              </a:rPr>
              <a:t>λ</a:t>
            </a:r>
            <a:r>
              <a:rPr sz="1100" b="0" dirty="0">
                <a:solidFill>
                  <a:srgbClr val="444444"/>
                </a:solidFill>
                <a:latin typeface="Cambria"/>
              </a:rPr>
              <a:t>̂ = τ</a:t>
            </a:r>
            <a:r>
              <a:rPr sz="1100" b="0" baseline="30000" dirty="0">
                <a:solidFill>
                  <a:srgbClr val="444444"/>
                </a:solidFill>
                <a:latin typeface="Cambria"/>
              </a:rPr>
              <a:t>0</a:t>
            </a:r>
            <a:r>
              <a:rPr sz="1100" b="0" dirty="0">
                <a:solidFill>
                  <a:srgbClr val="444444"/>
                </a:solidFill>
                <a:latin typeface="Cambria"/>
              </a:rPr>
              <a:t> α </a:t>
            </a:r>
            <a:r>
              <a:rPr sz="1100" b="0" dirty="0" err="1">
                <a:solidFill>
                  <a:srgbClr val="444444"/>
                </a:solidFill>
                <a:latin typeface="Cambria"/>
              </a:rPr>
              <a:t>ρ</a:t>
            </a:r>
            <a:r>
              <a:rPr sz="1100" b="0" baseline="30000" dirty="0">
                <a:solidFill>
                  <a:srgbClr val="444444"/>
                </a:solidFill>
                <a:latin typeface="Cambria"/>
              </a:rPr>
              <a:t>β</a:t>
            </a:r>
            <a:r>
              <a:rPr sz="1100" b="0" dirty="0">
                <a:solidFill>
                  <a:srgbClr val="444444"/>
                </a:solidFill>
                <a:latin typeface="Cambria"/>
              </a:rPr>
              <a:t>.</a:t>
            </a:r>
          </a:p>
          <a:p>
            <a:pPr>
              <a:spcBef>
                <a:spcPts val="900"/>
              </a:spcBef>
              <a:spcAft>
                <a:spcPts val="220"/>
              </a:spcAft>
            </a:pPr>
            <a:r>
              <a:rPr sz="1400" b="1" dirty="0">
                <a:solidFill>
                  <a:srgbClr val="1A1A1A"/>
                </a:solidFill>
                <a:latin typeface="Calibri"/>
              </a:rPr>
              <a:t>β: congestion curvature</a:t>
            </a:r>
          </a:p>
          <a:p>
            <a:pPr>
              <a:spcAft>
                <a:spcPts val="340"/>
              </a:spcAft>
            </a:pPr>
            <a:r>
              <a:rPr sz="1100" dirty="0">
                <a:solidFill>
                  <a:srgbClr val="444444"/>
                </a:solidFill>
                <a:latin typeface="Calibri"/>
              </a:rPr>
              <a:t>Controls how steeply the price grows once capacity is approached/exceeded:</a:t>
            </a:r>
          </a:p>
          <a:p>
            <a:pPr algn="ctr">
              <a:spcBef>
                <a:spcPts val="450"/>
              </a:spcBef>
              <a:spcAft>
                <a:spcPts val="450"/>
              </a:spcAft>
            </a:pPr>
            <a:r>
              <a:rPr sz="1100" b="0" dirty="0" err="1">
                <a:solidFill>
                  <a:srgbClr val="444444"/>
                </a:solidFill>
                <a:latin typeface="Cambria"/>
              </a:rPr>
              <a:t>ρ</a:t>
            </a:r>
            <a:r>
              <a:rPr sz="1100" b="0" baseline="30000" dirty="0">
                <a:solidFill>
                  <a:srgbClr val="444444"/>
                </a:solidFill>
                <a:latin typeface="Cambria"/>
              </a:rPr>
              <a:t>β</a:t>
            </a:r>
            <a:r>
              <a:rPr sz="1100" b="0" dirty="0">
                <a:solidFill>
                  <a:srgbClr val="444444"/>
                </a:solidFill>
                <a:latin typeface="Cambria"/>
              </a:rPr>
              <a:t>.</a:t>
            </a:r>
          </a:p>
          <a:p>
            <a:pPr>
              <a:spcAft>
                <a:spcPts val="340"/>
              </a:spcAft>
            </a:pPr>
            <a:r>
              <a:rPr sz="1100" dirty="0">
                <a:solidFill>
                  <a:srgbClr val="444444"/>
                </a:solidFill>
                <a:latin typeface="Calibri"/>
              </a:rPr>
              <a:t>For example, with a large β:</a:t>
            </a:r>
          </a:p>
          <a:p>
            <a:pPr>
              <a:spcAft>
                <a:spcPts val="340"/>
              </a:spcAft>
            </a:pPr>
            <a:r>
              <a:rPr sz="1100" dirty="0">
                <a:solidFill>
                  <a:srgbClr val="444444"/>
                </a:solidFill>
                <a:latin typeface="Courier New"/>
              </a:rPr>
              <a:t>D/C</a:t>
            </a:r>
            <a:br>
              <a:rPr sz="1600" dirty="0"/>
            </a:br>
            <a:r>
              <a:rPr sz="1100" dirty="0">
                <a:solidFill>
                  <a:srgbClr val="444444"/>
                </a:solidFill>
                <a:latin typeface="Courier New"/>
              </a:rPr>
              <a:t>0.5    small</a:t>
            </a:r>
            <a:br>
              <a:rPr sz="1600" dirty="0"/>
            </a:br>
            <a:r>
              <a:rPr sz="1100" dirty="0">
                <a:solidFill>
                  <a:srgbClr val="444444"/>
                </a:solidFill>
                <a:latin typeface="Courier New"/>
              </a:rPr>
              <a:t>0.8    moderate</a:t>
            </a:r>
            <a:br>
              <a:rPr sz="1600" dirty="0"/>
            </a:br>
            <a:r>
              <a:rPr sz="1100" dirty="0">
                <a:solidFill>
                  <a:srgbClr val="444444"/>
                </a:solidFill>
                <a:latin typeface="Courier New"/>
              </a:rPr>
              <a:t>1.0    α</a:t>
            </a:r>
            <a:br>
              <a:rPr sz="1600" dirty="0"/>
            </a:br>
            <a:r>
              <a:rPr sz="1100" dirty="0">
                <a:solidFill>
                  <a:srgbClr val="444444"/>
                </a:solidFill>
                <a:latin typeface="Courier New"/>
              </a:rPr>
              <a:t>1.2    rises rapidly</a:t>
            </a:r>
            <a:br>
              <a:rPr sz="1600" dirty="0"/>
            </a:br>
            <a:r>
              <a:rPr sz="1100" dirty="0">
                <a:solidFill>
                  <a:srgbClr val="444444"/>
                </a:solidFill>
                <a:latin typeface="Courier New"/>
              </a:rPr>
              <a:t>1.5    very large</a:t>
            </a:r>
          </a:p>
          <a:p>
            <a:pPr>
              <a:spcAft>
                <a:spcPts val="340"/>
              </a:spcAft>
            </a:pPr>
            <a:r>
              <a:rPr sz="1100" dirty="0">
                <a:solidFill>
                  <a:srgbClr val="444444"/>
                </a:solidFill>
                <a:latin typeface="Calibri"/>
              </a:rPr>
              <a:t>So β determines the nonlinear sensitivity of the bottleneck.</a:t>
            </a:r>
          </a:p>
          <a:p>
            <a:pPr>
              <a:spcBef>
                <a:spcPts val="900"/>
              </a:spcBef>
              <a:spcAft>
                <a:spcPts val="220"/>
              </a:spcAft>
            </a:pPr>
            <a:r>
              <a:rPr sz="1400" b="1" dirty="0" err="1">
                <a:solidFill>
                  <a:srgbClr val="1A1A1A"/>
                </a:solidFill>
                <a:latin typeface="Calibri"/>
              </a:rPr>
              <a:t>γ</a:t>
            </a:r>
            <a:r>
              <a:rPr sz="1400" b="1" dirty="0">
                <a:solidFill>
                  <a:srgbClr val="1A1A1A"/>
                </a:solidFill>
                <a:latin typeface="Calibri"/>
              </a:rPr>
              <a:t>: smoothing / learning rate</a:t>
            </a:r>
          </a:p>
          <a:p>
            <a:pPr>
              <a:spcAft>
                <a:spcPts val="340"/>
              </a:spcAft>
            </a:pPr>
            <a:r>
              <a:rPr sz="1100" dirty="0">
                <a:solidFill>
                  <a:srgbClr val="444444"/>
                </a:solidFill>
                <a:latin typeface="Calibri"/>
              </a:rPr>
              <a:t>It is not the congestion function itself.</a:t>
            </a:r>
          </a:p>
          <a:p>
            <a:pPr>
              <a:spcAft>
                <a:spcPts val="340"/>
              </a:spcAft>
            </a:pPr>
            <a:r>
              <a:rPr sz="1100" dirty="0">
                <a:solidFill>
                  <a:srgbClr val="444444"/>
                </a:solidFill>
                <a:latin typeface="Calibri"/>
              </a:rPr>
              <a:t>It controls:</a:t>
            </a:r>
          </a:p>
          <a:p>
            <a:pPr marL="228600" indent="0">
              <a:spcBef>
                <a:spcPts val="220"/>
              </a:spcBef>
              <a:spcAft>
                <a:spcPts val="220"/>
              </a:spcAft>
            </a:pPr>
            <a:r>
              <a:rPr sz="1100" dirty="0">
                <a:solidFill>
                  <a:srgbClr val="444444"/>
                </a:solidFill>
                <a:latin typeface="Calibri"/>
              </a:rPr>
              <a:t>how much of this round's new congestion signal enters </a:t>
            </a:r>
            <a:r>
              <a:rPr sz="1100" dirty="0" err="1">
                <a:solidFill>
                  <a:srgbClr val="444444"/>
                </a:solidFill>
                <a:latin typeface="Calibri"/>
              </a:rPr>
              <a:t>λ</a:t>
            </a:r>
            <a:r>
              <a:rPr sz="1100" dirty="0">
                <a:solidFill>
                  <a:srgbClr val="444444"/>
                </a:solidFill>
                <a:latin typeface="Calibri"/>
              </a:rPr>
              <a:t>.</a:t>
            </a:r>
            <a:endParaRPr lang="en-US" sz="1400" dirty="0">
              <a:solidFill>
                <a:srgbClr val="444444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444444"/>
                </a:solidFill>
                <a:latin typeface="Calibri"/>
              </a:rPr>
              <a:t>That is: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l-GR" sz="1100" b="1" dirty="0">
                <a:solidFill>
                  <a:srgbClr val="1A1A1A"/>
                </a:solidFill>
                <a:latin typeface="Cambria"/>
              </a:rPr>
              <a:t>λ</a:t>
            </a:r>
            <a:r>
              <a:rPr lang="en-US" sz="1100" b="1" baseline="30000" dirty="0">
                <a:solidFill>
                  <a:srgbClr val="1A1A1A"/>
                </a:solidFill>
                <a:latin typeface="Cambria"/>
              </a:rPr>
              <a:t>k+1</a:t>
            </a:r>
            <a:r>
              <a:rPr lang="en-US" sz="1100" b="1" dirty="0">
                <a:solidFill>
                  <a:srgbClr val="1A1A1A"/>
                </a:solidFill>
                <a:latin typeface="Cambria"/>
              </a:rPr>
              <a:t> = (1 − </a:t>
            </a:r>
            <a:r>
              <a:rPr lang="el-GR" sz="1100" b="1" dirty="0">
                <a:solidFill>
                  <a:srgbClr val="1A1A1A"/>
                </a:solidFill>
                <a:latin typeface="Cambria"/>
              </a:rPr>
              <a:t>γ)λ</a:t>
            </a:r>
            <a:r>
              <a:rPr lang="en-US" sz="1100" b="1" baseline="30000" dirty="0">
                <a:solidFill>
                  <a:srgbClr val="1A1A1A"/>
                </a:solidFill>
                <a:latin typeface="Cambria"/>
              </a:rPr>
              <a:t>k</a:t>
            </a:r>
            <a:r>
              <a:rPr lang="en-US" sz="1100" b="1" dirty="0">
                <a:solidFill>
                  <a:srgbClr val="1A1A1A"/>
                </a:solidFill>
                <a:latin typeface="Cambria"/>
              </a:rPr>
              <a:t> + </a:t>
            </a:r>
            <a:r>
              <a:rPr lang="el-GR" sz="1100" b="1" dirty="0">
                <a:solidFill>
                  <a:srgbClr val="1A1A1A"/>
                </a:solidFill>
                <a:latin typeface="Cambria"/>
              </a:rPr>
              <a:t>γ λ̂</a:t>
            </a:r>
            <a:r>
              <a:rPr lang="en-US" sz="1100" b="1" baseline="30000" dirty="0">
                <a:solidFill>
                  <a:srgbClr val="1A1A1A"/>
                </a:solidFill>
                <a:latin typeface="Cambria"/>
              </a:rPr>
              <a:t>k</a:t>
            </a:r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444444"/>
                </a:solidFill>
                <a:latin typeface="Calibri"/>
              </a:rPr>
              <a:t>If: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l-GR" sz="1100" dirty="0">
                <a:solidFill>
                  <a:srgbClr val="444444"/>
                </a:solidFill>
                <a:latin typeface="Cambria"/>
              </a:rPr>
              <a:t>γ = 1</a:t>
            </a:r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444444"/>
                </a:solidFill>
                <a:latin typeface="Calibri"/>
              </a:rPr>
              <a:t>the new target is used directly: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l-GR" sz="1100" dirty="0">
                <a:solidFill>
                  <a:srgbClr val="444444"/>
                </a:solidFill>
                <a:latin typeface="Cambria"/>
              </a:rPr>
              <a:t>λ</a:t>
            </a:r>
            <a:r>
              <a:rPr lang="en-US" sz="1100" baseline="30000" dirty="0">
                <a:solidFill>
                  <a:srgbClr val="444444"/>
                </a:solidFill>
                <a:latin typeface="Cambria"/>
              </a:rPr>
              <a:t>k+1</a:t>
            </a:r>
            <a:r>
              <a:rPr lang="en-US" sz="1100" dirty="0">
                <a:solidFill>
                  <a:srgbClr val="444444"/>
                </a:solidFill>
                <a:latin typeface="Cambria"/>
              </a:rPr>
              <a:t> = </a:t>
            </a:r>
            <a:r>
              <a:rPr lang="el-GR" sz="1100" dirty="0">
                <a:solidFill>
                  <a:srgbClr val="444444"/>
                </a:solidFill>
                <a:latin typeface="Cambria"/>
              </a:rPr>
              <a:t>λ̂</a:t>
            </a:r>
            <a:r>
              <a:rPr lang="en-US" sz="1100" baseline="30000" dirty="0">
                <a:solidFill>
                  <a:srgbClr val="444444"/>
                </a:solidFill>
                <a:latin typeface="Cambria"/>
              </a:rPr>
              <a:t>k</a:t>
            </a:r>
            <a:r>
              <a:rPr lang="en-US" sz="1100" dirty="0">
                <a:solidFill>
                  <a:srgbClr val="444444"/>
                </a:solidFill>
                <a:latin typeface="Cambria"/>
              </a:rPr>
              <a:t>.</a:t>
            </a:r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444444"/>
                </a:solidFill>
                <a:latin typeface="Calibri"/>
              </a:rPr>
              <a:t>If: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l-GR" sz="1100" dirty="0">
                <a:solidFill>
                  <a:srgbClr val="444444"/>
                </a:solidFill>
                <a:latin typeface="Cambria"/>
              </a:rPr>
              <a:t>γ = 0.15</a:t>
            </a:r>
          </a:p>
          <a:p>
            <a:pPr>
              <a:spcAft>
                <a:spcPts val="300"/>
              </a:spcAft>
            </a:pPr>
            <a:r>
              <a:rPr lang="en-US" sz="1100" dirty="0">
                <a:solidFill>
                  <a:srgbClr val="444444"/>
                </a:solidFill>
                <a:latin typeface="Calibri"/>
              </a:rPr>
              <a:t>then: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l-GR" sz="1100" dirty="0">
                <a:solidFill>
                  <a:srgbClr val="444444"/>
                </a:solidFill>
                <a:latin typeface="Cambria"/>
              </a:rPr>
              <a:t>λ</a:t>
            </a:r>
            <a:r>
              <a:rPr lang="en-US" sz="1100" baseline="30000" dirty="0">
                <a:solidFill>
                  <a:srgbClr val="444444"/>
                </a:solidFill>
                <a:latin typeface="Cambria"/>
              </a:rPr>
              <a:t>k+1</a:t>
            </a:r>
            <a:r>
              <a:rPr lang="en-US" sz="1100" dirty="0">
                <a:solidFill>
                  <a:srgbClr val="444444"/>
                </a:solidFill>
                <a:latin typeface="Cambria"/>
              </a:rPr>
              <a:t> = 0.85 </a:t>
            </a:r>
            <a:r>
              <a:rPr lang="el-GR" sz="1100" dirty="0">
                <a:solidFill>
                  <a:srgbClr val="444444"/>
                </a:solidFill>
                <a:latin typeface="Cambria"/>
              </a:rPr>
              <a:t>λ</a:t>
            </a:r>
            <a:r>
              <a:rPr lang="en-US" sz="1100" baseline="30000" dirty="0">
                <a:solidFill>
                  <a:srgbClr val="444444"/>
                </a:solidFill>
                <a:latin typeface="Cambria"/>
              </a:rPr>
              <a:t>k</a:t>
            </a:r>
            <a:r>
              <a:rPr lang="en-US" sz="1100" dirty="0">
                <a:solidFill>
                  <a:srgbClr val="444444"/>
                </a:solidFill>
                <a:latin typeface="Cambria"/>
              </a:rPr>
              <a:t> + 0.15 </a:t>
            </a:r>
            <a:r>
              <a:rPr lang="el-GR" sz="1100" dirty="0">
                <a:solidFill>
                  <a:srgbClr val="444444"/>
                </a:solidFill>
                <a:latin typeface="Cambria"/>
              </a:rPr>
              <a:t>λ̂</a:t>
            </a:r>
            <a:r>
              <a:rPr lang="en-US" sz="1100" baseline="30000" dirty="0">
                <a:solidFill>
                  <a:srgbClr val="444444"/>
                </a:solidFill>
                <a:latin typeface="Cambria"/>
              </a:rPr>
              <a:t>k</a:t>
            </a:r>
            <a:r>
              <a:rPr lang="en-US" sz="1100" dirty="0">
                <a:solidFill>
                  <a:srgbClr val="444444"/>
                </a:solidFill>
                <a:latin typeface="Cambria"/>
              </a:rPr>
              <a:t>.</a:t>
            </a:r>
            <a:endParaRPr sz="140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2454" y="2967836"/>
            <a:ext cx="5212080" cy="1722523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spcBef>
                <a:spcPts val="360"/>
              </a:spcBef>
              <a:spcAft>
                <a:spcPts val="360"/>
              </a:spcAft>
            </a:pPr>
            <a:r>
              <a:rPr sz="1600" b="0" i="1" dirty="0">
                <a:solidFill>
                  <a:srgbClr val="444444"/>
                </a:solidFill>
                <a:latin typeface="Cambria"/>
              </a:rPr>
              <a:t>(Q + A) / </a:t>
            </a:r>
            <a:r>
              <a:rPr sz="1600" b="0" i="1" dirty="0" err="1">
                <a:solidFill>
                  <a:srgbClr val="444444"/>
                </a:solidFill>
                <a:latin typeface="Cambria"/>
              </a:rPr>
              <a:t>μ</a:t>
            </a:r>
            <a:endParaRPr b="0" i="1" dirty="0">
              <a:solidFill>
                <a:srgbClr val="444444"/>
              </a:solidFill>
              <a:latin typeface="Cambria"/>
            </a:endParaRPr>
          </a:p>
          <a:p>
            <a:pPr>
              <a:spcAft>
                <a:spcPts val="270"/>
              </a:spcAft>
            </a:pPr>
            <a:r>
              <a:rPr sz="1400" dirty="0">
                <a:solidFill>
                  <a:srgbClr val="444444"/>
                </a:solidFill>
                <a:latin typeface="Calibri"/>
              </a:rPr>
              <a:t>where:</a:t>
            </a:r>
          </a:p>
          <a:p>
            <a:pPr marL="256032" indent="-164592">
              <a:spcAft>
                <a:spcPts val="90"/>
              </a:spcAft>
            </a:pPr>
            <a:r>
              <a:rPr sz="1400" dirty="0">
                <a:solidFill>
                  <a:srgbClr val="444444"/>
                </a:solidFill>
                <a:latin typeface="Calibri"/>
              </a:rPr>
              <a:t>•  A: train demand / occupancy newly assigned in the current interval/bin;</a:t>
            </a:r>
          </a:p>
          <a:p>
            <a:pPr marL="256032" indent="-164592">
              <a:spcAft>
                <a:spcPts val="90"/>
              </a:spcAft>
            </a:pPr>
            <a:r>
              <a:rPr sz="1400" dirty="0">
                <a:solidFill>
                  <a:srgbClr val="444444"/>
                </a:solidFill>
                <a:latin typeface="Calibri"/>
              </a:rPr>
              <a:t>•  Q: residual queue left over from the previous interval;</a:t>
            </a:r>
          </a:p>
          <a:p>
            <a:pPr marL="256032" indent="-164592">
              <a:spcAft>
                <a:spcPts val="90"/>
              </a:spcAft>
            </a:pPr>
            <a:r>
              <a:rPr sz="1400" dirty="0">
                <a:solidFill>
                  <a:srgbClr val="444444"/>
                </a:solidFill>
                <a:latin typeface="Calibri"/>
              </a:rPr>
              <a:t>•  </a:t>
            </a:r>
            <a:r>
              <a:rPr sz="1400" dirty="0" err="1">
                <a:solidFill>
                  <a:srgbClr val="444444"/>
                </a:solidFill>
                <a:latin typeface="Calibri"/>
              </a:rPr>
              <a:t>μ</a:t>
            </a:r>
            <a:r>
              <a:rPr sz="1400" dirty="0">
                <a:solidFill>
                  <a:srgbClr val="444444"/>
                </a:solidFill>
                <a:latin typeface="Calibri"/>
              </a:rPr>
              <a:t>: capacity that can be served in this time interval;</a:t>
            </a:r>
          </a:p>
          <a:p>
            <a:pPr marL="256032" indent="-164592">
              <a:spcAft>
                <a:spcPts val="90"/>
              </a:spcAft>
            </a:pPr>
            <a:r>
              <a:rPr sz="1400" dirty="0">
                <a:solidFill>
                  <a:srgbClr val="444444"/>
                </a:solidFill>
                <a:latin typeface="Calibri"/>
              </a:rPr>
              <a:t>•  </a:t>
            </a:r>
            <a:r>
              <a:rPr sz="1400" dirty="0" err="1">
                <a:solidFill>
                  <a:srgbClr val="444444"/>
                </a:solidFill>
                <a:latin typeface="Calibri"/>
              </a:rPr>
              <a:t>ρ</a:t>
            </a:r>
            <a:r>
              <a:rPr sz="1400" dirty="0">
                <a:solidFill>
                  <a:srgbClr val="444444"/>
                </a:solidFill>
                <a:latin typeface="Calibri"/>
              </a:rPr>
              <a:t> = (Q + A)/</a:t>
            </a:r>
            <a:r>
              <a:rPr sz="1400" dirty="0" err="1">
                <a:solidFill>
                  <a:srgbClr val="444444"/>
                </a:solidFill>
                <a:latin typeface="Calibri"/>
              </a:rPr>
              <a:t>μ</a:t>
            </a:r>
            <a:r>
              <a:rPr sz="1400" dirty="0">
                <a:solidFill>
                  <a:srgbClr val="444444"/>
                </a:solidFill>
                <a:latin typeface="Calibri"/>
              </a:rPr>
              <a:t>: volume/capacity or demand/capacity ratio.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E1E726-7798-1E14-7E47-ADBBD6144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23" y="4884016"/>
            <a:ext cx="4783091" cy="13506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146304"/>
            <a:ext cx="8686800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dirty="0">
                <a:solidFill>
                  <a:srgbClr val="1A1A1A"/>
                </a:solidFill>
                <a:latin typeface="Calibri"/>
              </a:rPr>
              <a:t>Congestion parameters: α, β, </a:t>
            </a:r>
            <a:r>
              <a:rPr sz="2400" b="1" dirty="0" err="1">
                <a:solidFill>
                  <a:srgbClr val="1A1A1A"/>
                </a:solidFill>
                <a:latin typeface="Calibri"/>
              </a:rPr>
              <a:t>γ</a:t>
            </a:r>
            <a:endParaRPr sz="24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35640" y="6327648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777777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16106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66755"/>
            <a:ext cx="5394960" cy="4833631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If we expand it, the DP state can be written as something like:</a:t>
            </a:r>
          </a:p>
          <a:p>
            <a:pPr algn="ctr">
              <a:spcBef>
                <a:spcPts val="700"/>
              </a:spcBef>
              <a:spcAft>
                <a:spcPts val="700"/>
              </a:spcAft>
            </a:pPr>
            <a:r>
              <a:rPr sz="2275" b="0" i="1" dirty="0">
                <a:solidFill>
                  <a:srgbClr val="444444"/>
                </a:solidFill>
                <a:latin typeface="Cambria"/>
              </a:rPr>
              <a:t>V</a:t>
            </a:r>
            <a:r>
              <a:rPr sz="2275" b="0" i="1" baseline="-25000" dirty="0">
                <a:solidFill>
                  <a:srgbClr val="444444"/>
                </a:solidFill>
                <a:latin typeface="Cambria"/>
              </a:rPr>
              <a:t>i</a:t>
            </a:r>
            <a:r>
              <a:rPr sz="2275" b="0" i="1" dirty="0">
                <a:solidFill>
                  <a:srgbClr val="444444"/>
                </a:solidFill>
                <a:latin typeface="Cambria"/>
              </a:rPr>
              <a:t>(n, t)</a:t>
            </a: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which denotes:</a:t>
            </a:r>
          </a:p>
          <a:p>
            <a:pPr marL="228600" indent="0">
              <a:spcBef>
                <a:spcPts val="350"/>
              </a:spcBef>
              <a:spcAft>
                <a:spcPts val="350"/>
              </a:spcAft>
            </a:pPr>
            <a:r>
              <a:rPr sz="2100" i="1" dirty="0">
                <a:solidFill>
                  <a:srgbClr val="444444"/>
                </a:solidFill>
                <a:latin typeface="Calibri"/>
              </a:rPr>
              <a:t>the minimum generalized cost for train </a:t>
            </a:r>
            <a:r>
              <a:rPr sz="2100" i="1" dirty="0" err="1">
                <a:solidFill>
                  <a:srgbClr val="444444"/>
                </a:solidFill>
                <a:latin typeface="Calibri"/>
              </a:rPr>
              <a:t>i</a:t>
            </a:r>
            <a:r>
              <a:rPr sz="2100" i="1" dirty="0">
                <a:solidFill>
                  <a:srgbClr val="444444"/>
                </a:solidFill>
                <a:latin typeface="Calibri"/>
              </a:rPr>
              <a:t> to reach physical node/state n at time t.</a:t>
            </a: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A running transition</a:t>
            </a:r>
            <a:r>
              <a:rPr lang="zh-CN" altLang="en-US" sz="2100" dirty="0">
                <a:solidFill>
                  <a:srgbClr val="444444"/>
                </a:solidFill>
                <a:latin typeface="Calibri"/>
              </a:rPr>
              <a:t> </a:t>
            </a:r>
            <a:r>
              <a:rPr lang="en-US" altLang="zh-CN" sz="2100" dirty="0">
                <a:solidFill>
                  <a:srgbClr val="444444"/>
                </a:solidFill>
                <a:latin typeface="Calibri"/>
              </a:rPr>
              <a:t>from</a:t>
            </a:r>
            <a:r>
              <a:rPr lang="zh-CN" altLang="en-US" sz="2100" dirty="0">
                <a:solidFill>
                  <a:srgbClr val="444444"/>
                </a:solidFill>
                <a:latin typeface="Calibri"/>
              </a:rPr>
              <a:t> </a:t>
            </a:r>
            <a:r>
              <a:rPr lang="en-US" altLang="zh-CN" sz="2100" dirty="0">
                <a:solidFill>
                  <a:srgbClr val="444444"/>
                </a:solidFill>
                <a:latin typeface="Calibri"/>
              </a:rPr>
              <a:t>n</a:t>
            </a:r>
            <a:r>
              <a:rPr lang="zh-CN" altLang="en-US" sz="2100" dirty="0">
                <a:solidFill>
                  <a:srgbClr val="444444"/>
                </a:solidFill>
                <a:latin typeface="Calibri"/>
              </a:rPr>
              <a:t> </a:t>
            </a:r>
            <a:r>
              <a:rPr lang="en-US" altLang="zh-CN" sz="2100" dirty="0">
                <a:solidFill>
                  <a:srgbClr val="444444"/>
                </a:solidFill>
                <a:latin typeface="Calibri"/>
              </a:rPr>
              <a:t>to</a:t>
            </a:r>
            <a:r>
              <a:rPr lang="zh-CN" altLang="en-US" sz="2100" dirty="0">
                <a:solidFill>
                  <a:srgbClr val="444444"/>
                </a:solidFill>
                <a:latin typeface="Calibri"/>
              </a:rPr>
              <a:t> </a:t>
            </a:r>
            <a:r>
              <a:rPr lang="en-US" altLang="zh-CN" sz="2100" dirty="0">
                <a:solidFill>
                  <a:srgbClr val="444444"/>
                </a:solidFill>
                <a:latin typeface="Calibri"/>
              </a:rPr>
              <a:t>m</a:t>
            </a:r>
            <a:r>
              <a:rPr sz="2100" dirty="0">
                <a:solidFill>
                  <a:srgbClr val="444444"/>
                </a:solidFill>
                <a:latin typeface="Calibri"/>
              </a:rPr>
              <a:t>:</a:t>
            </a:r>
          </a:p>
          <a:p>
            <a:pPr algn="ctr">
              <a:spcBef>
                <a:spcPts val="700"/>
              </a:spcBef>
              <a:spcAft>
                <a:spcPts val="700"/>
              </a:spcAft>
            </a:pPr>
            <a:r>
              <a:rPr sz="2275" b="0" i="1" dirty="0">
                <a:solidFill>
                  <a:srgbClr val="444444"/>
                </a:solidFill>
                <a:latin typeface="Cambria"/>
              </a:rPr>
              <a:t>(n, t) → (m, t + </a:t>
            </a:r>
            <a:r>
              <a:rPr sz="2275" b="0" i="1" dirty="0" err="1">
                <a:solidFill>
                  <a:srgbClr val="444444"/>
                </a:solidFill>
                <a:latin typeface="Cambria"/>
              </a:rPr>
              <a:t>τ</a:t>
            </a:r>
            <a:r>
              <a:rPr sz="2275" b="0" i="1" baseline="-25000" dirty="0" err="1">
                <a:solidFill>
                  <a:srgbClr val="444444"/>
                </a:solidFill>
                <a:latin typeface="Cambria"/>
              </a:rPr>
              <a:t>inm</a:t>
            </a:r>
            <a:r>
              <a:rPr sz="2275" b="0" i="1" dirty="0">
                <a:solidFill>
                  <a:srgbClr val="444444"/>
                </a:solidFill>
                <a:latin typeface="Cambria"/>
              </a:rPr>
              <a:t>)</a:t>
            </a: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cost:</a:t>
            </a:r>
          </a:p>
          <a:p>
            <a:pPr>
              <a:spcAft>
                <a:spcPts val="525"/>
              </a:spcAft>
            </a:pPr>
            <a:endParaRPr lang="en-US" sz="2100" dirty="0">
              <a:solidFill>
                <a:srgbClr val="444444"/>
              </a:solidFill>
              <a:latin typeface="Calibri"/>
            </a:endParaRPr>
          </a:p>
          <a:p>
            <a:pPr>
              <a:spcAft>
                <a:spcPts val="525"/>
              </a:spcAft>
            </a:pPr>
            <a:endParaRPr lang="en-US" sz="2100" dirty="0">
              <a:solidFill>
                <a:srgbClr val="444444"/>
              </a:solidFill>
              <a:latin typeface="Calibri"/>
            </a:endParaRP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so: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0" y="330970"/>
            <a:ext cx="5394960" cy="417062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1050"/>
            </a:pPr>
            <a:endParaRPr dirty="0"/>
          </a:p>
          <a:p>
            <a:pPr>
              <a:spcBef>
                <a:spcPts val="1400"/>
              </a:spcBef>
              <a:spcAft>
                <a:spcPts val="350"/>
              </a:spcAft>
            </a:pPr>
            <a:r>
              <a:rPr sz="2625" b="1" dirty="0">
                <a:solidFill>
                  <a:srgbClr val="1A1A1A"/>
                </a:solidFill>
                <a:latin typeface="Calibri"/>
              </a:rPr>
              <a:t>Waiting transition</a:t>
            </a: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If the train is allowed to wait one time step at n:</a:t>
            </a:r>
          </a:p>
          <a:p>
            <a:pPr algn="ctr">
              <a:spcBef>
                <a:spcPts val="700"/>
              </a:spcBef>
              <a:spcAft>
                <a:spcPts val="700"/>
              </a:spcAft>
            </a:pPr>
            <a:r>
              <a:rPr sz="2275" b="0" i="1" dirty="0">
                <a:solidFill>
                  <a:srgbClr val="444444"/>
                </a:solidFill>
                <a:latin typeface="Cambria"/>
              </a:rPr>
              <a:t>(n, t) → (n, t + </a:t>
            </a:r>
            <a:r>
              <a:rPr sz="2275" b="0" i="1" dirty="0" err="1">
                <a:solidFill>
                  <a:srgbClr val="444444"/>
                </a:solidFill>
                <a:latin typeface="Cambria"/>
              </a:rPr>
              <a:t>Δt</a:t>
            </a:r>
            <a:r>
              <a:rPr sz="2275" b="0" i="1" dirty="0">
                <a:solidFill>
                  <a:srgbClr val="444444"/>
                </a:solidFill>
                <a:latin typeface="Cambria"/>
              </a:rPr>
              <a:t>)</a:t>
            </a: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then:</a:t>
            </a:r>
          </a:p>
          <a:p>
            <a:pPr>
              <a:spcAft>
                <a:spcPts val="525"/>
              </a:spcAft>
            </a:pPr>
            <a:endParaRPr lang="en-US" sz="2100" dirty="0">
              <a:solidFill>
                <a:srgbClr val="444444"/>
              </a:solidFill>
              <a:latin typeface="Calibri"/>
            </a:endParaRPr>
          </a:p>
          <a:p>
            <a:pPr>
              <a:spcAft>
                <a:spcPts val="525"/>
              </a:spcAft>
            </a:pPr>
            <a:endParaRPr lang="en-US" sz="2100" dirty="0">
              <a:solidFill>
                <a:srgbClr val="444444"/>
              </a:solidFill>
              <a:latin typeface="Calibri"/>
            </a:endParaRP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Therefore:</a:t>
            </a:r>
          </a:p>
          <a:p>
            <a:pPr algn="ctr">
              <a:spcBef>
                <a:spcPts val="700"/>
              </a:spcBef>
              <a:spcAft>
                <a:spcPts val="700"/>
              </a:spcAft>
            </a:pPr>
            <a:r>
              <a:rPr sz="2275" b="1" dirty="0">
                <a:solidFill>
                  <a:srgbClr val="1A1A1A"/>
                </a:solidFill>
                <a:latin typeface="Cambria"/>
              </a:rPr>
              <a:t>time itself is a DP state</a:t>
            </a: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This is what a true time-dependent DP 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EC5468-7620-6D53-3EB6-15BB1C87D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985" y="2486648"/>
            <a:ext cx="5710030" cy="5218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7AFD31-0779-A2AC-317C-187438A3E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682980"/>
            <a:ext cx="5394960" cy="6238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75D8B2-BC5F-922C-C603-46E1EB930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030" y="4177644"/>
            <a:ext cx="3289300" cy="111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6304"/>
            <a:ext cx="8686800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dirty="0">
                <a:solidFill>
                  <a:srgbClr val="1A1A1A"/>
                </a:solidFill>
                <a:latin typeface="Calibri"/>
              </a:rPr>
              <a:t>Time-dependent DP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72611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777777"/>
                </a:solidFill>
                <a:latin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59877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58CDFB-9EC3-4654-1FE5-C798823B4B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6E8B8F-81EC-A67E-4E09-F38FCA272BBD}"/>
              </a:ext>
            </a:extLst>
          </p:cNvPr>
          <p:cNvCxnSpPr>
            <a:cxnSpLocks/>
          </p:cNvCxnSpPr>
          <p:nvPr/>
        </p:nvCxnSpPr>
        <p:spPr>
          <a:xfrm flipV="1">
            <a:off x="5237018" y="2256311"/>
            <a:ext cx="2505694" cy="76002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59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64050"/>
            <a:ext cx="5394960" cy="534325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Bef>
                <a:spcPts val="919"/>
              </a:spcBef>
              <a:spcAft>
                <a:spcPts val="229"/>
              </a:spcAft>
            </a:pPr>
            <a:r>
              <a:rPr sz="1720" b="1" dirty="0">
                <a:latin typeface="Calibri"/>
              </a:rPr>
              <a:t>A particularly intuitive example</a:t>
            </a:r>
          </a:p>
          <a:p>
            <a:pPr>
              <a:spcAft>
                <a:spcPts val="350"/>
              </a:spcAft>
            </a:pPr>
            <a:r>
              <a:rPr sz="1380" dirty="0">
                <a:latin typeface="Calibri"/>
              </a:rPr>
              <a:t>The same train has two options.</a:t>
            </a:r>
          </a:p>
          <a:p>
            <a:pPr>
              <a:spcBef>
                <a:spcPts val="919"/>
              </a:spcBef>
              <a:spcAft>
                <a:spcPts val="229"/>
              </a:spcAft>
            </a:pPr>
            <a:r>
              <a:rPr sz="1720" b="1" dirty="0">
                <a:latin typeface="Calibri"/>
              </a:rPr>
              <a:t>Option A: take Main 1 immediately</a:t>
            </a:r>
          </a:p>
          <a:p>
            <a:pPr>
              <a:spcAft>
                <a:spcPts val="350"/>
              </a:spcAft>
            </a:pPr>
            <a:r>
              <a:rPr sz="1380" dirty="0">
                <a:latin typeface="Calibri"/>
              </a:rPr>
              <a:t>Enters the bottleneck at 8:00: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500" b="0" dirty="0">
                <a:latin typeface="Cambria"/>
              </a:rPr>
              <a:t>λ</a:t>
            </a:r>
            <a:r>
              <a:rPr sz="1500" b="0" baseline="-25000" dirty="0">
                <a:latin typeface="Cambria"/>
              </a:rPr>
              <a:t>Main1,8:00</a:t>
            </a:r>
            <a:r>
              <a:rPr sz="1500" b="0" dirty="0">
                <a:latin typeface="Cambria"/>
              </a:rPr>
              <a:t> = 15.</a:t>
            </a:r>
          </a:p>
          <a:p>
            <a:pPr>
              <a:spcAft>
                <a:spcPts val="350"/>
              </a:spcAft>
            </a:pPr>
            <a:r>
              <a:rPr sz="1380" dirty="0">
                <a:latin typeface="Calibri"/>
              </a:rPr>
              <a:t>Raw run time: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500" b="0" dirty="0">
                <a:latin typeface="Cambria"/>
              </a:rPr>
              <a:t>10 min.</a:t>
            </a:r>
          </a:p>
          <a:p>
            <a:pPr>
              <a:spcAft>
                <a:spcPts val="350"/>
              </a:spcAft>
            </a:pPr>
            <a:r>
              <a:rPr sz="1380" dirty="0">
                <a:latin typeface="Calibri"/>
              </a:rPr>
              <a:t>Total generalized cost: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500" b="0" dirty="0">
                <a:latin typeface="Cambria"/>
              </a:rPr>
              <a:t>10 + 15 = 25.</a:t>
            </a:r>
          </a:p>
          <a:p>
            <a:pPr>
              <a:defRPr sz="750"/>
            </a:pPr>
            <a:endParaRPr sz="1625" b="0" dirty="0">
              <a:latin typeface="Cambria"/>
            </a:endParaRPr>
          </a:p>
          <a:p>
            <a:pPr>
              <a:spcBef>
                <a:spcPts val="919"/>
              </a:spcBef>
              <a:spcAft>
                <a:spcPts val="229"/>
              </a:spcAft>
            </a:pPr>
            <a:r>
              <a:rPr sz="1720" b="1" dirty="0">
                <a:latin typeface="Calibri"/>
              </a:rPr>
              <a:t>Option B: wait 10 min first</a:t>
            </a:r>
          </a:p>
          <a:p>
            <a:pPr>
              <a:spcAft>
                <a:spcPts val="350"/>
              </a:spcAft>
            </a:pPr>
            <a:r>
              <a:rPr sz="1380" dirty="0">
                <a:latin typeface="Calibri"/>
              </a:rPr>
              <a:t>10 minutes of waiting: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500" b="0" dirty="0">
                <a:latin typeface="Cambria"/>
              </a:rPr>
              <a:t>10</a:t>
            </a:r>
          </a:p>
          <a:p>
            <a:pPr>
              <a:spcAft>
                <a:spcPts val="350"/>
              </a:spcAft>
            </a:pPr>
            <a:r>
              <a:rPr sz="1380" dirty="0">
                <a:latin typeface="Calibri"/>
              </a:rPr>
              <a:t>then enter Main 1 at 8:10: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500" b="0" dirty="0">
                <a:latin typeface="Cambria"/>
              </a:rPr>
              <a:t>λ</a:t>
            </a:r>
            <a:r>
              <a:rPr sz="1500" b="0" baseline="-25000" dirty="0">
                <a:latin typeface="Cambria"/>
              </a:rPr>
              <a:t>Main1,8:10</a:t>
            </a:r>
            <a:r>
              <a:rPr sz="1500" b="0" dirty="0">
                <a:latin typeface="Cambria"/>
              </a:rPr>
              <a:t> = 2.</a:t>
            </a:r>
          </a:p>
          <a:p>
            <a:pPr>
              <a:spcAft>
                <a:spcPts val="350"/>
              </a:spcAft>
            </a:pPr>
            <a:r>
              <a:rPr sz="1380" dirty="0">
                <a:latin typeface="Calibri"/>
              </a:rPr>
              <a:t>Run: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500" b="0" dirty="0">
                <a:latin typeface="Cambria"/>
              </a:rPr>
              <a:t>10.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7880" y="595773"/>
            <a:ext cx="5394960" cy="589340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350"/>
              </a:spcAft>
            </a:pPr>
            <a:r>
              <a:rPr sz="1380" dirty="0">
                <a:latin typeface="Calibri"/>
              </a:rPr>
              <a:t>Total cost: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500" b="0" dirty="0">
                <a:latin typeface="Cambria"/>
              </a:rPr>
              <a:t>10</a:t>
            </a:r>
            <a:r>
              <a:rPr sz="1500" b="0" baseline="-25000" dirty="0">
                <a:latin typeface="Cambria"/>
              </a:rPr>
              <a:t>wait</a:t>
            </a:r>
            <a:r>
              <a:rPr sz="1500" b="0" dirty="0">
                <a:latin typeface="Cambria"/>
              </a:rPr>
              <a:t> + 10</a:t>
            </a:r>
            <a:r>
              <a:rPr sz="1500" b="0" baseline="-25000" dirty="0">
                <a:latin typeface="Cambria"/>
              </a:rPr>
              <a:t>run</a:t>
            </a:r>
            <a:r>
              <a:rPr sz="1500" b="0" dirty="0">
                <a:latin typeface="Cambria"/>
              </a:rPr>
              <a:t> + 2</a:t>
            </a:r>
            <a:r>
              <a:rPr sz="1500" b="0" baseline="-25000" dirty="0">
                <a:latin typeface="Cambria"/>
              </a:rPr>
              <a:t>λ</a:t>
            </a:r>
            <a:r>
              <a:rPr sz="1500" b="0" dirty="0">
                <a:latin typeface="Cambria"/>
              </a:rPr>
              <a:t> = 22.</a:t>
            </a:r>
          </a:p>
          <a:p>
            <a:pPr>
              <a:spcAft>
                <a:spcPts val="350"/>
              </a:spcAft>
            </a:pPr>
            <a:r>
              <a:rPr sz="1380" dirty="0">
                <a:latin typeface="Calibri"/>
              </a:rPr>
              <a:t>So the DP discovers by itself: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500" b="1" dirty="0">
                <a:latin typeface="Cambria"/>
              </a:rPr>
              <a:t>waiting a while is actually better</a:t>
            </a:r>
          </a:p>
          <a:p>
            <a:pPr>
              <a:spcAft>
                <a:spcPts val="350"/>
              </a:spcAft>
            </a:pPr>
            <a:r>
              <a:rPr sz="1380" dirty="0">
                <a:latin typeface="Calibri"/>
              </a:rPr>
              <a:t>This is a timetable decision.</a:t>
            </a:r>
          </a:p>
          <a:p>
            <a:pPr>
              <a:defRPr sz="750"/>
            </a:pPr>
            <a:endParaRPr lang="en-US" sz="1500" dirty="0">
              <a:latin typeface="Calibri"/>
            </a:endParaRPr>
          </a:p>
          <a:p>
            <a:pPr>
              <a:defRPr sz="750"/>
            </a:pPr>
            <a:endParaRPr sz="1500" dirty="0">
              <a:latin typeface="Calibri"/>
            </a:endParaRPr>
          </a:p>
          <a:p>
            <a:pPr>
              <a:spcAft>
                <a:spcPts val="350"/>
              </a:spcAft>
            </a:pPr>
            <a:r>
              <a:rPr sz="1380" b="1" dirty="0">
                <a:latin typeface="Calibri"/>
              </a:rPr>
              <a:t>If there is also a siding:</a:t>
            </a:r>
          </a:p>
          <a:p>
            <a:pPr>
              <a:spcBef>
                <a:spcPts val="919"/>
              </a:spcBef>
              <a:spcAft>
                <a:spcPts val="229"/>
              </a:spcAft>
            </a:pPr>
            <a:r>
              <a:rPr sz="1720" b="1" dirty="0">
                <a:latin typeface="Calibri"/>
              </a:rPr>
              <a:t>Option C</a:t>
            </a:r>
          </a:p>
          <a:p>
            <a:pPr>
              <a:spcAft>
                <a:spcPts val="350"/>
              </a:spcAft>
            </a:pPr>
            <a:r>
              <a:rPr sz="1380" dirty="0">
                <a:latin typeface="Calibri"/>
              </a:rPr>
              <a:t>Take the siding at 8:00: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500" b="0" dirty="0">
                <a:latin typeface="Cambria"/>
              </a:rPr>
              <a:t>λ</a:t>
            </a:r>
            <a:r>
              <a:rPr sz="1500" b="0" baseline="-25000" dirty="0">
                <a:latin typeface="Cambria"/>
              </a:rPr>
              <a:t>siding,8:00</a:t>
            </a:r>
            <a:r>
              <a:rPr sz="1500" b="0" dirty="0">
                <a:latin typeface="Cambria"/>
              </a:rPr>
              <a:t> = 1</a:t>
            </a:r>
          </a:p>
          <a:p>
            <a:pPr>
              <a:spcAft>
                <a:spcPts val="350"/>
              </a:spcAft>
            </a:pPr>
            <a:r>
              <a:rPr sz="1380" dirty="0">
                <a:latin typeface="Calibri"/>
              </a:rPr>
              <a:t>but the siding run time is 8 minutes longer.</a:t>
            </a:r>
          </a:p>
          <a:p>
            <a:pPr>
              <a:spcAft>
                <a:spcPts val="350"/>
              </a:spcAft>
            </a:pPr>
            <a:r>
              <a:rPr sz="1380" dirty="0">
                <a:latin typeface="Calibri"/>
              </a:rPr>
              <a:t>Then: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500" b="0" dirty="0">
                <a:latin typeface="Cambria"/>
              </a:rPr>
              <a:t>10 + 8 + 1 = 19.</a:t>
            </a:r>
          </a:p>
          <a:p>
            <a:pPr>
              <a:spcAft>
                <a:spcPts val="350"/>
              </a:spcAft>
            </a:pPr>
            <a:r>
              <a:rPr sz="1380" dirty="0">
                <a:latin typeface="Calibri"/>
              </a:rPr>
              <a:t>The DP may even choose: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500" b="1" dirty="0">
                <a:latin typeface="Cambria"/>
              </a:rPr>
              <a:t>change physical route + change timing</a:t>
            </a:r>
          </a:p>
          <a:p>
            <a:pPr>
              <a:spcAft>
                <a:spcPts val="350"/>
              </a:spcAft>
            </a:pPr>
            <a:r>
              <a:rPr sz="1380" dirty="0">
                <a:latin typeface="Calibri"/>
              </a:rPr>
              <a:t>So what CORRIDOR-SIM actually solves is: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lang="en-US" altLang="zh-CN" sz="1500" b="1" dirty="0">
                <a:latin typeface="Cambria"/>
              </a:rPr>
              <a:t>Route(main</a:t>
            </a:r>
            <a:r>
              <a:rPr sz="1500" b="1" dirty="0">
                <a:latin typeface="Cambria"/>
              </a:rPr>
              <a:t> track + siding/crossover</a:t>
            </a:r>
            <a:r>
              <a:rPr lang="en-US" altLang="zh-CN" sz="1500" b="1" dirty="0">
                <a:latin typeface="Cambria"/>
              </a:rPr>
              <a:t>)</a:t>
            </a:r>
            <a:r>
              <a:rPr sz="1500" b="1" dirty="0">
                <a:latin typeface="Cambria"/>
              </a:rPr>
              <a:t>+ departure/waiting time</a:t>
            </a:r>
          </a:p>
          <a:p>
            <a:pPr>
              <a:spcAft>
                <a:spcPts val="350"/>
              </a:spcAft>
            </a:pPr>
            <a:r>
              <a:rPr sz="1380" dirty="0">
                <a:latin typeface="Calibri"/>
              </a:rPr>
              <a:t>jointly.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686800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dirty="0">
                <a:solidFill>
                  <a:srgbClr val="1A1A1A"/>
                </a:solidFill>
                <a:latin typeface="Calibri"/>
              </a:rPr>
              <a:t>Timing as a decision: a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77905" y="6327648"/>
            <a:ext cx="7213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777777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5818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2166" y="922875"/>
            <a:ext cx="5394960" cy="5460469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65"/>
              </a:spcAft>
            </a:pPr>
            <a:r>
              <a:rPr sz="1860" dirty="0">
                <a:solidFill>
                  <a:srgbClr val="444444"/>
                </a:solidFill>
                <a:latin typeface="Calibri"/>
              </a:rPr>
              <a:t>The typical fluid queue relation is:</a:t>
            </a:r>
          </a:p>
          <a:p>
            <a:pPr algn="ctr">
              <a:spcBef>
                <a:spcPts val="620"/>
              </a:spcBef>
              <a:spcAft>
                <a:spcPts val="620"/>
              </a:spcAft>
            </a:pPr>
            <a:r>
              <a:rPr sz="2015" b="1" i="1" dirty="0">
                <a:solidFill>
                  <a:srgbClr val="1A1A1A"/>
                </a:solidFill>
                <a:latin typeface="Cambria"/>
              </a:rPr>
              <a:t>Q</a:t>
            </a:r>
            <a:r>
              <a:rPr sz="2015" b="1" i="1" baseline="30000" dirty="0">
                <a:solidFill>
                  <a:srgbClr val="1A1A1A"/>
                </a:solidFill>
                <a:latin typeface="Cambria"/>
              </a:rPr>
              <a:t>k</a:t>
            </a:r>
            <a:r>
              <a:rPr sz="2015" b="1" i="1" baseline="-25000" dirty="0">
                <a:solidFill>
                  <a:srgbClr val="1A1A1A"/>
                </a:solidFill>
                <a:latin typeface="Cambria"/>
              </a:rPr>
              <a:t>r,t+1</a:t>
            </a:r>
            <a:r>
              <a:rPr sz="2015" b="1" i="1" dirty="0">
                <a:solidFill>
                  <a:srgbClr val="1A1A1A"/>
                </a:solidFill>
                <a:latin typeface="Cambria"/>
              </a:rPr>
              <a:t> = [</a:t>
            </a:r>
            <a:r>
              <a:rPr sz="2015" b="1" i="1" dirty="0" err="1">
                <a:solidFill>
                  <a:srgbClr val="1A1A1A"/>
                </a:solidFill>
                <a:latin typeface="Cambria"/>
              </a:rPr>
              <a:t>Q</a:t>
            </a:r>
            <a:r>
              <a:rPr sz="2015" b="1" i="1" baseline="30000" dirty="0" err="1">
                <a:solidFill>
                  <a:srgbClr val="1A1A1A"/>
                </a:solidFill>
                <a:latin typeface="Cambria"/>
              </a:rPr>
              <a:t>k</a:t>
            </a:r>
            <a:r>
              <a:rPr sz="2015" b="1" i="1" baseline="-25000" dirty="0" err="1">
                <a:solidFill>
                  <a:srgbClr val="1A1A1A"/>
                </a:solidFill>
                <a:latin typeface="Cambria"/>
              </a:rPr>
              <a:t>rt</a:t>
            </a:r>
            <a:r>
              <a:rPr sz="2015" b="1" i="1" dirty="0">
                <a:solidFill>
                  <a:srgbClr val="1A1A1A"/>
                </a:solidFill>
                <a:latin typeface="Cambria"/>
              </a:rPr>
              <a:t> + </a:t>
            </a:r>
            <a:r>
              <a:rPr sz="2015" b="1" i="1" dirty="0" err="1">
                <a:solidFill>
                  <a:srgbClr val="1A1A1A"/>
                </a:solidFill>
                <a:latin typeface="Cambria"/>
              </a:rPr>
              <a:t>A</a:t>
            </a:r>
            <a:r>
              <a:rPr sz="2015" b="1" i="1" baseline="30000" dirty="0" err="1">
                <a:solidFill>
                  <a:srgbClr val="1A1A1A"/>
                </a:solidFill>
                <a:latin typeface="Cambria"/>
              </a:rPr>
              <a:t>k</a:t>
            </a:r>
            <a:r>
              <a:rPr sz="2015" b="1" i="1" baseline="-25000" dirty="0" err="1">
                <a:solidFill>
                  <a:srgbClr val="1A1A1A"/>
                </a:solidFill>
                <a:latin typeface="Cambria"/>
              </a:rPr>
              <a:t>rt</a:t>
            </a:r>
            <a:r>
              <a:rPr sz="2015" b="1" i="1" dirty="0">
                <a:solidFill>
                  <a:srgbClr val="1A1A1A"/>
                </a:solidFill>
                <a:latin typeface="Cambria"/>
              </a:rPr>
              <a:t> − </a:t>
            </a:r>
            <a:r>
              <a:rPr sz="2015" b="1" i="1" dirty="0" err="1">
                <a:solidFill>
                  <a:srgbClr val="1A1A1A"/>
                </a:solidFill>
                <a:latin typeface="Cambria"/>
              </a:rPr>
              <a:t>μ</a:t>
            </a:r>
            <a:r>
              <a:rPr sz="2015" b="1" i="1" baseline="-25000" dirty="0" err="1">
                <a:solidFill>
                  <a:srgbClr val="1A1A1A"/>
                </a:solidFill>
                <a:latin typeface="Cambria"/>
              </a:rPr>
              <a:t>rt</a:t>
            </a:r>
            <a:r>
              <a:rPr sz="2015" b="1" i="1" dirty="0">
                <a:solidFill>
                  <a:srgbClr val="1A1A1A"/>
                </a:solidFill>
                <a:latin typeface="Cambria"/>
              </a:rPr>
              <a:t>]</a:t>
            </a:r>
            <a:r>
              <a:rPr sz="2015" b="1" i="1" baseline="30000" dirty="0">
                <a:solidFill>
                  <a:srgbClr val="1A1A1A"/>
                </a:solidFill>
                <a:latin typeface="Cambria"/>
              </a:rPr>
              <a:t>+</a:t>
            </a:r>
          </a:p>
          <a:p>
            <a:pPr>
              <a:spcAft>
                <a:spcPts val="465"/>
              </a:spcAft>
            </a:pPr>
            <a:r>
              <a:rPr sz="1860" dirty="0">
                <a:solidFill>
                  <a:srgbClr val="444444"/>
                </a:solidFill>
                <a:latin typeface="Calibri"/>
              </a:rPr>
              <a:t>In other words:</a:t>
            </a:r>
          </a:p>
          <a:p>
            <a:pPr algn="ctr">
              <a:spcBef>
                <a:spcPts val="620"/>
              </a:spcBef>
              <a:spcAft>
                <a:spcPts val="620"/>
              </a:spcAft>
            </a:pPr>
            <a:r>
              <a:rPr sz="2015" b="0" i="1" dirty="0">
                <a:solidFill>
                  <a:srgbClr val="444444"/>
                </a:solidFill>
                <a:latin typeface="Cambria"/>
              </a:rPr>
              <a:t>previous-period queue + this-period arrivals − this-period capacity = next-period queue.</a:t>
            </a:r>
          </a:p>
          <a:p>
            <a:pPr>
              <a:spcAft>
                <a:spcPts val="465"/>
              </a:spcAft>
            </a:pPr>
            <a:r>
              <a:rPr sz="1860" dirty="0">
                <a:solidFill>
                  <a:srgbClr val="444444"/>
                </a:solidFill>
                <a:latin typeface="Calibri"/>
              </a:rPr>
              <a:t>For example:</a:t>
            </a:r>
          </a:p>
          <a:p>
            <a:pPr>
              <a:spcBef>
                <a:spcPts val="1240"/>
              </a:spcBef>
              <a:spcAft>
                <a:spcPts val="310"/>
              </a:spcAft>
            </a:pPr>
            <a:r>
              <a:rPr sz="2325" b="1" dirty="0">
                <a:solidFill>
                  <a:srgbClr val="1A1A1A"/>
                </a:solidFill>
                <a:latin typeface="Calibri"/>
              </a:rPr>
              <a:t>8:00</a:t>
            </a:r>
          </a:p>
          <a:p>
            <a:pPr algn="ctr">
              <a:spcBef>
                <a:spcPts val="620"/>
              </a:spcBef>
              <a:spcAft>
                <a:spcPts val="620"/>
              </a:spcAft>
            </a:pPr>
            <a:r>
              <a:rPr sz="2015" b="0" i="1" dirty="0">
                <a:solidFill>
                  <a:srgbClr val="444444"/>
                </a:solidFill>
                <a:latin typeface="Cambria"/>
              </a:rPr>
              <a:t>Q = 0,    A = 8,    </a:t>
            </a:r>
            <a:r>
              <a:rPr sz="2015" b="0" i="1" dirty="0" err="1">
                <a:solidFill>
                  <a:srgbClr val="444444"/>
                </a:solidFill>
                <a:latin typeface="Cambria"/>
              </a:rPr>
              <a:t>μ</a:t>
            </a:r>
            <a:r>
              <a:rPr sz="2015" b="0" i="1" dirty="0">
                <a:solidFill>
                  <a:srgbClr val="444444"/>
                </a:solidFill>
                <a:latin typeface="Cambria"/>
              </a:rPr>
              <a:t> = 5</a:t>
            </a:r>
          </a:p>
          <a:p>
            <a:pPr>
              <a:spcAft>
                <a:spcPts val="465"/>
              </a:spcAft>
            </a:pPr>
            <a:r>
              <a:rPr sz="1860" dirty="0">
                <a:solidFill>
                  <a:srgbClr val="444444"/>
                </a:solidFill>
                <a:latin typeface="Calibri"/>
              </a:rPr>
              <a:t>so:</a:t>
            </a:r>
          </a:p>
          <a:p>
            <a:pPr algn="ctr">
              <a:spcBef>
                <a:spcPts val="620"/>
              </a:spcBef>
              <a:spcAft>
                <a:spcPts val="620"/>
              </a:spcAft>
            </a:pPr>
            <a:r>
              <a:rPr sz="2015" b="0" i="1" dirty="0">
                <a:solidFill>
                  <a:srgbClr val="444444"/>
                </a:solidFill>
                <a:latin typeface="Cambria"/>
              </a:rPr>
              <a:t>Q</a:t>
            </a:r>
            <a:r>
              <a:rPr sz="2015" b="0" i="1" baseline="-25000" dirty="0">
                <a:solidFill>
                  <a:srgbClr val="444444"/>
                </a:solidFill>
                <a:latin typeface="Cambria"/>
              </a:rPr>
              <a:t>8:30</a:t>
            </a:r>
            <a:r>
              <a:rPr sz="2015" b="0" i="1" dirty="0">
                <a:solidFill>
                  <a:srgbClr val="444444"/>
                </a:solidFill>
                <a:latin typeface="Cambria"/>
              </a:rPr>
              <a:t> = </a:t>
            </a:r>
            <a:r>
              <a:rPr lang="en-US" sz="2015" i="1" dirty="0">
                <a:solidFill>
                  <a:srgbClr val="444444"/>
                </a:solidFill>
                <a:latin typeface="Cambria"/>
              </a:rPr>
              <a:t>[</a:t>
            </a:r>
            <a:r>
              <a:rPr lang="en-US" altLang="zh-CN" sz="2015" i="1" dirty="0">
                <a:solidFill>
                  <a:srgbClr val="444444"/>
                </a:solidFill>
                <a:latin typeface="Cambria"/>
              </a:rPr>
              <a:t>0</a:t>
            </a:r>
            <a:r>
              <a:rPr lang="en-US" sz="2015" i="1" dirty="0">
                <a:solidFill>
                  <a:srgbClr val="444444"/>
                </a:solidFill>
                <a:latin typeface="Cambria"/>
              </a:rPr>
              <a:t> + </a:t>
            </a:r>
            <a:r>
              <a:rPr lang="en-US" altLang="zh-CN" sz="2015" i="1" dirty="0">
                <a:solidFill>
                  <a:srgbClr val="444444"/>
                </a:solidFill>
                <a:latin typeface="Cambria"/>
              </a:rPr>
              <a:t>8</a:t>
            </a:r>
            <a:r>
              <a:rPr lang="en-US" sz="2015" i="1" dirty="0">
                <a:solidFill>
                  <a:srgbClr val="444444"/>
                </a:solidFill>
                <a:latin typeface="Cambria"/>
              </a:rPr>
              <a:t> − 5]</a:t>
            </a:r>
            <a:r>
              <a:rPr lang="en-US" sz="2015" i="1" baseline="30000" dirty="0">
                <a:solidFill>
                  <a:srgbClr val="444444"/>
                </a:solidFill>
                <a:latin typeface="Cambria"/>
              </a:rPr>
              <a:t>+</a:t>
            </a:r>
            <a:r>
              <a:rPr lang="zh-CN" altLang="en-US" sz="2015" i="1" baseline="30000" dirty="0">
                <a:solidFill>
                  <a:srgbClr val="444444"/>
                </a:solidFill>
                <a:latin typeface="Cambria"/>
              </a:rPr>
              <a:t> </a:t>
            </a:r>
            <a:r>
              <a:rPr lang="en-US" altLang="zh-CN" sz="2015" i="1" dirty="0">
                <a:solidFill>
                  <a:srgbClr val="444444"/>
                </a:solidFill>
                <a:latin typeface="Cambria"/>
              </a:rPr>
              <a:t>=</a:t>
            </a:r>
            <a:r>
              <a:rPr lang="zh-CN" altLang="en-US" sz="2015" i="1" dirty="0">
                <a:solidFill>
                  <a:srgbClr val="444444"/>
                </a:solidFill>
                <a:latin typeface="Cambria"/>
              </a:rPr>
              <a:t> </a:t>
            </a:r>
            <a:r>
              <a:rPr sz="2015" b="0" i="1" dirty="0">
                <a:solidFill>
                  <a:srgbClr val="444444"/>
                </a:solidFill>
                <a:latin typeface="Cambria"/>
              </a:rPr>
              <a:t>3.</a:t>
            </a:r>
          </a:p>
          <a:p>
            <a:pPr>
              <a:spcBef>
                <a:spcPts val="1240"/>
              </a:spcBef>
              <a:spcAft>
                <a:spcPts val="310"/>
              </a:spcAft>
            </a:pPr>
            <a:r>
              <a:rPr sz="2325" b="1" dirty="0">
                <a:solidFill>
                  <a:srgbClr val="1A1A1A"/>
                </a:solidFill>
                <a:latin typeface="Calibri"/>
              </a:rPr>
              <a:t>8:30</a:t>
            </a:r>
          </a:p>
          <a:p>
            <a:pPr>
              <a:spcAft>
                <a:spcPts val="465"/>
              </a:spcAft>
            </a:pPr>
            <a:r>
              <a:rPr sz="1860" dirty="0">
                <a:solidFill>
                  <a:srgbClr val="444444"/>
                </a:solidFill>
                <a:latin typeface="Calibri"/>
              </a:rPr>
              <a:t>Again:</a:t>
            </a:r>
          </a:p>
          <a:p>
            <a:pPr algn="ctr">
              <a:spcBef>
                <a:spcPts val="620"/>
              </a:spcBef>
              <a:spcAft>
                <a:spcPts val="620"/>
              </a:spcAft>
            </a:pPr>
            <a:r>
              <a:rPr sz="2015" b="0" i="1" dirty="0">
                <a:solidFill>
                  <a:srgbClr val="444444"/>
                </a:solidFill>
                <a:latin typeface="Cambria"/>
              </a:rPr>
              <a:t>A = 4,    </a:t>
            </a:r>
            <a:r>
              <a:rPr sz="2015" b="0" i="1" dirty="0" err="1">
                <a:solidFill>
                  <a:srgbClr val="444444"/>
                </a:solidFill>
                <a:latin typeface="Cambria"/>
              </a:rPr>
              <a:t>μ</a:t>
            </a:r>
            <a:r>
              <a:rPr sz="2015" b="0" i="1" dirty="0">
                <a:solidFill>
                  <a:srgbClr val="444444"/>
                </a:solidFill>
                <a:latin typeface="Cambria"/>
              </a:rPr>
              <a:t> =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54326" y="922875"/>
            <a:ext cx="5394960" cy="63093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65"/>
              </a:spcAft>
            </a:pPr>
            <a:r>
              <a:rPr sz="1860" dirty="0">
                <a:solidFill>
                  <a:srgbClr val="444444"/>
                </a:solidFill>
                <a:latin typeface="Calibri"/>
              </a:rPr>
              <a:t>then:</a:t>
            </a:r>
          </a:p>
          <a:p>
            <a:pPr algn="ctr">
              <a:spcBef>
                <a:spcPts val="620"/>
              </a:spcBef>
              <a:spcAft>
                <a:spcPts val="620"/>
              </a:spcAft>
            </a:pPr>
            <a:r>
              <a:rPr sz="2015" b="0" i="1" dirty="0">
                <a:solidFill>
                  <a:srgbClr val="444444"/>
                </a:solidFill>
                <a:latin typeface="Cambria"/>
              </a:rPr>
              <a:t>Q</a:t>
            </a:r>
            <a:r>
              <a:rPr sz="2015" b="0" i="1" baseline="-25000" dirty="0">
                <a:solidFill>
                  <a:srgbClr val="444444"/>
                </a:solidFill>
                <a:latin typeface="Cambria"/>
              </a:rPr>
              <a:t>9:00</a:t>
            </a:r>
            <a:r>
              <a:rPr sz="2015" b="0" i="1" dirty="0">
                <a:solidFill>
                  <a:srgbClr val="444444"/>
                </a:solidFill>
                <a:latin typeface="Cambria"/>
              </a:rPr>
              <a:t> = [3 + 4 − 5]</a:t>
            </a:r>
            <a:r>
              <a:rPr sz="2015" b="0" i="1" baseline="30000" dirty="0">
                <a:solidFill>
                  <a:srgbClr val="444444"/>
                </a:solidFill>
                <a:latin typeface="Cambria"/>
              </a:rPr>
              <a:t>+</a:t>
            </a:r>
            <a:r>
              <a:rPr sz="2015" b="0" i="1" dirty="0">
                <a:solidFill>
                  <a:srgbClr val="444444"/>
                </a:solidFill>
                <a:latin typeface="Cambria"/>
              </a:rPr>
              <a:t> = 2.</a:t>
            </a:r>
          </a:p>
          <a:p>
            <a:pPr>
              <a:spcBef>
                <a:spcPts val="1240"/>
              </a:spcBef>
              <a:spcAft>
                <a:spcPts val="310"/>
              </a:spcAft>
            </a:pPr>
            <a:r>
              <a:rPr sz="2325" b="1" dirty="0">
                <a:solidFill>
                  <a:srgbClr val="1A1A1A"/>
                </a:solidFill>
                <a:latin typeface="Calibri"/>
              </a:rPr>
              <a:t>9:00</a:t>
            </a:r>
          </a:p>
          <a:p>
            <a:pPr>
              <a:spcAft>
                <a:spcPts val="465"/>
              </a:spcAft>
            </a:pPr>
            <a:r>
              <a:rPr sz="1860" dirty="0">
                <a:solidFill>
                  <a:srgbClr val="444444"/>
                </a:solidFill>
                <a:latin typeface="Calibri"/>
              </a:rPr>
              <a:t>If:</a:t>
            </a:r>
          </a:p>
          <a:p>
            <a:pPr algn="ctr">
              <a:spcBef>
                <a:spcPts val="620"/>
              </a:spcBef>
              <a:spcAft>
                <a:spcPts val="620"/>
              </a:spcAft>
            </a:pPr>
            <a:r>
              <a:rPr sz="2015" b="0" i="1" dirty="0">
                <a:solidFill>
                  <a:srgbClr val="444444"/>
                </a:solidFill>
                <a:latin typeface="Cambria"/>
              </a:rPr>
              <a:t>A = 1,    </a:t>
            </a:r>
            <a:r>
              <a:rPr sz="2015" b="0" i="1" dirty="0" err="1">
                <a:solidFill>
                  <a:srgbClr val="444444"/>
                </a:solidFill>
                <a:latin typeface="Cambria"/>
              </a:rPr>
              <a:t>μ</a:t>
            </a:r>
            <a:r>
              <a:rPr sz="2015" b="0" i="1" dirty="0">
                <a:solidFill>
                  <a:srgbClr val="444444"/>
                </a:solidFill>
                <a:latin typeface="Cambria"/>
              </a:rPr>
              <a:t> = 5,</a:t>
            </a:r>
          </a:p>
          <a:p>
            <a:pPr>
              <a:spcAft>
                <a:spcPts val="465"/>
              </a:spcAft>
            </a:pPr>
            <a:r>
              <a:rPr sz="1860" dirty="0">
                <a:solidFill>
                  <a:srgbClr val="444444"/>
                </a:solidFill>
                <a:latin typeface="Calibri"/>
              </a:rPr>
              <a:t>then:</a:t>
            </a:r>
          </a:p>
          <a:p>
            <a:pPr algn="ctr">
              <a:spcBef>
                <a:spcPts val="620"/>
              </a:spcBef>
              <a:spcAft>
                <a:spcPts val="620"/>
              </a:spcAft>
            </a:pPr>
            <a:r>
              <a:rPr sz="2015" b="0" i="1" dirty="0">
                <a:solidFill>
                  <a:srgbClr val="444444"/>
                </a:solidFill>
                <a:latin typeface="Cambria"/>
              </a:rPr>
              <a:t>Q</a:t>
            </a:r>
            <a:r>
              <a:rPr sz="2015" b="0" i="1" baseline="-25000" dirty="0">
                <a:solidFill>
                  <a:srgbClr val="444444"/>
                </a:solidFill>
                <a:latin typeface="Cambria"/>
              </a:rPr>
              <a:t>9:30</a:t>
            </a:r>
            <a:r>
              <a:rPr sz="2015" b="0" i="1" dirty="0">
                <a:solidFill>
                  <a:srgbClr val="444444"/>
                </a:solidFill>
                <a:latin typeface="Cambria"/>
              </a:rPr>
              <a:t> = [2 + 1 − 5]</a:t>
            </a:r>
            <a:r>
              <a:rPr sz="2015" b="0" i="1" baseline="30000" dirty="0">
                <a:solidFill>
                  <a:srgbClr val="444444"/>
                </a:solidFill>
                <a:latin typeface="Cambria"/>
              </a:rPr>
              <a:t>+</a:t>
            </a:r>
            <a:r>
              <a:rPr sz="2015" b="0" i="1" dirty="0">
                <a:solidFill>
                  <a:srgbClr val="444444"/>
                </a:solidFill>
                <a:latin typeface="Cambria"/>
              </a:rPr>
              <a:t> = 0.</a:t>
            </a:r>
          </a:p>
          <a:p>
            <a:pPr>
              <a:spcAft>
                <a:spcPts val="465"/>
              </a:spcAft>
            </a:pPr>
            <a:r>
              <a:rPr sz="1860" dirty="0">
                <a:solidFill>
                  <a:srgbClr val="444444"/>
                </a:solidFill>
                <a:latin typeface="Calibri"/>
              </a:rPr>
              <a:t>So congestion propagates along time:</a:t>
            </a:r>
          </a:p>
          <a:p>
            <a:pPr algn="ctr">
              <a:spcBef>
                <a:spcPts val="620"/>
              </a:spcBef>
              <a:spcAft>
                <a:spcPts val="620"/>
              </a:spcAft>
            </a:pPr>
            <a:r>
              <a:rPr sz="2015" b="0" i="1" dirty="0">
                <a:solidFill>
                  <a:srgbClr val="444444"/>
                </a:solidFill>
                <a:latin typeface="Cambria"/>
              </a:rPr>
              <a:t>8:00 → 8:30 → 9:00.</a:t>
            </a:r>
          </a:p>
          <a:p>
            <a:pPr>
              <a:spcAft>
                <a:spcPts val="465"/>
              </a:spcAft>
            </a:pPr>
            <a:r>
              <a:rPr sz="1860" dirty="0">
                <a:solidFill>
                  <a:srgbClr val="444444"/>
                </a:solidFill>
                <a:latin typeface="Calibri"/>
              </a:rPr>
              <a:t>This is what real dynamic congestion feedback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686800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dirty="0">
                <a:solidFill>
                  <a:srgbClr val="1A1A1A"/>
                </a:solidFill>
                <a:latin typeface="Calibri"/>
              </a:rPr>
              <a:t>Fluid queue &amp; congestion propagation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327648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777777"/>
                </a:solidFill>
                <a:latin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34662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8CA96F8-BAED-83B0-5D44-E4DB18F397BB}"/>
              </a:ext>
            </a:extLst>
          </p:cNvPr>
          <p:cNvGrpSpPr/>
          <p:nvPr/>
        </p:nvGrpSpPr>
        <p:grpSpPr>
          <a:xfrm>
            <a:off x="563880" y="795880"/>
            <a:ext cx="11064240" cy="6436634"/>
            <a:chOff x="563880" y="420765"/>
            <a:chExt cx="11064240" cy="6436634"/>
          </a:xfrm>
        </p:grpSpPr>
        <p:sp>
          <p:nvSpPr>
            <p:cNvPr id="2" name="TextBox 1"/>
            <p:cNvSpPr txBox="1"/>
            <p:nvPr/>
          </p:nvSpPr>
          <p:spPr>
            <a:xfrm>
              <a:off x="563880" y="420765"/>
              <a:ext cx="11064240" cy="6436634"/>
            </a:xfrm>
            <a:prstGeom prst="rect">
              <a:avLst/>
            </a:prstGeom>
            <a:noFill/>
          </p:spPr>
          <p:txBody>
            <a:bodyPr wrap="square" lIns="54864" tIns="27432" rIns="54864" bIns="27432">
              <a:spAutoFit/>
            </a:bodyPr>
            <a:lstStyle/>
            <a:p>
              <a:pPr>
                <a:spcBef>
                  <a:spcPts val="1400"/>
                </a:spcBef>
                <a:spcAft>
                  <a:spcPts val="350"/>
                </a:spcAft>
              </a:pPr>
              <a:r>
                <a:rPr sz="2625" b="1" dirty="0">
                  <a:solidFill>
                    <a:srgbClr val="1A1A1A"/>
                  </a:solidFill>
                  <a:latin typeface="Calibri"/>
                </a:rPr>
                <a:t>Step 1 — Given the current time-dependent prices</a:t>
              </a:r>
            </a:p>
            <a:p>
              <a:pPr>
                <a:spcAft>
                  <a:spcPts val="525"/>
                </a:spcAft>
              </a:pPr>
              <a:r>
                <a:rPr sz="2100" dirty="0">
                  <a:solidFill>
                    <a:srgbClr val="444444"/>
                  </a:solidFill>
                  <a:latin typeface="Calibri"/>
                </a:rPr>
                <a:t>At round k we have:</a:t>
              </a:r>
            </a:p>
            <a:p>
              <a:pPr>
                <a:spcAft>
                  <a:spcPts val="525"/>
                </a:spcAft>
              </a:pPr>
              <a:endParaRPr lang="en-US" sz="2100" dirty="0">
                <a:solidFill>
                  <a:srgbClr val="444444"/>
                </a:solidFill>
                <a:latin typeface="Calibri"/>
              </a:endParaRPr>
            </a:p>
            <a:p>
              <a:pPr>
                <a:spcAft>
                  <a:spcPts val="525"/>
                </a:spcAft>
              </a:pPr>
              <a:r>
                <a:rPr sz="2100" dirty="0">
                  <a:solidFill>
                    <a:srgbClr val="444444"/>
                  </a:solidFill>
                  <a:latin typeface="Calibri"/>
                </a:rPr>
                <a:t>Note that this is an entire resource × time price surface.</a:t>
              </a:r>
            </a:p>
            <a:p>
              <a:pPr>
                <a:defRPr sz="1050"/>
              </a:pPr>
              <a:endParaRPr sz="2100" dirty="0">
                <a:solidFill>
                  <a:srgbClr val="444444"/>
                </a:solidFill>
                <a:latin typeface="Calibri"/>
              </a:endParaRPr>
            </a:p>
            <a:p>
              <a:pPr>
                <a:spcBef>
                  <a:spcPts val="1400"/>
                </a:spcBef>
                <a:spcAft>
                  <a:spcPts val="350"/>
                </a:spcAft>
              </a:pPr>
              <a:r>
                <a:rPr sz="2625" b="1" dirty="0">
                  <a:solidFill>
                    <a:srgbClr val="1A1A1A"/>
                  </a:solidFill>
                  <a:latin typeface="Calibri"/>
                </a:rPr>
                <a:t>Step 2 — Each train runs a time-space DP</a:t>
              </a:r>
            </a:p>
            <a:p>
              <a:pPr>
                <a:spcAft>
                  <a:spcPts val="525"/>
                </a:spcAft>
              </a:pPr>
              <a:r>
                <a:rPr sz="2100" dirty="0">
                  <a:solidFill>
                    <a:srgbClr val="444444"/>
                  </a:solidFill>
                  <a:latin typeface="Calibri"/>
                </a:rPr>
                <a:t>For every train </a:t>
              </a:r>
              <a:r>
                <a:rPr sz="2100" dirty="0" err="1">
                  <a:solidFill>
                    <a:srgbClr val="444444"/>
                  </a:solidFill>
                  <a:latin typeface="Calibri"/>
                </a:rPr>
                <a:t>i</a:t>
              </a:r>
              <a:r>
                <a:rPr sz="2100" dirty="0">
                  <a:solidFill>
                    <a:srgbClr val="444444"/>
                  </a:solidFill>
                  <a:latin typeface="Calibri"/>
                </a:rPr>
                <a:t>:</a:t>
              </a:r>
            </a:p>
            <a:p>
              <a:pPr>
                <a:spcAft>
                  <a:spcPts val="525"/>
                </a:spcAft>
              </a:pPr>
              <a:endParaRPr lang="en-US" sz="2100" dirty="0">
                <a:solidFill>
                  <a:srgbClr val="444444"/>
                </a:solidFill>
                <a:latin typeface="Calibri"/>
              </a:endParaRPr>
            </a:p>
            <a:p>
              <a:pPr>
                <a:spcAft>
                  <a:spcPts val="525"/>
                </a:spcAft>
              </a:pPr>
              <a:endParaRPr lang="en-US" sz="2100" dirty="0">
                <a:solidFill>
                  <a:srgbClr val="444444"/>
                </a:solidFill>
                <a:latin typeface="Calibri"/>
              </a:endParaRPr>
            </a:p>
            <a:p>
              <a:pPr>
                <a:spcAft>
                  <a:spcPts val="525"/>
                </a:spcAft>
              </a:pPr>
              <a:r>
                <a:rPr sz="2100" dirty="0">
                  <a:solidFill>
                    <a:srgbClr val="444444"/>
                  </a:solidFill>
                  <a:latin typeface="Calibri"/>
                </a:rPr>
                <a:t>Here p already contains:</a:t>
              </a:r>
            </a:p>
            <a:p>
              <a:pPr algn="ctr">
                <a:spcBef>
                  <a:spcPts val="700"/>
                </a:spcBef>
                <a:spcAft>
                  <a:spcPts val="700"/>
                </a:spcAft>
              </a:pPr>
              <a:r>
                <a:rPr sz="2275" b="0" dirty="0">
                  <a:solidFill>
                    <a:srgbClr val="444444"/>
                  </a:solidFill>
                  <a:latin typeface="Cambria"/>
                </a:rPr>
                <a:t>p = {route, track, timing, waiting}.</a:t>
              </a:r>
              <a:endParaRPr lang="en-US" sz="2275" b="0" dirty="0">
                <a:solidFill>
                  <a:srgbClr val="444444"/>
                </a:solidFill>
                <a:latin typeface="Cambria"/>
              </a:endParaRPr>
            </a:p>
            <a:p>
              <a:pPr>
                <a:spcBef>
                  <a:spcPts val="700"/>
                </a:spcBef>
                <a:spcAft>
                  <a:spcPts val="700"/>
                </a:spcAft>
              </a:pPr>
              <a:r>
                <a:rPr lang="en-US" altLang="zh-CN" sz="2400" dirty="0">
                  <a:solidFill>
                    <a:srgbClr val="444444"/>
                  </a:solidFill>
                  <a:latin typeface="Calibri"/>
                </a:rPr>
                <a:t>Here </a:t>
              </a:r>
              <a:r>
                <a:rPr lang="en-US" sz="2400" b="1" dirty="0">
                  <a:solidFill>
                    <a:srgbClr val="1A1A1A"/>
                  </a:solidFill>
                  <a:latin typeface="Cambria"/>
                </a:rPr>
                <a:t>c</a:t>
              </a:r>
              <a:r>
                <a:rPr lang="en-US" sz="2400" b="1" baseline="-25000" dirty="0">
                  <a:solidFill>
                    <a:srgbClr val="1A1A1A"/>
                  </a:solidFill>
                  <a:latin typeface="Cambria"/>
                </a:rPr>
                <a:t>i</a:t>
              </a:r>
              <a:r>
                <a:rPr lang="en-US" sz="2400" b="1" dirty="0">
                  <a:solidFill>
                    <a:srgbClr val="1A1A1A"/>
                  </a:solidFill>
                  <a:latin typeface="Cambria"/>
                </a:rPr>
                <a:t>(p)</a:t>
              </a:r>
              <a:r>
                <a:rPr lang="en-US" altLang="zh-CN" sz="2400" dirty="0">
                  <a:solidFill>
                    <a:srgbClr val="444444"/>
                  </a:solidFill>
                  <a:latin typeface="Calibri"/>
                </a:rPr>
                <a:t> is the base/physical objective cost of train </a:t>
              </a:r>
              <a:r>
                <a:rPr lang="en-US" altLang="zh-CN" sz="2400" dirty="0" err="1">
                  <a:solidFill>
                    <a:srgbClr val="444444"/>
                  </a:solidFill>
                  <a:latin typeface="Calibri"/>
                </a:rPr>
                <a:t>i</a:t>
              </a:r>
              <a:r>
                <a:rPr lang="en-US" altLang="zh-CN" sz="2400" dirty="0">
                  <a:solidFill>
                    <a:srgbClr val="444444"/>
                  </a:solidFill>
                  <a:latin typeface="Calibri"/>
                </a:rPr>
                <a:t> choosing trajectory </a:t>
              </a:r>
              <a:r>
                <a:rPr lang="en-US" sz="2400" b="1" dirty="0">
                  <a:solidFill>
                    <a:srgbClr val="1A1A1A"/>
                  </a:solidFill>
                  <a:latin typeface="Cambria"/>
                </a:rPr>
                <a:t>p</a:t>
              </a:r>
              <a:r>
                <a:rPr lang="en-US" altLang="zh-CN" sz="2400" dirty="0">
                  <a:solidFill>
                    <a:srgbClr val="444444"/>
                  </a:solidFill>
                  <a:latin typeface="Calibri"/>
                </a:rPr>
                <a:t> itself. Objective cost </a:t>
              </a:r>
              <a:r>
                <a:rPr lang="en-US" sz="2400" b="1" dirty="0">
                  <a:solidFill>
                    <a:srgbClr val="1A1A1A"/>
                  </a:solidFill>
                  <a:latin typeface="Cambria"/>
                </a:rPr>
                <a:t>c</a:t>
              </a:r>
              <a:r>
                <a:rPr lang="en-US" sz="2400" b="1" baseline="-25000" dirty="0">
                  <a:solidFill>
                    <a:srgbClr val="1A1A1A"/>
                  </a:solidFill>
                  <a:latin typeface="Cambria"/>
                </a:rPr>
                <a:t>i </a:t>
              </a:r>
              <a:r>
                <a:rPr lang="en-US" altLang="zh-CN" sz="2400" b="1" baseline="-25000" dirty="0">
                  <a:solidFill>
                    <a:srgbClr val="1A1A1A"/>
                  </a:solidFill>
                  <a:latin typeface="Cambria"/>
                </a:rPr>
                <a:t> </a:t>
              </a:r>
              <a:r>
                <a:rPr lang="en-US" altLang="zh-CN" sz="2400" dirty="0">
                  <a:solidFill>
                    <a:srgbClr val="444444"/>
                  </a:solidFill>
                  <a:latin typeface="Calibri"/>
                </a:rPr>
                <a:t>could be running time; waiting time; schedule deviation; delay; track penalty. And </a:t>
              </a:r>
              <a:r>
                <a:rPr lang="en-US" sz="2400" b="1" dirty="0">
                  <a:solidFill>
                    <a:srgbClr val="1A1A1A"/>
                  </a:solidFill>
                  <a:latin typeface="Cambria"/>
                </a:rPr>
                <a:t>p</a:t>
              </a:r>
              <a:r>
                <a:rPr lang="en-US" altLang="zh-CN" sz="2400" dirty="0">
                  <a:solidFill>
                    <a:srgbClr val="444444"/>
                  </a:solidFill>
                  <a:latin typeface="Calibri"/>
                </a:rPr>
                <a:t> is </a:t>
              </a:r>
              <a:r>
                <a:rPr lang="en-US" sz="2400" dirty="0">
                  <a:solidFill>
                    <a:srgbClr val="444444"/>
                  </a:solidFill>
                  <a:latin typeface="Calibri"/>
                </a:rPr>
                <a:t>route + timetable trajectory</a:t>
              </a:r>
              <a:r>
                <a:rPr lang="en-US" altLang="zh-CN" sz="2400" i="1" dirty="0">
                  <a:solidFill>
                    <a:srgbClr val="444444"/>
                  </a:solidFill>
                  <a:latin typeface="Calibri"/>
                </a:rPr>
                <a:t>. </a:t>
              </a:r>
              <a:endParaRPr lang="en-US" sz="2400" i="1" dirty="0">
                <a:solidFill>
                  <a:srgbClr val="444444"/>
                </a:solidFill>
                <a:latin typeface="Calibri"/>
              </a:endParaRPr>
            </a:p>
            <a:p>
              <a:pPr algn="ctr">
                <a:spcBef>
                  <a:spcPts val="700"/>
                </a:spcBef>
                <a:spcAft>
                  <a:spcPts val="700"/>
                </a:spcAft>
              </a:pPr>
              <a:endParaRPr sz="2275" b="0" dirty="0">
                <a:solidFill>
                  <a:srgbClr val="444444"/>
                </a:solidFill>
                <a:latin typeface="Cambria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A1265A2-C15B-1BC9-0219-580A30BD3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65249" y="844002"/>
              <a:ext cx="2222500" cy="8509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9F5D47C-748E-A99A-749E-4EAF90D6F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87750" y="2969039"/>
              <a:ext cx="5016500" cy="1397000"/>
            </a:xfrm>
            <a:prstGeom prst="rect">
              <a:avLst/>
            </a:prstGeom>
          </p:spPr>
        </p:pic>
      </p:grpSp>
      <p:sp>
        <p:nvSpPr>
          <p:cNvPr id="6" name="TextBox 5"/>
          <p:cNvSpPr txBox="1"/>
          <p:nvPr/>
        </p:nvSpPr>
        <p:spPr>
          <a:xfrm>
            <a:off x="457200" y="146304"/>
            <a:ext cx="8686800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400" b="1" dirty="0">
                <a:solidFill>
                  <a:srgbClr val="1A1A1A"/>
                </a:solidFill>
                <a:latin typeface="Calibri"/>
              </a:rPr>
              <a:t>One </a:t>
            </a:r>
            <a:r>
              <a:rPr lang="en-US" altLang="zh-CN" sz="2400" b="1" dirty="0">
                <a:solidFill>
                  <a:srgbClr val="1A1A1A"/>
                </a:solidFill>
                <a:latin typeface="Calibri"/>
              </a:rPr>
              <a:t>soft</a:t>
            </a:r>
            <a:r>
              <a:rPr lang="zh-CN" altLang="en-US" sz="2400" b="1" dirty="0">
                <a:solidFill>
                  <a:srgbClr val="1A1A1A"/>
                </a:solidFill>
                <a:latin typeface="Calibri"/>
              </a:rPr>
              <a:t> </a:t>
            </a:r>
            <a:r>
              <a:rPr lang="en-US" sz="2400" b="1" dirty="0" err="1">
                <a:solidFill>
                  <a:srgbClr val="1A1A1A"/>
                </a:solidFill>
                <a:latin typeface="Calibri"/>
              </a:rPr>
              <a:t>Lagrangian</a:t>
            </a:r>
            <a:r>
              <a:rPr sz="2400" b="1" dirty="0">
                <a:solidFill>
                  <a:srgbClr val="1A1A1A"/>
                </a:solidFill>
                <a:latin typeface="Calibri"/>
              </a:rPr>
              <a:t> iteration — Steps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327648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777777"/>
                </a:solidFill>
                <a:latin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91227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27281"/>
            <a:ext cx="6675120" cy="551317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34"/>
              </a:spcAft>
            </a:pPr>
            <a:r>
              <a:rPr sz="1739" dirty="0">
                <a:solidFill>
                  <a:srgbClr val="444444"/>
                </a:solidFill>
                <a:latin typeface="Calibri"/>
              </a:rPr>
              <a:t>First, given the prices of all resource-time bins over the whole 12 hours:</a:t>
            </a:r>
          </a:p>
          <a:p>
            <a:pPr algn="ctr">
              <a:spcBef>
                <a:spcPts val="580"/>
              </a:spcBef>
              <a:spcAft>
                <a:spcPts val="580"/>
              </a:spcAft>
            </a:pPr>
            <a:r>
              <a:rPr sz="1884" b="0" i="1" dirty="0" err="1">
                <a:solidFill>
                  <a:srgbClr val="444444"/>
                </a:solidFill>
                <a:latin typeface="Cambria"/>
              </a:rPr>
              <a:t>λ</a:t>
            </a:r>
            <a:r>
              <a:rPr sz="1884" b="0" i="1" baseline="30000" dirty="0" err="1">
                <a:solidFill>
                  <a:srgbClr val="444444"/>
                </a:solidFill>
                <a:latin typeface="Cambria"/>
              </a:rPr>
              <a:t>k</a:t>
            </a:r>
            <a:r>
              <a:rPr sz="1884" b="0" i="1" baseline="-25000" dirty="0" err="1">
                <a:solidFill>
                  <a:srgbClr val="444444"/>
                </a:solidFill>
                <a:latin typeface="Cambria"/>
              </a:rPr>
              <a:t>rt</a:t>
            </a:r>
            <a:r>
              <a:rPr sz="1884" b="0" i="1" dirty="0">
                <a:solidFill>
                  <a:srgbClr val="444444"/>
                </a:solidFill>
                <a:latin typeface="Cambria"/>
              </a:rPr>
              <a:t>.</a:t>
            </a:r>
          </a:p>
          <a:p>
            <a:pPr>
              <a:spcAft>
                <a:spcPts val="434"/>
              </a:spcAft>
            </a:pPr>
            <a:r>
              <a:rPr sz="1739" dirty="0">
                <a:solidFill>
                  <a:srgbClr val="444444"/>
                </a:solidFill>
                <a:latin typeface="Calibri"/>
              </a:rPr>
              <a:t>Then run one full time-space DP for every train:</a:t>
            </a:r>
          </a:p>
          <a:p>
            <a:pPr>
              <a:spcAft>
                <a:spcPts val="434"/>
              </a:spcAft>
            </a:pPr>
            <a:endParaRPr lang="en-US" sz="1739" dirty="0">
              <a:solidFill>
                <a:srgbClr val="444444"/>
              </a:solidFill>
              <a:latin typeface="Calibri"/>
            </a:endParaRPr>
          </a:p>
          <a:p>
            <a:pPr>
              <a:spcAft>
                <a:spcPts val="434"/>
              </a:spcAft>
            </a:pPr>
            <a:endParaRPr lang="en-US" sz="1739" dirty="0">
              <a:solidFill>
                <a:srgbClr val="444444"/>
              </a:solidFill>
              <a:latin typeface="Calibri"/>
            </a:endParaRPr>
          </a:p>
          <a:p>
            <a:pPr>
              <a:spcAft>
                <a:spcPts val="434"/>
              </a:spcAft>
            </a:pPr>
            <a:endParaRPr lang="en-US" sz="1739" dirty="0">
              <a:solidFill>
                <a:srgbClr val="444444"/>
              </a:solidFill>
              <a:latin typeface="Calibri"/>
            </a:endParaRPr>
          </a:p>
          <a:p>
            <a:pPr>
              <a:spcAft>
                <a:spcPts val="434"/>
              </a:spcAft>
            </a:pPr>
            <a:r>
              <a:rPr sz="1739" dirty="0">
                <a:solidFill>
                  <a:srgbClr val="444444"/>
                </a:solidFill>
                <a:latin typeface="Calibri"/>
              </a:rPr>
              <a:t>This DP may plan all the way from 8:10 to 11:40.</a:t>
            </a:r>
          </a:p>
          <a:p>
            <a:pPr>
              <a:spcAft>
                <a:spcPts val="434"/>
              </a:spcAft>
            </a:pPr>
            <a:r>
              <a:rPr sz="1739" dirty="0">
                <a:solidFill>
                  <a:srgbClr val="444444"/>
                </a:solidFill>
                <a:latin typeface="Calibri"/>
              </a:rPr>
              <a:t>For one train, for example:</a:t>
            </a:r>
          </a:p>
          <a:p>
            <a:pPr>
              <a:spcAft>
                <a:spcPts val="434"/>
              </a:spcAft>
            </a:pPr>
            <a:r>
              <a:rPr sz="1522" dirty="0">
                <a:solidFill>
                  <a:srgbClr val="444444"/>
                </a:solidFill>
                <a:latin typeface="Courier New"/>
              </a:rPr>
              <a:t>8:10-8:30   resource A</a:t>
            </a:r>
            <a:br>
              <a:rPr dirty="0"/>
            </a:br>
            <a:r>
              <a:rPr sz="1522" dirty="0">
                <a:solidFill>
                  <a:srgbClr val="444444"/>
                </a:solidFill>
                <a:latin typeface="Courier New"/>
              </a:rPr>
              <a:t>8:30-9:00   resource B</a:t>
            </a:r>
            <a:br>
              <a:rPr dirty="0"/>
            </a:br>
            <a:r>
              <a:rPr sz="1522" dirty="0">
                <a:solidFill>
                  <a:srgbClr val="444444"/>
                </a:solidFill>
                <a:latin typeface="Courier New"/>
              </a:rPr>
              <a:t>9:00-9:30   wait at siding</a:t>
            </a:r>
            <a:br>
              <a:rPr dirty="0"/>
            </a:br>
            <a:r>
              <a:rPr sz="1522" dirty="0">
                <a:solidFill>
                  <a:srgbClr val="444444"/>
                </a:solidFill>
                <a:latin typeface="Courier New"/>
              </a:rPr>
              <a:t>9:30-10:00  resource C</a:t>
            </a:r>
          </a:p>
          <a:p>
            <a:pPr>
              <a:spcAft>
                <a:spcPts val="434"/>
              </a:spcAft>
            </a:pPr>
            <a:r>
              <a:rPr sz="1739" dirty="0">
                <a:solidFill>
                  <a:srgbClr val="444444"/>
                </a:solidFill>
                <a:latin typeface="Calibri"/>
              </a:rPr>
              <a:t>Then it reads, respectively:</a:t>
            </a:r>
          </a:p>
          <a:p>
            <a:pPr algn="ctr">
              <a:spcBef>
                <a:spcPts val="580"/>
              </a:spcBef>
              <a:spcAft>
                <a:spcPts val="580"/>
              </a:spcAft>
            </a:pPr>
            <a:r>
              <a:rPr sz="1884" b="0" i="1" dirty="0">
                <a:solidFill>
                  <a:srgbClr val="444444"/>
                </a:solidFill>
                <a:latin typeface="Cambria"/>
              </a:rPr>
              <a:t>λ</a:t>
            </a:r>
            <a:r>
              <a:rPr sz="1884" b="0" i="1" baseline="-25000" dirty="0">
                <a:solidFill>
                  <a:srgbClr val="444444"/>
                </a:solidFill>
                <a:latin typeface="Cambria"/>
              </a:rPr>
              <a:t>A,8:00−8:30</a:t>
            </a:r>
            <a:r>
              <a:rPr sz="1884" b="0" i="1" dirty="0">
                <a:solidFill>
                  <a:srgbClr val="444444"/>
                </a:solidFill>
                <a:latin typeface="Cambria"/>
              </a:rPr>
              <a:t>,   λ</a:t>
            </a:r>
            <a:r>
              <a:rPr sz="1884" b="0" i="1" baseline="-25000" dirty="0">
                <a:solidFill>
                  <a:srgbClr val="444444"/>
                </a:solidFill>
                <a:latin typeface="Cambria"/>
              </a:rPr>
              <a:t>B,8:30−9:00</a:t>
            </a:r>
            <a:r>
              <a:rPr sz="1884" b="0" i="1" dirty="0">
                <a:solidFill>
                  <a:srgbClr val="444444"/>
                </a:solidFill>
                <a:latin typeface="Cambria"/>
              </a:rPr>
              <a:t>,   λ</a:t>
            </a:r>
            <a:r>
              <a:rPr sz="1884" b="0" i="1" baseline="-25000" dirty="0">
                <a:solidFill>
                  <a:srgbClr val="444444"/>
                </a:solidFill>
                <a:latin typeface="Cambria"/>
              </a:rPr>
              <a:t>C,9:30−10:00</a:t>
            </a:r>
            <a:r>
              <a:rPr sz="1884" b="0" i="1" dirty="0">
                <a:solidFill>
                  <a:srgbClr val="444444"/>
                </a:solidFill>
                <a:latin typeface="Cambria"/>
              </a:rPr>
              <a:t>.</a:t>
            </a:r>
          </a:p>
          <a:p>
            <a:pPr>
              <a:spcAft>
                <a:spcPts val="434"/>
              </a:spcAft>
            </a:pPr>
            <a:r>
              <a:rPr sz="1739" dirty="0">
                <a:solidFill>
                  <a:srgbClr val="444444"/>
                </a:solidFill>
                <a:latin typeface="Calibri"/>
              </a:rPr>
              <a:t>So:</a:t>
            </a:r>
          </a:p>
          <a:p>
            <a:pPr algn="ctr">
              <a:spcBef>
                <a:spcPts val="580"/>
              </a:spcBef>
              <a:spcAft>
                <a:spcPts val="580"/>
              </a:spcAft>
            </a:pPr>
            <a:r>
              <a:rPr sz="1884" b="1" i="1" dirty="0">
                <a:solidFill>
                  <a:srgbClr val="1A1A1A"/>
                </a:solidFill>
                <a:latin typeface="Cambria"/>
              </a:rPr>
              <a:t>one DP spans many 30-min bins</a:t>
            </a:r>
          </a:p>
          <a:p>
            <a:pPr>
              <a:spcAft>
                <a:spcPts val="434"/>
              </a:spcAft>
            </a:pPr>
            <a:r>
              <a:rPr sz="1739" dirty="0">
                <a:solidFill>
                  <a:srgbClr val="444444"/>
                </a:solidFill>
                <a:latin typeface="Calibri"/>
              </a:rPr>
              <a:t>rather than one DP per bin.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79" y="1543690"/>
            <a:ext cx="4206240" cy="4585101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txBody>
          <a:bodyPr wrap="square" lIns="54864" tIns="27432" rIns="54864" bIns="27432" anchor="ctr">
            <a:spAutoFit/>
          </a:bodyPr>
          <a:lstStyle/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495" b="0" dirty="0" err="1">
                <a:solidFill>
                  <a:srgbClr val="444444"/>
                </a:solidFill>
                <a:latin typeface="Cambria"/>
              </a:rPr>
              <a:t>λ</a:t>
            </a:r>
            <a:r>
              <a:rPr sz="1495" b="0" baseline="30000" dirty="0" err="1">
                <a:solidFill>
                  <a:srgbClr val="444444"/>
                </a:solidFill>
                <a:latin typeface="Cambria"/>
              </a:rPr>
              <a:t>k</a:t>
            </a:r>
            <a:r>
              <a:rPr sz="1495" b="0" baseline="-25000" dirty="0" err="1">
                <a:solidFill>
                  <a:srgbClr val="444444"/>
                </a:solidFill>
                <a:latin typeface="Cambria"/>
              </a:rPr>
              <a:t>rt</a:t>
            </a:r>
            <a:r>
              <a:rPr sz="1495" b="0" dirty="0">
                <a:solidFill>
                  <a:srgbClr val="444444"/>
                </a:solidFill>
                <a:latin typeface="Cambria"/>
              </a:rPr>
              <a:t> over the whole horizon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495" b="0" dirty="0">
                <a:solidFill>
                  <a:srgbClr val="444444"/>
                </a:solidFill>
                <a:latin typeface="Cambria"/>
              </a:rPr>
              <a:t>↓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495" b="0" dirty="0">
                <a:solidFill>
                  <a:srgbClr val="444444"/>
                </a:solidFill>
                <a:latin typeface="Cambria"/>
              </a:rPr>
              <a:t>all trains run the full time-space DP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495" b="0" dirty="0">
                <a:solidFill>
                  <a:srgbClr val="444444"/>
                </a:solidFill>
                <a:latin typeface="Cambria"/>
              </a:rPr>
              <a:t>↓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495" b="0" dirty="0" err="1">
                <a:solidFill>
                  <a:srgbClr val="444444"/>
                </a:solidFill>
                <a:latin typeface="Cambria"/>
              </a:rPr>
              <a:t>A</a:t>
            </a:r>
            <a:r>
              <a:rPr sz="1495" b="0" baseline="30000" dirty="0" err="1">
                <a:solidFill>
                  <a:srgbClr val="444444"/>
                </a:solidFill>
                <a:latin typeface="Cambria"/>
              </a:rPr>
              <a:t>k</a:t>
            </a:r>
            <a:r>
              <a:rPr sz="1495" b="0" baseline="-25000" dirty="0" err="1">
                <a:solidFill>
                  <a:srgbClr val="444444"/>
                </a:solidFill>
                <a:latin typeface="Cambria"/>
              </a:rPr>
              <a:t>rt</a:t>
            </a:r>
            <a:r>
              <a:rPr sz="1495" b="0" dirty="0">
                <a:solidFill>
                  <a:srgbClr val="444444"/>
                </a:solidFill>
                <a:latin typeface="Cambria"/>
              </a:rPr>
              <a:t> aggregated by 30-min bin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495" b="0" dirty="0">
                <a:solidFill>
                  <a:srgbClr val="444444"/>
                </a:solidFill>
                <a:latin typeface="Cambria"/>
              </a:rPr>
              <a:t>↓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495" b="0" dirty="0">
                <a:solidFill>
                  <a:srgbClr val="444444"/>
                </a:solidFill>
                <a:latin typeface="Cambria"/>
              </a:rPr>
              <a:t>Q</a:t>
            </a:r>
            <a:r>
              <a:rPr sz="1495" b="0" baseline="30000" dirty="0">
                <a:solidFill>
                  <a:srgbClr val="444444"/>
                </a:solidFill>
                <a:latin typeface="Cambria"/>
              </a:rPr>
              <a:t>k</a:t>
            </a:r>
            <a:r>
              <a:rPr sz="1495" b="0" baseline="-25000" dirty="0">
                <a:solidFill>
                  <a:srgbClr val="444444"/>
                </a:solidFill>
                <a:latin typeface="Cambria"/>
              </a:rPr>
              <a:t>r,t+1</a:t>
            </a:r>
            <a:r>
              <a:rPr sz="1495" b="0" dirty="0">
                <a:solidFill>
                  <a:srgbClr val="444444"/>
                </a:solidFill>
                <a:latin typeface="Cambria"/>
              </a:rPr>
              <a:t> propagates along time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495" b="0" dirty="0">
                <a:solidFill>
                  <a:srgbClr val="444444"/>
                </a:solidFill>
                <a:latin typeface="Cambria"/>
              </a:rPr>
              <a:t>↓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495" b="0" dirty="0" err="1">
                <a:solidFill>
                  <a:srgbClr val="444444"/>
                </a:solidFill>
                <a:latin typeface="Cambria"/>
              </a:rPr>
              <a:t>λ̂</a:t>
            </a:r>
            <a:r>
              <a:rPr sz="1495" b="0" baseline="30000" dirty="0" err="1">
                <a:solidFill>
                  <a:srgbClr val="444444"/>
                </a:solidFill>
                <a:latin typeface="Cambria"/>
              </a:rPr>
              <a:t>k</a:t>
            </a:r>
            <a:r>
              <a:rPr sz="1495" b="0" baseline="-25000" dirty="0" err="1">
                <a:solidFill>
                  <a:srgbClr val="444444"/>
                </a:solidFill>
                <a:latin typeface="Cambria"/>
              </a:rPr>
              <a:t>rt</a:t>
            </a:r>
            <a:r>
              <a:rPr sz="1495" b="0" dirty="0">
                <a:solidFill>
                  <a:srgbClr val="444444"/>
                </a:solidFill>
                <a:latin typeface="Cambria"/>
              </a:rPr>
              <a:t> updated for all bins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495" b="0" dirty="0">
                <a:solidFill>
                  <a:srgbClr val="444444"/>
                </a:solidFill>
                <a:latin typeface="Cambria"/>
              </a:rPr>
              <a:t>↓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495" b="0" dirty="0">
                <a:solidFill>
                  <a:srgbClr val="444444"/>
                </a:solidFill>
                <a:latin typeface="Cambria"/>
              </a:rPr>
              <a:t>λ</a:t>
            </a:r>
            <a:r>
              <a:rPr sz="1495" b="0" baseline="30000" dirty="0">
                <a:solidFill>
                  <a:srgbClr val="444444"/>
                </a:solidFill>
                <a:latin typeface="Cambria"/>
              </a:rPr>
              <a:t>k+1</a:t>
            </a:r>
            <a:r>
              <a:rPr sz="1495" b="0" baseline="-25000" dirty="0">
                <a:solidFill>
                  <a:srgbClr val="444444"/>
                </a:solidFill>
                <a:latin typeface="Cambria"/>
              </a:rPr>
              <a:t>rt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495" b="0" dirty="0">
                <a:solidFill>
                  <a:srgbClr val="444444"/>
                </a:solidFill>
                <a:latin typeface="Cambria"/>
              </a:rPr>
              <a:t>↓</a:t>
            </a:r>
          </a:p>
          <a:p>
            <a:pPr algn="ctr">
              <a:spcBef>
                <a:spcPts val="459"/>
              </a:spcBef>
              <a:spcAft>
                <a:spcPts val="459"/>
              </a:spcAft>
            </a:pPr>
            <a:r>
              <a:rPr sz="1495" b="0" dirty="0">
                <a:solidFill>
                  <a:srgbClr val="444444"/>
                </a:solidFill>
                <a:latin typeface="Cambria"/>
              </a:rPr>
              <a:t>next round: all trains run the DP again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F95A62-E688-B219-27D3-0640B32A9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310" y="1775791"/>
            <a:ext cx="3136900" cy="952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6304"/>
            <a:ext cx="8686800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Bef>
                <a:spcPts val="1160"/>
              </a:spcBef>
              <a:spcAft>
                <a:spcPts val="290"/>
              </a:spcAft>
            </a:pPr>
            <a:r>
              <a:rPr lang="en-US" sz="2400" b="1" dirty="0">
                <a:solidFill>
                  <a:srgbClr val="1A1A1A"/>
                </a:solidFill>
                <a:latin typeface="Calibri"/>
              </a:rPr>
              <a:t>What one soft-LR iteration actually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327648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777777"/>
                </a:solidFill>
                <a:latin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9004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680" y="834399"/>
            <a:ext cx="5394960" cy="4743606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Bef>
                <a:spcPts val="990"/>
              </a:spcBef>
              <a:spcAft>
                <a:spcPts val="250"/>
              </a:spcAft>
            </a:pPr>
            <a:r>
              <a:rPr sz="1860" b="1" dirty="0">
                <a:solidFill>
                  <a:srgbClr val="1A1A1A"/>
                </a:solidFill>
                <a:latin typeface="Calibri"/>
              </a:rPr>
              <a:t>Step 1: Initialization</a:t>
            </a:r>
          </a:p>
          <a:p>
            <a:pPr algn="ctr">
              <a:spcBef>
                <a:spcPts val="500"/>
              </a:spcBef>
              <a:spcAft>
                <a:spcPts val="500"/>
              </a:spcAft>
            </a:pPr>
            <a:r>
              <a:rPr sz="1610" b="0" dirty="0">
                <a:solidFill>
                  <a:srgbClr val="444444"/>
                </a:solidFill>
                <a:latin typeface="Cambria"/>
              </a:rPr>
              <a:t>λ</a:t>
            </a:r>
            <a:r>
              <a:rPr sz="1610" b="0" baseline="30000" dirty="0">
                <a:solidFill>
                  <a:srgbClr val="444444"/>
                </a:solidFill>
                <a:latin typeface="Cambria"/>
              </a:rPr>
              <a:t>0</a:t>
            </a:r>
            <a:r>
              <a:rPr sz="1610" b="0" dirty="0">
                <a:solidFill>
                  <a:srgbClr val="444444"/>
                </a:solidFill>
                <a:latin typeface="Cambria"/>
              </a:rPr>
              <a:t> = 0</a:t>
            </a:r>
          </a:p>
          <a:p>
            <a:pPr>
              <a:defRPr sz="810"/>
            </a:pPr>
            <a:endParaRPr sz="1755" b="0" dirty="0">
              <a:solidFill>
                <a:srgbClr val="444444"/>
              </a:solidFill>
              <a:latin typeface="Cambria"/>
            </a:endParaRPr>
          </a:p>
          <a:p>
            <a:pPr>
              <a:spcBef>
                <a:spcPts val="990"/>
              </a:spcBef>
              <a:spcAft>
                <a:spcPts val="250"/>
              </a:spcAft>
            </a:pPr>
            <a:r>
              <a:rPr sz="1860" b="1" dirty="0">
                <a:solidFill>
                  <a:srgbClr val="1A1A1A"/>
                </a:solidFill>
                <a:latin typeface="Calibri"/>
              </a:rPr>
              <a:t>Step 2: All trains do best response</a:t>
            </a:r>
          </a:p>
          <a:p>
            <a:pPr>
              <a:spcAft>
                <a:spcPts val="370"/>
              </a:spcAft>
            </a:pPr>
            <a:r>
              <a:rPr sz="1490" dirty="0">
                <a:solidFill>
                  <a:srgbClr val="444444"/>
                </a:solidFill>
                <a:latin typeface="Calibri"/>
              </a:rPr>
              <a:t>For every train:</a:t>
            </a:r>
          </a:p>
          <a:p>
            <a:pPr algn="ctr">
              <a:spcBef>
                <a:spcPts val="500"/>
              </a:spcBef>
              <a:spcAft>
                <a:spcPts val="500"/>
              </a:spcAft>
            </a:pPr>
            <a:r>
              <a:rPr sz="1610" b="0" dirty="0" err="1">
                <a:solidFill>
                  <a:srgbClr val="444444"/>
                </a:solidFill>
                <a:latin typeface="Cambria"/>
              </a:rPr>
              <a:t>p</a:t>
            </a:r>
            <a:r>
              <a:rPr sz="1610" b="0" baseline="30000" dirty="0" err="1">
                <a:solidFill>
                  <a:srgbClr val="444444"/>
                </a:solidFill>
                <a:latin typeface="Cambria"/>
              </a:rPr>
              <a:t>k</a:t>
            </a:r>
            <a:r>
              <a:rPr sz="1610" b="0" baseline="-25000" dirty="0" err="1">
                <a:solidFill>
                  <a:srgbClr val="444444"/>
                </a:solidFill>
                <a:latin typeface="Cambria"/>
              </a:rPr>
              <a:t>i</a:t>
            </a:r>
            <a:r>
              <a:rPr sz="1610" b="0" dirty="0">
                <a:solidFill>
                  <a:srgbClr val="444444"/>
                </a:solidFill>
                <a:latin typeface="Cambria"/>
              </a:rPr>
              <a:t> = </a:t>
            </a:r>
            <a:r>
              <a:rPr sz="1610" b="0" dirty="0" err="1">
                <a:solidFill>
                  <a:srgbClr val="444444"/>
                </a:solidFill>
                <a:latin typeface="Cambria"/>
              </a:rPr>
              <a:t>Oracle</a:t>
            </a:r>
            <a:r>
              <a:rPr sz="1610" b="0" baseline="-25000" dirty="0" err="1">
                <a:solidFill>
                  <a:srgbClr val="444444"/>
                </a:solidFill>
                <a:latin typeface="Cambria"/>
              </a:rPr>
              <a:t>i</a:t>
            </a:r>
            <a:r>
              <a:rPr sz="1610" b="0" dirty="0">
                <a:solidFill>
                  <a:srgbClr val="444444"/>
                </a:solidFill>
                <a:latin typeface="Cambria"/>
              </a:rPr>
              <a:t>(</a:t>
            </a:r>
            <a:r>
              <a:rPr sz="1610" b="0" dirty="0" err="1">
                <a:solidFill>
                  <a:srgbClr val="444444"/>
                </a:solidFill>
                <a:latin typeface="Cambria"/>
              </a:rPr>
              <a:t>λ</a:t>
            </a:r>
            <a:r>
              <a:rPr sz="1610" b="0" baseline="30000" dirty="0" err="1">
                <a:solidFill>
                  <a:srgbClr val="444444"/>
                </a:solidFill>
                <a:latin typeface="Cambria"/>
              </a:rPr>
              <a:t>k</a:t>
            </a:r>
            <a:r>
              <a:rPr sz="1610" b="0" dirty="0">
                <a:solidFill>
                  <a:srgbClr val="444444"/>
                </a:solidFill>
                <a:latin typeface="Cambria"/>
              </a:rPr>
              <a:t>)</a:t>
            </a:r>
          </a:p>
          <a:p>
            <a:pPr>
              <a:spcAft>
                <a:spcPts val="370"/>
              </a:spcAft>
            </a:pPr>
            <a:r>
              <a:rPr sz="1490" dirty="0">
                <a:solidFill>
                  <a:srgbClr val="444444"/>
                </a:solidFill>
                <a:latin typeface="Calibri"/>
              </a:rPr>
              <a:t>that is:</a:t>
            </a:r>
          </a:p>
          <a:p>
            <a:pPr algn="ctr">
              <a:spcBef>
                <a:spcPts val="500"/>
              </a:spcBef>
              <a:spcAft>
                <a:spcPts val="500"/>
              </a:spcAft>
            </a:pPr>
            <a:r>
              <a:rPr sz="1610" b="0" dirty="0" err="1">
                <a:solidFill>
                  <a:srgbClr val="444444"/>
                </a:solidFill>
                <a:latin typeface="Cambria"/>
              </a:rPr>
              <a:t>min</a:t>
            </a:r>
            <a:r>
              <a:rPr sz="1610" b="0" baseline="-25000" dirty="0" err="1">
                <a:solidFill>
                  <a:srgbClr val="444444"/>
                </a:solidFill>
                <a:latin typeface="Cambria"/>
              </a:rPr>
              <a:t>p</a:t>
            </a:r>
            <a:r>
              <a:rPr sz="1610" b="0" dirty="0">
                <a:solidFill>
                  <a:srgbClr val="444444"/>
                </a:solidFill>
                <a:latin typeface="Cambria"/>
              </a:rPr>
              <a:t> c</a:t>
            </a:r>
            <a:r>
              <a:rPr sz="1610" b="0" baseline="-25000" dirty="0">
                <a:solidFill>
                  <a:srgbClr val="444444"/>
                </a:solidFill>
                <a:latin typeface="Cambria"/>
              </a:rPr>
              <a:t>i</a:t>
            </a:r>
            <a:r>
              <a:rPr sz="1610" b="0" dirty="0">
                <a:solidFill>
                  <a:srgbClr val="444444"/>
                </a:solidFill>
                <a:latin typeface="Cambria"/>
              </a:rPr>
              <a:t>(p) + </a:t>
            </a:r>
            <a:r>
              <a:rPr sz="1610" b="0" dirty="0" err="1">
                <a:solidFill>
                  <a:srgbClr val="444444"/>
                </a:solidFill>
                <a:latin typeface="Cambria"/>
              </a:rPr>
              <a:t>λ</a:t>
            </a:r>
            <a:r>
              <a:rPr sz="1610" b="0" baseline="30000" dirty="0" err="1">
                <a:solidFill>
                  <a:srgbClr val="444444"/>
                </a:solidFill>
                <a:latin typeface="Cambria"/>
              </a:rPr>
              <a:t>kT</a:t>
            </a:r>
            <a:r>
              <a:rPr sz="1610" b="0" dirty="0">
                <a:solidFill>
                  <a:srgbClr val="444444"/>
                </a:solidFill>
                <a:latin typeface="Cambria"/>
              </a:rPr>
              <a:t> a</a:t>
            </a:r>
            <a:r>
              <a:rPr sz="1610" b="0" baseline="-25000" dirty="0">
                <a:solidFill>
                  <a:srgbClr val="444444"/>
                </a:solidFill>
                <a:latin typeface="Cambria"/>
              </a:rPr>
              <a:t>i</a:t>
            </a:r>
            <a:r>
              <a:rPr sz="1610" b="0" dirty="0">
                <a:solidFill>
                  <a:srgbClr val="444444"/>
                </a:solidFill>
                <a:latin typeface="Cambria"/>
              </a:rPr>
              <a:t>(p).</a:t>
            </a:r>
            <a:endParaRPr lang="en-US" sz="1755" b="0" dirty="0">
              <a:solidFill>
                <a:srgbClr val="444444"/>
              </a:solidFill>
              <a:latin typeface="Cambria"/>
            </a:endParaRPr>
          </a:p>
          <a:p>
            <a:pPr>
              <a:spcAft>
                <a:spcPts val="370"/>
              </a:spcAft>
            </a:pPr>
            <a:r>
              <a:rPr lang="en-US" sz="1490" dirty="0">
                <a:solidFill>
                  <a:srgbClr val="444444"/>
                </a:solidFill>
                <a:latin typeface="Calibri"/>
              </a:rPr>
              <a:t>this step is done by the C++ time-space DP.</a:t>
            </a:r>
          </a:p>
          <a:p>
            <a:pPr>
              <a:defRPr sz="810"/>
            </a:pPr>
            <a:endParaRPr sz="1620" dirty="0">
              <a:solidFill>
                <a:srgbClr val="444444"/>
              </a:solidFill>
              <a:latin typeface="Calibri"/>
            </a:endParaRPr>
          </a:p>
          <a:p>
            <a:pPr>
              <a:spcBef>
                <a:spcPts val="990"/>
              </a:spcBef>
              <a:spcAft>
                <a:spcPts val="250"/>
              </a:spcAft>
            </a:pPr>
            <a:r>
              <a:rPr sz="1860" b="1" dirty="0">
                <a:solidFill>
                  <a:srgbClr val="1A1A1A"/>
                </a:solidFill>
                <a:latin typeface="Calibri"/>
              </a:rPr>
              <a:t>Step 3: Aggregate the demand of each resource/bin</a:t>
            </a:r>
          </a:p>
          <a:p>
            <a:pPr algn="ctr">
              <a:spcBef>
                <a:spcPts val="500"/>
              </a:spcBef>
              <a:spcAft>
                <a:spcPts val="500"/>
              </a:spcAft>
            </a:pPr>
            <a:r>
              <a:rPr sz="1610" b="0" dirty="0" err="1">
                <a:solidFill>
                  <a:srgbClr val="444444"/>
                </a:solidFill>
                <a:latin typeface="Cambria"/>
              </a:rPr>
              <a:t>A</a:t>
            </a:r>
            <a:r>
              <a:rPr sz="1610" b="0" baseline="30000" dirty="0" err="1">
                <a:solidFill>
                  <a:srgbClr val="444444"/>
                </a:solidFill>
                <a:latin typeface="Cambria"/>
              </a:rPr>
              <a:t>k</a:t>
            </a:r>
            <a:r>
              <a:rPr sz="1610" b="0" baseline="-25000" dirty="0" err="1">
                <a:solidFill>
                  <a:srgbClr val="444444"/>
                </a:solidFill>
                <a:latin typeface="Cambria"/>
              </a:rPr>
              <a:t>rt</a:t>
            </a:r>
            <a:r>
              <a:rPr sz="1610" b="0" dirty="0">
                <a:solidFill>
                  <a:srgbClr val="444444"/>
                </a:solidFill>
                <a:latin typeface="Cambria"/>
              </a:rPr>
              <a:t> = </a:t>
            </a:r>
            <a:r>
              <a:rPr sz="1610" b="0" dirty="0" err="1">
                <a:solidFill>
                  <a:srgbClr val="444444"/>
                </a:solidFill>
                <a:latin typeface="Cambria"/>
              </a:rPr>
              <a:t>Σ</a:t>
            </a:r>
            <a:r>
              <a:rPr sz="1610" b="0" baseline="-25000" dirty="0" err="1">
                <a:solidFill>
                  <a:srgbClr val="444444"/>
                </a:solidFill>
                <a:latin typeface="Cambria"/>
              </a:rPr>
              <a:t>i</a:t>
            </a:r>
            <a:r>
              <a:rPr sz="1610" b="0" dirty="0">
                <a:solidFill>
                  <a:srgbClr val="444444"/>
                </a:solidFill>
                <a:latin typeface="Cambria"/>
              </a:rPr>
              <a:t> a</a:t>
            </a:r>
            <a:r>
              <a:rPr sz="1610" b="0" baseline="30000" dirty="0">
                <a:solidFill>
                  <a:srgbClr val="444444"/>
                </a:solidFill>
                <a:latin typeface="Cambria"/>
              </a:rPr>
              <a:t>rt</a:t>
            </a:r>
            <a:r>
              <a:rPr sz="1610" b="0" dirty="0">
                <a:solidFill>
                  <a:srgbClr val="444444"/>
                </a:solidFill>
                <a:latin typeface="Cambria"/>
              </a:rPr>
              <a:t>(</a:t>
            </a:r>
            <a:r>
              <a:rPr sz="1610" b="0" dirty="0" err="1">
                <a:solidFill>
                  <a:srgbClr val="444444"/>
                </a:solidFill>
                <a:latin typeface="Cambria"/>
              </a:rPr>
              <a:t>i</a:t>
            </a:r>
            <a:r>
              <a:rPr sz="1610" b="0" dirty="0">
                <a:solidFill>
                  <a:srgbClr val="444444"/>
                </a:solidFill>
                <a:latin typeface="Cambria"/>
              </a:rPr>
              <a:t>, </a:t>
            </a:r>
            <a:r>
              <a:rPr sz="1610" b="0" dirty="0" err="1">
                <a:solidFill>
                  <a:srgbClr val="444444"/>
                </a:solidFill>
                <a:latin typeface="Cambria"/>
              </a:rPr>
              <a:t>p</a:t>
            </a:r>
            <a:r>
              <a:rPr sz="1610" b="0" baseline="30000" dirty="0" err="1">
                <a:solidFill>
                  <a:srgbClr val="444444"/>
                </a:solidFill>
                <a:latin typeface="Cambria"/>
              </a:rPr>
              <a:t>k</a:t>
            </a:r>
            <a:r>
              <a:rPr sz="1610" b="0" baseline="-25000" dirty="0" err="1">
                <a:solidFill>
                  <a:srgbClr val="444444"/>
                </a:solidFill>
                <a:latin typeface="Cambria"/>
              </a:rPr>
              <a:t>i</a:t>
            </a:r>
            <a:r>
              <a:rPr sz="1610" b="0" dirty="0">
                <a:solidFill>
                  <a:srgbClr val="444444"/>
                </a:solidFill>
                <a:latin typeface="Cambria"/>
              </a:rPr>
              <a:t>).</a:t>
            </a:r>
          </a:p>
          <a:p>
            <a:pPr>
              <a:spcAft>
                <a:spcPts val="370"/>
              </a:spcAft>
            </a:pPr>
            <a:r>
              <a:rPr sz="1490" dirty="0">
                <a:solidFill>
                  <a:srgbClr val="444444"/>
                </a:solidFill>
                <a:latin typeface="Calibri"/>
              </a:rPr>
              <a:t>Then account for the inherited queue:</a:t>
            </a:r>
          </a:p>
          <a:p>
            <a:pPr algn="ctr">
              <a:spcBef>
                <a:spcPts val="500"/>
              </a:spcBef>
              <a:spcAft>
                <a:spcPts val="500"/>
              </a:spcAft>
            </a:pPr>
            <a:r>
              <a:rPr sz="1610" b="0" dirty="0" err="1">
                <a:solidFill>
                  <a:srgbClr val="444444"/>
                </a:solidFill>
                <a:latin typeface="Cambria"/>
              </a:rPr>
              <a:t>D</a:t>
            </a:r>
            <a:r>
              <a:rPr sz="1610" b="0" baseline="30000" dirty="0" err="1">
                <a:solidFill>
                  <a:srgbClr val="444444"/>
                </a:solidFill>
                <a:latin typeface="Cambria"/>
              </a:rPr>
              <a:t>k</a:t>
            </a:r>
            <a:r>
              <a:rPr sz="1610" b="0" baseline="-25000" dirty="0" err="1">
                <a:solidFill>
                  <a:srgbClr val="444444"/>
                </a:solidFill>
                <a:latin typeface="Cambria"/>
              </a:rPr>
              <a:t>rt</a:t>
            </a:r>
            <a:r>
              <a:rPr sz="1610" b="0" dirty="0">
                <a:solidFill>
                  <a:srgbClr val="444444"/>
                </a:solidFill>
                <a:latin typeface="Cambria"/>
              </a:rPr>
              <a:t> = </a:t>
            </a:r>
            <a:r>
              <a:rPr sz="1610" b="0" dirty="0" err="1">
                <a:solidFill>
                  <a:srgbClr val="444444"/>
                </a:solidFill>
                <a:latin typeface="Cambria"/>
              </a:rPr>
              <a:t>Q</a:t>
            </a:r>
            <a:r>
              <a:rPr sz="1610" b="0" baseline="30000" dirty="0" err="1">
                <a:solidFill>
                  <a:srgbClr val="444444"/>
                </a:solidFill>
                <a:latin typeface="Cambria"/>
              </a:rPr>
              <a:t>k</a:t>
            </a:r>
            <a:r>
              <a:rPr sz="1610" b="0" baseline="-25000" dirty="0" err="1">
                <a:solidFill>
                  <a:srgbClr val="444444"/>
                </a:solidFill>
                <a:latin typeface="Cambria"/>
              </a:rPr>
              <a:t>rt</a:t>
            </a:r>
            <a:r>
              <a:rPr sz="1610" b="0" dirty="0">
                <a:solidFill>
                  <a:srgbClr val="444444"/>
                </a:solidFill>
                <a:latin typeface="Cambria"/>
              </a:rPr>
              <a:t> + </a:t>
            </a:r>
            <a:r>
              <a:rPr sz="1610" b="0" dirty="0" err="1">
                <a:solidFill>
                  <a:srgbClr val="444444"/>
                </a:solidFill>
                <a:latin typeface="Cambria"/>
              </a:rPr>
              <a:t>A</a:t>
            </a:r>
            <a:r>
              <a:rPr sz="1610" b="0" baseline="30000" dirty="0" err="1">
                <a:solidFill>
                  <a:srgbClr val="444444"/>
                </a:solidFill>
                <a:latin typeface="Cambria"/>
              </a:rPr>
              <a:t>k</a:t>
            </a:r>
            <a:r>
              <a:rPr sz="1610" b="0" baseline="-25000" dirty="0" err="1">
                <a:solidFill>
                  <a:srgbClr val="444444"/>
                </a:solidFill>
                <a:latin typeface="Cambria"/>
              </a:rPr>
              <a:t>rt</a:t>
            </a:r>
            <a:r>
              <a:rPr sz="1610" b="0" dirty="0">
                <a:solidFill>
                  <a:srgbClr val="444444"/>
                </a:solidFill>
                <a:latin typeface="Cambria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0" y="834399"/>
            <a:ext cx="5394960" cy="4464877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Bef>
                <a:spcPts val="990"/>
              </a:spcBef>
              <a:spcAft>
                <a:spcPts val="250"/>
              </a:spcAft>
            </a:pPr>
            <a:r>
              <a:rPr sz="1860" b="1" dirty="0">
                <a:solidFill>
                  <a:srgbClr val="1A1A1A"/>
                </a:solidFill>
                <a:latin typeface="Calibri"/>
              </a:rPr>
              <a:t>Step 4: Compute the volume/capacity ratio</a:t>
            </a:r>
          </a:p>
          <a:p>
            <a:pPr algn="ctr">
              <a:spcBef>
                <a:spcPts val="500"/>
              </a:spcBef>
              <a:spcAft>
                <a:spcPts val="500"/>
              </a:spcAft>
            </a:pPr>
            <a:r>
              <a:rPr sz="1610" b="1" dirty="0" err="1">
                <a:solidFill>
                  <a:srgbClr val="1A1A1A"/>
                </a:solidFill>
                <a:latin typeface="Cambria"/>
              </a:rPr>
              <a:t>ρ</a:t>
            </a:r>
            <a:r>
              <a:rPr sz="1610" b="1" baseline="30000" dirty="0" err="1">
                <a:solidFill>
                  <a:srgbClr val="1A1A1A"/>
                </a:solidFill>
                <a:latin typeface="Cambria"/>
              </a:rPr>
              <a:t>k</a:t>
            </a:r>
            <a:r>
              <a:rPr sz="1610" b="1" baseline="-25000" dirty="0" err="1">
                <a:solidFill>
                  <a:srgbClr val="1A1A1A"/>
                </a:solidFill>
                <a:latin typeface="Cambria"/>
              </a:rPr>
              <a:t>rt</a:t>
            </a:r>
            <a:r>
              <a:rPr sz="1610" b="1" dirty="0">
                <a:solidFill>
                  <a:srgbClr val="1A1A1A"/>
                </a:solidFill>
                <a:latin typeface="Cambria"/>
              </a:rPr>
              <a:t> = (</a:t>
            </a:r>
            <a:r>
              <a:rPr sz="1610" b="1" dirty="0" err="1">
                <a:solidFill>
                  <a:srgbClr val="1A1A1A"/>
                </a:solidFill>
                <a:latin typeface="Cambria"/>
              </a:rPr>
              <a:t>Q</a:t>
            </a:r>
            <a:r>
              <a:rPr sz="1610" b="1" baseline="30000" dirty="0" err="1">
                <a:solidFill>
                  <a:srgbClr val="1A1A1A"/>
                </a:solidFill>
                <a:latin typeface="Cambria"/>
              </a:rPr>
              <a:t>k</a:t>
            </a:r>
            <a:r>
              <a:rPr sz="1610" b="1" baseline="-25000" dirty="0" err="1">
                <a:solidFill>
                  <a:srgbClr val="1A1A1A"/>
                </a:solidFill>
                <a:latin typeface="Cambria"/>
              </a:rPr>
              <a:t>rt</a:t>
            </a:r>
            <a:r>
              <a:rPr sz="1610" b="1" dirty="0">
                <a:solidFill>
                  <a:srgbClr val="1A1A1A"/>
                </a:solidFill>
                <a:latin typeface="Cambria"/>
              </a:rPr>
              <a:t> + </a:t>
            </a:r>
            <a:r>
              <a:rPr sz="1610" b="1" dirty="0" err="1">
                <a:solidFill>
                  <a:srgbClr val="1A1A1A"/>
                </a:solidFill>
                <a:latin typeface="Cambria"/>
              </a:rPr>
              <a:t>A</a:t>
            </a:r>
            <a:r>
              <a:rPr sz="1610" b="1" baseline="30000" dirty="0" err="1">
                <a:solidFill>
                  <a:srgbClr val="1A1A1A"/>
                </a:solidFill>
                <a:latin typeface="Cambria"/>
              </a:rPr>
              <a:t>k</a:t>
            </a:r>
            <a:r>
              <a:rPr sz="1610" b="1" baseline="-25000" dirty="0" err="1">
                <a:solidFill>
                  <a:srgbClr val="1A1A1A"/>
                </a:solidFill>
                <a:latin typeface="Cambria"/>
              </a:rPr>
              <a:t>rt</a:t>
            </a:r>
            <a:r>
              <a:rPr sz="1610" b="1" dirty="0">
                <a:solidFill>
                  <a:srgbClr val="1A1A1A"/>
                </a:solidFill>
                <a:latin typeface="Cambria"/>
              </a:rPr>
              <a:t>) / </a:t>
            </a:r>
            <a:r>
              <a:rPr sz="1610" b="1" dirty="0" err="1">
                <a:solidFill>
                  <a:srgbClr val="1A1A1A"/>
                </a:solidFill>
                <a:latin typeface="Cambria"/>
              </a:rPr>
              <a:t>μ</a:t>
            </a:r>
            <a:r>
              <a:rPr sz="1610" b="1" baseline="-25000" dirty="0" err="1">
                <a:solidFill>
                  <a:srgbClr val="1A1A1A"/>
                </a:solidFill>
                <a:latin typeface="Cambria"/>
              </a:rPr>
              <a:t>rt</a:t>
            </a:r>
            <a:endParaRPr sz="1755" b="1" baseline="-25000" dirty="0">
              <a:solidFill>
                <a:srgbClr val="1A1A1A"/>
              </a:solidFill>
              <a:latin typeface="Cambria"/>
            </a:endParaRPr>
          </a:p>
          <a:p>
            <a:pPr>
              <a:defRPr sz="810"/>
            </a:pPr>
            <a:endParaRPr sz="1755" b="1" baseline="-25000" dirty="0">
              <a:solidFill>
                <a:srgbClr val="1A1A1A"/>
              </a:solidFill>
              <a:latin typeface="Cambria"/>
            </a:endParaRPr>
          </a:p>
          <a:p>
            <a:pPr>
              <a:spcBef>
                <a:spcPts val="990"/>
              </a:spcBef>
              <a:spcAft>
                <a:spcPts val="250"/>
              </a:spcAft>
            </a:pPr>
            <a:r>
              <a:rPr sz="1860" b="1" dirty="0">
                <a:solidFill>
                  <a:srgbClr val="1A1A1A"/>
                </a:solidFill>
                <a:latin typeface="Calibri"/>
              </a:rPr>
              <a:t>Step 5: Compute the soft </a:t>
            </a:r>
            <a:r>
              <a:rPr sz="1860" b="1" dirty="0" err="1">
                <a:solidFill>
                  <a:srgbClr val="1A1A1A"/>
                </a:solidFill>
                <a:latin typeface="Calibri"/>
              </a:rPr>
              <a:t>Lagrangian</a:t>
            </a:r>
            <a:r>
              <a:rPr sz="1860" b="1" dirty="0">
                <a:solidFill>
                  <a:srgbClr val="1A1A1A"/>
                </a:solidFill>
                <a:latin typeface="Calibri"/>
              </a:rPr>
              <a:t> target penalty</a:t>
            </a:r>
          </a:p>
          <a:p>
            <a:pPr algn="ctr">
              <a:spcBef>
                <a:spcPts val="500"/>
              </a:spcBef>
              <a:spcAft>
                <a:spcPts val="500"/>
              </a:spcAft>
            </a:pPr>
            <a:r>
              <a:rPr sz="1610" b="1" dirty="0" err="1">
                <a:solidFill>
                  <a:srgbClr val="1A1A1A"/>
                </a:solidFill>
                <a:latin typeface="Cambria"/>
              </a:rPr>
              <a:t>λ̂</a:t>
            </a:r>
            <a:r>
              <a:rPr sz="1610" b="1" baseline="30000" dirty="0" err="1">
                <a:solidFill>
                  <a:srgbClr val="1A1A1A"/>
                </a:solidFill>
                <a:latin typeface="Cambria"/>
              </a:rPr>
              <a:t>k</a:t>
            </a:r>
            <a:r>
              <a:rPr sz="1610" b="1" baseline="-25000" dirty="0" err="1">
                <a:solidFill>
                  <a:srgbClr val="1A1A1A"/>
                </a:solidFill>
                <a:latin typeface="Cambria"/>
              </a:rPr>
              <a:t>rt</a:t>
            </a:r>
            <a:r>
              <a:rPr sz="1610" b="1" dirty="0">
                <a:solidFill>
                  <a:srgbClr val="1A1A1A"/>
                </a:solidFill>
                <a:latin typeface="Cambria"/>
              </a:rPr>
              <a:t> = τ</a:t>
            </a:r>
            <a:r>
              <a:rPr sz="1610" b="1" baseline="30000" dirty="0">
                <a:solidFill>
                  <a:srgbClr val="1A1A1A"/>
                </a:solidFill>
                <a:latin typeface="Cambria"/>
              </a:rPr>
              <a:t>0</a:t>
            </a:r>
            <a:r>
              <a:rPr sz="1610" b="1" baseline="-25000" dirty="0">
                <a:solidFill>
                  <a:srgbClr val="1A1A1A"/>
                </a:solidFill>
                <a:latin typeface="Cambria"/>
              </a:rPr>
              <a:t>rt</a:t>
            </a:r>
            <a:r>
              <a:rPr sz="1610" b="1" dirty="0">
                <a:solidFill>
                  <a:srgbClr val="1A1A1A"/>
                </a:solidFill>
                <a:latin typeface="Cambria"/>
              </a:rPr>
              <a:t> α (</a:t>
            </a:r>
            <a:r>
              <a:rPr sz="1610" b="1" dirty="0" err="1">
                <a:solidFill>
                  <a:srgbClr val="1A1A1A"/>
                </a:solidFill>
                <a:latin typeface="Cambria"/>
              </a:rPr>
              <a:t>ρ</a:t>
            </a:r>
            <a:r>
              <a:rPr sz="1610" b="1" baseline="30000" dirty="0" err="1">
                <a:solidFill>
                  <a:srgbClr val="1A1A1A"/>
                </a:solidFill>
                <a:latin typeface="Cambria"/>
              </a:rPr>
              <a:t>k</a:t>
            </a:r>
            <a:r>
              <a:rPr sz="1610" b="1" baseline="-25000" dirty="0" err="1">
                <a:solidFill>
                  <a:srgbClr val="1A1A1A"/>
                </a:solidFill>
                <a:latin typeface="Cambria"/>
              </a:rPr>
              <a:t>rt</a:t>
            </a:r>
            <a:r>
              <a:rPr sz="1610" b="1" dirty="0">
                <a:solidFill>
                  <a:srgbClr val="1A1A1A"/>
                </a:solidFill>
                <a:latin typeface="Cambria"/>
              </a:rPr>
              <a:t>)</a:t>
            </a:r>
            <a:r>
              <a:rPr sz="1610" b="1" baseline="30000" dirty="0">
                <a:solidFill>
                  <a:srgbClr val="1A1A1A"/>
                </a:solidFill>
                <a:latin typeface="Cambria"/>
              </a:rPr>
              <a:t>β</a:t>
            </a:r>
          </a:p>
          <a:p>
            <a:pPr>
              <a:spcAft>
                <a:spcPts val="370"/>
              </a:spcAft>
            </a:pPr>
            <a:r>
              <a:rPr lang="en-US" sz="1490" dirty="0">
                <a:solidFill>
                  <a:srgbClr val="444444"/>
                </a:solidFill>
                <a:latin typeface="Calibri"/>
              </a:rPr>
              <a:t>pseudocode</a:t>
            </a:r>
            <a:r>
              <a:rPr sz="1490" dirty="0">
                <a:solidFill>
                  <a:srgbClr val="444444"/>
                </a:solidFill>
                <a:latin typeface="Calibri"/>
              </a:rPr>
              <a:t>:</a:t>
            </a:r>
          </a:p>
          <a:p>
            <a:pPr>
              <a:spcAft>
                <a:spcPts val="370"/>
              </a:spcAft>
            </a:pPr>
            <a:r>
              <a:rPr lang="en-US" sz="1300" dirty="0" err="1">
                <a:solidFill>
                  <a:srgbClr val="444444"/>
                </a:solidFill>
                <a:latin typeface="Courier New"/>
              </a:rPr>
              <a:t>lambda</a:t>
            </a:r>
            <a:r>
              <a:rPr lang="en-US" altLang="zh-CN" sz="1300" dirty="0" err="1">
                <a:solidFill>
                  <a:srgbClr val="444444"/>
                </a:solidFill>
                <a:latin typeface="Courier New"/>
              </a:rPr>
              <a:t>_</a:t>
            </a:r>
            <a:r>
              <a:rPr lang="en-US" sz="1300" dirty="0" err="1">
                <a:solidFill>
                  <a:srgbClr val="444444"/>
                </a:solidFill>
                <a:latin typeface="Courier New"/>
              </a:rPr>
              <a:t>rt</a:t>
            </a:r>
            <a:r>
              <a:rPr sz="1300" dirty="0">
                <a:solidFill>
                  <a:srgbClr val="444444"/>
                </a:solidFill>
                <a:latin typeface="Courier New"/>
              </a:rPr>
              <a:t> = tau0 * alpha * ((Q + A) / mu) ** beta</a:t>
            </a:r>
          </a:p>
          <a:p>
            <a:pPr>
              <a:defRPr sz="810"/>
            </a:pPr>
            <a:endParaRPr sz="1417" dirty="0">
              <a:solidFill>
                <a:srgbClr val="444444"/>
              </a:solidFill>
              <a:latin typeface="Courier New"/>
            </a:endParaRPr>
          </a:p>
          <a:p>
            <a:pPr>
              <a:spcBef>
                <a:spcPts val="990"/>
              </a:spcBef>
              <a:spcAft>
                <a:spcPts val="250"/>
              </a:spcAft>
            </a:pPr>
            <a:r>
              <a:rPr sz="1860" b="1" dirty="0">
                <a:solidFill>
                  <a:srgbClr val="1A1A1A"/>
                </a:solidFill>
                <a:latin typeface="Calibri"/>
              </a:rPr>
              <a:t>Step 6: Soft smoothing</a:t>
            </a:r>
          </a:p>
          <a:p>
            <a:pPr algn="ctr">
              <a:spcBef>
                <a:spcPts val="500"/>
              </a:spcBef>
              <a:spcAft>
                <a:spcPts val="500"/>
              </a:spcAft>
            </a:pPr>
            <a:r>
              <a:rPr sz="1610" b="1" dirty="0">
                <a:solidFill>
                  <a:srgbClr val="1A1A1A"/>
                </a:solidFill>
                <a:latin typeface="Cambria"/>
              </a:rPr>
              <a:t>λ</a:t>
            </a:r>
            <a:r>
              <a:rPr sz="1610" b="1" baseline="30000" dirty="0">
                <a:solidFill>
                  <a:srgbClr val="1A1A1A"/>
                </a:solidFill>
                <a:latin typeface="Cambria"/>
              </a:rPr>
              <a:t>k+1</a:t>
            </a:r>
            <a:r>
              <a:rPr sz="1610" b="1" baseline="-25000" dirty="0">
                <a:solidFill>
                  <a:srgbClr val="1A1A1A"/>
                </a:solidFill>
                <a:latin typeface="Cambria"/>
              </a:rPr>
              <a:t>rt</a:t>
            </a:r>
            <a:r>
              <a:rPr sz="1610" b="1" dirty="0">
                <a:solidFill>
                  <a:srgbClr val="1A1A1A"/>
                </a:solidFill>
                <a:latin typeface="Cambria"/>
              </a:rPr>
              <a:t> = (1 − </a:t>
            </a:r>
            <a:r>
              <a:rPr sz="1610" b="1" dirty="0" err="1">
                <a:solidFill>
                  <a:srgbClr val="1A1A1A"/>
                </a:solidFill>
                <a:latin typeface="Cambria"/>
              </a:rPr>
              <a:t>γ</a:t>
            </a:r>
            <a:r>
              <a:rPr sz="1610" b="1" baseline="-25000" dirty="0" err="1">
                <a:solidFill>
                  <a:srgbClr val="1A1A1A"/>
                </a:solidFill>
                <a:latin typeface="Cambria"/>
              </a:rPr>
              <a:t>k</a:t>
            </a:r>
            <a:r>
              <a:rPr sz="1610" b="1" dirty="0">
                <a:solidFill>
                  <a:srgbClr val="1A1A1A"/>
                </a:solidFill>
                <a:latin typeface="Cambria"/>
              </a:rPr>
              <a:t>)</a:t>
            </a:r>
            <a:r>
              <a:rPr sz="1610" b="1" dirty="0" err="1">
                <a:solidFill>
                  <a:srgbClr val="1A1A1A"/>
                </a:solidFill>
                <a:latin typeface="Cambria"/>
              </a:rPr>
              <a:t>λ</a:t>
            </a:r>
            <a:r>
              <a:rPr sz="1610" b="1" baseline="30000" dirty="0" err="1">
                <a:solidFill>
                  <a:srgbClr val="1A1A1A"/>
                </a:solidFill>
                <a:latin typeface="Cambria"/>
              </a:rPr>
              <a:t>k</a:t>
            </a:r>
            <a:r>
              <a:rPr sz="1610" b="1" baseline="-25000" dirty="0" err="1">
                <a:solidFill>
                  <a:srgbClr val="1A1A1A"/>
                </a:solidFill>
                <a:latin typeface="Cambria"/>
              </a:rPr>
              <a:t>rt</a:t>
            </a:r>
            <a:r>
              <a:rPr sz="1610" b="1" dirty="0">
                <a:solidFill>
                  <a:srgbClr val="1A1A1A"/>
                </a:solidFill>
                <a:latin typeface="Cambria"/>
              </a:rPr>
              <a:t> + </a:t>
            </a:r>
            <a:r>
              <a:rPr sz="1610" b="1" dirty="0" err="1">
                <a:solidFill>
                  <a:srgbClr val="1A1A1A"/>
                </a:solidFill>
                <a:latin typeface="Cambria"/>
              </a:rPr>
              <a:t>γ</a:t>
            </a:r>
            <a:r>
              <a:rPr sz="1610" b="1" baseline="-25000" dirty="0" err="1">
                <a:solidFill>
                  <a:srgbClr val="1A1A1A"/>
                </a:solidFill>
                <a:latin typeface="Cambria"/>
              </a:rPr>
              <a:t>k</a:t>
            </a:r>
            <a:r>
              <a:rPr sz="1610" b="1" dirty="0">
                <a:solidFill>
                  <a:srgbClr val="1A1A1A"/>
                </a:solidFill>
                <a:latin typeface="Cambria"/>
              </a:rPr>
              <a:t> </a:t>
            </a:r>
            <a:r>
              <a:rPr sz="1610" b="1" dirty="0" err="1">
                <a:solidFill>
                  <a:srgbClr val="1A1A1A"/>
                </a:solidFill>
                <a:latin typeface="Cambria"/>
              </a:rPr>
              <a:t>λ̂</a:t>
            </a:r>
            <a:r>
              <a:rPr sz="1610" b="1" baseline="30000" dirty="0" err="1">
                <a:solidFill>
                  <a:srgbClr val="1A1A1A"/>
                </a:solidFill>
                <a:latin typeface="Cambria"/>
              </a:rPr>
              <a:t>k</a:t>
            </a:r>
            <a:r>
              <a:rPr sz="1610" b="1" baseline="-25000" dirty="0" err="1">
                <a:solidFill>
                  <a:srgbClr val="1A1A1A"/>
                </a:solidFill>
                <a:latin typeface="Cambria"/>
              </a:rPr>
              <a:t>rt</a:t>
            </a:r>
            <a:endParaRPr sz="1755" b="1" baseline="-25000" dirty="0">
              <a:solidFill>
                <a:srgbClr val="1A1A1A"/>
              </a:solidFill>
              <a:latin typeface="Cambria"/>
            </a:endParaRPr>
          </a:p>
          <a:p>
            <a:pPr>
              <a:spcAft>
                <a:spcPts val="370"/>
              </a:spcAft>
            </a:pPr>
            <a:r>
              <a:rPr sz="1490" dirty="0">
                <a:solidFill>
                  <a:srgbClr val="444444"/>
                </a:solidFill>
                <a:latin typeface="Calibri"/>
              </a:rPr>
              <a:t>Then redo routing + timing.</a:t>
            </a:r>
          </a:p>
          <a:p>
            <a:pPr>
              <a:spcAft>
                <a:spcPts val="370"/>
              </a:spcAft>
            </a:pPr>
            <a:r>
              <a:rPr sz="1490" dirty="0">
                <a:solidFill>
                  <a:srgbClr val="444444"/>
                </a:solidFill>
                <a:latin typeface="Calibri"/>
              </a:rPr>
              <a:t>So the complete closed loop is:</a:t>
            </a:r>
          </a:p>
          <a:p>
            <a:pPr algn="ctr">
              <a:spcBef>
                <a:spcPts val="500"/>
              </a:spcBef>
              <a:spcAft>
                <a:spcPts val="500"/>
              </a:spcAft>
            </a:pPr>
            <a:r>
              <a:rPr sz="1610" b="1" dirty="0" err="1">
                <a:solidFill>
                  <a:srgbClr val="1A1A1A"/>
                </a:solidFill>
                <a:latin typeface="Cambria"/>
              </a:rPr>
              <a:t>λ</a:t>
            </a:r>
            <a:r>
              <a:rPr sz="1610" b="1" baseline="30000" dirty="0" err="1">
                <a:solidFill>
                  <a:srgbClr val="1A1A1A"/>
                </a:solidFill>
                <a:latin typeface="Cambria"/>
              </a:rPr>
              <a:t>k</a:t>
            </a:r>
            <a:r>
              <a:rPr sz="1610" b="1" dirty="0">
                <a:solidFill>
                  <a:srgbClr val="1A1A1A"/>
                </a:solidFill>
                <a:latin typeface="Cambria"/>
              </a:rPr>
              <a:t> → Train DP → A</a:t>
            </a:r>
            <a:r>
              <a:rPr sz="1610" b="1" baseline="30000" dirty="0">
                <a:solidFill>
                  <a:srgbClr val="1A1A1A"/>
                </a:solidFill>
                <a:latin typeface="Cambria"/>
              </a:rPr>
              <a:t>k</a:t>
            </a:r>
            <a:r>
              <a:rPr sz="1610" b="1" dirty="0">
                <a:solidFill>
                  <a:srgbClr val="1A1A1A"/>
                </a:solidFill>
                <a:latin typeface="Cambria"/>
              </a:rPr>
              <a:t> → </a:t>
            </a:r>
            <a:r>
              <a:rPr sz="1610" b="1" dirty="0" err="1">
                <a:solidFill>
                  <a:srgbClr val="1A1A1A"/>
                </a:solidFill>
                <a:latin typeface="Cambria"/>
              </a:rPr>
              <a:t>Q</a:t>
            </a:r>
            <a:r>
              <a:rPr sz="1610" b="1" baseline="30000" dirty="0" err="1">
                <a:solidFill>
                  <a:srgbClr val="1A1A1A"/>
                </a:solidFill>
                <a:latin typeface="Cambria"/>
              </a:rPr>
              <a:t>k</a:t>
            </a:r>
            <a:r>
              <a:rPr sz="1610" b="1" dirty="0">
                <a:solidFill>
                  <a:srgbClr val="1A1A1A"/>
                </a:solidFill>
                <a:latin typeface="Cambria"/>
              </a:rPr>
              <a:t> + A</a:t>
            </a:r>
            <a:r>
              <a:rPr sz="1610" b="1" baseline="30000" dirty="0">
                <a:solidFill>
                  <a:srgbClr val="1A1A1A"/>
                </a:solidFill>
                <a:latin typeface="Cambria"/>
              </a:rPr>
              <a:t>k</a:t>
            </a:r>
            <a:r>
              <a:rPr sz="1610" b="1" dirty="0">
                <a:solidFill>
                  <a:srgbClr val="1A1A1A"/>
                </a:solidFill>
                <a:latin typeface="Cambria"/>
              </a:rPr>
              <a:t> → D/C → α(D/C)</a:t>
            </a:r>
            <a:r>
              <a:rPr sz="1610" b="1" baseline="30000" dirty="0">
                <a:solidFill>
                  <a:srgbClr val="1A1A1A"/>
                </a:solidFill>
                <a:latin typeface="Cambria"/>
              </a:rPr>
              <a:t>β</a:t>
            </a:r>
            <a:r>
              <a:rPr sz="1610" b="1" dirty="0">
                <a:solidFill>
                  <a:srgbClr val="1A1A1A"/>
                </a:solidFill>
                <a:latin typeface="Cambria"/>
              </a:rPr>
              <a:t> → </a:t>
            </a:r>
            <a:r>
              <a:rPr sz="1610" b="1" dirty="0" err="1">
                <a:solidFill>
                  <a:srgbClr val="1A1A1A"/>
                </a:solidFill>
                <a:latin typeface="Cambria"/>
              </a:rPr>
              <a:t>λ̂</a:t>
            </a:r>
            <a:r>
              <a:rPr sz="1610" b="1" baseline="30000" dirty="0" err="1">
                <a:solidFill>
                  <a:srgbClr val="1A1A1A"/>
                </a:solidFill>
                <a:latin typeface="Cambria"/>
              </a:rPr>
              <a:t>k</a:t>
            </a:r>
            <a:r>
              <a:rPr sz="1610" b="1" dirty="0">
                <a:solidFill>
                  <a:srgbClr val="1A1A1A"/>
                </a:solidFill>
                <a:latin typeface="Cambria"/>
              </a:rPr>
              <a:t> → smoothing → λ</a:t>
            </a:r>
            <a:r>
              <a:rPr sz="1610" b="1" baseline="30000" dirty="0">
                <a:solidFill>
                  <a:srgbClr val="1A1A1A"/>
                </a:solidFill>
                <a:latin typeface="Cambria"/>
              </a:rPr>
              <a:t>k+1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680" y="244070"/>
            <a:ext cx="8686800" cy="43088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2800" b="1" dirty="0">
                <a:solidFill>
                  <a:srgbClr val="1A1A1A"/>
                </a:solidFill>
                <a:latin typeface="Calibri"/>
              </a:rPr>
              <a:t>Full soft-LR loop — Steps 1–6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05770" y="6327648"/>
            <a:ext cx="144270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777777"/>
                </a:solidFill>
                <a:latin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30788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3880" y="1065436"/>
            <a:ext cx="11064240" cy="5472524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94"/>
              </a:spcAft>
            </a:pPr>
            <a:r>
              <a:rPr lang="en-US" sz="2000" b="1" dirty="0">
                <a:solidFill>
                  <a:srgbClr val="1A1A1A"/>
                </a:solidFill>
                <a:latin typeface="Calibri"/>
              </a:rPr>
              <a:t>The C++ kernel </a:t>
            </a:r>
            <a:r>
              <a:rPr sz="1979" dirty="0">
                <a:solidFill>
                  <a:srgbClr val="444444"/>
                </a:solidFill>
                <a:latin typeface="Calibri"/>
              </a:rPr>
              <a:t>only be responsible for:</a:t>
            </a:r>
          </a:p>
          <a:p>
            <a:pPr algn="ctr">
              <a:spcBef>
                <a:spcPts val="660"/>
              </a:spcBef>
              <a:spcAft>
                <a:spcPts val="660"/>
              </a:spcAft>
            </a:pPr>
            <a:r>
              <a:rPr sz="2145" b="1" dirty="0">
                <a:solidFill>
                  <a:srgbClr val="1A1A1A"/>
                </a:solidFill>
                <a:latin typeface="Cambria"/>
              </a:rPr>
              <a:t>p*</a:t>
            </a:r>
            <a:r>
              <a:rPr sz="2145" b="1" baseline="-25000" dirty="0" err="1">
                <a:solidFill>
                  <a:srgbClr val="1A1A1A"/>
                </a:solidFill>
                <a:latin typeface="Cambria"/>
              </a:rPr>
              <a:t>i</a:t>
            </a:r>
            <a:r>
              <a:rPr sz="2145" b="1" dirty="0">
                <a:solidFill>
                  <a:srgbClr val="1A1A1A"/>
                </a:solidFill>
                <a:latin typeface="Cambria"/>
              </a:rPr>
              <a:t>(</a:t>
            </a:r>
            <a:r>
              <a:rPr sz="2145" b="1" dirty="0" err="1">
                <a:solidFill>
                  <a:srgbClr val="1A1A1A"/>
                </a:solidFill>
                <a:latin typeface="Cambria"/>
              </a:rPr>
              <a:t>λ</a:t>
            </a:r>
            <a:r>
              <a:rPr sz="2145" b="1" dirty="0">
                <a:solidFill>
                  <a:srgbClr val="1A1A1A"/>
                </a:solidFill>
                <a:latin typeface="Cambria"/>
              </a:rPr>
              <a:t>) = </a:t>
            </a:r>
            <a:r>
              <a:rPr sz="2145" b="1" dirty="0" err="1">
                <a:solidFill>
                  <a:srgbClr val="1A1A1A"/>
                </a:solidFill>
                <a:latin typeface="Cambria"/>
              </a:rPr>
              <a:t>arg</a:t>
            </a:r>
            <a:r>
              <a:rPr sz="2145" b="1" dirty="0">
                <a:solidFill>
                  <a:srgbClr val="1A1A1A"/>
                </a:solidFill>
                <a:latin typeface="Cambria"/>
              </a:rPr>
              <a:t> </a:t>
            </a:r>
            <a:r>
              <a:rPr sz="2145" b="1" dirty="0" err="1">
                <a:solidFill>
                  <a:srgbClr val="1A1A1A"/>
                </a:solidFill>
                <a:latin typeface="Cambria"/>
              </a:rPr>
              <a:t>min</a:t>
            </a:r>
            <a:r>
              <a:rPr sz="2145" b="1" baseline="-25000" dirty="0" err="1">
                <a:solidFill>
                  <a:srgbClr val="1A1A1A"/>
                </a:solidFill>
                <a:latin typeface="Cambria"/>
              </a:rPr>
              <a:t>p</a:t>
            </a:r>
            <a:r>
              <a:rPr sz="2145" b="1" dirty="0">
                <a:solidFill>
                  <a:srgbClr val="1A1A1A"/>
                </a:solidFill>
                <a:latin typeface="Cambria"/>
              </a:rPr>
              <a:t> [ c</a:t>
            </a:r>
            <a:r>
              <a:rPr sz="2145" b="1" baseline="-25000" dirty="0">
                <a:solidFill>
                  <a:srgbClr val="1A1A1A"/>
                </a:solidFill>
                <a:latin typeface="Cambria"/>
              </a:rPr>
              <a:t>i</a:t>
            </a:r>
            <a:r>
              <a:rPr sz="2145" b="1" dirty="0">
                <a:solidFill>
                  <a:srgbClr val="1A1A1A"/>
                </a:solidFill>
                <a:latin typeface="Cambria"/>
              </a:rPr>
              <a:t>(p) + </a:t>
            </a:r>
            <a:r>
              <a:rPr sz="2145" b="1" dirty="0" err="1">
                <a:solidFill>
                  <a:srgbClr val="1A1A1A"/>
                </a:solidFill>
                <a:latin typeface="Cambria"/>
              </a:rPr>
              <a:t>λ</a:t>
            </a:r>
            <a:r>
              <a:rPr sz="2145" b="1" baseline="30000" dirty="0">
                <a:solidFill>
                  <a:srgbClr val="1A1A1A"/>
                </a:solidFill>
                <a:latin typeface="Cambria"/>
              </a:rPr>
              <a:t>⊤</a:t>
            </a:r>
            <a:r>
              <a:rPr sz="2145" b="1" dirty="0">
                <a:solidFill>
                  <a:srgbClr val="1A1A1A"/>
                </a:solidFill>
                <a:latin typeface="Cambria"/>
              </a:rPr>
              <a:t> a</a:t>
            </a:r>
            <a:r>
              <a:rPr sz="2145" b="1" baseline="-25000" dirty="0">
                <a:solidFill>
                  <a:srgbClr val="1A1A1A"/>
                </a:solidFill>
                <a:latin typeface="Cambria"/>
              </a:rPr>
              <a:t>i</a:t>
            </a:r>
            <a:r>
              <a:rPr sz="2145" b="1" dirty="0">
                <a:solidFill>
                  <a:srgbClr val="1A1A1A"/>
                </a:solidFill>
                <a:latin typeface="Cambria"/>
              </a:rPr>
              <a:t>(p) ]</a:t>
            </a:r>
          </a:p>
          <a:p>
            <a:pPr>
              <a:spcAft>
                <a:spcPts val="494"/>
              </a:spcAft>
            </a:pPr>
            <a:r>
              <a:rPr sz="1979" dirty="0">
                <a:solidFill>
                  <a:srgbClr val="444444"/>
                </a:solidFill>
                <a:latin typeface="Calibri"/>
              </a:rPr>
              <a:t>that is:</a:t>
            </a:r>
          </a:p>
          <a:p>
            <a:pPr marL="228600">
              <a:spcBef>
                <a:spcPts val="330"/>
              </a:spcBef>
              <a:spcAft>
                <a:spcPts val="330"/>
              </a:spcAft>
            </a:pPr>
            <a:r>
              <a:rPr sz="1979" dirty="0">
                <a:solidFill>
                  <a:srgbClr val="444444"/>
                </a:solidFill>
                <a:latin typeface="Calibri"/>
              </a:rPr>
              <a:t>Give</a:t>
            </a:r>
            <a:r>
              <a:rPr lang="en-US" altLang="zh-CN" sz="1979" dirty="0">
                <a:solidFill>
                  <a:srgbClr val="444444"/>
                </a:solidFill>
                <a:latin typeface="Calibri"/>
              </a:rPr>
              <a:t>n</a:t>
            </a:r>
            <a:r>
              <a:rPr sz="1979" dirty="0">
                <a:solidFill>
                  <a:srgbClr val="444444"/>
                </a:solidFill>
                <a:latin typeface="Calibri"/>
              </a:rPr>
              <a:t> </a:t>
            </a:r>
            <a:r>
              <a:rPr sz="1979" dirty="0" err="1">
                <a:solidFill>
                  <a:srgbClr val="444444"/>
                </a:solidFill>
                <a:latin typeface="Calibri"/>
              </a:rPr>
              <a:t>λ</a:t>
            </a:r>
            <a:r>
              <a:rPr sz="1979" dirty="0">
                <a:solidFill>
                  <a:srgbClr val="444444"/>
                </a:solidFill>
                <a:latin typeface="Calibri"/>
              </a:rPr>
              <a:t>, </a:t>
            </a:r>
            <a:r>
              <a:rPr lang="en-US" altLang="zh-CN" sz="1979" dirty="0">
                <a:solidFill>
                  <a:srgbClr val="444444"/>
                </a:solidFill>
                <a:latin typeface="Calibri"/>
              </a:rPr>
              <a:t>and</a:t>
            </a:r>
            <a:r>
              <a:rPr lang="zh-CN" altLang="en-US" sz="1979" dirty="0">
                <a:solidFill>
                  <a:srgbClr val="444444"/>
                </a:solidFill>
                <a:latin typeface="Calibri"/>
              </a:rPr>
              <a:t> </a:t>
            </a:r>
            <a:r>
              <a:rPr lang="en-US" altLang="zh-CN" sz="1979" dirty="0">
                <a:solidFill>
                  <a:srgbClr val="444444"/>
                </a:solidFill>
                <a:latin typeface="Calibri"/>
              </a:rPr>
              <a:t>have</a:t>
            </a:r>
            <a:r>
              <a:rPr sz="1979" dirty="0">
                <a:solidFill>
                  <a:srgbClr val="444444"/>
                </a:solidFill>
                <a:latin typeface="Calibri"/>
              </a:rPr>
              <a:t> the optimal route + timetable trajectory </a:t>
            </a:r>
            <a:r>
              <a:rPr lang="en-US" sz="2000" b="1" dirty="0">
                <a:solidFill>
                  <a:srgbClr val="1A1A1A"/>
                </a:solidFill>
                <a:latin typeface="Cambria"/>
              </a:rPr>
              <a:t>p* </a:t>
            </a:r>
            <a:r>
              <a:rPr sz="1979" dirty="0">
                <a:solidFill>
                  <a:srgbClr val="444444"/>
                </a:solidFill>
                <a:latin typeface="Calibri"/>
              </a:rPr>
              <a:t>for this </a:t>
            </a:r>
            <a:r>
              <a:rPr sz="1979" dirty="0" err="1">
                <a:solidFill>
                  <a:srgbClr val="444444"/>
                </a:solidFill>
                <a:latin typeface="Calibri"/>
              </a:rPr>
              <a:t>trainThe</a:t>
            </a:r>
            <a:r>
              <a:rPr sz="1979" dirty="0">
                <a:solidFill>
                  <a:srgbClr val="444444"/>
                </a:solidFill>
                <a:latin typeface="Calibri"/>
              </a:rPr>
              <a:t> Python outer loop remains responsible for:</a:t>
            </a:r>
          </a:p>
          <a:p>
            <a:pPr algn="ctr">
              <a:spcBef>
                <a:spcPts val="660"/>
              </a:spcBef>
              <a:spcAft>
                <a:spcPts val="660"/>
              </a:spcAft>
            </a:pPr>
            <a:r>
              <a:rPr sz="2145" b="0" dirty="0">
                <a:solidFill>
                  <a:srgbClr val="444444"/>
                </a:solidFill>
                <a:latin typeface="Cambria"/>
              </a:rPr>
              <a:t>A, Q, </a:t>
            </a:r>
            <a:r>
              <a:rPr sz="2145" b="0" dirty="0" err="1">
                <a:solidFill>
                  <a:srgbClr val="444444"/>
                </a:solidFill>
                <a:latin typeface="Cambria"/>
              </a:rPr>
              <a:t>μ</a:t>
            </a:r>
            <a:endParaRPr sz="2145" b="0" dirty="0">
              <a:solidFill>
                <a:srgbClr val="444444"/>
              </a:solidFill>
              <a:latin typeface="Cambria"/>
            </a:endParaRPr>
          </a:p>
          <a:p>
            <a:pPr algn="ctr">
              <a:spcBef>
                <a:spcPts val="660"/>
              </a:spcBef>
              <a:spcAft>
                <a:spcPts val="660"/>
              </a:spcAft>
            </a:pPr>
            <a:r>
              <a:rPr sz="2145" b="0" dirty="0">
                <a:solidFill>
                  <a:srgbClr val="444444"/>
                </a:solidFill>
                <a:latin typeface="Cambria"/>
              </a:rPr>
              <a:t>↓</a:t>
            </a:r>
          </a:p>
          <a:p>
            <a:pPr algn="ctr">
              <a:spcBef>
                <a:spcPts val="660"/>
              </a:spcBef>
              <a:spcAft>
                <a:spcPts val="660"/>
              </a:spcAft>
            </a:pPr>
            <a:r>
              <a:rPr sz="2145" b="0" dirty="0" err="1">
                <a:solidFill>
                  <a:srgbClr val="444444"/>
                </a:solidFill>
                <a:latin typeface="Cambria"/>
              </a:rPr>
              <a:t>ρ</a:t>
            </a:r>
            <a:r>
              <a:rPr sz="2145" b="0" dirty="0">
                <a:solidFill>
                  <a:srgbClr val="444444"/>
                </a:solidFill>
                <a:latin typeface="Cambria"/>
              </a:rPr>
              <a:t> = (Q + A)/</a:t>
            </a:r>
            <a:r>
              <a:rPr sz="2145" b="0" dirty="0" err="1">
                <a:solidFill>
                  <a:srgbClr val="444444"/>
                </a:solidFill>
                <a:latin typeface="Cambria"/>
              </a:rPr>
              <a:t>μ</a:t>
            </a:r>
            <a:endParaRPr sz="2145" b="0" dirty="0">
              <a:solidFill>
                <a:srgbClr val="444444"/>
              </a:solidFill>
              <a:latin typeface="Cambria"/>
            </a:endParaRPr>
          </a:p>
          <a:p>
            <a:pPr algn="ctr">
              <a:spcBef>
                <a:spcPts val="660"/>
              </a:spcBef>
              <a:spcAft>
                <a:spcPts val="660"/>
              </a:spcAft>
            </a:pPr>
            <a:r>
              <a:rPr sz="2145" b="0" dirty="0">
                <a:solidFill>
                  <a:srgbClr val="444444"/>
                </a:solidFill>
                <a:latin typeface="Cambria"/>
              </a:rPr>
              <a:t>↓</a:t>
            </a:r>
          </a:p>
          <a:p>
            <a:pPr algn="ctr">
              <a:spcBef>
                <a:spcPts val="660"/>
              </a:spcBef>
              <a:spcAft>
                <a:spcPts val="660"/>
              </a:spcAft>
            </a:pPr>
            <a:r>
              <a:rPr sz="2145" b="0" dirty="0" err="1">
                <a:solidFill>
                  <a:srgbClr val="444444"/>
                </a:solidFill>
                <a:latin typeface="Cambria"/>
              </a:rPr>
              <a:t>λ</a:t>
            </a:r>
            <a:r>
              <a:rPr sz="2145" b="0" dirty="0">
                <a:solidFill>
                  <a:srgbClr val="444444"/>
                </a:solidFill>
                <a:latin typeface="Cambria"/>
              </a:rPr>
              <a:t>̂ = τ</a:t>
            </a:r>
            <a:r>
              <a:rPr sz="2145" b="0" baseline="30000" dirty="0">
                <a:solidFill>
                  <a:srgbClr val="444444"/>
                </a:solidFill>
                <a:latin typeface="Cambria"/>
              </a:rPr>
              <a:t>0</a:t>
            </a:r>
            <a:r>
              <a:rPr sz="2145" b="0" dirty="0">
                <a:solidFill>
                  <a:srgbClr val="444444"/>
                </a:solidFill>
                <a:latin typeface="Cambria"/>
              </a:rPr>
              <a:t> α </a:t>
            </a:r>
            <a:r>
              <a:rPr sz="2145" b="0" dirty="0" err="1">
                <a:solidFill>
                  <a:srgbClr val="444444"/>
                </a:solidFill>
                <a:latin typeface="Cambria"/>
              </a:rPr>
              <a:t>ρ</a:t>
            </a:r>
            <a:r>
              <a:rPr sz="2145" b="0" baseline="30000" dirty="0">
                <a:solidFill>
                  <a:srgbClr val="444444"/>
                </a:solidFill>
                <a:latin typeface="Cambria"/>
              </a:rPr>
              <a:t>β</a:t>
            </a:r>
          </a:p>
          <a:p>
            <a:pPr algn="ctr">
              <a:spcBef>
                <a:spcPts val="660"/>
              </a:spcBef>
              <a:spcAft>
                <a:spcPts val="660"/>
              </a:spcAft>
            </a:pPr>
            <a:r>
              <a:rPr sz="2145" b="0" dirty="0">
                <a:solidFill>
                  <a:srgbClr val="444444"/>
                </a:solidFill>
                <a:latin typeface="Cambria"/>
              </a:rPr>
              <a:t>↓</a:t>
            </a:r>
          </a:p>
          <a:p>
            <a:pPr algn="ctr">
              <a:spcBef>
                <a:spcPts val="660"/>
              </a:spcBef>
              <a:spcAft>
                <a:spcPts val="660"/>
              </a:spcAft>
            </a:pPr>
            <a:r>
              <a:rPr sz="2145" b="0" dirty="0" err="1">
                <a:solidFill>
                  <a:srgbClr val="444444"/>
                </a:solidFill>
                <a:latin typeface="Cambria"/>
              </a:rPr>
              <a:t>λ</a:t>
            </a:r>
            <a:r>
              <a:rPr sz="2145" b="0" baseline="30000" dirty="0" err="1">
                <a:solidFill>
                  <a:srgbClr val="444444"/>
                </a:solidFill>
                <a:latin typeface="Cambria"/>
              </a:rPr>
              <a:t>new</a:t>
            </a:r>
            <a:r>
              <a:rPr sz="2145" b="0" dirty="0">
                <a:solidFill>
                  <a:srgbClr val="444444"/>
                </a:solidFill>
                <a:latin typeface="Cambria"/>
              </a:rPr>
              <a:t> = (1 − </a:t>
            </a:r>
            <a:r>
              <a:rPr sz="2145" b="0" dirty="0" err="1">
                <a:solidFill>
                  <a:srgbClr val="444444"/>
                </a:solidFill>
                <a:latin typeface="Cambria"/>
              </a:rPr>
              <a:t>γ</a:t>
            </a:r>
            <a:r>
              <a:rPr sz="2145" b="0" dirty="0">
                <a:solidFill>
                  <a:srgbClr val="444444"/>
                </a:solidFill>
                <a:latin typeface="Cambria"/>
              </a:rPr>
              <a:t>)</a:t>
            </a:r>
            <a:r>
              <a:rPr sz="2145" b="0" dirty="0" err="1">
                <a:solidFill>
                  <a:srgbClr val="444444"/>
                </a:solidFill>
                <a:latin typeface="Cambria"/>
              </a:rPr>
              <a:t>λ</a:t>
            </a:r>
            <a:r>
              <a:rPr sz="2145" b="0" dirty="0">
                <a:solidFill>
                  <a:srgbClr val="444444"/>
                </a:solidFill>
                <a:latin typeface="Cambria"/>
              </a:rPr>
              <a:t> + </a:t>
            </a:r>
            <a:r>
              <a:rPr sz="2145" b="0" dirty="0" err="1">
                <a:solidFill>
                  <a:srgbClr val="444444"/>
                </a:solidFill>
                <a:latin typeface="Cambria"/>
              </a:rPr>
              <a:t>γ</a:t>
            </a:r>
            <a:r>
              <a:rPr sz="2145" b="0" dirty="0">
                <a:solidFill>
                  <a:srgbClr val="444444"/>
                </a:solidFill>
                <a:latin typeface="Cambria"/>
              </a:rPr>
              <a:t> </a:t>
            </a:r>
            <a:r>
              <a:rPr sz="2145" b="0" dirty="0" err="1">
                <a:solidFill>
                  <a:srgbClr val="444444"/>
                </a:solidFill>
                <a:latin typeface="Cambria"/>
              </a:rPr>
              <a:t>λ</a:t>
            </a:r>
            <a:r>
              <a:rPr sz="2145" b="0" dirty="0">
                <a:solidFill>
                  <a:srgbClr val="444444"/>
                </a:solidFill>
                <a:latin typeface="Cambria"/>
              </a:rPr>
              <a:t>̂.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083" y="320040"/>
            <a:ext cx="10370633" cy="43088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Bef>
                <a:spcPts val="1320"/>
              </a:spcBef>
              <a:spcAft>
                <a:spcPts val="330"/>
              </a:spcAft>
            </a:pPr>
            <a:r>
              <a:rPr lang="en-US" sz="2800" b="1" dirty="0">
                <a:solidFill>
                  <a:srgbClr val="1A1A1A"/>
                </a:solidFill>
                <a:latin typeface="Calibri"/>
              </a:rPr>
              <a:t>The C++ kernel should not be responsible for updating </a:t>
            </a:r>
            <a:r>
              <a:rPr lang="el-GR" sz="2800" b="1" dirty="0">
                <a:solidFill>
                  <a:srgbClr val="1A1A1A"/>
                </a:solidFill>
                <a:latin typeface="Calibri"/>
              </a:rPr>
              <a:t>α, β, γ, 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53796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777777"/>
                </a:solidFill>
                <a:latin typeface="Calibri"/>
              </a:rPr>
              <a:t>12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FB07728-8423-1172-FB22-437D1203DC8D}"/>
                  </a:ext>
                </a:extLst>
              </p14:cNvPr>
              <p14:cNvContentPartPr/>
              <p14:nvPr/>
            </p14:nvContentPartPr>
            <p14:xfrm>
              <a:off x="4055400" y="773640"/>
              <a:ext cx="5762160" cy="1231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FB07728-8423-1172-FB22-437D1203DC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6040" y="764280"/>
                <a:ext cx="5780880" cy="124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734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3880" y="908951"/>
            <a:ext cx="11064240" cy="504009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Each round:</a:t>
            </a:r>
          </a:p>
          <a:p>
            <a:pPr algn="ctr">
              <a:spcBef>
                <a:spcPts val="700"/>
              </a:spcBef>
              <a:spcAft>
                <a:spcPts val="700"/>
              </a:spcAft>
            </a:pPr>
            <a:r>
              <a:rPr sz="2275" b="0" dirty="0" err="1">
                <a:solidFill>
                  <a:srgbClr val="444444"/>
                </a:solidFill>
                <a:latin typeface="Cambria"/>
              </a:rPr>
              <a:t>LB</a:t>
            </a:r>
            <a:r>
              <a:rPr sz="2275" b="0" baseline="30000" dirty="0" err="1">
                <a:solidFill>
                  <a:srgbClr val="444444"/>
                </a:solidFill>
                <a:latin typeface="Cambria"/>
              </a:rPr>
              <a:t>k</a:t>
            </a:r>
            <a:r>
              <a:rPr sz="2275" b="0" dirty="0">
                <a:solidFill>
                  <a:srgbClr val="444444"/>
                </a:solidFill>
                <a:latin typeface="Cambria"/>
              </a:rPr>
              <a:t> = g(</a:t>
            </a:r>
            <a:r>
              <a:rPr sz="2275" b="0" dirty="0" err="1">
                <a:solidFill>
                  <a:srgbClr val="444444"/>
                </a:solidFill>
                <a:latin typeface="Cambria"/>
              </a:rPr>
              <a:t>λ</a:t>
            </a:r>
            <a:r>
              <a:rPr sz="2275" b="0" baseline="30000" dirty="0" err="1">
                <a:solidFill>
                  <a:srgbClr val="444444"/>
                </a:solidFill>
                <a:latin typeface="Cambria"/>
              </a:rPr>
              <a:t>k</a:t>
            </a:r>
            <a:r>
              <a:rPr sz="2275" b="0" dirty="0">
                <a:solidFill>
                  <a:srgbClr val="444444"/>
                </a:solidFill>
                <a:latin typeface="Cambria"/>
              </a:rPr>
              <a:t>).</a:t>
            </a: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That is:</a:t>
            </a:r>
          </a:p>
          <a:p>
            <a:pPr>
              <a:spcAft>
                <a:spcPts val="525"/>
              </a:spcAft>
            </a:pPr>
            <a:endParaRPr lang="en-US" sz="2100" dirty="0">
              <a:solidFill>
                <a:srgbClr val="444444"/>
              </a:solidFill>
              <a:latin typeface="Calibri"/>
            </a:endParaRPr>
          </a:p>
          <a:p>
            <a:pPr>
              <a:spcAft>
                <a:spcPts val="525"/>
              </a:spcAft>
            </a:pPr>
            <a:endParaRPr lang="en-US" sz="2100" dirty="0">
              <a:solidFill>
                <a:srgbClr val="444444"/>
              </a:solidFill>
              <a:latin typeface="Calibri"/>
            </a:endParaRP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i.e.:</a:t>
            </a:r>
          </a:p>
          <a:p>
            <a:pPr>
              <a:spcAft>
                <a:spcPts val="525"/>
              </a:spcAft>
            </a:pPr>
            <a:endParaRPr lang="en-US" sz="2100" dirty="0">
              <a:solidFill>
                <a:srgbClr val="444444"/>
              </a:solidFill>
              <a:latin typeface="Calibri"/>
            </a:endParaRPr>
          </a:p>
          <a:p>
            <a:pPr>
              <a:spcAft>
                <a:spcPts val="525"/>
              </a:spcAft>
            </a:pPr>
            <a:endParaRPr lang="en-US" sz="2100" dirty="0">
              <a:solidFill>
                <a:srgbClr val="444444"/>
              </a:solidFill>
              <a:latin typeface="Calibri"/>
            </a:endParaRP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Then:</a:t>
            </a:r>
          </a:p>
          <a:p>
            <a:pPr algn="ctr">
              <a:spcBef>
                <a:spcPts val="700"/>
              </a:spcBef>
              <a:spcAft>
                <a:spcPts val="700"/>
              </a:spcAft>
            </a:pPr>
            <a:r>
              <a:rPr sz="2275" b="1" dirty="0" err="1">
                <a:solidFill>
                  <a:srgbClr val="1A1A1A"/>
                </a:solidFill>
                <a:latin typeface="Cambria"/>
              </a:rPr>
              <a:t>LB</a:t>
            </a:r>
            <a:r>
              <a:rPr sz="2275" b="1" baseline="30000" dirty="0" err="1">
                <a:solidFill>
                  <a:srgbClr val="1A1A1A"/>
                </a:solidFill>
                <a:latin typeface="Cambria"/>
              </a:rPr>
              <a:t>best</a:t>
            </a:r>
            <a:r>
              <a:rPr sz="2275" b="1" dirty="0">
                <a:solidFill>
                  <a:srgbClr val="1A1A1A"/>
                </a:solidFill>
                <a:latin typeface="Cambria"/>
              </a:rPr>
              <a:t> = </a:t>
            </a:r>
            <a:r>
              <a:rPr sz="2275" b="1" dirty="0" err="1">
                <a:solidFill>
                  <a:srgbClr val="1A1A1A"/>
                </a:solidFill>
                <a:latin typeface="Cambria"/>
              </a:rPr>
              <a:t>max</a:t>
            </a:r>
            <a:r>
              <a:rPr sz="2275" b="1" baseline="-25000" dirty="0" err="1">
                <a:solidFill>
                  <a:srgbClr val="1A1A1A"/>
                </a:solidFill>
                <a:latin typeface="Cambria"/>
              </a:rPr>
              <a:t>k</a:t>
            </a:r>
            <a:r>
              <a:rPr sz="2275" b="1" dirty="0">
                <a:solidFill>
                  <a:srgbClr val="1A1A1A"/>
                </a:solidFill>
                <a:latin typeface="Cambria"/>
              </a:rPr>
              <a:t> </a:t>
            </a:r>
            <a:r>
              <a:rPr sz="2275" b="1" dirty="0" err="1">
                <a:solidFill>
                  <a:srgbClr val="1A1A1A"/>
                </a:solidFill>
                <a:latin typeface="Cambria"/>
              </a:rPr>
              <a:t>LB</a:t>
            </a:r>
            <a:r>
              <a:rPr sz="2275" b="1" baseline="30000" dirty="0" err="1">
                <a:solidFill>
                  <a:srgbClr val="1A1A1A"/>
                </a:solidFill>
                <a:latin typeface="Cambria"/>
              </a:rPr>
              <a:t>k</a:t>
            </a:r>
            <a:endParaRPr sz="2275" b="1" baseline="30000" dirty="0">
              <a:solidFill>
                <a:srgbClr val="1A1A1A"/>
              </a:solidFill>
              <a:latin typeface="Cambria"/>
            </a:endParaRP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This corresponds exactly to what is in Fast</a:t>
            </a:r>
            <a:r>
              <a:rPr lang="en-US" altLang="zh-CN" sz="2100" dirty="0">
                <a:solidFill>
                  <a:srgbClr val="444444"/>
                </a:solidFill>
                <a:latin typeface="Calibri"/>
              </a:rPr>
              <a:t>-</a:t>
            </a:r>
            <a:r>
              <a:rPr sz="2100" dirty="0">
                <a:solidFill>
                  <a:srgbClr val="444444"/>
                </a:solidFill>
                <a:latin typeface="Calibri"/>
              </a:rPr>
              <a:t>Train:</a:t>
            </a:r>
          </a:p>
          <a:p>
            <a:pPr algn="ctr">
              <a:spcBef>
                <a:spcPts val="700"/>
              </a:spcBef>
              <a:spcAft>
                <a:spcPts val="700"/>
              </a:spcAft>
            </a:pPr>
            <a:r>
              <a:rPr sz="2275" b="0" dirty="0" err="1">
                <a:solidFill>
                  <a:srgbClr val="444444"/>
                </a:solidFill>
                <a:latin typeface="Cambria"/>
              </a:rPr>
              <a:t>TotalTripPrice</a:t>
            </a:r>
            <a:r>
              <a:rPr sz="2275" b="0" dirty="0">
                <a:solidFill>
                  <a:srgbClr val="444444"/>
                </a:solidFill>
                <a:latin typeface="Cambria"/>
              </a:rPr>
              <a:t> − </a:t>
            </a:r>
            <a:r>
              <a:rPr sz="2275" b="0" dirty="0" err="1">
                <a:solidFill>
                  <a:srgbClr val="444444"/>
                </a:solidFill>
                <a:latin typeface="Cambria"/>
              </a:rPr>
              <a:t>TotalResourcePrice</a:t>
            </a:r>
            <a:r>
              <a:rPr sz="2275" b="0" dirty="0">
                <a:solidFill>
                  <a:srgbClr val="444444"/>
                </a:solidFill>
                <a:latin typeface="Cambria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DD64F3-6BFA-953F-5B41-02DA1843B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329" y="2200678"/>
            <a:ext cx="4569570" cy="1051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CAF2C-4C8D-0D47-64EA-55410CE81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464" y="3429000"/>
            <a:ext cx="3779299" cy="10288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46304"/>
            <a:ext cx="8686800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Bef>
                <a:spcPts val="1400"/>
              </a:spcBef>
              <a:spcAft>
                <a:spcPts val="350"/>
              </a:spcAft>
            </a:pPr>
            <a:r>
              <a:rPr lang="en-US" sz="2400" b="1" dirty="0">
                <a:solidFill>
                  <a:srgbClr val="1A1A1A"/>
                </a:solidFill>
                <a:latin typeface="Calibri"/>
              </a:rPr>
              <a:t>Where does the Lower Bound come from?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327648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777777"/>
                </a:solidFill>
                <a:latin typeface="Calibri"/>
              </a:rPr>
              <a:t>13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C3980FF-25D3-B1A7-046D-14B2424358ED}"/>
                  </a:ext>
                </a:extLst>
              </p14:cNvPr>
              <p14:cNvContentPartPr/>
              <p14:nvPr/>
            </p14:nvContentPartPr>
            <p14:xfrm>
              <a:off x="2542680" y="563760"/>
              <a:ext cx="1500840" cy="13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C3980FF-25D3-B1A7-046D-14B2424358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33320" y="554400"/>
                <a:ext cx="1519560" cy="3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7502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725763"/>
            <a:ext cx="5394960" cy="2703561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Bef>
                <a:spcPts val="1400"/>
              </a:spcBef>
              <a:spcAft>
                <a:spcPts val="350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the trajectories generated by LR into:</a:t>
            </a:r>
          </a:p>
          <a:p>
            <a:pPr algn="ctr">
              <a:spcBef>
                <a:spcPts val="700"/>
              </a:spcBef>
              <a:spcAft>
                <a:spcPts val="700"/>
              </a:spcAft>
            </a:pPr>
            <a:r>
              <a:rPr sz="2275" dirty="0" err="1">
                <a:solidFill>
                  <a:srgbClr val="444444"/>
                </a:solidFill>
                <a:latin typeface="Cambria"/>
              </a:rPr>
              <a:t>p̂</a:t>
            </a:r>
            <a:r>
              <a:rPr sz="2275" baseline="-25000" dirty="0" err="1">
                <a:solidFill>
                  <a:srgbClr val="444444"/>
                </a:solidFill>
                <a:latin typeface="Cambria"/>
              </a:rPr>
              <a:t>i</a:t>
            </a:r>
            <a:endParaRPr sz="2275" baseline="-25000" dirty="0">
              <a:solidFill>
                <a:srgbClr val="444444"/>
              </a:solidFill>
              <a:latin typeface="Cambria"/>
            </a:endParaRP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satisfying:</a:t>
            </a:r>
          </a:p>
          <a:p>
            <a:pPr algn="ctr">
              <a:spcBef>
                <a:spcPts val="700"/>
              </a:spcBef>
              <a:spcAft>
                <a:spcPts val="700"/>
              </a:spcAft>
            </a:pPr>
            <a:r>
              <a:rPr sz="2275" dirty="0" err="1">
                <a:solidFill>
                  <a:srgbClr val="444444"/>
                </a:solidFill>
                <a:latin typeface="Cambria"/>
              </a:rPr>
              <a:t>Σ</a:t>
            </a:r>
            <a:r>
              <a:rPr sz="2275" baseline="-25000" dirty="0" err="1">
                <a:solidFill>
                  <a:srgbClr val="444444"/>
                </a:solidFill>
                <a:latin typeface="Cambria"/>
              </a:rPr>
              <a:t>i</a:t>
            </a:r>
            <a:r>
              <a:rPr sz="2275" dirty="0">
                <a:solidFill>
                  <a:srgbClr val="444444"/>
                </a:solidFill>
                <a:latin typeface="Cambria"/>
              </a:rPr>
              <a:t> a</a:t>
            </a:r>
            <a:r>
              <a:rPr sz="2275" baseline="30000" dirty="0">
                <a:solidFill>
                  <a:srgbClr val="444444"/>
                </a:solidFill>
                <a:latin typeface="Cambria"/>
              </a:rPr>
              <a:t>rt</a:t>
            </a:r>
            <a:r>
              <a:rPr sz="2275" dirty="0">
                <a:solidFill>
                  <a:srgbClr val="444444"/>
                </a:solidFill>
                <a:latin typeface="Cambria"/>
              </a:rPr>
              <a:t>(</a:t>
            </a:r>
            <a:r>
              <a:rPr sz="2275" dirty="0" err="1">
                <a:solidFill>
                  <a:srgbClr val="444444"/>
                </a:solidFill>
                <a:latin typeface="Cambria"/>
              </a:rPr>
              <a:t>i</a:t>
            </a:r>
            <a:r>
              <a:rPr sz="2275" dirty="0">
                <a:solidFill>
                  <a:srgbClr val="444444"/>
                </a:solidFill>
                <a:latin typeface="Cambria"/>
              </a:rPr>
              <a:t>, </a:t>
            </a:r>
            <a:r>
              <a:rPr sz="2275" dirty="0" err="1">
                <a:solidFill>
                  <a:srgbClr val="444444"/>
                </a:solidFill>
                <a:latin typeface="Cambria"/>
              </a:rPr>
              <a:t>p̂</a:t>
            </a:r>
            <a:r>
              <a:rPr sz="2275" baseline="-25000" dirty="0" err="1">
                <a:solidFill>
                  <a:srgbClr val="444444"/>
                </a:solidFill>
                <a:latin typeface="Cambria"/>
              </a:rPr>
              <a:t>i</a:t>
            </a:r>
            <a:r>
              <a:rPr sz="2275" dirty="0">
                <a:solidFill>
                  <a:srgbClr val="444444"/>
                </a:solidFill>
                <a:latin typeface="Cambria"/>
              </a:rPr>
              <a:t>) ≤ </a:t>
            </a:r>
            <a:r>
              <a:rPr sz="2275" dirty="0" err="1">
                <a:solidFill>
                  <a:srgbClr val="444444"/>
                </a:solidFill>
                <a:latin typeface="Cambria"/>
              </a:rPr>
              <a:t>C</a:t>
            </a:r>
            <a:r>
              <a:rPr sz="2275" baseline="-25000" dirty="0" err="1">
                <a:solidFill>
                  <a:srgbClr val="444444"/>
                </a:solidFill>
                <a:latin typeface="Cambria"/>
              </a:rPr>
              <a:t>rt</a:t>
            </a:r>
            <a:r>
              <a:rPr sz="2275" dirty="0">
                <a:solidFill>
                  <a:srgbClr val="444444"/>
                </a:solidFill>
                <a:latin typeface="Cambria"/>
              </a:rPr>
              <a:t>.</a:t>
            </a: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giving:</a:t>
            </a:r>
          </a:p>
          <a:p>
            <a:pPr algn="ctr">
              <a:spcBef>
                <a:spcPts val="700"/>
              </a:spcBef>
              <a:spcAft>
                <a:spcPts val="700"/>
              </a:spcAft>
            </a:pPr>
            <a:r>
              <a:rPr sz="2275" b="1" dirty="0">
                <a:solidFill>
                  <a:srgbClr val="1A1A1A"/>
                </a:solidFill>
                <a:latin typeface="Cambria"/>
              </a:rPr>
              <a:t>UB = </a:t>
            </a:r>
            <a:r>
              <a:rPr sz="2275" b="1" dirty="0" err="1">
                <a:solidFill>
                  <a:srgbClr val="1A1A1A"/>
                </a:solidFill>
                <a:latin typeface="Cambria"/>
              </a:rPr>
              <a:t>Σ</a:t>
            </a:r>
            <a:r>
              <a:rPr sz="2275" b="1" baseline="-25000" dirty="0" err="1">
                <a:solidFill>
                  <a:srgbClr val="1A1A1A"/>
                </a:solidFill>
                <a:latin typeface="Cambria"/>
              </a:rPr>
              <a:t>i</a:t>
            </a:r>
            <a:r>
              <a:rPr sz="2275" b="1" dirty="0">
                <a:solidFill>
                  <a:srgbClr val="1A1A1A"/>
                </a:solidFill>
                <a:latin typeface="Cambria"/>
              </a:rPr>
              <a:t> c(</a:t>
            </a:r>
            <a:r>
              <a:rPr sz="2275" b="1" dirty="0" err="1">
                <a:solidFill>
                  <a:srgbClr val="1A1A1A"/>
                </a:solidFill>
                <a:latin typeface="Cambria"/>
              </a:rPr>
              <a:t>i</a:t>
            </a:r>
            <a:r>
              <a:rPr sz="2275" b="1" dirty="0">
                <a:solidFill>
                  <a:srgbClr val="1A1A1A"/>
                </a:solidFill>
                <a:latin typeface="Cambria"/>
              </a:rPr>
              <a:t>, </a:t>
            </a:r>
            <a:r>
              <a:rPr sz="2275" b="1" dirty="0" err="1">
                <a:solidFill>
                  <a:srgbClr val="1A1A1A"/>
                </a:solidFill>
                <a:latin typeface="Cambria"/>
              </a:rPr>
              <a:t>p̂</a:t>
            </a:r>
            <a:r>
              <a:rPr sz="2275" b="1" baseline="-25000" dirty="0" err="1">
                <a:solidFill>
                  <a:srgbClr val="1A1A1A"/>
                </a:solidFill>
                <a:latin typeface="Cambria"/>
              </a:rPr>
              <a:t>i</a:t>
            </a:r>
            <a:r>
              <a:rPr sz="2275" b="1" dirty="0">
                <a:solidFill>
                  <a:srgbClr val="1A1A1A"/>
                </a:solidFill>
                <a:latin typeface="Cambria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0" y="1725763"/>
            <a:ext cx="5394960" cy="3633302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So the complete structure is:</a:t>
            </a:r>
          </a:p>
          <a:p>
            <a:pPr algn="ctr">
              <a:spcBef>
                <a:spcPts val="700"/>
              </a:spcBef>
              <a:spcAft>
                <a:spcPts val="700"/>
              </a:spcAft>
            </a:pPr>
            <a:r>
              <a:rPr sz="2275" b="1" dirty="0">
                <a:solidFill>
                  <a:srgbClr val="1A1A1A"/>
                </a:solidFill>
                <a:latin typeface="Cambria"/>
              </a:rPr>
              <a:t>LB ← </a:t>
            </a:r>
            <a:r>
              <a:rPr sz="2275" b="1" dirty="0" err="1">
                <a:solidFill>
                  <a:srgbClr val="1A1A1A"/>
                </a:solidFill>
                <a:latin typeface="Cambria"/>
              </a:rPr>
              <a:t>Lagrangian</a:t>
            </a:r>
            <a:r>
              <a:rPr sz="2275" b="1" dirty="0">
                <a:solidFill>
                  <a:srgbClr val="1A1A1A"/>
                </a:solidFill>
                <a:latin typeface="Cambria"/>
              </a:rPr>
              <a:t> dual</a:t>
            </a: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and</a:t>
            </a:r>
          </a:p>
          <a:p>
            <a:pPr algn="ctr">
              <a:spcBef>
                <a:spcPts val="700"/>
              </a:spcBef>
              <a:spcAft>
                <a:spcPts val="700"/>
              </a:spcAft>
            </a:pPr>
            <a:r>
              <a:rPr sz="2275" b="1" dirty="0">
                <a:solidFill>
                  <a:srgbClr val="1A1A1A"/>
                </a:solidFill>
                <a:latin typeface="Cambria"/>
              </a:rPr>
              <a:t>UB ← feasible timetable recovery</a:t>
            </a: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Finally:</a:t>
            </a:r>
          </a:p>
          <a:p>
            <a:pPr algn="ctr">
              <a:spcBef>
                <a:spcPts val="700"/>
              </a:spcBef>
              <a:spcAft>
                <a:spcPts val="700"/>
              </a:spcAft>
            </a:pPr>
            <a:r>
              <a:rPr sz="2275" b="1" dirty="0">
                <a:solidFill>
                  <a:srgbClr val="1A1A1A"/>
                </a:solidFill>
                <a:latin typeface="Cambria"/>
              </a:rPr>
              <a:t>LB ≤ OPT ≤ UB</a:t>
            </a:r>
          </a:p>
          <a:p>
            <a:pPr>
              <a:spcAft>
                <a:spcPts val="525"/>
              </a:spcAft>
            </a:pPr>
            <a:r>
              <a:rPr sz="2100" dirty="0">
                <a:solidFill>
                  <a:srgbClr val="444444"/>
                </a:solidFill>
                <a:latin typeface="Calibri"/>
              </a:rPr>
              <a:t>and:</a:t>
            </a:r>
          </a:p>
          <a:p>
            <a:pPr algn="ctr">
              <a:spcBef>
                <a:spcPts val="700"/>
              </a:spcBef>
              <a:spcAft>
                <a:spcPts val="700"/>
              </a:spcAft>
            </a:pPr>
            <a:r>
              <a:rPr sz="2275" dirty="0">
                <a:solidFill>
                  <a:srgbClr val="444444"/>
                </a:solidFill>
                <a:latin typeface="Cambria"/>
              </a:rPr>
              <a:t>Gap = (UB − LB) / UB.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478" y="387848"/>
            <a:ext cx="8686800" cy="3693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spcBef>
                <a:spcPts val="1400"/>
              </a:spcBef>
              <a:spcAft>
                <a:spcPts val="350"/>
              </a:spcAft>
            </a:pPr>
            <a:r>
              <a:rPr lang="en-US" sz="2400" b="1" dirty="0">
                <a:solidFill>
                  <a:srgbClr val="1A1A1A"/>
                </a:solidFill>
                <a:latin typeface="Calibri"/>
              </a:rPr>
              <a:t>The Upper Bound is another feasibility recovery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327648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777777"/>
                </a:solidFill>
                <a:latin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0001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">
            <a:extLst>
              <a:ext uri="{FF2B5EF4-FFF2-40B4-BE49-F238E27FC236}">
                <a16:creationId xmlns:a16="http://schemas.microsoft.com/office/drawing/2014/main" id="{74F2208F-E799-4855-851B-299C055D6CF6}"/>
              </a:ext>
            </a:extLst>
          </p:cNvPr>
          <p:cNvSpPr>
            <a:spLocks noGrp="1"/>
          </p:cNvSpPr>
          <p:nvPr/>
        </p:nvSpPr>
        <p:spPr>
          <a:xfrm>
            <a:off x="476250" y="228600"/>
            <a:ext cx="1123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From Lagrangian Relaxation to a Feasible Timetable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9D9E247-72E0-4F0E-BF49-3AED9DACD370}"/>
              </a:ext>
            </a:extLst>
          </p:cNvPr>
          <p:cNvSpPr>
            <a:spLocks noGrp="1"/>
          </p:cNvSpPr>
          <p:nvPr/>
        </p:nvSpPr>
        <p:spPr>
          <a:xfrm>
            <a:off x="476250" y="666750"/>
            <a:ext cx="11239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5B5B5B"/>
                </a:solidFill>
              </a:defRPr>
            </a:pPr>
            <a:r>
              <a:rPr sz="1200">
                <a:solidFill>
                  <a:srgbClr val="5B5B5B"/>
                </a:solidFill>
              </a:rPr>
              <a:t>Same corridor • same three trains • two different certificates</a:t>
            </a:r>
          </a:p>
        </p:txBody>
      </p:sp>
      <p:sp>
        <p:nvSpPr>
          <p:cNvPr id="3" name="left-panel">
            <a:extLst>
              <a:ext uri="{FF2B5EF4-FFF2-40B4-BE49-F238E27FC236}">
                <a16:creationId xmlns:a16="http://schemas.microsoft.com/office/drawing/2014/main" id="{57623B0B-6E8E-4D22-8599-03836F1FF04C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5029200" cy="4057650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ight-panel">
            <a:extLst>
              <a:ext uri="{FF2B5EF4-FFF2-40B4-BE49-F238E27FC236}">
                <a16:creationId xmlns:a16="http://schemas.microsoft.com/office/drawing/2014/main" id="{58D6A1CC-4CA3-4F77-BBE2-F357F397091B}"/>
              </a:ext>
            </a:extLst>
          </p:cNvPr>
          <p:cNvSpPr>
            <a:spLocks noGrp="1"/>
          </p:cNvSpPr>
          <p:nvPr/>
        </p:nvSpPr>
        <p:spPr>
          <a:xfrm>
            <a:off x="6705600" y="1028700"/>
            <a:ext cx="5029200" cy="4057650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left-title">
            <a:extLst>
              <a:ext uri="{FF2B5EF4-FFF2-40B4-BE49-F238E27FC236}">
                <a16:creationId xmlns:a16="http://schemas.microsoft.com/office/drawing/2014/main" id="{887A4558-2AC5-4C46-B478-3EE82C1CB3A5}"/>
              </a:ext>
            </a:extLst>
          </p:cNvPr>
          <p:cNvSpPr>
            <a:spLocks noGrp="1"/>
          </p:cNvSpPr>
          <p:nvPr/>
        </p:nvSpPr>
        <p:spPr>
          <a:xfrm>
            <a:off x="647700" y="1181100"/>
            <a:ext cx="4648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Lagrangian Relaxation — Lower Bound</a:t>
            </a:r>
          </a:p>
        </p:txBody>
      </p:sp>
      <p:sp>
        <p:nvSpPr>
          <p:cNvPr id="6" name="left-message">
            <a:extLst>
              <a:ext uri="{FF2B5EF4-FFF2-40B4-BE49-F238E27FC236}">
                <a16:creationId xmlns:a16="http://schemas.microsoft.com/office/drawing/2014/main" id="{3D1E625B-D83A-4923-B262-9BDC52517F46}"/>
              </a:ext>
            </a:extLst>
          </p:cNvPr>
          <p:cNvSpPr>
            <a:spLocks noGrp="1"/>
          </p:cNvSpPr>
          <p:nvPr/>
        </p:nvSpPr>
        <p:spPr>
          <a:xfrm>
            <a:off x="647700" y="1485900"/>
            <a:ext cx="46482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5B5B5B"/>
                </a:solidFill>
              </a:defRPr>
            </a:pPr>
            <a:r>
              <a:rPr sz="1125">
                <a:solidFill>
                  <a:srgbClr val="5B5B5B"/>
                </a:solidFill>
              </a:rPr>
              <a:t>Independent priced DPs → shared capacity may conflict</a:t>
            </a:r>
          </a:p>
        </p:txBody>
      </p:sp>
      <p:sp>
        <p:nvSpPr>
          <p:cNvPr id="7" name="right-title">
            <a:extLst>
              <a:ext uri="{FF2B5EF4-FFF2-40B4-BE49-F238E27FC236}">
                <a16:creationId xmlns:a16="http://schemas.microsoft.com/office/drawing/2014/main" id="{846354CB-C574-4C71-8970-2B1AE8E36EEA}"/>
              </a:ext>
            </a:extLst>
          </p:cNvPr>
          <p:cNvSpPr>
            <a:spLocks noGrp="1"/>
          </p:cNvSpPr>
          <p:nvPr/>
        </p:nvSpPr>
        <p:spPr>
          <a:xfrm>
            <a:off x="6896100" y="1181100"/>
            <a:ext cx="4648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Feasibility Recovery — Upper Bound</a:t>
            </a:r>
          </a:p>
        </p:txBody>
      </p:sp>
      <p:sp>
        <p:nvSpPr>
          <p:cNvPr id="8" name="right-message">
            <a:extLst>
              <a:ext uri="{FF2B5EF4-FFF2-40B4-BE49-F238E27FC236}">
                <a16:creationId xmlns:a16="http://schemas.microsoft.com/office/drawing/2014/main" id="{C949BAF1-01CC-405A-BBE9-6ACB315DF2EE}"/>
              </a:ext>
            </a:extLst>
          </p:cNvPr>
          <p:cNvSpPr>
            <a:spLocks noGrp="1"/>
          </p:cNvSpPr>
          <p:nvPr/>
        </p:nvSpPr>
        <p:spPr>
          <a:xfrm>
            <a:off x="6896100" y="1485900"/>
            <a:ext cx="46482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5B5B5B"/>
                </a:solidFill>
              </a:defRPr>
            </a:pPr>
            <a:r>
              <a:rPr sz="1125">
                <a:solidFill>
                  <a:srgbClr val="5B5B5B"/>
                </a:solidFill>
              </a:rPr>
              <a:t>Delay / wait / reroute → globally validated timetable</a:t>
            </a:r>
          </a:p>
        </p:txBody>
      </p:sp>
      <p:sp>
        <p:nvSpPr>
          <p:cNvPr id="9" name="recovery-arrow">
            <a:extLst>
              <a:ext uri="{FF2B5EF4-FFF2-40B4-BE49-F238E27FC236}">
                <a16:creationId xmlns:a16="http://schemas.microsoft.com/office/drawing/2014/main" id="{FB0B58E4-71F2-4F3F-8329-6200169774E3}"/>
              </a:ext>
            </a:extLst>
          </p:cNvPr>
          <p:cNvSpPr>
            <a:spLocks noGrp="1"/>
          </p:cNvSpPr>
          <p:nvPr/>
        </p:nvSpPr>
        <p:spPr>
          <a:xfrm>
            <a:off x="5619750" y="2800350"/>
            <a:ext cx="952500" cy="628650"/>
          </a:xfrm>
          <a:prstGeom prst="roundRect">
            <a:avLst>
              <a:gd name="adj" fmla="val 18182"/>
            </a:avLst>
          </a:prstGeom>
          <a:solidFill>
            <a:srgbClr val="F4F4F4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Feasibility</a:t>
            </a:r>
          </a:p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Recovery</a:t>
            </a:r>
          </a:p>
        </p:txBody>
      </p:sp>
      <p:sp>
        <p:nvSpPr>
          <p:cNvPr id="10" name="recovery-actions">
            <a:extLst>
              <a:ext uri="{FF2B5EF4-FFF2-40B4-BE49-F238E27FC236}">
                <a16:creationId xmlns:a16="http://schemas.microsoft.com/office/drawing/2014/main" id="{69D330E8-5F7C-41E2-9EBA-32693F81C69C}"/>
              </a:ext>
            </a:extLst>
          </p:cNvPr>
          <p:cNvSpPr>
            <a:spLocks noGrp="1"/>
          </p:cNvSpPr>
          <p:nvPr/>
        </p:nvSpPr>
        <p:spPr>
          <a:xfrm>
            <a:off x="5543550" y="3486150"/>
            <a:ext cx="110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5B5B5B"/>
                </a:solidFill>
              </a:defRPr>
            </a:pPr>
            <a:r>
              <a:rPr sz="900">
                <a:solidFill>
                  <a:srgbClr val="5B5B5B"/>
                </a:solidFill>
              </a:rPr>
              <a:t>delay / wait / reroute</a:t>
            </a:r>
          </a:p>
          <a:p>
            <a:pPr algn="ctr">
              <a:defRPr sz="900">
                <a:solidFill>
                  <a:srgbClr val="5B5B5B"/>
                </a:solidFill>
              </a:defRPr>
            </a:pPr>
            <a:r>
              <a:rPr sz="900">
                <a:solidFill>
                  <a:srgbClr val="5B5B5B"/>
                </a:solidFill>
              </a:rPr>
              <a:t>reserve resources</a:t>
            </a:r>
          </a:p>
        </p:txBody>
      </p:sp>
      <p:sp>
        <p:nvSpPr>
          <p:cNvPr id="11" name="grid-A">
            <a:extLst>
              <a:ext uri="{FF2B5EF4-FFF2-40B4-BE49-F238E27FC236}">
                <a16:creationId xmlns:a16="http://schemas.microsoft.com/office/drawing/2014/main" id="{30ADE6FA-21BB-4457-BB2B-A814B4675E9B}"/>
              </a:ext>
            </a:extLst>
          </p:cNvPr>
          <p:cNvSpPr>
            <a:spLocks noGrp="1"/>
          </p:cNvSpPr>
          <p:nvPr/>
        </p:nvSpPr>
        <p:spPr>
          <a:xfrm>
            <a:off x="1123950" y="1866900"/>
            <a:ext cx="953" cy="1504950"/>
          </a:xfrm>
          <a:prstGeom prst="line">
            <a:avLst/>
          </a:prstGeom>
          <a:noFill/>
          <a:ln w="9525">
            <a:solidFill>
              <a:srgbClr val="E3E3E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node-A">
            <a:extLst>
              <a:ext uri="{FF2B5EF4-FFF2-40B4-BE49-F238E27FC236}">
                <a16:creationId xmlns:a16="http://schemas.microsoft.com/office/drawing/2014/main" id="{FB25122F-2DE2-4B8E-B0C7-3B74C38F158D}"/>
              </a:ext>
            </a:extLst>
          </p:cNvPr>
          <p:cNvSpPr>
            <a:spLocks noGrp="1"/>
          </p:cNvSpPr>
          <p:nvPr/>
        </p:nvSpPr>
        <p:spPr>
          <a:xfrm>
            <a:off x="990600" y="34290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A</a:t>
            </a:r>
          </a:p>
        </p:txBody>
      </p:sp>
      <p:sp>
        <p:nvSpPr>
          <p:cNvPr id="13" name="grid-B">
            <a:extLst>
              <a:ext uri="{FF2B5EF4-FFF2-40B4-BE49-F238E27FC236}">
                <a16:creationId xmlns:a16="http://schemas.microsoft.com/office/drawing/2014/main" id="{F3B9A8DC-D928-4170-BE6D-C7EA054E2049}"/>
              </a:ext>
            </a:extLst>
          </p:cNvPr>
          <p:cNvSpPr>
            <a:spLocks noGrp="1"/>
          </p:cNvSpPr>
          <p:nvPr/>
        </p:nvSpPr>
        <p:spPr>
          <a:xfrm>
            <a:off x="2470150" y="1866900"/>
            <a:ext cx="953" cy="1504950"/>
          </a:xfrm>
          <a:prstGeom prst="line">
            <a:avLst/>
          </a:prstGeom>
          <a:noFill/>
          <a:ln w="9525">
            <a:solidFill>
              <a:srgbClr val="E3E3E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node-B">
            <a:extLst>
              <a:ext uri="{FF2B5EF4-FFF2-40B4-BE49-F238E27FC236}">
                <a16:creationId xmlns:a16="http://schemas.microsoft.com/office/drawing/2014/main" id="{3214C074-D0D2-4695-A2BD-90BCBE5850B3}"/>
              </a:ext>
            </a:extLst>
          </p:cNvPr>
          <p:cNvSpPr>
            <a:spLocks noGrp="1"/>
          </p:cNvSpPr>
          <p:nvPr/>
        </p:nvSpPr>
        <p:spPr>
          <a:xfrm>
            <a:off x="2336800" y="34290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B</a:t>
            </a:r>
          </a:p>
        </p:txBody>
      </p:sp>
      <p:sp>
        <p:nvSpPr>
          <p:cNvPr id="15" name="grid-C">
            <a:extLst>
              <a:ext uri="{FF2B5EF4-FFF2-40B4-BE49-F238E27FC236}">
                <a16:creationId xmlns:a16="http://schemas.microsoft.com/office/drawing/2014/main" id="{0710CF1D-C139-414E-88E8-073DDAF790B0}"/>
              </a:ext>
            </a:extLst>
          </p:cNvPr>
          <p:cNvSpPr>
            <a:spLocks noGrp="1"/>
          </p:cNvSpPr>
          <p:nvPr/>
        </p:nvSpPr>
        <p:spPr>
          <a:xfrm>
            <a:off x="3816350" y="1866900"/>
            <a:ext cx="953" cy="1504950"/>
          </a:xfrm>
          <a:prstGeom prst="line">
            <a:avLst/>
          </a:prstGeom>
          <a:noFill/>
          <a:ln w="9525">
            <a:solidFill>
              <a:srgbClr val="E3E3E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node-C">
            <a:extLst>
              <a:ext uri="{FF2B5EF4-FFF2-40B4-BE49-F238E27FC236}">
                <a16:creationId xmlns:a16="http://schemas.microsoft.com/office/drawing/2014/main" id="{1A8EA66D-420C-475F-8377-EC19FA5A8A48}"/>
              </a:ext>
            </a:extLst>
          </p:cNvPr>
          <p:cNvSpPr>
            <a:spLocks noGrp="1"/>
          </p:cNvSpPr>
          <p:nvPr/>
        </p:nvSpPr>
        <p:spPr>
          <a:xfrm>
            <a:off x="3683000" y="34290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C</a:t>
            </a:r>
          </a:p>
        </p:txBody>
      </p:sp>
      <p:sp>
        <p:nvSpPr>
          <p:cNvPr id="17" name="grid-D">
            <a:extLst>
              <a:ext uri="{FF2B5EF4-FFF2-40B4-BE49-F238E27FC236}">
                <a16:creationId xmlns:a16="http://schemas.microsoft.com/office/drawing/2014/main" id="{7FC824B3-2CEF-4639-B7AA-DD32DF19D3C6}"/>
              </a:ext>
            </a:extLst>
          </p:cNvPr>
          <p:cNvSpPr>
            <a:spLocks noGrp="1"/>
          </p:cNvSpPr>
          <p:nvPr/>
        </p:nvSpPr>
        <p:spPr>
          <a:xfrm>
            <a:off x="5162550" y="1866900"/>
            <a:ext cx="953" cy="1504950"/>
          </a:xfrm>
          <a:prstGeom prst="line">
            <a:avLst/>
          </a:prstGeom>
          <a:noFill/>
          <a:ln w="9525">
            <a:solidFill>
              <a:srgbClr val="E3E3E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node-D">
            <a:extLst>
              <a:ext uri="{FF2B5EF4-FFF2-40B4-BE49-F238E27FC236}">
                <a16:creationId xmlns:a16="http://schemas.microsoft.com/office/drawing/2014/main" id="{12C13C50-3214-4AB5-9289-5C040CA12D02}"/>
              </a:ext>
            </a:extLst>
          </p:cNvPr>
          <p:cNvSpPr>
            <a:spLocks noGrp="1"/>
          </p:cNvSpPr>
          <p:nvPr/>
        </p:nvSpPr>
        <p:spPr>
          <a:xfrm>
            <a:off x="5029200" y="34290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D</a:t>
            </a:r>
          </a:p>
        </p:txBody>
      </p:sp>
      <p:sp>
        <p:nvSpPr>
          <p:cNvPr id="19" name="space-axis">
            <a:extLst>
              <a:ext uri="{FF2B5EF4-FFF2-40B4-BE49-F238E27FC236}">
                <a16:creationId xmlns:a16="http://schemas.microsoft.com/office/drawing/2014/main" id="{233F753A-9280-4DA9-A4FF-A067172E9F5D}"/>
              </a:ext>
            </a:extLst>
          </p:cNvPr>
          <p:cNvSpPr>
            <a:spLocks noGrp="1"/>
          </p:cNvSpPr>
          <p:nvPr/>
        </p:nvSpPr>
        <p:spPr>
          <a:xfrm>
            <a:off x="1123950" y="3371850"/>
            <a:ext cx="4191000" cy="953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ime-axis">
            <a:extLst>
              <a:ext uri="{FF2B5EF4-FFF2-40B4-BE49-F238E27FC236}">
                <a16:creationId xmlns:a16="http://schemas.microsoft.com/office/drawing/2014/main" id="{1F774B94-60E0-4CA6-BB9F-F3224CB1CB4F}"/>
              </a:ext>
            </a:extLst>
          </p:cNvPr>
          <p:cNvSpPr>
            <a:spLocks noGrp="1"/>
          </p:cNvSpPr>
          <p:nvPr/>
        </p:nvSpPr>
        <p:spPr>
          <a:xfrm>
            <a:off x="1123950" y="1809750"/>
            <a:ext cx="953" cy="156210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pace-label">
            <a:extLst>
              <a:ext uri="{FF2B5EF4-FFF2-40B4-BE49-F238E27FC236}">
                <a16:creationId xmlns:a16="http://schemas.microsoft.com/office/drawing/2014/main" id="{AE228F55-CF49-424F-989D-1811CB98524E}"/>
              </a:ext>
            </a:extLst>
          </p:cNvPr>
          <p:cNvSpPr>
            <a:spLocks noGrp="1"/>
          </p:cNvSpPr>
          <p:nvPr/>
        </p:nvSpPr>
        <p:spPr>
          <a:xfrm>
            <a:off x="2362200" y="36576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5B5B5B"/>
                </a:solidFill>
              </a:defRPr>
            </a:pPr>
            <a:r>
              <a:rPr sz="975">
                <a:solidFill>
                  <a:srgbClr val="5B5B5B"/>
                </a:solidFill>
              </a:rPr>
              <a:t>corridor space</a:t>
            </a:r>
          </a:p>
        </p:txBody>
      </p:sp>
      <p:sp>
        <p:nvSpPr>
          <p:cNvPr id="22" name="time-label">
            <a:extLst>
              <a:ext uri="{FF2B5EF4-FFF2-40B4-BE49-F238E27FC236}">
                <a16:creationId xmlns:a16="http://schemas.microsoft.com/office/drawing/2014/main" id="{3B4F0F12-B62B-41B9-9922-5F13D24518D9}"/>
              </a:ext>
            </a:extLst>
          </p:cNvPr>
          <p:cNvSpPr>
            <a:spLocks noGrp="1"/>
          </p:cNvSpPr>
          <p:nvPr/>
        </p:nvSpPr>
        <p:spPr>
          <a:xfrm>
            <a:off x="762000" y="15621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5B5B5B"/>
                </a:solidFill>
              </a:defRPr>
            </a:pPr>
            <a:r>
              <a:rPr sz="975">
                <a:solidFill>
                  <a:srgbClr val="5B5B5B"/>
                </a:solidFill>
              </a:rPr>
              <a:t>time ↓</a:t>
            </a:r>
          </a:p>
        </p:txBody>
      </p:sp>
      <p:sp>
        <p:nvSpPr>
          <p:cNvPr id="23" name="grid-A">
            <a:extLst>
              <a:ext uri="{FF2B5EF4-FFF2-40B4-BE49-F238E27FC236}">
                <a16:creationId xmlns:a16="http://schemas.microsoft.com/office/drawing/2014/main" id="{19360E2B-8C24-4AC0-8A3E-3E17370CCA4F}"/>
              </a:ext>
            </a:extLst>
          </p:cNvPr>
          <p:cNvSpPr>
            <a:spLocks noGrp="1"/>
          </p:cNvSpPr>
          <p:nvPr/>
        </p:nvSpPr>
        <p:spPr>
          <a:xfrm>
            <a:off x="7372350" y="1866900"/>
            <a:ext cx="953" cy="1504950"/>
          </a:xfrm>
          <a:prstGeom prst="line">
            <a:avLst/>
          </a:prstGeom>
          <a:noFill/>
          <a:ln w="9525">
            <a:solidFill>
              <a:srgbClr val="E3E3E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node-A">
            <a:extLst>
              <a:ext uri="{FF2B5EF4-FFF2-40B4-BE49-F238E27FC236}">
                <a16:creationId xmlns:a16="http://schemas.microsoft.com/office/drawing/2014/main" id="{AAECDC54-A901-46A8-A3C1-C5DBB9C8B6FC}"/>
              </a:ext>
            </a:extLst>
          </p:cNvPr>
          <p:cNvSpPr>
            <a:spLocks noGrp="1"/>
          </p:cNvSpPr>
          <p:nvPr/>
        </p:nvSpPr>
        <p:spPr>
          <a:xfrm>
            <a:off x="7239000" y="34290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A</a:t>
            </a:r>
          </a:p>
        </p:txBody>
      </p:sp>
      <p:sp>
        <p:nvSpPr>
          <p:cNvPr id="25" name="grid-B">
            <a:extLst>
              <a:ext uri="{FF2B5EF4-FFF2-40B4-BE49-F238E27FC236}">
                <a16:creationId xmlns:a16="http://schemas.microsoft.com/office/drawing/2014/main" id="{E87F9023-4A63-49EE-AE8D-B49EF6A5D7CE}"/>
              </a:ext>
            </a:extLst>
          </p:cNvPr>
          <p:cNvSpPr>
            <a:spLocks noGrp="1"/>
          </p:cNvSpPr>
          <p:nvPr/>
        </p:nvSpPr>
        <p:spPr>
          <a:xfrm>
            <a:off x="8718550" y="1866900"/>
            <a:ext cx="953" cy="1504950"/>
          </a:xfrm>
          <a:prstGeom prst="line">
            <a:avLst/>
          </a:prstGeom>
          <a:noFill/>
          <a:ln w="9525">
            <a:solidFill>
              <a:srgbClr val="E3E3E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node-B">
            <a:extLst>
              <a:ext uri="{FF2B5EF4-FFF2-40B4-BE49-F238E27FC236}">
                <a16:creationId xmlns:a16="http://schemas.microsoft.com/office/drawing/2014/main" id="{BEE07616-E195-4547-85FE-5C2E9B108BB7}"/>
              </a:ext>
            </a:extLst>
          </p:cNvPr>
          <p:cNvSpPr>
            <a:spLocks noGrp="1"/>
          </p:cNvSpPr>
          <p:nvPr/>
        </p:nvSpPr>
        <p:spPr>
          <a:xfrm>
            <a:off x="8585200" y="34290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B</a:t>
            </a:r>
          </a:p>
        </p:txBody>
      </p:sp>
      <p:sp>
        <p:nvSpPr>
          <p:cNvPr id="27" name="grid-C">
            <a:extLst>
              <a:ext uri="{FF2B5EF4-FFF2-40B4-BE49-F238E27FC236}">
                <a16:creationId xmlns:a16="http://schemas.microsoft.com/office/drawing/2014/main" id="{E9BA8784-4C10-42DD-8ED7-CE886EFF9512}"/>
              </a:ext>
            </a:extLst>
          </p:cNvPr>
          <p:cNvSpPr>
            <a:spLocks noGrp="1"/>
          </p:cNvSpPr>
          <p:nvPr/>
        </p:nvSpPr>
        <p:spPr>
          <a:xfrm>
            <a:off x="10064750" y="1866900"/>
            <a:ext cx="953" cy="1504950"/>
          </a:xfrm>
          <a:prstGeom prst="line">
            <a:avLst/>
          </a:prstGeom>
          <a:noFill/>
          <a:ln w="9525">
            <a:solidFill>
              <a:srgbClr val="E3E3E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node-C">
            <a:extLst>
              <a:ext uri="{FF2B5EF4-FFF2-40B4-BE49-F238E27FC236}">
                <a16:creationId xmlns:a16="http://schemas.microsoft.com/office/drawing/2014/main" id="{D727C16D-0F23-42CD-8ACA-EF056BE46FAA}"/>
              </a:ext>
            </a:extLst>
          </p:cNvPr>
          <p:cNvSpPr>
            <a:spLocks noGrp="1"/>
          </p:cNvSpPr>
          <p:nvPr/>
        </p:nvSpPr>
        <p:spPr>
          <a:xfrm>
            <a:off x="9931400" y="34290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C</a:t>
            </a:r>
          </a:p>
        </p:txBody>
      </p:sp>
      <p:sp>
        <p:nvSpPr>
          <p:cNvPr id="29" name="grid-D">
            <a:extLst>
              <a:ext uri="{FF2B5EF4-FFF2-40B4-BE49-F238E27FC236}">
                <a16:creationId xmlns:a16="http://schemas.microsoft.com/office/drawing/2014/main" id="{3220AB2E-CC81-4423-A088-1BBDDF792F8A}"/>
              </a:ext>
            </a:extLst>
          </p:cNvPr>
          <p:cNvSpPr>
            <a:spLocks noGrp="1"/>
          </p:cNvSpPr>
          <p:nvPr/>
        </p:nvSpPr>
        <p:spPr>
          <a:xfrm>
            <a:off x="11410950" y="1866900"/>
            <a:ext cx="953" cy="1504950"/>
          </a:xfrm>
          <a:prstGeom prst="line">
            <a:avLst/>
          </a:prstGeom>
          <a:noFill/>
          <a:ln w="9525">
            <a:solidFill>
              <a:srgbClr val="E3E3E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node-D">
            <a:extLst>
              <a:ext uri="{FF2B5EF4-FFF2-40B4-BE49-F238E27FC236}">
                <a16:creationId xmlns:a16="http://schemas.microsoft.com/office/drawing/2014/main" id="{EA9ECCD5-F4B5-4AE4-90E3-D89F28CF0FC8}"/>
              </a:ext>
            </a:extLst>
          </p:cNvPr>
          <p:cNvSpPr>
            <a:spLocks noGrp="1"/>
          </p:cNvSpPr>
          <p:nvPr/>
        </p:nvSpPr>
        <p:spPr>
          <a:xfrm>
            <a:off x="11277600" y="3429000"/>
            <a:ext cx="266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5B5B5B"/>
                </a:solidFill>
              </a:defRPr>
            </a:pPr>
            <a:r>
              <a:rPr sz="1125" b="1">
                <a:solidFill>
                  <a:srgbClr val="5B5B5B"/>
                </a:solidFill>
              </a:rPr>
              <a:t>D</a:t>
            </a:r>
          </a:p>
        </p:txBody>
      </p:sp>
      <p:sp>
        <p:nvSpPr>
          <p:cNvPr id="31" name="space-axis">
            <a:extLst>
              <a:ext uri="{FF2B5EF4-FFF2-40B4-BE49-F238E27FC236}">
                <a16:creationId xmlns:a16="http://schemas.microsoft.com/office/drawing/2014/main" id="{DF78B762-9795-4079-A963-BBD10220FCF1}"/>
              </a:ext>
            </a:extLst>
          </p:cNvPr>
          <p:cNvSpPr>
            <a:spLocks noGrp="1"/>
          </p:cNvSpPr>
          <p:nvPr/>
        </p:nvSpPr>
        <p:spPr>
          <a:xfrm>
            <a:off x="7372350" y="3371850"/>
            <a:ext cx="4191000" cy="953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ime-axis">
            <a:extLst>
              <a:ext uri="{FF2B5EF4-FFF2-40B4-BE49-F238E27FC236}">
                <a16:creationId xmlns:a16="http://schemas.microsoft.com/office/drawing/2014/main" id="{939C0139-5A39-40FE-8744-3C2706483CAC}"/>
              </a:ext>
            </a:extLst>
          </p:cNvPr>
          <p:cNvSpPr>
            <a:spLocks noGrp="1"/>
          </p:cNvSpPr>
          <p:nvPr/>
        </p:nvSpPr>
        <p:spPr>
          <a:xfrm>
            <a:off x="7372350" y="1809750"/>
            <a:ext cx="953" cy="1562100"/>
          </a:xfrm>
          <a:prstGeom prst="line">
            <a:avLst/>
          </a:prstGeom>
          <a:noFill/>
          <a:ln w="14288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pace-label">
            <a:extLst>
              <a:ext uri="{FF2B5EF4-FFF2-40B4-BE49-F238E27FC236}">
                <a16:creationId xmlns:a16="http://schemas.microsoft.com/office/drawing/2014/main" id="{C3C62101-ABE0-4AF0-B4A7-7C654E796752}"/>
              </a:ext>
            </a:extLst>
          </p:cNvPr>
          <p:cNvSpPr>
            <a:spLocks noGrp="1"/>
          </p:cNvSpPr>
          <p:nvPr/>
        </p:nvSpPr>
        <p:spPr>
          <a:xfrm>
            <a:off x="8610600" y="36576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5B5B5B"/>
                </a:solidFill>
              </a:defRPr>
            </a:pPr>
            <a:r>
              <a:rPr sz="975">
                <a:solidFill>
                  <a:srgbClr val="5B5B5B"/>
                </a:solidFill>
              </a:rPr>
              <a:t>corridor space</a:t>
            </a:r>
          </a:p>
        </p:txBody>
      </p:sp>
      <p:sp>
        <p:nvSpPr>
          <p:cNvPr id="34" name="time-label">
            <a:extLst>
              <a:ext uri="{FF2B5EF4-FFF2-40B4-BE49-F238E27FC236}">
                <a16:creationId xmlns:a16="http://schemas.microsoft.com/office/drawing/2014/main" id="{FB2D9E5D-1AD0-4114-A24B-381971F2CCCB}"/>
              </a:ext>
            </a:extLst>
          </p:cNvPr>
          <p:cNvSpPr>
            <a:spLocks noGrp="1"/>
          </p:cNvSpPr>
          <p:nvPr/>
        </p:nvSpPr>
        <p:spPr>
          <a:xfrm>
            <a:off x="7010400" y="15621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5B5B5B"/>
                </a:solidFill>
              </a:defRPr>
            </a:pPr>
            <a:r>
              <a:rPr sz="975">
                <a:solidFill>
                  <a:srgbClr val="5B5B5B"/>
                </a:solidFill>
              </a:rPr>
              <a:t>time ↓</a:t>
            </a:r>
          </a:p>
        </p:txBody>
      </p:sp>
      <p:sp>
        <p:nvSpPr>
          <p:cNvPr id="35" name="left-t1-0">
            <a:extLst>
              <a:ext uri="{FF2B5EF4-FFF2-40B4-BE49-F238E27FC236}">
                <a16:creationId xmlns:a16="http://schemas.microsoft.com/office/drawing/2014/main" id="{CFD2D6A1-E39D-40BB-A1E0-448FCF72815F}"/>
              </a:ext>
            </a:extLst>
          </p:cNvPr>
          <p:cNvSpPr>
            <a:spLocks noGrp="1"/>
          </p:cNvSpPr>
          <p:nvPr/>
        </p:nvSpPr>
        <p:spPr>
          <a:xfrm>
            <a:off x="1123950" y="1962150"/>
            <a:ext cx="1238250" cy="180975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left-t1-1">
            <a:extLst>
              <a:ext uri="{FF2B5EF4-FFF2-40B4-BE49-F238E27FC236}">
                <a16:creationId xmlns:a16="http://schemas.microsoft.com/office/drawing/2014/main" id="{E0459232-CA18-4C13-995E-87C262EE09E3}"/>
              </a:ext>
            </a:extLst>
          </p:cNvPr>
          <p:cNvSpPr>
            <a:spLocks noGrp="1"/>
          </p:cNvSpPr>
          <p:nvPr/>
        </p:nvSpPr>
        <p:spPr>
          <a:xfrm>
            <a:off x="2362200" y="2143125"/>
            <a:ext cx="1238250" cy="409575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left-t1-2">
            <a:extLst>
              <a:ext uri="{FF2B5EF4-FFF2-40B4-BE49-F238E27FC236}">
                <a16:creationId xmlns:a16="http://schemas.microsoft.com/office/drawing/2014/main" id="{0381E102-FDD2-43E8-95B5-EC588A63DB5A}"/>
              </a:ext>
            </a:extLst>
          </p:cNvPr>
          <p:cNvSpPr>
            <a:spLocks noGrp="1"/>
          </p:cNvSpPr>
          <p:nvPr/>
        </p:nvSpPr>
        <p:spPr>
          <a:xfrm>
            <a:off x="3600450" y="2552700"/>
            <a:ext cx="1562100" cy="5715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left-t2-0">
            <a:extLst>
              <a:ext uri="{FF2B5EF4-FFF2-40B4-BE49-F238E27FC236}">
                <a16:creationId xmlns:a16="http://schemas.microsoft.com/office/drawing/2014/main" id="{18C91A0C-1E74-487D-8B6F-F5A0B1970406}"/>
              </a:ext>
            </a:extLst>
          </p:cNvPr>
          <p:cNvSpPr>
            <a:spLocks noGrp="1"/>
          </p:cNvSpPr>
          <p:nvPr/>
        </p:nvSpPr>
        <p:spPr>
          <a:xfrm>
            <a:off x="1123950" y="2057400"/>
            <a:ext cx="1238250" cy="209550"/>
          </a:xfrm>
          <a:prstGeom prst="line">
            <a:avLst/>
          </a:prstGeom>
          <a:noFill/>
          <a:ln w="28575">
            <a:solidFill>
              <a:srgbClr val="5B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left-t2-1">
            <a:extLst>
              <a:ext uri="{FF2B5EF4-FFF2-40B4-BE49-F238E27FC236}">
                <a16:creationId xmlns:a16="http://schemas.microsoft.com/office/drawing/2014/main" id="{F19C6528-A267-4366-A7A2-F0BC64F80151}"/>
              </a:ext>
            </a:extLst>
          </p:cNvPr>
          <p:cNvSpPr>
            <a:spLocks noGrp="1"/>
          </p:cNvSpPr>
          <p:nvPr/>
        </p:nvSpPr>
        <p:spPr>
          <a:xfrm>
            <a:off x="2362200" y="2266950"/>
            <a:ext cx="1238250" cy="361950"/>
          </a:xfrm>
          <a:prstGeom prst="line">
            <a:avLst/>
          </a:prstGeom>
          <a:noFill/>
          <a:ln w="28575">
            <a:solidFill>
              <a:srgbClr val="5B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left-t2-2">
            <a:extLst>
              <a:ext uri="{FF2B5EF4-FFF2-40B4-BE49-F238E27FC236}">
                <a16:creationId xmlns:a16="http://schemas.microsoft.com/office/drawing/2014/main" id="{C18F24F6-DD8D-4031-AA18-A92B40E967D5}"/>
              </a:ext>
            </a:extLst>
          </p:cNvPr>
          <p:cNvSpPr>
            <a:spLocks noGrp="1"/>
          </p:cNvSpPr>
          <p:nvPr/>
        </p:nvSpPr>
        <p:spPr>
          <a:xfrm>
            <a:off x="3600450" y="2628900"/>
            <a:ext cx="1562100" cy="552450"/>
          </a:xfrm>
          <a:prstGeom prst="line">
            <a:avLst/>
          </a:prstGeom>
          <a:noFill/>
          <a:ln w="28575">
            <a:solidFill>
              <a:srgbClr val="5B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left-t3-0">
            <a:extLst>
              <a:ext uri="{FF2B5EF4-FFF2-40B4-BE49-F238E27FC236}">
                <a16:creationId xmlns:a16="http://schemas.microsoft.com/office/drawing/2014/main" id="{CD6A5FD1-FB3C-48A0-BEBD-0A1E84910F7E}"/>
              </a:ext>
            </a:extLst>
          </p:cNvPr>
          <p:cNvSpPr>
            <a:spLocks noGrp="1"/>
          </p:cNvSpPr>
          <p:nvPr/>
        </p:nvSpPr>
        <p:spPr>
          <a:xfrm>
            <a:off x="1123950" y="1809750"/>
            <a:ext cx="1238250" cy="619125"/>
          </a:xfrm>
          <a:prstGeom prst="line">
            <a:avLst/>
          </a:prstGeom>
          <a:noFill/>
          <a:ln w="23813">
            <a:solidFill>
              <a:srgbClr val="8D8D8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left-t3-1">
            <a:extLst>
              <a:ext uri="{FF2B5EF4-FFF2-40B4-BE49-F238E27FC236}">
                <a16:creationId xmlns:a16="http://schemas.microsoft.com/office/drawing/2014/main" id="{74B333D3-9346-4579-9BEC-D809B5E829E8}"/>
              </a:ext>
            </a:extLst>
          </p:cNvPr>
          <p:cNvSpPr>
            <a:spLocks noGrp="1"/>
          </p:cNvSpPr>
          <p:nvPr/>
        </p:nvSpPr>
        <p:spPr>
          <a:xfrm>
            <a:off x="2362200" y="2428875"/>
            <a:ext cx="1238250" cy="466725"/>
          </a:xfrm>
          <a:prstGeom prst="line">
            <a:avLst/>
          </a:prstGeom>
          <a:noFill/>
          <a:ln w="23813">
            <a:solidFill>
              <a:srgbClr val="8D8D8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left-t3-2">
            <a:extLst>
              <a:ext uri="{FF2B5EF4-FFF2-40B4-BE49-F238E27FC236}">
                <a16:creationId xmlns:a16="http://schemas.microsoft.com/office/drawing/2014/main" id="{C2E1BB50-706B-41B3-9821-33F42C5D555C}"/>
              </a:ext>
            </a:extLst>
          </p:cNvPr>
          <p:cNvSpPr>
            <a:spLocks noGrp="1"/>
          </p:cNvSpPr>
          <p:nvPr/>
        </p:nvSpPr>
        <p:spPr>
          <a:xfrm>
            <a:off x="3600450" y="2895600"/>
            <a:ext cx="1562100" cy="381000"/>
          </a:xfrm>
          <a:prstGeom prst="line">
            <a:avLst/>
          </a:prstGeom>
          <a:noFill/>
          <a:ln w="23813">
            <a:solidFill>
              <a:srgbClr val="8D8D8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label-Train-1-527">
            <a:extLst>
              <a:ext uri="{FF2B5EF4-FFF2-40B4-BE49-F238E27FC236}">
                <a16:creationId xmlns:a16="http://schemas.microsoft.com/office/drawing/2014/main" id="{8593C12F-F67C-47AD-B3A3-0A7CAFEA382C}"/>
              </a:ext>
            </a:extLst>
          </p:cNvPr>
          <p:cNvSpPr>
            <a:spLocks noGrp="1"/>
          </p:cNvSpPr>
          <p:nvPr/>
        </p:nvSpPr>
        <p:spPr>
          <a:xfrm>
            <a:off x="5019675" y="3038475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Train 1</a:t>
            </a:r>
          </a:p>
        </p:txBody>
      </p:sp>
      <p:sp>
        <p:nvSpPr>
          <p:cNvPr id="45" name="label-Train-2-527">
            <a:extLst>
              <a:ext uri="{FF2B5EF4-FFF2-40B4-BE49-F238E27FC236}">
                <a16:creationId xmlns:a16="http://schemas.microsoft.com/office/drawing/2014/main" id="{4EA2EB49-D061-4D2D-B571-6F2D9C6AB998}"/>
              </a:ext>
            </a:extLst>
          </p:cNvPr>
          <p:cNvSpPr>
            <a:spLocks noGrp="1"/>
          </p:cNvSpPr>
          <p:nvPr/>
        </p:nvSpPr>
        <p:spPr>
          <a:xfrm>
            <a:off x="5019675" y="3209925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Train 2</a:t>
            </a:r>
          </a:p>
        </p:txBody>
      </p:sp>
      <p:sp>
        <p:nvSpPr>
          <p:cNvPr id="46" name="label-Train-3-402">
            <a:extLst>
              <a:ext uri="{FF2B5EF4-FFF2-40B4-BE49-F238E27FC236}">
                <a16:creationId xmlns:a16="http://schemas.microsoft.com/office/drawing/2014/main" id="{98EB36BD-864C-492B-B5FB-BACCF2292655}"/>
              </a:ext>
            </a:extLst>
          </p:cNvPr>
          <p:cNvSpPr>
            <a:spLocks noGrp="1"/>
          </p:cNvSpPr>
          <p:nvPr/>
        </p:nvSpPr>
        <p:spPr>
          <a:xfrm>
            <a:off x="3829050" y="28575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8D8D8D"/>
                </a:solidFill>
              </a:defRPr>
            </a:pPr>
            <a:r>
              <a:rPr sz="1050" b="1">
                <a:solidFill>
                  <a:srgbClr val="8D8D8D"/>
                </a:solidFill>
              </a:rPr>
              <a:t>Train 3</a:t>
            </a:r>
          </a:p>
        </p:txBody>
      </p:sp>
      <p:sp>
        <p:nvSpPr>
          <p:cNvPr id="47" name="left-price">
            <a:extLst>
              <a:ext uri="{FF2B5EF4-FFF2-40B4-BE49-F238E27FC236}">
                <a16:creationId xmlns:a16="http://schemas.microsoft.com/office/drawing/2014/main" id="{DA3B484A-8B38-4226-B0BA-0192401B3159}"/>
              </a:ext>
            </a:extLst>
          </p:cNvPr>
          <p:cNvSpPr>
            <a:spLocks noGrp="1"/>
          </p:cNvSpPr>
          <p:nvPr/>
        </p:nvSpPr>
        <p:spPr>
          <a:xfrm>
            <a:off x="3352800" y="18478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5B5B5B"/>
                </a:solidFill>
              </a:defRPr>
            </a:pPr>
            <a:r>
              <a:rPr sz="975" b="1">
                <a:solidFill>
                  <a:srgbClr val="5B5B5B"/>
                </a:solidFill>
              </a:rPr>
              <a:t>λ(C,t)</a:t>
            </a:r>
          </a:p>
        </p:txBody>
      </p:sp>
      <p:sp>
        <p:nvSpPr>
          <p:cNvPr id="48" name="left-conflict-band">
            <a:extLst>
              <a:ext uri="{FF2B5EF4-FFF2-40B4-BE49-F238E27FC236}">
                <a16:creationId xmlns:a16="http://schemas.microsoft.com/office/drawing/2014/main" id="{159337A6-F1A0-4FAA-99FF-716AD3992DE5}"/>
              </a:ext>
            </a:extLst>
          </p:cNvPr>
          <p:cNvSpPr>
            <a:spLocks noGrp="1"/>
          </p:cNvSpPr>
          <p:nvPr/>
        </p:nvSpPr>
        <p:spPr>
          <a:xfrm>
            <a:off x="3429000" y="2381250"/>
            <a:ext cx="342900" cy="361950"/>
          </a:xfrm>
          <a:prstGeom prst="roundRect">
            <a:avLst>
              <a:gd name="adj" fmla="val 13889"/>
            </a:avLst>
          </a:prstGeom>
          <a:solidFill>
            <a:srgbClr val="ECECEC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left-conflict-circle">
            <a:extLst>
              <a:ext uri="{FF2B5EF4-FFF2-40B4-BE49-F238E27FC236}">
                <a16:creationId xmlns:a16="http://schemas.microsoft.com/office/drawing/2014/main" id="{8D0139C1-C39E-4AD7-9354-BC7CCE4BD8F6}"/>
              </a:ext>
            </a:extLst>
          </p:cNvPr>
          <p:cNvSpPr>
            <a:spLocks noGrp="1"/>
          </p:cNvSpPr>
          <p:nvPr/>
        </p:nvSpPr>
        <p:spPr>
          <a:xfrm>
            <a:off x="3343275" y="2295525"/>
            <a:ext cx="514350" cy="533400"/>
          </a:xfrm>
          <a:prstGeom prst="ellipse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left-conflict-label">
            <a:extLst>
              <a:ext uri="{FF2B5EF4-FFF2-40B4-BE49-F238E27FC236}">
                <a16:creationId xmlns:a16="http://schemas.microsoft.com/office/drawing/2014/main" id="{E9533DF1-6517-4459-90CB-786E7E20537B}"/>
              </a:ext>
            </a:extLst>
          </p:cNvPr>
          <p:cNvSpPr>
            <a:spLocks noGrp="1"/>
          </p:cNvSpPr>
          <p:nvPr/>
        </p:nvSpPr>
        <p:spPr>
          <a:xfrm>
            <a:off x="3943350" y="2333625"/>
            <a:ext cx="109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Capacity conflict</a:t>
            </a:r>
          </a:p>
          <a:p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D_C,t &gt; C_C,t</a:t>
            </a:r>
          </a:p>
        </p:txBody>
      </p:sp>
      <p:sp>
        <p:nvSpPr>
          <p:cNvPr id="51" name="left-conflict-pointer">
            <a:extLst>
              <a:ext uri="{FF2B5EF4-FFF2-40B4-BE49-F238E27FC236}">
                <a16:creationId xmlns:a16="http://schemas.microsoft.com/office/drawing/2014/main" id="{BC1FFF6B-97F9-44E8-BA4E-62EE8035B483}"/>
              </a:ext>
            </a:extLst>
          </p:cNvPr>
          <p:cNvSpPr>
            <a:spLocks noGrp="1"/>
          </p:cNvSpPr>
          <p:nvPr/>
        </p:nvSpPr>
        <p:spPr>
          <a:xfrm>
            <a:off x="3695700" y="2524125"/>
            <a:ext cx="228600" cy="28575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ight-t1-0">
            <a:extLst>
              <a:ext uri="{FF2B5EF4-FFF2-40B4-BE49-F238E27FC236}">
                <a16:creationId xmlns:a16="http://schemas.microsoft.com/office/drawing/2014/main" id="{9C08048C-6F0C-48E1-8E83-A72AABB25D7A}"/>
              </a:ext>
            </a:extLst>
          </p:cNvPr>
          <p:cNvSpPr>
            <a:spLocks noGrp="1"/>
          </p:cNvSpPr>
          <p:nvPr/>
        </p:nvSpPr>
        <p:spPr>
          <a:xfrm>
            <a:off x="7372350" y="1962150"/>
            <a:ext cx="1238250" cy="180975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ight-t1-1">
            <a:extLst>
              <a:ext uri="{FF2B5EF4-FFF2-40B4-BE49-F238E27FC236}">
                <a16:creationId xmlns:a16="http://schemas.microsoft.com/office/drawing/2014/main" id="{AC864727-C03F-44C1-B067-0340BDECC319}"/>
              </a:ext>
            </a:extLst>
          </p:cNvPr>
          <p:cNvSpPr>
            <a:spLocks noGrp="1"/>
          </p:cNvSpPr>
          <p:nvPr/>
        </p:nvSpPr>
        <p:spPr>
          <a:xfrm>
            <a:off x="8610600" y="2143125"/>
            <a:ext cx="1238250" cy="409575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ight-t1-2">
            <a:extLst>
              <a:ext uri="{FF2B5EF4-FFF2-40B4-BE49-F238E27FC236}">
                <a16:creationId xmlns:a16="http://schemas.microsoft.com/office/drawing/2014/main" id="{C0BA434E-2856-4EEF-8BF9-8D172355C125}"/>
              </a:ext>
            </a:extLst>
          </p:cNvPr>
          <p:cNvSpPr>
            <a:spLocks noGrp="1"/>
          </p:cNvSpPr>
          <p:nvPr/>
        </p:nvSpPr>
        <p:spPr>
          <a:xfrm>
            <a:off x="9848850" y="2552700"/>
            <a:ext cx="1562100" cy="57150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ight-t2-original-0">
            <a:extLst>
              <a:ext uri="{FF2B5EF4-FFF2-40B4-BE49-F238E27FC236}">
                <a16:creationId xmlns:a16="http://schemas.microsoft.com/office/drawing/2014/main" id="{99FCF940-29BE-4FAD-AFCB-CF59FE5B787F}"/>
              </a:ext>
            </a:extLst>
          </p:cNvPr>
          <p:cNvSpPr>
            <a:spLocks noGrp="1"/>
          </p:cNvSpPr>
          <p:nvPr/>
        </p:nvSpPr>
        <p:spPr>
          <a:xfrm>
            <a:off x="7372350" y="2057400"/>
            <a:ext cx="1238250" cy="209550"/>
          </a:xfrm>
          <a:prstGeom prst="line">
            <a:avLst/>
          </a:prstGeom>
          <a:noFill/>
          <a:ln w="19050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6" name="right-t2-original-1">
            <a:extLst>
              <a:ext uri="{FF2B5EF4-FFF2-40B4-BE49-F238E27FC236}">
                <a16:creationId xmlns:a16="http://schemas.microsoft.com/office/drawing/2014/main" id="{16960150-D970-47A0-89FD-86D50293CC1A}"/>
              </a:ext>
            </a:extLst>
          </p:cNvPr>
          <p:cNvSpPr>
            <a:spLocks noGrp="1"/>
          </p:cNvSpPr>
          <p:nvPr/>
        </p:nvSpPr>
        <p:spPr>
          <a:xfrm>
            <a:off x="8610600" y="2266950"/>
            <a:ext cx="1238250" cy="361950"/>
          </a:xfrm>
          <a:prstGeom prst="line">
            <a:avLst/>
          </a:prstGeom>
          <a:noFill/>
          <a:ln w="19050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7" name="right-t2-original-2">
            <a:extLst>
              <a:ext uri="{FF2B5EF4-FFF2-40B4-BE49-F238E27FC236}">
                <a16:creationId xmlns:a16="http://schemas.microsoft.com/office/drawing/2014/main" id="{2EB57CFD-2758-473F-B4D0-E24F3043D316}"/>
              </a:ext>
            </a:extLst>
          </p:cNvPr>
          <p:cNvSpPr>
            <a:spLocks noGrp="1"/>
          </p:cNvSpPr>
          <p:nvPr/>
        </p:nvSpPr>
        <p:spPr>
          <a:xfrm>
            <a:off x="9848850" y="2628900"/>
            <a:ext cx="1562100" cy="552450"/>
          </a:xfrm>
          <a:prstGeom prst="line">
            <a:avLst/>
          </a:prstGeom>
          <a:noFill/>
          <a:ln w="19050">
            <a:solidFill>
              <a:srgbClr val="C9C9C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8" name="right-t2-recovered-0">
            <a:extLst>
              <a:ext uri="{FF2B5EF4-FFF2-40B4-BE49-F238E27FC236}">
                <a16:creationId xmlns:a16="http://schemas.microsoft.com/office/drawing/2014/main" id="{945F9646-0665-4720-B1B0-1EA2A4284DF3}"/>
              </a:ext>
            </a:extLst>
          </p:cNvPr>
          <p:cNvSpPr>
            <a:spLocks noGrp="1"/>
          </p:cNvSpPr>
          <p:nvPr/>
        </p:nvSpPr>
        <p:spPr>
          <a:xfrm>
            <a:off x="7372350" y="2057400"/>
            <a:ext cx="1238250" cy="209550"/>
          </a:xfrm>
          <a:prstGeom prst="line">
            <a:avLst/>
          </a:prstGeom>
          <a:noFill/>
          <a:ln w="33338">
            <a:solidFill>
              <a:srgbClr val="5B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ight-t2-recovered-1">
            <a:extLst>
              <a:ext uri="{FF2B5EF4-FFF2-40B4-BE49-F238E27FC236}">
                <a16:creationId xmlns:a16="http://schemas.microsoft.com/office/drawing/2014/main" id="{827AC794-7BCF-4BC5-AABC-CB18052C6808}"/>
              </a:ext>
            </a:extLst>
          </p:cNvPr>
          <p:cNvSpPr>
            <a:spLocks noGrp="1"/>
          </p:cNvSpPr>
          <p:nvPr/>
        </p:nvSpPr>
        <p:spPr>
          <a:xfrm>
            <a:off x="8610600" y="2266950"/>
            <a:ext cx="953" cy="447675"/>
          </a:xfrm>
          <a:prstGeom prst="line">
            <a:avLst/>
          </a:prstGeom>
          <a:noFill/>
          <a:ln w="33338">
            <a:solidFill>
              <a:srgbClr val="5B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ight-t2-recovered-2">
            <a:extLst>
              <a:ext uri="{FF2B5EF4-FFF2-40B4-BE49-F238E27FC236}">
                <a16:creationId xmlns:a16="http://schemas.microsoft.com/office/drawing/2014/main" id="{D5C5BC22-1541-4ED1-8F3B-B5889BAD99E3}"/>
              </a:ext>
            </a:extLst>
          </p:cNvPr>
          <p:cNvSpPr>
            <a:spLocks noGrp="1"/>
          </p:cNvSpPr>
          <p:nvPr/>
        </p:nvSpPr>
        <p:spPr>
          <a:xfrm>
            <a:off x="8610600" y="2714625"/>
            <a:ext cx="1238250" cy="266700"/>
          </a:xfrm>
          <a:prstGeom prst="line">
            <a:avLst/>
          </a:prstGeom>
          <a:noFill/>
          <a:ln w="33338">
            <a:solidFill>
              <a:srgbClr val="5B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ight-t2-recovered-3">
            <a:extLst>
              <a:ext uri="{FF2B5EF4-FFF2-40B4-BE49-F238E27FC236}">
                <a16:creationId xmlns:a16="http://schemas.microsoft.com/office/drawing/2014/main" id="{F1C5F558-8EC1-46D3-9E23-5246D8832452}"/>
              </a:ext>
            </a:extLst>
          </p:cNvPr>
          <p:cNvSpPr>
            <a:spLocks noGrp="1"/>
          </p:cNvSpPr>
          <p:nvPr/>
        </p:nvSpPr>
        <p:spPr>
          <a:xfrm>
            <a:off x="9848850" y="2981325"/>
            <a:ext cx="1562100" cy="323850"/>
          </a:xfrm>
          <a:prstGeom prst="line">
            <a:avLst/>
          </a:prstGeom>
          <a:noFill/>
          <a:ln w="33338">
            <a:solidFill>
              <a:srgbClr val="5B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ight-t3-0">
            <a:extLst>
              <a:ext uri="{FF2B5EF4-FFF2-40B4-BE49-F238E27FC236}">
                <a16:creationId xmlns:a16="http://schemas.microsoft.com/office/drawing/2014/main" id="{247FB25E-5BF4-4A30-8A73-B259F8D56D08}"/>
              </a:ext>
            </a:extLst>
          </p:cNvPr>
          <p:cNvSpPr>
            <a:spLocks noGrp="1"/>
          </p:cNvSpPr>
          <p:nvPr/>
        </p:nvSpPr>
        <p:spPr>
          <a:xfrm>
            <a:off x="7372350" y="1809750"/>
            <a:ext cx="1238250" cy="619125"/>
          </a:xfrm>
          <a:prstGeom prst="line">
            <a:avLst/>
          </a:prstGeom>
          <a:noFill/>
          <a:ln w="23813">
            <a:solidFill>
              <a:srgbClr val="8D8D8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3" name="right-t3-1">
            <a:extLst>
              <a:ext uri="{FF2B5EF4-FFF2-40B4-BE49-F238E27FC236}">
                <a16:creationId xmlns:a16="http://schemas.microsoft.com/office/drawing/2014/main" id="{3CB43581-A724-4447-ADB0-CFC2EA0AE109}"/>
              </a:ext>
            </a:extLst>
          </p:cNvPr>
          <p:cNvSpPr>
            <a:spLocks noGrp="1"/>
          </p:cNvSpPr>
          <p:nvPr/>
        </p:nvSpPr>
        <p:spPr>
          <a:xfrm>
            <a:off x="8610600" y="2428875"/>
            <a:ext cx="1238250" cy="466725"/>
          </a:xfrm>
          <a:prstGeom prst="line">
            <a:avLst/>
          </a:prstGeom>
          <a:noFill/>
          <a:ln w="23813">
            <a:solidFill>
              <a:srgbClr val="8D8D8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4" name="right-t3-2">
            <a:extLst>
              <a:ext uri="{FF2B5EF4-FFF2-40B4-BE49-F238E27FC236}">
                <a16:creationId xmlns:a16="http://schemas.microsoft.com/office/drawing/2014/main" id="{66C3783A-6CE9-4E29-8F27-4457648D050B}"/>
              </a:ext>
            </a:extLst>
          </p:cNvPr>
          <p:cNvSpPr>
            <a:spLocks noGrp="1"/>
          </p:cNvSpPr>
          <p:nvPr/>
        </p:nvSpPr>
        <p:spPr>
          <a:xfrm>
            <a:off x="9848850" y="2895600"/>
            <a:ext cx="1562100" cy="381000"/>
          </a:xfrm>
          <a:prstGeom prst="line">
            <a:avLst/>
          </a:prstGeom>
          <a:noFill/>
          <a:ln w="23813">
            <a:solidFill>
              <a:srgbClr val="8D8D8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5" name="right-hold-bar">
            <a:extLst>
              <a:ext uri="{FF2B5EF4-FFF2-40B4-BE49-F238E27FC236}">
                <a16:creationId xmlns:a16="http://schemas.microsoft.com/office/drawing/2014/main" id="{A45A469A-4D85-49DA-A6DA-37C5F4421558}"/>
              </a:ext>
            </a:extLst>
          </p:cNvPr>
          <p:cNvSpPr>
            <a:spLocks noGrp="1"/>
          </p:cNvSpPr>
          <p:nvPr/>
        </p:nvSpPr>
        <p:spPr>
          <a:xfrm>
            <a:off x="8553450" y="2247900"/>
            <a:ext cx="114300" cy="495300"/>
          </a:xfrm>
          <a:prstGeom prst="roundRect">
            <a:avLst>
              <a:gd name="adj" fmla="val 33333"/>
            </a:avLst>
          </a:prstGeom>
          <a:solidFill>
            <a:srgbClr val="5B5B5B"/>
          </a:solidFill>
          <a:ln w="9525">
            <a:solidFill>
              <a:srgbClr val="5B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ight-hold-label">
            <a:extLst>
              <a:ext uri="{FF2B5EF4-FFF2-40B4-BE49-F238E27FC236}">
                <a16:creationId xmlns:a16="http://schemas.microsoft.com/office/drawing/2014/main" id="{76763316-489D-4510-B533-61C3D31D3F25}"/>
              </a:ext>
            </a:extLst>
          </p:cNvPr>
          <p:cNvSpPr>
            <a:spLocks noGrp="1"/>
          </p:cNvSpPr>
          <p:nvPr/>
        </p:nvSpPr>
        <p:spPr>
          <a:xfrm>
            <a:off x="8743950" y="2247900"/>
            <a:ext cx="742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5B5B5B"/>
                </a:solidFill>
              </a:defRPr>
            </a:pPr>
            <a:r>
              <a:rPr sz="900" b="1">
                <a:solidFill>
                  <a:srgbClr val="5B5B5B"/>
                </a:solidFill>
              </a:rPr>
              <a:t>hold at</a:t>
            </a:r>
          </a:p>
          <a:p>
            <a:pPr algn="l">
              <a:defRPr sz="900" b="1">
                <a:solidFill>
                  <a:srgbClr val="5B5B5B"/>
                </a:solidFill>
              </a:defRPr>
            </a:pPr>
            <a:r>
              <a:rPr sz="900" b="1">
                <a:solidFill>
                  <a:srgbClr val="5B5B5B"/>
                </a:solidFill>
              </a:rPr>
              <a:t>siding B</a:t>
            </a:r>
          </a:p>
          <a:p>
            <a:pPr algn="l">
              <a:defRPr sz="900" b="1">
                <a:solidFill>
                  <a:srgbClr val="5B5B5B"/>
                </a:solidFill>
              </a:defRPr>
            </a:pPr>
            <a:r>
              <a:rPr sz="900" b="1">
                <a:solidFill>
                  <a:srgbClr val="5B5B5B"/>
                </a:solidFill>
              </a:rPr>
              <a:t>+20 min</a:t>
            </a:r>
          </a:p>
        </p:txBody>
      </p:sp>
      <p:sp>
        <p:nvSpPr>
          <p:cNvPr id="67" name="label-Train-1-1183">
            <a:extLst>
              <a:ext uri="{FF2B5EF4-FFF2-40B4-BE49-F238E27FC236}">
                <a16:creationId xmlns:a16="http://schemas.microsoft.com/office/drawing/2014/main" id="{254C7B07-C3AF-465E-8F05-1264D7334E9E}"/>
              </a:ext>
            </a:extLst>
          </p:cNvPr>
          <p:cNvSpPr>
            <a:spLocks noGrp="1"/>
          </p:cNvSpPr>
          <p:nvPr/>
        </p:nvSpPr>
        <p:spPr>
          <a:xfrm>
            <a:off x="11268075" y="3038475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Train 1</a:t>
            </a:r>
          </a:p>
        </p:txBody>
      </p:sp>
      <p:sp>
        <p:nvSpPr>
          <p:cNvPr id="68" name="label-Train-2-1183">
            <a:extLst>
              <a:ext uri="{FF2B5EF4-FFF2-40B4-BE49-F238E27FC236}">
                <a16:creationId xmlns:a16="http://schemas.microsoft.com/office/drawing/2014/main" id="{CE0E16D1-AC45-46CC-9CE8-4ACBA649C4AF}"/>
              </a:ext>
            </a:extLst>
          </p:cNvPr>
          <p:cNvSpPr>
            <a:spLocks noGrp="1"/>
          </p:cNvSpPr>
          <p:nvPr/>
        </p:nvSpPr>
        <p:spPr>
          <a:xfrm>
            <a:off x="11268075" y="321945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Train 2</a:t>
            </a:r>
          </a:p>
        </p:txBody>
      </p:sp>
      <p:sp>
        <p:nvSpPr>
          <p:cNvPr id="69" name="label-Train-3-1058">
            <a:extLst>
              <a:ext uri="{FF2B5EF4-FFF2-40B4-BE49-F238E27FC236}">
                <a16:creationId xmlns:a16="http://schemas.microsoft.com/office/drawing/2014/main" id="{CA4590A3-2BF1-495D-B1D7-6C38D985C4C4}"/>
              </a:ext>
            </a:extLst>
          </p:cNvPr>
          <p:cNvSpPr>
            <a:spLocks noGrp="1"/>
          </p:cNvSpPr>
          <p:nvPr/>
        </p:nvSpPr>
        <p:spPr>
          <a:xfrm>
            <a:off x="10077450" y="28575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8D8D8D"/>
                </a:solidFill>
              </a:defRPr>
            </a:pPr>
            <a:r>
              <a:rPr sz="1050" b="1">
                <a:solidFill>
                  <a:srgbClr val="8D8D8D"/>
                </a:solidFill>
              </a:rPr>
              <a:t>Train 3</a:t>
            </a:r>
          </a:p>
        </p:txBody>
      </p:sp>
      <p:sp>
        <p:nvSpPr>
          <p:cNvPr id="70" name="right-legend">
            <a:extLst>
              <a:ext uri="{FF2B5EF4-FFF2-40B4-BE49-F238E27FC236}">
                <a16:creationId xmlns:a16="http://schemas.microsoft.com/office/drawing/2014/main" id="{F4E74E92-1280-4819-B39E-415824ECBCCE}"/>
              </a:ext>
            </a:extLst>
          </p:cNvPr>
          <p:cNvSpPr>
            <a:spLocks noGrp="1"/>
          </p:cNvSpPr>
          <p:nvPr/>
        </p:nvSpPr>
        <p:spPr>
          <a:xfrm>
            <a:off x="7038975" y="3524250"/>
            <a:ext cx="436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>
                <a:solidFill>
                  <a:srgbClr val="5B5B5B"/>
                </a:solidFill>
              </a:defRPr>
            </a:pPr>
            <a:r>
              <a:rPr sz="938">
                <a:solidFill>
                  <a:srgbClr val="5B5B5B"/>
                </a:solidFill>
              </a:rPr>
              <a:t>— recovered   ··· original relaxed path</a:t>
            </a:r>
          </a:p>
        </p:txBody>
      </p:sp>
      <p:sp>
        <p:nvSpPr>
          <p:cNvPr id="71" name="left-formula-band">
            <a:extLst>
              <a:ext uri="{FF2B5EF4-FFF2-40B4-BE49-F238E27FC236}">
                <a16:creationId xmlns:a16="http://schemas.microsoft.com/office/drawing/2014/main" id="{771F7C03-BE31-451D-BBE4-610B3E7BA18D}"/>
              </a:ext>
            </a:extLst>
          </p:cNvPr>
          <p:cNvSpPr>
            <a:spLocks noGrp="1"/>
          </p:cNvSpPr>
          <p:nvPr/>
        </p:nvSpPr>
        <p:spPr>
          <a:xfrm>
            <a:off x="628650" y="3905250"/>
            <a:ext cx="4686300" cy="1028700"/>
          </a:xfrm>
          <a:prstGeom prst="roundRect">
            <a:avLst>
              <a:gd name="adj" fmla="val 7407"/>
            </a:avLst>
          </a:prstGeom>
          <a:solidFill>
            <a:srgbClr val="F4F4F4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left-subproblem">
            <a:extLst>
              <a:ext uri="{FF2B5EF4-FFF2-40B4-BE49-F238E27FC236}">
                <a16:creationId xmlns:a16="http://schemas.microsoft.com/office/drawing/2014/main" id="{C093072F-6269-400E-9726-FA747774456C}"/>
              </a:ext>
            </a:extLst>
          </p:cNvPr>
          <p:cNvSpPr>
            <a:spLocks noGrp="1"/>
          </p:cNvSpPr>
          <p:nvPr/>
        </p:nvSpPr>
        <p:spPr>
          <a:xfrm>
            <a:off x="742950" y="3981450"/>
            <a:ext cx="445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5B5B5B"/>
                </a:solidFill>
              </a:defRPr>
            </a:pPr>
            <a:r>
              <a:rPr sz="1050" b="1">
                <a:solidFill>
                  <a:srgbClr val="5B5B5B"/>
                </a:solidFill>
              </a:rPr>
              <a:t>TrainBestResponseOracle / time-dependent DP</a:t>
            </a:r>
          </a:p>
        </p:txBody>
      </p:sp>
      <p:sp>
        <p:nvSpPr>
          <p:cNvPr id="73" name="left-formula-1">
            <a:extLst>
              <a:ext uri="{FF2B5EF4-FFF2-40B4-BE49-F238E27FC236}">
                <a16:creationId xmlns:a16="http://schemas.microsoft.com/office/drawing/2014/main" id="{B7B14826-22FB-4DAB-B293-968E587AF5F2}"/>
              </a:ext>
            </a:extLst>
          </p:cNvPr>
          <p:cNvSpPr>
            <a:spLocks noGrp="1"/>
          </p:cNvSpPr>
          <p:nvPr/>
        </p:nvSpPr>
        <p:spPr>
          <a:xfrm>
            <a:off x="695325" y="4191000"/>
            <a:ext cx="455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pᵢᵏ = arg minₚ [ cᵢ(p) + (λᵏ)ᵀ aᵢ(p) ]</a:t>
            </a:r>
          </a:p>
        </p:txBody>
      </p:sp>
      <p:sp>
        <p:nvSpPr>
          <p:cNvPr id="74" name="left-formula-2">
            <a:extLst>
              <a:ext uri="{FF2B5EF4-FFF2-40B4-BE49-F238E27FC236}">
                <a16:creationId xmlns:a16="http://schemas.microsoft.com/office/drawing/2014/main" id="{9C1BF996-BF07-4E60-8826-96E27D079E69}"/>
              </a:ext>
            </a:extLst>
          </p:cNvPr>
          <p:cNvSpPr>
            <a:spLocks noGrp="1"/>
          </p:cNvSpPr>
          <p:nvPr/>
        </p:nvSpPr>
        <p:spPr>
          <a:xfrm>
            <a:off x="676275" y="4457700"/>
            <a:ext cx="459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LBᵏ = Σᵢ SPᵢ(λᵏ) − (λᵏ)ᵀ C     |     LBᵇᵉˢᵗ = maxₖ LBᵏ</a:t>
            </a:r>
          </a:p>
        </p:txBody>
      </p:sp>
      <p:sp>
        <p:nvSpPr>
          <p:cNvPr id="77" name="right-formula-band">
            <a:extLst>
              <a:ext uri="{FF2B5EF4-FFF2-40B4-BE49-F238E27FC236}">
                <a16:creationId xmlns:a16="http://schemas.microsoft.com/office/drawing/2014/main" id="{27E01D09-90D5-4B1F-B531-B063D53C08C8}"/>
              </a:ext>
            </a:extLst>
          </p:cNvPr>
          <p:cNvSpPr>
            <a:spLocks noGrp="1"/>
          </p:cNvSpPr>
          <p:nvPr/>
        </p:nvSpPr>
        <p:spPr>
          <a:xfrm>
            <a:off x="6877050" y="3905250"/>
            <a:ext cx="4686300" cy="1028700"/>
          </a:xfrm>
          <a:prstGeom prst="roundRect">
            <a:avLst>
              <a:gd name="adj" fmla="val 7407"/>
            </a:avLst>
          </a:prstGeom>
          <a:solidFill>
            <a:srgbClr val="F4F4F4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ight-formula-1">
            <a:extLst>
              <a:ext uri="{FF2B5EF4-FFF2-40B4-BE49-F238E27FC236}">
                <a16:creationId xmlns:a16="http://schemas.microsoft.com/office/drawing/2014/main" id="{5C9C6665-1F61-4BE6-9187-9EA6A968BE64}"/>
              </a:ext>
            </a:extLst>
          </p:cNvPr>
          <p:cNvSpPr>
            <a:spLocks noGrp="1"/>
          </p:cNvSpPr>
          <p:nvPr/>
        </p:nvSpPr>
        <p:spPr>
          <a:xfrm>
            <a:off x="6943725" y="4085235"/>
            <a:ext cx="4552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 dirty="0">
                <a:solidFill>
                  <a:srgbClr val="111111"/>
                </a:solidFill>
              </a:rPr>
              <a:t>p̂ᵢ = recovered feasible trajectory for train </a:t>
            </a:r>
            <a:r>
              <a:rPr sz="1350" b="1" dirty="0" err="1">
                <a:solidFill>
                  <a:srgbClr val="111111"/>
                </a:solidFill>
              </a:rPr>
              <a:t>i</a:t>
            </a:r>
            <a:endParaRPr sz="1350" b="1" dirty="0">
              <a:solidFill>
                <a:srgbClr val="111111"/>
              </a:solidFill>
            </a:endParaRPr>
          </a:p>
        </p:txBody>
      </p:sp>
      <p:sp>
        <p:nvSpPr>
          <p:cNvPr id="80" name="right-formula-2">
            <a:extLst>
              <a:ext uri="{FF2B5EF4-FFF2-40B4-BE49-F238E27FC236}">
                <a16:creationId xmlns:a16="http://schemas.microsoft.com/office/drawing/2014/main" id="{DAC24C38-E433-4447-A0CC-83EF502FAD37}"/>
              </a:ext>
            </a:extLst>
          </p:cNvPr>
          <p:cNvSpPr>
            <a:spLocks noGrp="1"/>
          </p:cNvSpPr>
          <p:nvPr/>
        </p:nvSpPr>
        <p:spPr>
          <a:xfrm>
            <a:off x="6953250" y="4371975"/>
            <a:ext cx="4533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 dirty="0" err="1">
                <a:solidFill>
                  <a:srgbClr val="111111"/>
                </a:solidFill>
              </a:rPr>
              <a:t>Σ</a:t>
            </a:r>
            <a:r>
              <a:rPr sz="1350" b="1" dirty="0">
                <a:solidFill>
                  <a:srgbClr val="111111"/>
                </a:solidFill>
              </a:rPr>
              <a:t>ᵢ aᵢ,ᵣₜ(p̂ᵢ) ≤ Cᵣₜ  ∀ </a:t>
            </a:r>
            <a:r>
              <a:rPr sz="1350" b="1" dirty="0" err="1">
                <a:solidFill>
                  <a:srgbClr val="111111"/>
                </a:solidFill>
              </a:rPr>
              <a:t>r,t</a:t>
            </a:r>
            <a:endParaRPr sz="1350" b="1" dirty="0">
              <a:solidFill>
                <a:srgbClr val="111111"/>
              </a:solidFill>
            </a:endParaRPr>
          </a:p>
        </p:txBody>
      </p:sp>
      <p:sp>
        <p:nvSpPr>
          <p:cNvPr id="81" name="right-constraints">
            <a:extLst>
              <a:ext uri="{FF2B5EF4-FFF2-40B4-BE49-F238E27FC236}">
                <a16:creationId xmlns:a16="http://schemas.microsoft.com/office/drawing/2014/main" id="{0E9C6841-D8C2-4752-A351-E0C5E1F5B91B}"/>
              </a:ext>
            </a:extLst>
          </p:cNvPr>
          <p:cNvSpPr>
            <a:spLocks noGrp="1"/>
          </p:cNvSpPr>
          <p:nvPr/>
        </p:nvSpPr>
        <p:spPr>
          <a:xfrm>
            <a:off x="6943725" y="4695825"/>
            <a:ext cx="4552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>
                <a:solidFill>
                  <a:srgbClr val="5B5B5B"/>
                </a:solidFill>
              </a:defRPr>
            </a:pPr>
            <a:r>
              <a:rPr sz="1013" dirty="0">
                <a:solidFill>
                  <a:srgbClr val="5B5B5B"/>
                </a:solidFill>
              </a:rPr>
              <a:t>+ all original hard operational constraints</a:t>
            </a:r>
          </a:p>
        </p:txBody>
      </p:sp>
      <p:sp>
        <p:nvSpPr>
          <p:cNvPr id="82" name="certificate-band">
            <a:extLst>
              <a:ext uri="{FF2B5EF4-FFF2-40B4-BE49-F238E27FC236}">
                <a16:creationId xmlns:a16="http://schemas.microsoft.com/office/drawing/2014/main" id="{E020E03C-DA1C-45D5-983F-EBB763513BF0}"/>
              </a:ext>
            </a:extLst>
          </p:cNvPr>
          <p:cNvSpPr>
            <a:spLocks noGrp="1"/>
          </p:cNvSpPr>
          <p:nvPr/>
        </p:nvSpPr>
        <p:spPr>
          <a:xfrm>
            <a:off x="457200" y="5257800"/>
            <a:ext cx="11277600" cy="1162050"/>
          </a:xfrm>
          <a:prstGeom prst="roundRect">
            <a:avLst>
              <a:gd name="adj" fmla="val 11475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certificate-title">
            <a:extLst>
              <a:ext uri="{FF2B5EF4-FFF2-40B4-BE49-F238E27FC236}">
                <a16:creationId xmlns:a16="http://schemas.microsoft.com/office/drawing/2014/main" id="{018DEB5E-D78C-4C34-9489-5081F799DC8E}"/>
              </a:ext>
            </a:extLst>
          </p:cNvPr>
          <p:cNvSpPr>
            <a:spLocks noGrp="1"/>
          </p:cNvSpPr>
          <p:nvPr/>
        </p:nvSpPr>
        <p:spPr>
          <a:xfrm>
            <a:off x="685800" y="5362575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Quality certificate</a:t>
            </a:r>
          </a:p>
        </p:txBody>
      </p:sp>
      <p:sp>
        <p:nvSpPr>
          <p:cNvPr id="84" name="certificate-main">
            <a:extLst>
              <a:ext uri="{FF2B5EF4-FFF2-40B4-BE49-F238E27FC236}">
                <a16:creationId xmlns:a16="http://schemas.microsoft.com/office/drawing/2014/main" id="{F5B7CF93-2C63-422C-9446-A09810D6156F}"/>
              </a:ext>
            </a:extLst>
          </p:cNvPr>
          <p:cNvSpPr>
            <a:spLocks noGrp="1"/>
          </p:cNvSpPr>
          <p:nvPr/>
        </p:nvSpPr>
        <p:spPr>
          <a:xfrm>
            <a:off x="3048000" y="5334000"/>
            <a:ext cx="609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LB  ≤  OPT  ≤  UB</a:t>
            </a:r>
          </a:p>
        </p:txBody>
      </p:sp>
      <p:sp>
        <p:nvSpPr>
          <p:cNvPr id="85" name="certificate-gap">
            <a:extLst>
              <a:ext uri="{FF2B5EF4-FFF2-40B4-BE49-F238E27FC236}">
                <a16:creationId xmlns:a16="http://schemas.microsoft.com/office/drawing/2014/main" id="{E0A830D0-D22B-4CBE-9DF9-ADB28A01E77A}"/>
              </a:ext>
            </a:extLst>
          </p:cNvPr>
          <p:cNvSpPr>
            <a:spLocks noGrp="1"/>
          </p:cNvSpPr>
          <p:nvPr/>
        </p:nvSpPr>
        <p:spPr>
          <a:xfrm>
            <a:off x="9448800" y="5372100"/>
            <a:ext cx="2000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Gap = (UB − LB) / UB</a:t>
            </a:r>
          </a:p>
        </p:txBody>
      </p:sp>
      <p:sp>
        <p:nvSpPr>
          <p:cNvPr id="86" name="certificate-ub">
            <a:extLst>
              <a:ext uri="{FF2B5EF4-FFF2-40B4-BE49-F238E27FC236}">
                <a16:creationId xmlns:a16="http://schemas.microsoft.com/office/drawing/2014/main" id="{35F7F630-4180-47CB-9CCC-82B0A045B214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>
                <a:solidFill>
                  <a:srgbClr val="D7D7D7"/>
                </a:solidFill>
              </a:defRPr>
            </a:pPr>
            <a:r>
              <a:rPr sz="1050">
                <a:solidFill>
                  <a:srgbClr val="D7D7D7"/>
                </a:solidFill>
              </a:rPr>
              <a:t>UB = Σᵢ cᵢ(p̂ᵢ)</a:t>
            </a:r>
          </a:p>
        </p:txBody>
      </p:sp>
      <p:sp>
        <p:nvSpPr>
          <p:cNvPr id="87" name="certificate-sentence">
            <a:extLst>
              <a:ext uri="{FF2B5EF4-FFF2-40B4-BE49-F238E27FC236}">
                <a16:creationId xmlns:a16="http://schemas.microsoft.com/office/drawing/2014/main" id="{4D0AEBA4-ABE7-48A5-913A-A2D63F6099B0}"/>
              </a:ext>
            </a:extLst>
          </p:cNvPr>
          <p:cNvSpPr>
            <a:spLocks noGrp="1"/>
          </p:cNvSpPr>
          <p:nvPr/>
        </p:nvSpPr>
        <p:spPr>
          <a:xfrm>
            <a:off x="2571750" y="5724525"/>
            <a:ext cx="885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The lower bound certifies how low the optimum could be; the feasible upper bound certifies an implementable timetable.</a:t>
            </a:r>
          </a:p>
        </p:txBody>
      </p:sp>
      <p:sp>
        <p:nvSpPr>
          <p:cNvPr id="88" name="certificate-footnote">
            <a:extLst>
              <a:ext uri="{FF2B5EF4-FFF2-40B4-BE49-F238E27FC236}">
                <a16:creationId xmlns:a16="http://schemas.microsoft.com/office/drawing/2014/main" id="{F4361A8B-579C-4917-9D33-A7EA91ECB1F6}"/>
              </a:ext>
            </a:extLst>
          </p:cNvPr>
          <p:cNvSpPr>
            <a:spLocks noGrp="1"/>
          </p:cNvSpPr>
          <p:nvPr/>
        </p:nvSpPr>
        <p:spPr>
          <a:xfrm>
            <a:off x="2571750" y="6115050"/>
            <a:ext cx="885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>
                <a:solidFill>
                  <a:srgbClr val="BEBEBE"/>
                </a:solidFill>
              </a:defRPr>
            </a:pPr>
            <a:r>
              <a:rPr sz="938">
                <a:solidFill>
                  <a:srgbClr val="BEBEBE"/>
                </a:solidFill>
              </a:rPr>
              <a:t>LB evaluator is separate from the price-update policy; SOFT_VDF is not treated as dual ascent.</a:t>
            </a:r>
          </a:p>
        </p:txBody>
      </p:sp>
    </p:spTree>
    <p:extLst>
      <p:ext uri="{BB962C8B-B14F-4D97-AF65-F5344CB8AC3E}">
        <p14:creationId xmlns:p14="http://schemas.microsoft.com/office/powerpoint/2010/main" val="141534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229014" y="714223"/>
            <a:ext cx="11740954" cy="0"/>
          </a:xfrm>
          <a:prstGeom prst="line">
            <a:avLst/>
          </a:prstGeom>
          <a:noFill/>
          <a:ln w="2667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 3"/>
          <p:cNvSpPr/>
          <p:nvPr/>
        </p:nvSpPr>
        <p:spPr>
          <a:xfrm>
            <a:off x="229014" y="1151503"/>
            <a:ext cx="1610646" cy="1209807"/>
          </a:xfrm>
          <a:prstGeom prst="rect">
            <a:avLst/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ect 4"/>
          <p:cNvSpPr/>
          <p:nvPr/>
        </p:nvSpPr>
        <p:spPr>
          <a:xfrm>
            <a:off x="2233212" y="1151503"/>
            <a:ext cx="1610646" cy="1209807"/>
          </a:xfrm>
          <a:prstGeom prst="rect">
            <a:avLst/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ect 5"/>
          <p:cNvSpPr/>
          <p:nvPr/>
        </p:nvSpPr>
        <p:spPr>
          <a:xfrm>
            <a:off x="4230122" y="1151503"/>
            <a:ext cx="1617934" cy="1209807"/>
          </a:xfrm>
          <a:prstGeom prst="rect">
            <a:avLst/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 6"/>
          <p:cNvSpPr/>
          <p:nvPr/>
        </p:nvSpPr>
        <p:spPr>
          <a:xfrm>
            <a:off x="6212455" y="1100487"/>
            <a:ext cx="1931318" cy="1333702"/>
          </a:xfrm>
          <a:prstGeom prst="rect">
            <a:avLst/>
          </a:prstGeom>
          <a:solidFill>
            <a:srgbClr val="FFFFFF"/>
          </a:solidFill>
          <a:ln w="3556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 7"/>
          <p:cNvSpPr/>
          <p:nvPr/>
        </p:nvSpPr>
        <p:spPr>
          <a:xfrm>
            <a:off x="8537325" y="1151503"/>
            <a:ext cx="1435734" cy="1209807"/>
          </a:xfrm>
          <a:prstGeom prst="rect">
            <a:avLst/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 8"/>
          <p:cNvSpPr/>
          <p:nvPr/>
        </p:nvSpPr>
        <p:spPr>
          <a:xfrm>
            <a:off x="10490506" y="1151503"/>
            <a:ext cx="1464886" cy="1209807"/>
          </a:xfrm>
          <a:prstGeom prst="rect">
            <a:avLst/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1103573" y="5480570"/>
            <a:ext cx="9999124" cy="779815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Line 10"/>
          <p:cNvSpPr/>
          <p:nvPr/>
        </p:nvSpPr>
        <p:spPr>
          <a:xfrm>
            <a:off x="1839661" y="1749118"/>
            <a:ext cx="298808" cy="0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ine 11"/>
          <p:cNvSpPr/>
          <p:nvPr/>
        </p:nvSpPr>
        <p:spPr>
          <a:xfrm>
            <a:off x="3843858" y="1749118"/>
            <a:ext cx="291520" cy="0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Line 12"/>
          <p:cNvSpPr/>
          <p:nvPr/>
        </p:nvSpPr>
        <p:spPr>
          <a:xfrm>
            <a:off x="5848056" y="1749118"/>
            <a:ext cx="269656" cy="0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Line 13"/>
          <p:cNvSpPr/>
          <p:nvPr/>
        </p:nvSpPr>
        <p:spPr>
          <a:xfrm>
            <a:off x="8143773" y="1749118"/>
            <a:ext cx="298808" cy="0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Line 14"/>
          <p:cNvSpPr/>
          <p:nvPr/>
        </p:nvSpPr>
        <p:spPr>
          <a:xfrm>
            <a:off x="9973059" y="1749118"/>
            <a:ext cx="422704" cy="0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Line 15"/>
          <p:cNvSpPr/>
          <p:nvPr/>
        </p:nvSpPr>
        <p:spPr>
          <a:xfrm>
            <a:off x="7189046" y="2434189"/>
            <a:ext cx="0" cy="415416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Line 16"/>
          <p:cNvSpPr/>
          <p:nvPr/>
        </p:nvSpPr>
        <p:spPr>
          <a:xfrm flipH="1">
            <a:off x="4951633" y="2849605"/>
            <a:ext cx="2237413" cy="0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Line 17"/>
          <p:cNvSpPr/>
          <p:nvPr/>
        </p:nvSpPr>
        <p:spPr>
          <a:xfrm flipV="1">
            <a:off x="4951633" y="2448765"/>
            <a:ext cx="0" cy="400840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Line 18"/>
          <p:cNvSpPr/>
          <p:nvPr/>
        </p:nvSpPr>
        <p:spPr>
          <a:xfrm>
            <a:off x="4951633" y="2448765"/>
            <a:ext cx="0" cy="0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Line 19"/>
          <p:cNvSpPr/>
          <p:nvPr/>
        </p:nvSpPr>
        <p:spPr>
          <a:xfrm>
            <a:off x="9025620" y="2361309"/>
            <a:ext cx="0" cy="1537766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Line 20"/>
          <p:cNvSpPr/>
          <p:nvPr/>
        </p:nvSpPr>
        <p:spPr>
          <a:xfrm flipH="1">
            <a:off x="2998451" y="3899075"/>
            <a:ext cx="6027169" cy="0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Line 21"/>
          <p:cNvSpPr/>
          <p:nvPr/>
        </p:nvSpPr>
        <p:spPr>
          <a:xfrm flipV="1">
            <a:off x="2998451" y="2456053"/>
            <a:ext cx="0" cy="1443022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Line 22"/>
          <p:cNvSpPr/>
          <p:nvPr/>
        </p:nvSpPr>
        <p:spPr>
          <a:xfrm flipV="1">
            <a:off x="2998451" y="2448765"/>
            <a:ext cx="0" cy="7288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Line 23"/>
          <p:cNvSpPr/>
          <p:nvPr/>
        </p:nvSpPr>
        <p:spPr>
          <a:xfrm>
            <a:off x="11226594" y="2361309"/>
            <a:ext cx="0" cy="2011486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ine 24"/>
          <p:cNvSpPr/>
          <p:nvPr/>
        </p:nvSpPr>
        <p:spPr>
          <a:xfrm flipH="1">
            <a:off x="10264579" y="4372795"/>
            <a:ext cx="962015" cy="0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Line 25"/>
          <p:cNvSpPr/>
          <p:nvPr/>
        </p:nvSpPr>
        <p:spPr>
          <a:xfrm>
            <a:off x="10264579" y="4372795"/>
            <a:ext cx="0" cy="612191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Line 26"/>
          <p:cNvSpPr/>
          <p:nvPr/>
        </p:nvSpPr>
        <p:spPr>
          <a:xfrm flipH="1">
            <a:off x="2998451" y="4984986"/>
            <a:ext cx="7266128" cy="0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Line 27"/>
          <p:cNvSpPr/>
          <p:nvPr/>
        </p:nvSpPr>
        <p:spPr>
          <a:xfrm flipV="1">
            <a:off x="2998451" y="3993819"/>
            <a:ext cx="0" cy="991167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Line 28"/>
          <p:cNvSpPr/>
          <p:nvPr/>
        </p:nvSpPr>
        <p:spPr>
          <a:xfrm>
            <a:off x="2998451" y="3993819"/>
            <a:ext cx="0" cy="7288"/>
          </a:xfrm>
          <a:prstGeom prst="line">
            <a:avLst/>
          </a:prstGeom>
          <a:noFill/>
          <a:ln w="27940">
            <a:solidFill>
              <a:srgbClr val="11111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Polygon 29"/>
          <p:cNvSpPr/>
          <p:nvPr/>
        </p:nvSpPr>
        <p:spPr>
          <a:xfrm>
            <a:off x="2131180" y="1683526"/>
            <a:ext cx="102032" cy="1311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Polygon 30"/>
          <p:cNvSpPr/>
          <p:nvPr/>
        </p:nvSpPr>
        <p:spPr>
          <a:xfrm>
            <a:off x="4128090" y="1683526"/>
            <a:ext cx="102032" cy="1311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Polygon 31"/>
          <p:cNvSpPr/>
          <p:nvPr/>
        </p:nvSpPr>
        <p:spPr>
          <a:xfrm>
            <a:off x="6110424" y="1683526"/>
            <a:ext cx="102032" cy="1311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Polygon 32"/>
          <p:cNvSpPr/>
          <p:nvPr/>
        </p:nvSpPr>
        <p:spPr>
          <a:xfrm>
            <a:off x="8435293" y="1683526"/>
            <a:ext cx="102032" cy="1311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Polygon 33"/>
          <p:cNvSpPr/>
          <p:nvPr/>
        </p:nvSpPr>
        <p:spPr>
          <a:xfrm>
            <a:off x="10388475" y="1683526"/>
            <a:ext cx="102032" cy="1311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108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Polygon 34"/>
          <p:cNvSpPr/>
          <p:nvPr/>
        </p:nvSpPr>
        <p:spPr>
          <a:xfrm>
            <a:off x="4886041" y="2361309"/>
            <a:ext cx="131184" cy="9474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Polygon 35"/>
          <p:cNvSpPr/>
          <p:nvPr/>
        </p:nvSpPr>
        <p:spPr>
          <a:xfrm>
            <a:off x="2932859" y="2361309"/>
            <a:ext cx="131184" cy="9474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Polygon 36"/>
          <p:cNvSpPr/>
          <p:nvPr/>
        </p:nvSpPr>
        <p:spPr>
          <a:xfrm>
            <a:off x="2932859" y="3913651"/>
            <a:ext cx="131184" cy="9474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323758" y="174912"/>
            <a:ext cx="8818470" cy="40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7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Connect Back to Integrated Service Network Design</a:t>
            </a:r>
            <a:endParaRPr lang="zh-CN" sz="2720"/>
          </a:p>
        </p:txBody>
      </p:sp>
      <p:sp>
        <p:nvSpPr>
          <p:cNvPr id="38" name="TextBox 38"/>
          <p:cNvSpPr txBox="1"/>
          <p:nvPr/>
        </p:nvSpPr>
        <p:spPr>
          <a:xfrm>
            <a:off x="338334" y="1413870"/>
            <a:ext cx="1384718" cy="6850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1. Demand /</a:t>
            </a:r>
            <a:endParaRPr lang="zh-CN" sz="1950"/>
          </a:p>
          <a:p>
            <a:pPr algn="ctr"/>
            <a:r>
              <a:rPr lang="zh-CN"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OD Flows</a:t>
            </a:r>
            <a:endParaRPr lang="zh-CN" sz="1950"/>
          </a:p>
        </p:txBody>
      </p:sp>
      <p:sp>
        <p:nvSpPr>
          <p:cNvPr id="39" name="TextBox 39"/>
          <p:cNvSpPr txBox="1"/>
          <p:nvPr/>
        </p:nvSpPr>
        <p:spPr>
          <a:xfrm>
            <a:off x="2320668" y="1384718"/>
            <a:ext cx="1443022" cy="7871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4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2. Blocking /</a:t>
            </a:r>
            <a:endParaRPr lang="zh-CN" sz="1420"/>
          </a:p>
          <a:p>
            <a:pPr algn="ctr"/>
            <a:r>
              <a:rPr lang="zh-CN" sz="14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Service Network</a:t>
            </a:r>
            <a:endParaRPr lang="zh-CN" sz="1420"/>
          </a:p>
          <a:p>
            <a:pPr algn="ctr"/>
            <a:r>
              <a:rPr lang="zh-CN" sz="14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</a:t>
            </a:r>
            <a:endParaRPr lang="zh-CN" sz="1420"/>
          </a:p>
        </p:txBody>
      </p:sp>
      <p:sp>
        <p:nvSpPr>
          <p:cNvPr id="40" name="TextBox 40"/>
          <p:cNvSpPr txBox="1"/>
          <p:nvPr/>
        </p:nvSpPr>
        <p:spPr>
          <a:xfrm>
            <a:off x="4317578" y="1384718"/>
            <a:ext cx="1443022" cy="7871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3. Train Services /</a:t>
            </a:r>
            <a:endParaRPr lang="zh-CN" sz="1160"/>
          </a:p>
          <a:p>
            <a:pPr algn="ctr"/>
            <a:r>
              <a:rPr lang="zh-CN" sz="11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Frequency /</a:t>
            </a:r>
            <a:endParaRPr lang="zh-CN" sz="1160"/>
          </a:p>
          <a:p>
            <a:pPr algn="ctr"/>
            <a:r>
              <a:rPr lang="zh-CN" sz="11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Routing</a:t>
            </a:r>
            <a:endParaRPr lang="zh-CN" sz="1160"/>
          </a:p>
        </p:txBody>
      </p:sp>
      <p:sp>
        <p:nvSpPr>
          <p:cNvPr id="41" name="TextBox 41"/>
          <p:cNvSpPr txBox="1"/>
          <p:nvPr/>
        </p:nvSpPr>
        <p:spPr>
          <a:xfrm>
            <a:off x="6329063" y="1238959"/>
            <a:ext cx="1705390" cy="10567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9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4. </a:t>
            </a:r>
            <a:endParaRPr lang="zh-CN" sz="1190" dirty="0"/>
          </a:p>
          <a:p>
            <a:pPr algn="ctr"/>
            <a:r>
              <a:rPr lang="zh-CN" sz="119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Timetabling</a:t>
            </a:r>
            <a:endParaRPr lang="zh-CN" sz="1190" dirty="0"/>
          </a:p>
          <a:p>
            <a:pPr algn="ctr"/>
            <a:r>
              <a:rPr lang="zh-CN" sz="119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(DP + LR +</a:t>
            </a:r>
            <a:endParaRPr lang="zh-CN" sz="1190" dirty="0"/>
          </a:p>
          <a:p>
            <a:pPr algn="ctr"/>
            <a:r>
              <a:rPr lang="zh-CN" sz="119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Feasibility Recovery)</a:t>
            </a:r>
            <a:endParaRPr lang="zh-CN" sz="1190" dirty="0"/>
          </a:p>
        </p:txBody>
      </p:sp>
      <p:sp>
        <p:nvSpPr>
          <p:cNvPr id="42" name="TextBox 42"/>
          <p:cNvSpPr txBox="1"/>
          <p:nvPr/>
        </p:nvSpPr>
        <p:spPr>
          <a:xfrm>
            <a:off x="8602917" y="1472174"/>
            <a:ext cx="1297262" cy="6121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7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5. Feasible</a:t>
            </a:r>
            <a:endParaRPr lang="zh-CN" sz="1760"/>
          </a:p>
          <a:p>
            <a:pPr algn="ctr"/>
            <a:r>
              <a:rPr lang="zh-CN" sz="17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Timetable</a:t>
            </a:r>
            <a:endParaRPr lang="zh-CN" sz="1760"/>
          </a:p>
        </p:txBody>
      </p:sp>
      <p:sp>
        <p:nvSpPr>
          <p:cNvPr id="43" name="TextBox 43"/>
          <p:cNvSpPr txBox="1"/>
          <p:nvPr/>
        </p:nvSpPr>
        <p:spPr>
          <a:xfrm>
            <a:off x="10556098" y="1377430"/>
            <a:ext cx="1326414" cy="8016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3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6. Simulation /</a:t>
            </a:r>
            <a:endParaRPr lang="zh-CN" sz="1340"/>
          </a:p>
          <a:p>
            <a:pPr algn="ctr"/>
            <a:r>
              <a:rPr lang="zh-CN" sz="13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Operational</a:t>
            </a:r>
            <a:endParaRPr lang="zh-CN" sz="1340"/>
          </a:p>
          <a:p>
            <a:pPr algn="ctr"/>
            <a:r>
              <a:rPr lang="zh-CN" sz="134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Validation</a:t>
            </a:r>
            <a:endParaRPr lang="zh-CN" sz="1340"/>
          </a:p>
        </p:txBody>
      </p:sp>
      <p:sp>
        <p:nvSpPr>
          <p:cNvPr id="44" name="TextBox 44"/>
          <p:cNvSpPr txBox="1"/>
          <p:nvPr/>
        </p:nvSpPr>
        <p:spPr>
          <a:xfrm>
            <a:off x="4813161" y="2958925"/>
            <a:ext cx="2623677" cy="5684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04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resource-time congestion price λ(r,t)</a:t>
            </a:r>
            <a:endParaRPr lang="zh-CN" sz="1040"/>
          </a:p>
          <a:p>
            <a:pPr algn="ctr"/>
            <a:r>
              <a:rPr lang="zh-CN" sz="1040">
                <a:solidFill>
                  <a:srgbClr val="111111"/>
                </a:solidFill>
                <a:latin typeface="Arial"/>
                <a:ea typeface="Arial"/>
                <a:cs typeface="Arial"/>
              </a:rPr>
              <a:t>capacity pressure</a:t>
            </a:r>
            <a:endParaRPr lang="zh-CN" sz="1040"/>
          </a:p>
          <a:p>
            <a:pPr algn="ctr"/>
            <a:r>
              <a:rPr lang="zh-CN" sz="1040">
                <a:solidFill>
                  <a:srgbClr val="111111"/>
                </a:solidFill>
                <a:latin typeface="Arial"/>
                <a:ea typeface="Arial"/>
                <a:cs typeface="Arial"/>
              </a:rPr>
              <a:t>route/timing implications</a:t>
            </a:r>
            <a:endParaRPr lang="zh-CN" sz="1040"/>
          </a:p>
        </p:txBody>
      </p:sp>
      <p:sp>
        <p:nvSpPr>
          <p:cNvPr id="45" name="TextBox 45"/>
          <p:cNvSpPr txBox="1"/>
          <p:nvPr/>
        </p:nvSpPr>
        <p:spPr>
          <a:xfrm>
            <a:off x="6197879" y="3993819"/>
            <a:ext cx="1894878" cy="451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operational feasibility</a:t>
            </a:r>
            <a:endParaRPr lang="zh-CN" sz="1200"/>
          </a:p>
          <a:p>
            <a:pPr algn="ctr"/>
            <a:r>
              <a:rPr lang="zh-CN" sz="1200">
                <a:solidFill>
                  <a:srgbClr val="111111"/>
                </a:solidFill>
                <a:latin typeface="Arial"/>
                <a:ea typeface="Arial"/>
                <a:cs typeface="Arial"/>
              </a:rPr>
              <a:t>service reliability</a:t>
            </a:r>
            <a:endParaRPr lang="zh-CN" sz="1200"/>
          </a:p>
        </p:txBody>
      </p:sp>
      <p:sp>
        <p:nvSpPr>
          <p:cNvPr id="46" name="TextBox 46"/>
          <p:cNvSpPr txBox="1"/>
          <p:nvPr/>
        </p:nvSpPr>
        <p:spPr>
          <a:xfrm>
            <a:off x="9171380" y="4139579"/>
            <a:ext cx="918287" cy="7287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160">
                <a:solidFill>
                  <a:srgbClr val="111111"/>
                </a:solidFill>
                <a:latin typeface="Arial"/>
                <a:ea typeface="Arial"/>
                <a:cs typeface="Arial"/>
              </a:rPr>
              <a:t>delay</a:t>
            </a:r>
            <a:endParaRPr lang="zh-CN" sz="1160"/>
          </a:p>
          <a:p>
            <a:pPr algn="ctr"/>
            <a:r>
              <a:rPr lang="zh-CN" sz="116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congestion</a:t>
            </a:r>
            <a:endParaRPr lang="zh-CN" sz="1160"/>
          </a:p>
          <a:p>
            <a:pPr algn="ctr"/>
            <a:r>
              <a:rPr lang="zh-CN" sz="1160">
                <a:solidFill>
                  <a:srgbClr val="111111"/>
                </a:solidFill>
                <a:latin typeface="Arial"/>
                <a:ea typeface="Arial"/>
                <a:cs typeface="Arial"/>
              </a:rPr>
              <a:t>robustness</a:t>
            </a:r>
            <a:endParaRPr lang="zh-CN" sz="1160"/>
          </a:p>
          <a:p>
            <a:pPr algn="ctr"/>
            <a:r>
              <a:rPr lang="zh-CN" sz="1160">
                <a:solidFill>
                  <a:srgbClr val="111111"/>
                </a:solidFill>
                <a:latin typeface="Arial"/>
                <a:ea typeface="Arial"/>
                <a:cs typeface="Arial"/>
              </a:rPr>
              <a:t>UB / LB / Gap</a:t>
            </a:r>
            <a:endParaRPr lang="zh-CN" sz="1160"/>
          </a:p>
        </p:txBody>
      </p:sp>
      <p:sp>
        <p:nvSpPr>
          <p:cNvPr id="47" name="TextBox 47"/>
          <p:cNvSpPr txBox="1"/>
          <p:nvPr/>
        </p:nvSpPr>
        <p:spPr>
          <a:xfrm>
            <a:off x="1570005" y="5626329"/>
            <a:ext cx="907354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sz="157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Timetabling is not a standalone end product: it provides operational feasibility,</a:t>
            </a:r>
            <a:endParaRPr lang="zh-CN" sz="1570" dirty="0"/>
          </a:p>
          <a:p>
            <a:pPr algn="ctr"/>
            <a:r>
              <a:rPr lang="zh-CN" sz="157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congestion, and performance feedback to upstream service network design and routing.</a:t>
            </a:r>
            <a:endParaRPr lang="zh-CN" sz="1570" dirty="0"/>
          </a:p>
        </p:txBody>
      </p:sp>
      <p:sp>
        <p:nvSpPr>
          <p:cNvPr id="48" name="TextBox 48"/>
          <p:cNvSpPr txBox="1"/>
          <p:nvPr/>
        </p:nvSpPr>
        <p:spPr>
          <a:xfrm>
            <a:off x="6598719" y="6442584"/>
            <a:ext cx="5356674" cy="2769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sz="1200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Integrated view: service network design ↔ timetabling ↔ simulation</a:t>
            </a:r>
            <a:endParaRPr lang="zh-CN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1868</Words>
  <Application>Microsoft Macintosh PowerPoint</Application>
  <PresentationFormat>Widescreen</PresentationFormat>
  <Paragraphs>325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Cambria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Wenlin Li</dc:creator>
  <cp:lastModifiedBy>Wenlin Li</cp:lastModifiedBy>
  <cp:revision>12</cp:revision>
  <dcterms:created xsi:type="dcterms:W3CDTF">2026-08-18T03:47:51Z</dcterms:created>
  <dcterms:modified xsi:type="dcterms:W3CDTF">2026-08-18T16:12:34Z</dcterms:modified>
</cp:coreProperties>
</file>