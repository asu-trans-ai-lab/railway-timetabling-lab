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99" r:id="rId3"/>
    <p:sldId id="300" r:id="rId4"/>
    <p:sldId id="301" r:id="rId5"/>
    <p:sldId id="288" r:id="rId6"/>
    <p:sldId id="291" r:id="rId7"/>
    <p:sldId id="277" r:id="rId8"/>
    <p:sldId id="305" r:id="rId9"/>
    <p:sldId id="311" r:id="rId10"/>
    <p:sldId id="307" r:id="rId11"/>
    <p:sldId id="280" r:id="rId12"/>
    <p:sldId id="279"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E89131-98A0-2047-82C4-88A427FCB9A4}">
          <p14:sldIdLst>
            <p14:sldId id="269"/>
            <p14:sldId id="299"/>
            <p14:sldId id="300"/>
            <p14:sldId id="301"/>
            <p14:sldId id="288"/>
            <p14:sldId id="291"/>
            <p14:sldId id="277"/>
            <p14:sldId id="305"/>
            <p14:sldId id="311"/>
            <p14:sldId id="307"/>
            <p14:sldId id="280"/>
            <p14:sldId id="279"/>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8"/>
    <p:restoredTop sz="87877"/>
  </p:normalViewPr>
  <p:slideViewPr>
    <p:cSldViewPr snapToGrid="0">
      <p:cViewPr varScale="1">
        <p:scale>
          <a:sx n="105" d="100"/>
          <a:sy n="105" d="100"/>
        </p:scale>
        <p:origin x="10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C3CF41-8D4C-BC49-9D66-85DC9634AB8D}" type="datetimeFigureOut">
              <a:rPr lang="en-US" smtClean="0"/>
              <a:t>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4EC7B-23BC-A447-87A2-8CEFB21840C1}" type="slidenum">
              <a:rPr lang="en-US" smtClean="0"/>
              <a:t>‹#›</a:t>
            </a:fld>
            <a:endParaRPr lang="en-US"/>
          </a:p>
        </p:txBody>
      </p:sp>
    </p:spTree>
    <p:extLst>
      <p:ext uri="{BB962C8B-B14F-4D97-AF65-F5344CB8AC3E}">
        <p14:creationId xmlns:p14="http://schemas.microsoft.com/office/powerpoint/2010/main" val="2077339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16A2B-9AD4-292C-75C7-6E8FA74996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3C0FBB-D5F6-AFA1-B55A-3CC405229E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49937D-540B-0B29-0B2E-F585D0169D3D}"/>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5" name="Footer Placeholder 4">
            <a:extLst>
              <a:ext uri="{FF2B5EF4-FFF2-40B4-BE49-F238E27FC236}">
                <a16:creationId xmlns:a16="http://schemas.microsoft.com/office/drawing/2014/main" id="{46760438-1834-FB3D-B8EF-1AA795ADF8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893876-B4E8-90D2-1422-47D0EC954CFA}"/>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1778684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A466-544C-68A0-02FE-1FA9AF94AB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7443BE-7A73-112C-4281-D260D63998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47673-7640-1C8D-FA89-23CC80090984}"/>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5" name="Footer Placeholder 4">
            <a:extLst>
              <a:ext uri="{FF2B5EF4-FFF2-40B4-BE49-F238E27FC236}">
                <a16:creationId xmlns:a16="http://schemas.microsoft.com/office/drawing/2014/main" id="{4C422CA1-E3E0-2B12-AA68-FFD70F289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4FB9B-9C71-1C9C-B19E-B404456539B2}"/>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806441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D64D7-5CE9-9012-149F-C732263387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77A5AA-8A4A-2ACE-A342-D5EF30F2F3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9E0D58-5873-16F3-0DE5-08EAE789351C}"/>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5" name="Footer Placeholder 4">
            <a:extLst>
              <a:ext uri="{FF2B5EF4-FFF2-40B4-BE49-F238E27FC236}">
                <a16:creationId xmlns:a16="http://schemas.microsoft.com/office/drawing/2014/main" id="{CF1D9F81-2703-99DD-2BEC-CB9F52C47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3F0446-E178-4A91-9795-8097783D711E}"/>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246396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A0AC-EADD-3DD7-7863-9DA00DEE60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97F57B-57BA-DC1C-8C5C-8CB9191644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0D3F48-7817-3993-DFC0-5DB2E6C0A4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9BDB58-8C74-1CFD-CE57-175E17979F1E}"/>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6" name="Footer Placeholder 5">
            <a:extLst>
              <a:ext uri="{FF2B5EF4-FFF2-40B4-BE49-F238E27FC236}">
                <a16:creationId xmlns:a16="http://schemas.microsoft.com/office/drawing/2014/main" id="{B80BDBDE-BFEE-D58F-2AF5-B1E2B38AD8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E70A3D-8F2A-16CB-CD37-734030DC4F23}"/>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1718204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0A591-B3FD-8D56-B826-39AF8592D3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E440C0-D7C7-3969-A391-C93CC144A3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1DBF94-470E-6883-2EED-E4547EAE60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37DCCA-9519-251E-8BBF-B2027B4108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4059C5-9379-5DD4-A2B5-BE85386E9A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1215C7-3B6D-91BA-624E-13CA4DA0EDF9}"/>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8" name="Footer Placeholder 7">
            <a:extLst>
              <a:ext uri="{FF2B5EF4-FFF2-40B4-BE49-F238E27FC236}">
                <a16:creationId xmlns:a16="http://schemas.microsoft.com/office/drawing/2014/main" id="{2244B804-C190-AF42-D7AE-181BFFF754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3A4BBC-B2A1-CBF9-88D6-EB08169C9A6F}"/>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310552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AFCE-79CF-FE9D-55FE-843A671416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3C10E-CF6F-9CFB-1C6C-AF3FA4D722D5}"/>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4" name="Footer Placeholder 3">
            <a:extLst>
              <a:ext uri="{FF2B5EF4-FFF2-40B4-BE49-F238E27FC236}">
                <a16:creationId xmlns:a16="http://schemas.microsoft.com/office/drawing/2014/main" id="{63A0A419-B282-CD24-1ACF-4D77F7FF58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346E47-3476-9809-A0E4-463A554F8E38}"/>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3518898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48D54E-FAED-7D76-BDAF-2AB44FE99CF3}"/>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3" name="Footer Placeholder 2">
            <a:extLst>
              <a:ext uri="{FF2B5EF4-FFF2-40B4-BE49-F238E27FC236}">
                <a16:creationId xmlns:a16="http://schemas.microsoft.com/office/drawing/2014/main" id="{160E28D9-9A84-E0E0-B509-029695F1CC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1863EC-5F47-2413-F237-26DAE02C3D53}"/>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3696866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AFE00-AA24-0079-977F-599BFF4957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431376-5C7B-6C73-E203-5A0F4DB44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3C8B0B-E3BF-FD04-360F-A049BCD18C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EAB43A-FA12-9944-D9CC-5CA3BA11595E}"/>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6" name="Footer Placeholder 5">
            <a:extLst>
              <a:ext uri="{FF2B5EF4-FFF2-40B4-BE49-F238E27FC236}">
                <a16:creationId xmlns:a16="http://schemas.microsoft.com/office/drawing/2014/main" id="{0B263344-ED7D-191D-4569-5BD3158D3D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32AEB0-0179-022A-15E6-FF07CE68FC17}"/>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1943882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0576D-C397-B2BA-93A9-92F53FD93E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2C7CFF-DACC-5808-262C-E9629F8F98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145CA-FC61-36AD-BD4D-55CCB4EBB8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09FF74-5DD3-DF02-9E15-FFE48B53AEE5}"/>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6" name="Footer Placeholder 5">
            <a:extLst>
              <a:ext uri="{FF2B5EF4-FFF2-40B4-BE49-F238E27FC236}">
                <a16:creationId xmlns:a16="http://schemas.microsoft.com/office/drawing/2014/main" id="{1241E7CF-A717-2DAA-BC7B-74CCBC70F9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75384E-C792-F0A0-83BD-F3341C192C24}"/>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1519255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E7D0-5DD4-89FE-8193-A3CB9A8295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7724DD-E44C-8C38-E0D9-1D8EAE6CD9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D61946-50FE-EC52-BCCD-8D6D7F1D7273}"/>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5" name="Footer Placeholder 4">
            <a:extLst>
              <a:ext uri="{FF2B5EF4-FFF2-40B4-BE49-F238E27FC236}">
                <a16:creationId xmlns:a16="http://schemas.microsoft.com/office/drawing/2014/main" id="{64FBE9F1-9D41-F15F-91DB-189C5C52F6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0A01E-15E7-E631-8800-CC43771DAC5D}"/>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908332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9E0835-438D-0DD9-ACF7-08C653511C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8FF388-03CB-8BEB-1F87-06C8216E81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F1D243-D499-30D9-376D-F399DAE3E10F}"/>
              </a:ext>
            </a:extLst>
          </p:cNvPr>
          <p:cNvSpPr>
            <a:spLocks noGrp="1"/>
          </p:cNvSpPr>
          <p:nvPr>
            <p:ph type="dt" sz="half" idx="10"/>
          </p:nvPr>
        </p:nvSpPr>
        <p:spPr/>
        <p:txBody>
          <a:bodyPr/>
          <a:lstStyle/>
          <a:p>
            <a:fld id="{01266034-51D5-604D-A533-FBB7EDEC7E09}" type="datetimeFigureOut">
              <a:rPr lang="en-US" smtClean="0"/>
              <a:t>8/24/26</a:t>
            </a:fld>
            <a:endParaRPr lang="en-US"/>
          </a:p>
        </p:txBody>
      </p:sp>
      <p:sp>
        <p:nvSpPr>
          <p:cNvPr id="5" name="Footer Placeholder 4">
            <a:extLst>
              <a:ext uri="{FF2B5EF4-FFF2-40B4-BE49-F238E27FC236}">
                <a16:creationId xmlns:a16="http://schemas.microsoft.com/office/drawing/2014/main" id="{13C15247-D834-7A0F-514B-2787177F9F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EDBC2B-6FC0-7511-1B41-FC30E211F37D}"/>
              </a:ext>
            </a:extLst>
          </p:cNvPr>
          <p:cNvSpPr>
            <a:spLocks noGrp="1"/>
          </p:cNvSpPr>
          <p:nvPr>
            <p:ph type="sldNum" sz="quarter" idx="12"/>
          </p:nvPr>
        </p:nvSpPr>
        <p:spPr/>
        <p:txBody>
          <a:bodyPr/>
          <a:lstStyle/>
          <a:p>
            <a:fld id="{030709A7-6EA0-E044-BFC5-DE2B548221E1}" type="slidenum">
              <a:rPr lang="en-US" smtClean="0"/>
              <a:t>‹#›</a:t>
            </a:fld>
            <a:endParaRPr lang="en-US"/>
          </a:p>
        </p:txBody>
      </p:sp>
    </p:spTree>
    <p:extLst>
      <p:ext uri="{BB962C8B-B14F-4D97-AF65-F5344CB8AC3E}">
        <p14:creationId xmlns:p14="http://schemas.microsoft.com/office/powerpoint/2010/main" val="1723621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4970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FBCD0D-C859-DF85-F854-2C42032015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1ADCC1-0844-B112-91F0-C509DB191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5A5A5-19A8-1031-FD1D-D342E88ECA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266034-51D5-604D-A533-FBB7EDEC7E09}" type="datetimeFigureOut">
              <a:rPr lang="en-US" smtClean="0"/>
              <a:t>8/24/26</a:t>
            </a:fld>
            <a:endParaRPr lang="en-US"/>
          </a:p>
        </p:txBody>
      </p:sp>
      <p:sp>
        <p:nvSpPr>
          <p:cNvPr id="5" name="Footer Placeholder 4">
            <a:extLst>
              <a:ext uri="{FF2B5EF4-FFF2-40B4-BE49-F238E27FC236}">
                <a16:creationId xmlns:a16="http://schemas.microsoft.com/office/drawing/2014/main" id="{22228703-ADA3-6C06-C240-DFEFA416D0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1698FB-1BEF-097C-586D-CB5A44B9D5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0709A7-6EA0-E044-BFC5-DE2B548221E1}" type="slidenum">
              <a:rPr lang="en-US" smtClean="0"/>
              <a:t>‹#›</a:t>
            </a:fld>
            <a:endParaRPr lang="en-US"/>
          </a:p>
        </p:txBody>
      </p:sp>
    </p:spTree>
    <p:extLst>
      <p:ext uri="{BB962C8B-B14F-4D97-AF65-F5344CB8AC3E}">
        <p14:creationId xmlns:p14="http://schemas.microsoft.com/office/powerpoint/2010/main" val="1628506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859A46D-E9AF-41F1-9AAA-A7CC6702603D}"/>
              </a:ext>
            </a:extLst>
          </p:cNvPr>
          <p:cNvSpPr>
            <a:spLocks noGrp="1"/>
          </p:cNvSpPr>
          <p:nvPr/>
        </p:nvSpPr>
        <p:spPr>
          <a:xfrm>
            <a:off x="685800" y="566928"/>
            <a:ext cx="10820095" cy="0"/>
          </a:xfrm>
          <a:prstGeom prst="line">
            <a:avLst/>
          </a:prstGeom>
          <a:noFill/>
          <a:ln w="12700">
            <a:solidFill>
              <a:srgbClr val="B9C2CE"/>
            </a:solidFill>
            <a:prstDash val="solid"/>
          </a:ln>
        </p:spPr>
        <p:txBody>
          <a:bodyPr/>
          <a:lstStyle/>
          <a:p>
            <a:endParaRPr sz="2400">
              <a:latin typeface="Times New Roman"/>
              <a:ea typeface="Times New Roman"/>
              <a:cs typeface="Times New Roman"/>
            </a:endParaRPr>
          </a:p>
        </p:txBody>
      </p:sp>
      <p:sp>
        <p:nvSpPr>
          <p:cNvPr id="3" name="Text 1">
            <a:extLst>
              <a:ext uri="{FF2B5EF4-FFF2-40B4-BE49-F238E27FC236}">
                <a16:creationId xmlns:a16="http://schemas.microsoft.com/office/drawing/2014/main" id="{26AB96FD-DE45-4000-8C11-5F1EC1B13424}"/>
              </a:ext>
            </a:extLst>
          </p:cNvPr>
          <p:cNvSpPr>
            <a:spLocks noGrp="1"/>
          </p:cNvSpPr>
          <p:nvPr/>
        </p:nvSpPr>
        <p:spPr>
          <a:xfrm>
            <a:off x="685800" y="1975104"/>
            <a:ext cx="10820095" cy="219456"/>
          </a:xfrm>
          <a:prstGeom prst="rect">
            <a:avLst/>
          </a:prstGeom>
          <a:noFill/>
        </p:spPr>
        <p:txBody>
          <a:bodyPr wrap="square" lIns="0" tIns="0" rIns="0" bIns="0" anchor="ctr"/>
          <a:lstStyle/>
          <a:p>
            <a:pPr marL="0" indent="0">
              <a:buNone/>
            </a:pPr>
            <a:r>
              <a:rPr sz="2800" b="1">
                <a:latin typeface="Times New Roman"/>
                <a:ea typeface="Times New Roman"/>
                <a:cs typeface="Times New Roman"/>
              </a:rPr>
              <a:t>WEEKLY UPDATE</a:t>
            </a:r>
            <a:endParaRPr sz="2800">
              <a:latin typeface="Times New Roman"/>
              <a:ea typeface="Times New Roman"/>
              <a:cs typeface="Times New Roman"/>
            </a:endParaRPr>
          </a:p>
        </p:txBody>
      </p:sp>
      <p:sp>
        <p:nvSpPr>
          <p:cNvPr id="4" name="Text 2">
            <a:extLst>
              <a:ext uri="{FF2B5EF4-FFF2-40B4-BE49-F238E27FC236}">
                <a16:creationId xmlns:a16="http://schemas.microsoft.com/office/drawing/2014/main" id="{DC836C77-B985-4660-843E-8A4A677D08D0}"/>
              </a:ext>
            </a:extLst>
          </p:cNvPr>
          <p:cNvSpPr>
            <a:spLocks noGrp="1"/>
          </p:cNvSpPr>
          <p:nvPr/>
        </p:nvSpPr>
        <p:spPr>
          <a:xfrm>
            <a:off x="685799" y="2441449"/>
            <a:ext cx="10820095" cy="731520"/>
          </a:xfrm>
          <a:prstGeom prst="rect">
            <a:avLst/>
          </a:prstGeom>
          <a:noFill/>
        </p:spPr>
        <p:txBody>
          <a:bodyPr wrap="square" lIns="0" tIns="0" rIns="0" bIns="0" anchor="ctr"/>
          <a:lstStyle/>
          <a:p>
            <a:pPr marL="0" indent="0">
              <a:buNone/>
            </a:pPr>
            <a:r>
              <a:rPr sz="3200" b="1">
                <a:latin typeface="Times New Roman"/>
                <a:ea typeface="Times New Roman"/>
                <a:cs typeface="Times New Roman"/>
              </a:rPr>
              <a:t>Argonne National Laboratory</a:t>
            </a:r>
            <a:endParaRPr sz="3200">
              <a:latin typeface="Times New Roman"/>
              <a:ea typeface="Times New Roman"/>
              <a:cs typeface="Times New Roman"/>
            </a:endParaRPr>
          </a:p>
        </p:txBody>
      </p:sp>
      <p:sp>
        <p:nvSpPr>
          <p:cNvPr id="9" name="Text 7">
            <a:extLst>
              <a:ext uri="{FF2B5EF4-FFF2-40B4-BE49-F238E27FC236}">
                <a16:creationId xmlns:a16="http://schemas.microsoft.com/office/drawing/2014/main" id="{22F3EE0A-42ED-4742-8E25-822DF32F72D1}"/>
              </a:ext>
            </a:extLst>
          </p:cNvPr>
          <p:cNvSpPr>
            <a:spLocks noGrp="1"/>
          </p:cNvSpPr>
          <p:nvPr/>
        </p:nvSpPr>
        <p:spPr>
          <a:xfrm>
            <a:off x="759372" y="3429000"/>
            <a:ext cx="5486400" cy="256032"/>
          </a:xfrm>
          <a:prstGeom prst="rect">
            <a:avLst/>
          </a:prstGeom>
          <a:noFill/>
        </p:spPr>
        <p:txBody>
          <a:bodyPr wrap="square" lIns="0" tIns="0" rIns="0" bIns="0" anchor="ctr"/>
          <a:lstStyle/>
          <a:p>
            <a:pPr marL="0" indent="0">
              <a:buNone/>
            </a:pPr>
            <a:r>
              <a:rPr dirty="0">
                <a:latin typeface="Times New Roman"/>
                <a:ea typeface="Times New Roman"/>
                <a:cs typeface="Times New Roman"/>
              </a:rPr>
              <a:t>August </a:t>
            </a:r>
            <a:r>
              <a:rPr lang="en-US" altLang="zh-CN" dirty="0">
                <a:latin typeface="Times New Roman"/>
                <a:ea typeface="Times New Roman"/>
                <a:cs typeface="Times New Roman"/>
              </a:rPr>
              <a:t>25</a:t>
            </a:r>
            <a:r>
              <a:rPr dirty="0">
                <a:latin typeface="Times New Roman"/>
                <a:ea typeface="Times New Roman"/>
                <a:cs typeface="Times New Roman"/>
              </a:rPr>
              <a:t>, 2026</a:t>
            </a:r>
          </a:p>
        </p:txBody>
      </p:sp>
      <p:sp>
        <p:nvSpPr>
          <p:cNvPr id="10" name="Shape 8">
            <a:extLst>
              <a:ext uri="{FF2B5EF4-FFF2-40B4-BE49-F238E27FC236}">
                <a16:creationId xmlns:a16="http://schemas.microsoft.com/office/drawing/2014/main" id="{E9D348F4-78A6-4350-BF92-D8C0CC1D2BA7}"/>
              </a:ext>
            </a:extLst>
          </p:cNvPr>
          <p:cNvSpPr>
            <a:spLocks noGrp="1"/>
          </p:cNvSpPr>
          <p:nvPr/>
        </p:nvSpPr>
        <p:spPr>
          <a:xfrm>
            <a:off x="685800" y="6291072"/>
            <a:ext cx="10820095" cy="0"/>
          </a:xfrm>
          <a:prstGeom prst="line">
            <a:avLst/>
          </a:prstGeom>
          <a:noFill/>
          <a:ln w="12700">
            <a:solidFill>
              <a:srgbClr val="B9C2CE"/>
            </a:solidFill>
            <a:prstDash val="solid"/>
          </a:ln>
        </p:spPr>
        <p:txBody>
          <a:bodyPr/>
          <a:lstStyle/>
          <a:p>
            <a:endParaRPr sz="2400">
              <a:latin typeface="Times New Roman"/>
              <a:ea typeface="Times New Roman"/>
              <a:cs typeface="Times New Roman"/>
            </a:endParaRPr>
          </a:p>
        </p:txBody>
      </p:sp>
      <p:sp>
        <p:nvSpPr>
          <p:cNvPr id="11" name="PageNumber"/>
          <p:cNvSpPr txBox="1"/>
          <p:nvPr/>
        </p:nvSpPr>
        <p:spPr>
          <a:xfrm>
            <a:off x="11109960" y="6382512"/>
            <a:ext cx="868680" cy="292608"/>
          </a:xfrm>
          <a:prstGeom prst="rect">
            <a:avLst/>
          </a:prstGeom>
          <a:noFill/>
        </p:spPr>
        <p:txBody>
          <a:bodyPr wrap="none" lIns="0" tIns="0" rIns="0" bIns="0">
            <a:spAutoFit/>
          </a:bodyPr>
          <a:lstStyle/>
          <a:p>
            <a:pPr algn="r"/>
            <a:r>
              <a:rPr sz="1100">
                <a:solidFill>
                  <a:srgbClr val="777777"/>
                </a:solidFill>
                <a:latin typeface="Calibri"/>
              </a:rPr>
              <a:t>1</a:t>
            </a:r>
          </a:p>
        </p:txBody>
      </p:sp>
    </p:spTree>
    <p:extLst>
      <p:ext uri="{BB962C8B-B14F-4D97-AF65-F5344CB8AC3E}">
        <p14:creationId xmlns:p14="http://schemas.microsoft.com/office/powerpoint/2010/main" val="1083230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3E955E-E2AF-EF24-21B6-C1158A27CE4D}"/>
              </a:ext>
            </a:extLst>
          </p:cNvPr>
          <p:cNvSpPr txBox="1"/>
          <p:nvPr/>
        </p:nvSpPr>
        <p:spPr>
          <a:xfrm>
            <a:off x="439838" y="231494"/>
            <a:ext cx="8715737" cy="369332"/>
          </a:xfrm>
          <a:prstGeom prst="rect">
            <a:avLst/>
          </a:prstGeom>
          <a:noFill/>
        </p:spPr>
        <p:txBody>
          <a:bodyPr wrap="square" rtlCol="0">
            <a:spAutoFit/>
          </a:bodyPr>
          <a:lstStyle/>
          <a:p>
            <a:r>
              <a:rPr lang="en-US" altLang="zh-CN" b="1" dirty="0"/>
              <a:t>Question</a:t>
            </a:r>
            <a:r>
              <a:rPr lang="zh-CN" altLang="en-US" dirty="0"/>
              <a:t> </a:t>
            </a:r>
            <a:r>
              <a:rPr lang="en-US" altLang="zh-CN" dirty="0"/>
              <a:t>from</a:t>
            </a:r>
            <a:r>
              <a:rPr lang="zh-CN" altLang="en-US" dirty="0"/>
              <a:t> </a:t>
            </a:r>
            <a:r>
              <a:rPr lang="en-US" altLang="zh-CN" dirty="0"/>
              <a:t>ANL:</a:t>
            </a:r>
            <a:r>
              <a:rPr lang="zh-CN" altLang="en-US" dirty="0"/>
              <a:t> </a:t>
            </a:r>
            <a:r>
              <a:rPr lang="en-US" dirty="0"/>
              <a:t>Update </a:t>
            </a:r>
            <a:r>
              <a:rPr lang="en-US" altLang="zh-CN" dirty="0"/>
              <a:t>the</a:t>
            </a:r>
            <a:r>
              <a:rPr lang="zh-CN" altLang="en-US" dirty="0"/>
              <a:t> </a:t>
            </a:r>
            <a:r>
              <a:rPr lang="en-US" altLang="zh-CN" dirty="0"/>
              <a:t>f</a:t>
            </a:r>
            <a:r>
              <a:rPr lang="en-US" dirty="0"/>
              <a:t>ixes 1-3 from 7/14/2026 changes in </a:t>
            </a:r>
            <a:r>
              <a:rPr lang="en-US" dirty="0" err="1"/>
              <a:t>asu</a:t>
            </a:r>
            <a:r>
              <a:rPr lang="en-US" dirty="0"/>
              <a:t> branch?</a:t>
            </a:r>
          </a:p>
        </p:txBody>
      </p:sp>
      <p:sp>
        <p:nvSpPr>
          <p:cNvPr id="3" name="TextBox 2">
            <a:extLst>
              <a:ext uri="{FF2B5EF4-FFF2-40B4-BE49-F238E27FC236}">
                <a16:creationId xmlns:a16="http://schemas.microsoft.com/office/drawing/2014/main" id="{24334334-C6FD-0FCE-3F84-8A086B7A123F}"/>
              </a:ext>
            </a:extLst>
          </p:cNvPr>
          <p:cNvSpPr txBox="1"/>
          <p:nvPr/>
        </p:nvSpPr>
        <p:spPr>
          <a:xfrm>
            <a:off x="439838" y="922060"/>
            <a:ext cx="3345083" cy="369332"/>
          </a:xfrm>
          <a:prstGeom prst="rect">
            <a:avLst/>
          </a:prstGeom>
          <a:noFill/>
        </p:spPr>
        <p:txBody>
          <a:bodyPr wrap="square" rtlCol="0">
            <a:spAutoFit/>
          </a:bodyPr>
          <a:lstStyle/>
          <a:p>
            <a:r>
              <a:rPr lang="en-US" altLang="zh-CN" b="1" dirty="0"/>
              <a:t>Action</a:t>
            </a:r>
            <a:r>
              <a:rPr lang="en-US" altLang="zh-CN" dirty="0"/>
              <a:t>:</a:t>
            </a:r>
            <a:r>
              <a:rPr lang="zh-CN" altLang="en-US" dirty="0"/>
              <a:t> </a:t>
            </a:r>
            <a:r>
              <a:rPr lang="en-US" altLang="zh-CN" dirty="0"/>
              <a:t>Merged</a:t>
            </a:r>
            <a:r>
              <a:rPr lang="zh-CN" altLang="en-US" dirty="0"/>
              <a:t> </a:t>
            </a:r>
            <a:r>
              <a:rPr lang="en-US" altLang="zh-CN" dirty="0"/>
              <a:t>to</a:t>
            </a:r>
            <a:r>
              <a:rPr lang="zh-CN" altLang="en-US" dirty="0"/>
              <a:t> </a:t>
            </a:r>
            <a:r>
              <a:rPr lang="en-US" altLang="zh-CN" dirty="0" err="1"/>
              <a:t>asu</a:t>
            </a:r>
            <a:r>
              <a:rPr lang="zh-CN" altLang="en-US" dirty="0"/>
              <a:t> </a:t>
            </a:r>
            <a:r>
              <a:rPr lang="en-US" altLang="zh-CN" dirty="0"/>
              <a:t>branch</a:t>
            </a:r>
            <a:r>
              <a:rPr lang="zh-CN" altLang="en-US" dirty="0"/>
              <a:t> </a:t>
            </a:r>
            <a:endParaRPr lang="en-US" dirty="0"/>
          </a:p>
        </p:txBody>
      </p:sp>
      <p:pic>
        <p:nvPicPr>
          <p:cNvPr id="4" name="Picture 3">
            <a:extLst>
              <a:ext uri="{FF2B5EF4-FFF2-40B4-BE49-F238E27FC236}">
                <a16:creationId xmlns:a16="http://schemas.microsoft.com/office/drawing/2014/main" id="{25239A6D-D3D9-B748-1700-0EA00459B5A9}"/>
              </a:ext>
            </a:extLst>
          </p:cNvPr>
          <p:cNvPicPr>
            <a:picLocks noChangeAspect="1"/>
          </p:cNvPicPr>
          <p:nvPr/>
        </p:nvPicPr>
        <p:blipFill>
          <a:blip r:embed="rId2"/>
          <a:stretch>
            <a:fillRect/>
          </a:stretch>
        </p:blipFill>
        <p:spPr>
          <a:xfrm>
            <a:off x="439838" y="1612626"/>
            <a:ext cx="8898654" cy="4614554"/>
          </a:xfrm>
          <a:prstGeom prst="rect">
            <a:avLst/>
          </a:prstGeom>
        </p:spPr>
      </p:pic>
      <p:sp>
        <p:nvSpPr>
          <p:cNvPr id="5" name="PageNumber"/>
          <p:cNvSpPr txBox="1"/>
          <p:nvPr/>
        </p:nvSpPr>
        <p:spPr>
          <a:xfrm>
            <a:off x="11109960" y="6382512"/>
            <a:ext cx="868680" cy="292608"/>
          </a:xfrm>
          <a:prstGeom prst="rect">
            <a:avLst/>
          </a:prstGeom>
          <a:noFill/>
        </p:spPr>
        <p:txBody>
          <a:bodyPr wrap="none" lIns="0" tIns="0" rIns="0" bIns="0">
            <a:spAutoFit/>
          </a:bodyPr>
          <a:lstStyle/>
          <a:p>
            <a:pPr algn="r"/>
            <a:r>
              <a:rPr sz="1100">
                <a:solidFill>
                  <a:srgbClr val="777777"/>
                </a:solidFill>
                <a:latin typeface="Calibri"/>
              </a:rPr>
              <a:t>2</a:t>
            </a:r>
          </a:p>
        </p:txBody>
      </p:sp>
    </p:spTree>
    <p:extLst>
      <p:ext uri="{BB962C8B-B14F-4D97-AF65-F5344CB8AC3E}">
        <p14:creationId xmlns:p14="http://schemas.microsoft.com/office/powerpoint/2010/main" val="3218591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56B8D7-15E3-2F6B-BE5F-BC330DB8552C}"/>
              </a:ext>
            </a:extLst>
          </p:cNvPr>
          <p:cNvSpPr txBox="1"/>
          <p:nvPr/>
        </p:nvSpPr>
        <p:spPr>
          <a:xfrm>
            <a:off x="340538" y="177565"/>
            <a:ext cx="8663651" cy="646331"/>
          </a:xfrm>
          <a:prstGeom prst="rect">
            <a:avLst/>
          </a:prstGeom>
          <a:noFill/>
        </p:spPr>
        <p:txBody>
          <a:bodyPr wrap="square">
            <a:spAutoFit/>
          </a:bodyPr>
          <a:lstStyle/>
          <a:p>
            <a:r>
              <a:rPr lang="en-US" altLang="zh-CN" sz="1800" b="1" dirty="0"/>
              <a:t>Question</a:t>
            </a:r>
            <a:r>
              <a:rPr lang="zh-CN" altLang="en-US" sz="1800" dirty="0"/>
              <a:t> </a:t>
            </a:r>
            <a:r>
              <a:rPr lang="en-US" altLang="zh-CN" sz="1800" dirty="0"/>
              <a:t>from</a:t>
            </a:r>
            <a:r>
              <a:rPr lang="zh-CN" altLang="en-US" sz="1800" dirty="0"/>
              <a:t> </a:t>
            </a:r>
            <a:r>
              <a:rPr lang="en-US" altLang="zh-CN" sz="1800" dirty="0"/>
              <a:t>ANL:</a:t>
            </a:r>
            <a:r>
              <a:rPr lang="zh-CN" altLang="en-US" sz="1800" dirty="0"/>
              <a:t> </a:t>
            </a:r>
            <a:r>
              <a:rPr lang="en-US" altLang="zh-CN" dirty="0"/>
              <a:t>Computing</a:t>
            </a:r>
            <a:r>
              <a:rPr lang="zh-CN" altLang="en-US" dirty="0"/>
              <a:t> </a:t>
            </a:r>
            <a:r>
              <a:rPr lang="en-US" altLang="zh-CN" dirty="0"/>
              <a:t>running</a:t>
            </a:r>
            <a:r>
              <a:rPr lang="zh-CN" altLang="en-US" dirty="0"/>
              <a:t> </a:t>
            </a:r>
            <a:r>
              <a:rPr lang="en-US" altLang="zh-CN" dirty="0"/>
              <a:t>time</a:t>
            </a:r>
            <a:r>
              <a:rPr lang="zh-CN" altLang="en-US" dirty="0"/>
              <a:t> </a:t>
            </a:r>
            <a:r>
              <a:rPr lang="en-US" altLang="zh-CN" dirty="0"/>
              <a:t>increases</a:t>
            </a:r>
            <a:r>
              <a:rPr lang="zh-CN" altLang="en-US" dirty="0"/>
              <a:t> </a:t>
            </a:r>
            <a:r>
              <a:rPr lang="en-US" dirty="0"/>
              <a:t>pretty</a:t>
            </a:r>
            <a:r>
              <a:rPr lang="zh-CN" altLang="en-US" dirty="0"/>
              <a:t> </a:t>
            </a:r>
            <a:r>
              <a:rPr lang="en-US" altLang="zh-CN" dirty="0"/>
              <a:t>high</a:t>
            </a:r>
            <a:r>
              <a:rPr lang="zh-CN" altLang="en-US" dirty="0"/>
              <a:t> </a:t>
            </a:r>
            <a:r>
              <a:rPr lang="en-US" altLang="zh-CN" dirty="0"/>
              <a:t>in</a:t>
            </a:r>
            <a:r>
              <a:rPr lang="zh-CN" altLang="en-US" dirty="0"/>
              <a:t> </a:t>
            </a:r>
            <a:r>
              <a:rPr lang="en-US" altLang="zh-CN" dirty="0"/>
              <a:t>solver</a:t>
            </a:r>
            <a:r>
              <a:rPr lang="zh-CN" altLang="en-US" dirty="0"/>
              <a:t> </a:t>
            </a:r>
            <a:r>
              <a:rPr lang="en-US" altLang="zh-CN" dirty="0"/>
              <a:t>step</a:t>
            </a:r>
            <a:r>
              <a:rPr lang="zh-CN" altLang="en-US" dirty="0"/>
              <a:t> </a:t>
            </a:r>
            <a:r>
              <a:rPr lang="en-US" altLang="zh-CN" dirty="0"/>
              <a:t>6</a:t>
            </a:r>
            <a:r>
              <a:rPr lang="zh-CN" altLang="en-US" dirty="0"/>
              <a:t> </a:t>
            </a:r>
            <a:r>
              <a:rPr lang="en-US" dirty="0"/>
              <a:t>DEFAULT_STEP6_TRANSFER_LAMBDA = 0</a:t>
            </a:r>
            <a:r>
              <a:rPr lang="zh-CN" altLang="en-US" dirty="0"/>
              <a:t> </a:t>
            </a:r>
            <a:r>
              <a:rPr lang="en-US" altLang="zh-CN" dirty="0"/>
              <a:t>for</a:t>
            </a:r>
            <a:r>
              <a:rPr lang="zh-CN" altLang="en-US" dirty="0"/>
              <a:t> </a:t>
            </a:r>
            <a:r>
              <a:rPr lang="en-US" altLang="zh-CN" dirty="0"/>
              <a:t>r</a:t>
            </a:r>
            <a:r>
              <a:rPr lang="en-US" dirty="0"/>
              <a:t>ailroad transfer</a:t>
            </a:r>
            <a:r>
              <a:rPr lang="zh-CN" altLang="en-US" dirty="0"/>
              <a:t> </a:t>
            </a:r>
            <a:endParaRPr lang="en-US" sz="1800" dirty="0"/>
          </a:p>
        </p:txBody>
      </p:sp>
      <p:sp>
        <p:nvSpPr>
          <p:cNvPr id="4" name="TextBox 3">
            <a:extLst>
              <a:ext uri="{FF2B5EF4-FFF2-40B4-BE49-F238E27FC236}">
                <a16:creationId xmlns:a16="http://schemas.microsoft.com/office/drawing/2014/main" id="{B4A255DE-5213-BC76-29BA-B5A36469421D}"/>
              </a:ext>
            </a:extLst>
          </p:cNvPr>
          <p:cNvSpPr txBox="1"/>
          <p:nvPr/>
        </p:nvSpPr>
        <p:spPr>
          <a:xfrm>
            <a:off x="340538" y="1114341"/>
            <a:ext cx="9450731" cy="3265125"/>
          </a:xfrm>
          <a:prstGeom prst="rect">
            <a:avLst/>
          </a:prstGeom>
          <a:noFill/>
        </p:spPr>
        <p:txBody>
          <a:bodyPr wrap="square" rtlCol="0">
            <a:spAutoFit/>
          </a:bodyPr>
          <a:lstStyle/>
          <a:p>
            <a:pPr marL="256032" indent="-164592">
              <a:spcBef>
                <a:spcPts val="0"/>
              </a:spcBef>
              <a:spcAft>
                <a:spcPts val="254"/>
              </a:spcAft>
            </a:pPr>
            <a:r>
              <a:rPr lang="en-US" b="1" dirty="0"/>
              <a:t>Answer</a:t>
            </a:r>
            <a:r>
              <a:rPr lang="en-US" altLang="zh-CN" dirty="0"/>
              <a:t>:</a:t>
            </a:r>
            <a:r>
              <a:rPr lang="zh-CN" altLang="en-US" dirty="0"/>
              <a:t> </a:t>
            </a:r>
            <a:r>
              <a:rPr lang="en-US" altLang="zh-CN" dirty="0"/>
              <a:t>Because</a:t>
            </a:r>
            <a:r>
              <a:rPr lang="zh-CN" altLang="en-US" dirty="0"/>
              <a:t> </a:t>
            </a:r>
            <a:r>
              <a:rPr lang="en-US" altLang="zh-CN" dirty="0"/>
              <a:t>we</a:t>
            </a:r>
            <a:r>
              <a:rPr lang="zh-CN" altLang="en-US" dirty="0"/>
              <a:t> </a:t>
            </a:r>
            <a:r>
              <a:rPr lang="en-US" altLang="zh-CN" dirty="0"/>
              <a:t>have</a:t>
            </a:r>
            <a:r>
              <a:rPr lang="zh-CN" altLang="en-US" dirty="0"/>
              <a:t> </a:t>
            </a:r>
            <a:r>
              <a:rPr lang="en-US" altLang="zh-CN" dirty="0"/>
              <a:t>a</a:t>
            </a:r>
            <a:r>
              <a:rPr lang="zh-CN" altLang="en-US" dirty="0"/>
              <a:t> </a:t>
            </a:r>
            <a:r>
              <a:rPr lang="en-US" altLang="zh-CN" dirty="0"/>
              <a:t>high</a:t>
            </a:r>
            <a:r>
              <a:rPr lang="zh-CN" altLang="en-US" dirty="0"/>
              <a:t> </a:t>
            </a:r>
            <a:r>
              <a:rPr lang="en-US" altLang="zh-CN" dirty="0"/>
              <a:t>volume</a:t>
            </a:r>
            <a:r>
              <a:rPr lang="zh-CN" altLang="en-US" dirty="0"/>
              <a:t> </a:t>
            </a:r>
            <a:r>
              <a:rPr lang="en-US" altLang="zh-CN" dirty="0"/>
              <a:t>of</a:t>
            </a:r>
            <a:r>
              <a:rPr lang="zh-CN" altLang="en-US" dirty="0"/>
              <a:t> </a:t>
            </a:r>
            <a:r>
              <a:rPr lang="en-US" altLang="zh-CN" dirty="0"/>
              <a:t>links</a:t>
            </a:r>
            <a:r>
              <a:rPr lang="zh-CN" altLang="en-US" dirty="0"/>
              <a:t> </a:t>
            </a:r>
            <a:r>
              <a:rPr lang="en-US" altLang="zh-CN" dirty="0"/>
              <a:t>(880k~),</a:t>
            </a:r>
            <a:r>
              <a:rPr lang="zh-CN" altLang="en-US" dirty="0"/>
              <a:t> </a:t>
            </a:r>
            <a:r>
              <a:rPr lang="en-US" altLang="zh-CN" dirty="0"/>
              <a:t>any</a:t>
            </a:r>
            <a:r>
              <a:rPr lang="zh-CN" altLang="en-US" dirty="0"/>
              <a:t> </a:t>
            </a:r>
            <a:r>
              <a:rPr lang="en-US" altLang="zh-CN" dirty="0"/>
              <a:t>transfer</a:t>
            </a:r>
            <a:r>
              <a:rPr lang="zh-CN" altLang="en-US" dirty="0"/>
              <a:t> </a:t>
            </a:r>
            <a:r>
              <a:rPr lang="en-US" altLang="zh-CN" dirty="0"/>
              <a:t>will</a:t>
            </a:r>
            <a:r>
              <a:rPr lang="zh-CN" altLang="en-US" dirty="0"/>
              <a:t> </a:t>
            </a:r>
            <a:r>
              <a:rPr lang="en-US" altLang="zh-CN" dirty="0"/>
              <a:t>involve</a:t>
            </a:r>
            <a:r>
              <a:rPr lang="zh-CN" altLang="en-US" dirty="0"/>
              <a:t> </a:t>
            </a:r>
            <a:r>
              <a:rPr lang="en-US" altLang="zh-CN" dirty="0"/>
              <a:t>a</a:t>
            </a:r>
            <a:r>
              <a:rPr lang="zh-CN" altLang="en-US" dirty="0"/>
              <a:t> </a:t>
            </a:r>
            <a:r>
              <a:rPr lang="en-US" altLang="zh-CN" dirty="0"/>
              <a:t>lot</a:t>
            </a:r>
            <a:r>
              <a:rPr lang="zh-CN" altLang="en-US" dirty="0"/>
              <a:t> </a:t>
            </a:r>
            <a:r>
              <a:rPr lang="en-US" altLang="zh-CN" dirty="0"/>
              <a:t>links</a:t>
            </a:r>
            <a:r>
              <a:rPr lang="zh-CN" altLang="en-US" dirty="0"/>
              <a:t> </a:t>
            </a:r>
            <a:r>
              <a:rPr lang="en-US" sz="2039" dirty="0">
                <a:solidFill>
                  <a:srgbClr val="333333"/>
                </a:solidFill>
              </a:rPr>
              <a:t>all related network links and railroad transfer states</a:t>
            </a:r>
          </a:p>
          <a:p>
            <a:pPr>
              <a:spcBef>
                <a:spcPts val="0"/>
              </a:spcBef>
              <a:spcAft>
                <a:spcPts val="509"/>
              </a:spcAft>
            </a:pPr>
            <a:r>
              <a:rPr lang="en-US" sz="2039" dirty="0">
                <a:solidFill>
                  <a:srgbClr val="333333"/>
                </a:solidFill>
                <a:latin typeface="Calibri"/>
              </a:rPr>
              <a:t>A full Step 6 is usually not run only once — it is repeated for several rounds:</a:t>
            </a:r>
          </a:p>
          <a:p>
            <a:pPr lvl="8">
              <a:spcBef>
                <a:spcPts val="340"/>
              </a:spcBef>
              <a:spcAft>
                <a:spcPts val="680"/>
              </a:spcAft>
            </a:pPr>
            <a:r>
              <a:rPr lang="en-US" sz="1400" dirty="0">
                <a:solidFill>
                  <a:srgbClr val="333333"/>
                </a:solidFill>
                <a:latin typeface="Courier New"/>
              </a:rPr>
              <a:t>one routing pass</a:t>
            </a:r>
            <a:br>
              <a:rPr lang="en-US" sz="1400" dirty="0"/>
            </a:br>
            <a:r>
              <a:rPr lang="en-US" sz="1400" dirty="0">
                <a:solidFill>
                  <a:srgbClr val="333333"/>
                </a:solidFill>
                <a:latin typeface="Courier New"/>
              </a:rPr>
              <a:t>    ↓</a:t>
            </a:r>
            <a:br>
              <a:rPr lang="en-US" sz="1400" dirty="0"/>
            </a:br>
            <a:r>
              <a:rPr lang="en-US" sz="1400" dirty="0">
                <a:solidFill>
                  <a:srgbClr val="333333"/>
                </a:solidFill>
                <a:latin typeface="Courier New"/>
              </a:rPr>
              <a:t>MSA iteration 1</a:t>
            </a:r>
            <a:br>
              <a:rPr lang="en-US" sz="1400" dirty="0"/>
            </a:br>
            <a:r>
              <a:rPr lang="en-US" sz="1400" dirty="0">
                <a:solidFill>
                  <a:srgbClr val="333333"/>
                </a:solidFill>
                <a:latin typeface="Courier New"/>
              </a:rPr>
              <a:t>    ↓</a:t>
            </a:r>
            <a:br>
              <a:rPr lang="en-US" sz="1400" dirty="0"/>
            </a:br>
            <a:r>
              <a:rPr lang="en-US" sz="1400" dirty="0">
                <a:solidFill>
                  <a:srgbClr val="333333"/>
                </a:solidFill>
                <a:latin typeface="Courier New"/>
              </a:rPr>
              <a:t>MSA iteration 2</a:t>
            </a:r>
            <a:br>
              <a:rPr lang="en-US" sz="1400" dirty="0"/>
            </a:br>
            <a:r>
              <a:rPr lang="en-US" sz="1400" dirty="0">
                <a:solidFill>
                  <a:srgbClr val="333333"/>
                </a:solidFill>
                <a:latin typeface="Courier New"/>
              </a:rPr>
              <a:t>    ↓</a:t>
            </a:r>
            <a:br>
              <a:rPr lang="en-US" sz="1400" dirty="0"/>
            </a:br>
            <a:r>
              <a:rPr lang="en-US" sz="1400" dirty="0">
                <a:solidFill>
                  <a:srgbClr val="333333"/>
                </a:solidFill>
                <a:latin typeface="Courier New"/>
              </a:rPr>
              <a:t>...</a:t>
            </a:r>
            <a:br>
              <a:rPr lang="en-US" sz="1400" dirty="0"/>
            </a:br>
            <a:r>
              <a:rPr lang="en-US" sz="1400" dirty="0">
                <a:solidFill>
                  <a:srgbClr val="333333"/>
                </a:solidFill>
                <a:latin typeface="Courier New"/>
              </a:rPr>
              <a:t>perturbation runs</a:t>
            </a:r>
          </a:p>
          <a:p>
            <a:r>
              <a:rPr lang="zh-CN" altLang="en-US" dirty="0"/>
              <a:t> </a:t>
            </a:r>
            <a:endParaRPr lang="en-US" dirty="0"/>
          </a:p>
        </p:txBody>
      </p:sp>
      <p:sp>
        <p:nvSpPr>
          <p:cNvPr id="6" name="PageNumber"/>
          <p:cNvSpPr txBox="1"/>
          <p:nvPr/>
        </p:nvSpPr>
        <p:spPr>
          <a:xfrm>
            <a:off x="11109960" y="6382512"/>
            <a:ext cx="868680" cy="292608"/>
          </a:xfrm>
          <a:prstGeom prst="rect">
            <a:avLst/>
          </a:prstGeom>
          <a:noFill/>
        </p:spPr>
        <p:txBody>
          <a:bodyPr wrap="none" lIns="0" tIns="0" rIns="0" bIns="0">
            <a:spAutoFit/>
          </a:bodyPr>
          <a:lstStyle/>
          <a:p>
            <a:pPr algn="r"/>
            <a:r>
              <a:rPr sz="1100">
                <a:solidFill>
                  <a:srgbClr val="777777"/>
                </a:solidFill>
                <a:latin typeface="Calibri"/>
              </a:rPr>
              <a:t>3</a:t>
            </a:r>
          </a:p>
        </p:txBody>
      </p:sp>
      <p:sp>
        <p:nvSpPr>
          <p:cNvPr id="7" name="TextBox 6">
            <a:extLst>
              <a:ext uri="{FF2B5EF4-FFF2-40B4-BE49-F238E27FC236}">
                <a16:creationId xmlns:a16="http://schemas.microsoft.com/office/drawing/2014/main" id="{CD321244-D776-CB74-62F7-C7D6017D48C0}"/>
              </a:ext>
            </a:extLst>
          </p:cNvPr>
          <p:cNvSpPr txBox="1"/>
          <p:nvPr/>
        </p:nvSpPr>
        <p:spPr>
          <a:xfrm>
            <a:off x="523374" y="4015348"/>
            <a:ext cx="6100010" cy="369332"/>
          </a:xfrm>
          <a:prstGeom prst="rect">
            <a:avLst/>
          </a:prstGeom>
          <a:noFill/>
        </p:spPr>
        <p:txBody>
          <a:bodyPr wrap="square">
            <a:spAutoFit/>
          </a:bodyPr>
          <a:lstStyle/>
          <a:p>
            <a:pPr marL="285750" indent="-285750">
              <a:spcBef>
                <a:spcPts val="300"/>
              </a:spcBef>
              <a:spcAft>
                <a:spcPts val="600"/>
              </a:spcAft>
              <a:buFont typeface="Arial" panose="020B0604020202020204" pitchFamily="34" charset="0"/>
              <a:buChar char="•"/>
            </a:pPr>
            <a:r>
              <a:rPr lang="en-US" sz="1800" b="0" i="0" dirty="0">
                <a:solidFill>
                  <a:srgbClr val="333333"/>
                </a:solidFill>
                <a:latin typeface="Calibri"/>
              </a:rPr>
              <a:t>OpenMP thread count or compile options may differ.</a:t>
            </a:r>
          </a:p>
        </p:txBody>
      </p:sp>
      <p:sp>
        <p:nvSpPr>
          <p:cNvPr id="8" name="TextBox 7">
            <a:extLst>
              <a:ext uri="{FF2B5EF4-FFF2-40B4-BE49-F238E27FC236}">
                <a16:creationId xmlns:a16="http://schemas.microsoft.com/office/drawing/2014/main" id="{D36FC913-97ED-F573-36CC-F0166B7AD4AD}"/>
              </a:ext>
            </a:extLst>
          </p:cNvPr>
          <p:cNvSpPr txBox="1"/>
          <p:nvPr/>
        </p:nvSpPr>
        <p:spPr>
          <a:xfrm>
            <a:off x="771464" y="4485245"/>
            <a:ext cx="2518955" cy="369332"/>
          </a:xfrm>
          <a:prstGeom prst="rect">
            <a:avLst/>
          </a:prstGeom>
          <a:noFill/>
        </p:spPr>
        <p:txBody>
          <a:bodyPr wrap="square" rtlCol="0">
            <a:spAutoFit/>
          </a:bodyPr>
          <a:lstStyle/>
          <a:p>
            <a:r>
              <a:rPr lang="en-US" dirty="0"/>
              <a:t>Dry</a:t>
            </a:r>
            <a:r>
              <a:rPr lang="zh-CN" altLang="en-US" dirty="0"/>
              <a:t> </a:t>
            </a:r>
            <a:r>
              <a:rPr lang="en-US" altLang="zh-CN" dirty="0"/>
              <a:t>run</a:t>
            </a:r>
            <a:r>
              <a:rPr lang="zh-CN" altLang="en-US" dirty="0"/>
              <a:t> </a:t>
            </a:r>
            <a:r>
              <a:rPr lang="en-US" altLang="zh-CN" dirty="0"/>
              <a:t>on</a:t>
            </a:r>
            <a:r>
              <a:rPr lang="zh-CN" altLang="en-US" dirty="0"/>
              <a:t> </a:t>
            </a:r>
            <a:r>
              <a:rPr lang="en-US" altLang="zh-CN" dirty="0"/>
              <a:t>my</a:t>
            </a:r>
            <a:r>
              <a:rPr lang="zh-CN" altLang="en-US" dirty="0"/>
              <a:t> </a:t>
            </a:r>
            <a:r>
              <a:rPr lang="en-US" altLang="zh-CN" dirty="0"/>
              <a:t>end:</a:t>
            </a:r>
            <a:endParaRPr lang="en-US" dirty="0"/>
          </a:p>
        </p:txBody>
      </p:sp>
      <p:graphicFrame>
        <p:nvGraphicFramePr>
          <p:cNvPr id="9" name="Table 8">
            <a:extLst>
              <a:ext uri="{FF2B5EF4-FFF2-40B4-BE49-F238E27FC236}">
                <a16:creationId xmlns:a16="http://schemas.microsoft.com/office/drawing/2014/main" id="{0993526F-3902-71BD-3C35-609CBB42A7E2}"/>
              </a:ext>
            </a:extLst>
          </p:cNvPr>
          <p:cNvGraphicFramePr>
            <a:graphicFrameLocks noGrp="1"/>
          </p:cNvGraphicFramePr>
          <p:nvPr>
            <p:extLst>
              <p:ext uri="{D42A27DB-BD31-4B8C-83A1-F6EECF244321}">
                <p14:modId xmlns:p14="http://schemas.microsoft.com/office/powerpoint/2010/main" val="646363841"/>
              </p:ext>
            </p:extLst>
          </p:nvPr>
        </p:nvGraphicFramePr>
        <p:xfrm>
          <a:off x="867717" y="4955142"/>
          <a:ext cx="9443346" cy="1540041"/>
        </p:xfrm>
        <a:graphic>
          <a:graphicData uri="http://schemas.openxmlformats.org/drawingml/2006/table">
            <a:tbl>
              <a:tblPr firstRow="1">
                <a:tableStyleId>{616DA210-FB5B-4158-B5E0-FEB733F419BA}</a:tableStyleId>
              </a:tblPr>
              <a:tblGrid>
                <a:gridCol w="2611989">
                  <a:extLst>
                    <a:ext uri="{9D8B030D-6E8A-4147-A177-3AD203B41FA5}">
                      <a16:colId xmlns:a16="http://schemas.microsoft.com/office/drawing/2014/main" val="20000"/>
                    </a:ext>
                  </a:extLst>
                </a:gridCol>
                <a:gridCol w="2009223">
                  <a:extLst>
                    <a:ext uri="{9D8B030D-6E8A-4147-A177-3AD203B41FA5}">
                      <a16:colId xmlns:a16="http://schemas.microsoft.com/office/drawing/2014/main" val="20001"/>
                    </a:ext>
                  </a:extLst>
                </a:gridCol>
                <a:gridCol w="2411067">
                  <a:extLst>
                    <a:ext uri="{9D8B030D-6E8A-4147-A177-3AD203B41FA5}">
                      <a16:colId xmlns:a16="http://schemas.microsoft.com/office/drawing/2014/main" val="20002"/>
                    </a:ext>
                  </a:extLst>
                </a:gridCol>
                <a:gridCol w="2411067">
                  <a:extLst>
                    <a:ext uri="{9D8B030D-6E8A-4147-A177-3AD203B41FA5}">
                      <a16:colId xmlns:a16="http://schemas.microsoft.com/office/drawing/2014/main" val="20003"/>
                    </a:ext>
                  </a:extLst>
                </a:gridCol>
              </a:tblGrid>
              <a:tr h="513347">
                <a:tc>
                  <a:txBody>
                    <a:bodyPr/>
                    <a:lstStyle/>
                    <a:p>
                      <a:r>
                        <a:rPr sz="1600" b="1" dirty="0">
                          <a:solidFill>
                            <a:srgbClr val="333333"/>
                          </a:solidFill>
                        </a:rPr>
                        <a:t>Parameter</a:t>
                      </a:r>
                      <a:endParaRPr sz="1600" b="1" dirty="0">
                        <a:solidFill>
                          <a:srgbClr val="333333"/>
                        </a:solidFill>
                        <a:latin typeface="Calibri"/>
                      </a:endParaRPr>
                    </a:p>
                  </a:txBody>
                  <a:tcPr marL="54864" marR="54864" marT="18288" marB="18288" anchor="ctr"/>
                </a:tc>
                <a:tc>
                  <a:txBody>
                    <a:bodyPr/>
                    <a:lstStyle/>
                    <a:p>
                      <a:pPr algn="l"/>
                      <a:r>
                        <a:rPr sz="1600" b="1">
                          <a:solidFill>
                            <a:srgbClr val="333333"/>
                          </a:solidFill>
                        </a:rPr>
                        <a:t>Single run</a:t>
                      </a:r>
                      <a:endParaRPr sz="1600" b="1">
                        <a:solidFill>
                          <a:srgbClr val="333333"/>
                        </a:solidFill>
                        <a:latin typeface="Calibri"/>
                      </a:endParaRPr>
                    </a:p>
                  </a:txBody>
                  <a:tcPr marL="54864" marR="54864" marT="18288" marB="18288" anchor="ctr"/>
                </a:tc>
                <a:tc>
                  <a:txBody>
                    <a:bodyPr/>
                    <a:lstStyle/>
                    <a:p>
                      <a:pPr algn="l"/>
                      <a:r>
                        <a:rPr sz="1600" b="1">
                          <a:solidFill>
                            <a:srgbClr val="333333"/>
                          </a:solidFill>
                        </a:rPr>
                        <a:t>Total of 16 runs</a:t>
                      </a:r>
                      <a:endParaRPr sz="1600" b="1">
                        <a:solidFill>
                          <a:srgbClr val="333333"/>
                        </a:solidFill>
                        <a:latin typeface="Calibri"/>
                      </a:endParaRPr>
                    </a:p>
                  </a:txBody>
                  <a:tcPr marL="54864" marR="54864" marT="18288" marB="18288" anchor="ctr"/>
                </a:tc>
                <a:tc>
                  <a:txBody>
                    <a:bodyPr/>
                    <a:lstStyle/>
                    <a:p>
                      <a:pPr algn="l"/>
                      <a:r>
                        <a:rPr sz="1600" b="1" dirty="0">
                          <a:solidFill>
                            <a:srgbClr val="333333"/>
                          </a:solidFill>
                        </a:rPr>
                        <a:t>Approx.</a:t>
                      </a:r>
                      <a:endParaRPr sz="1600" b="1" dirty="0">
                        <a:solidFill>
                          <a:srgbClr val="333333"/>
                        </a:solidFill>
                        <a:latin typeface="Calibri"/>
                      </a:endParaRPr>
                    </a:p>
                  </a:txBody>
                  <a:tcPr marL="54864" marR="54864" marT="18288" marB="18288" anchor="ctr"/>
                </a:tc>
                <a:extLst>
                  <a:ext uri="{0D108BD9-81ED-4DB2-BD59-A6C34878D82A}">
                    <a16:rowId xmlns:a16="http://schemas.microsoft.com/office/drawing/2014/main" val="10000"/>
                  </a:ext>
                </a:extLst>
              </a:tr>
              <a:tr h="513347">
                <a:tc>
                  <a:txBody>
                    <a:bodyPr/>
                    <a:lstStyle/>
                    <a:p>
                      <a:r>
                        <a:rPr sz="1600" b="0">
                          <a:solidFill>
                            <a:srgbClr val="333333"/>
                          </a:solidFill>
                        </a:rPr>
                        <a:t>lambda=100</a:t>
                      </a:r>
                      <a:endParaRPr sz="1600" b="0">
                        <a:solidFill>
                          <a:srgbClr val="333333"/>
                        </a:solidFill>
                        <a:latin typeface="Calibri"/>
                      </a:endParaRPr>
                    </a:p>
                  </a:txBody>
                  <a:tcPr marL="54864" marR="54864" marT="18288" marB="18288" anchor="ctr"/>
                </a:tc>
                <a:tc>
                  <a:txBody>
                    <a:bodyPr/>
                    <a:lstStyle/>
                    <a:p>
                      <a:pPr algn="l"/>
                      <a:r>
                        <a:rPr sz="1600" b="0" dirty="0">
                          <a:solidFill>
                            <a:srgbClr val="333333"/>
                          </a:solidFill>
                        </a:rPr>
                        <a:t>231.8 s</a:t>
                      </a:r>
                      <a:endParaRPr sz="1600" b="0" dirty="0">
                        <a:solidFill>
                          <a:srgbClr val="333333"/>
                        </a:solidFill>
                        <a:latin typeface="Calibri"/>
                      </a:endParaRPr>
                    </a:p>
                  </a:txBody>
                  <a:tcPr marL="54864" marR="54864" marT="18288" marB="18288" anchor="ctr"/>
                </a:tc>
                <a:tc>
                  <a:txBody>
                    <a:bodyPr/>
                    <a:lstStyle/>
                    <a:p>
                      <a:pPr algn="l"/>
                      <a:r>
                        <a:rPr sz="1600" b="0" dirty="0">
                          <a:solidFill>
                            <a:srgbClr val="333333"/>
                          </a:solidFill>
                        </a:rPr>
                        <a:t>3,708.8 s</a:t>
                      </a:r>
                      <a:endParaRPr sz="1600" b="0" dirty="0">
                        <a:solidFill>
                          <a:srgbClr val="333333"/>
                        </a:solidFill>
                        <a:latin typeface="Calibri"/>
                      </a:endParaRPr>
                    </a:p>
                  </a:txBody>
                  <a:tcPr marL="54864" marR="54864" marT="18288" marB="18288" anchor="ctr"/>
                </a:tc>
                <a:tc>
                  <a:txBody>
                    <a:bodyPr/>
                    <a:lstStyle/>
                    <a:p>
                      <a:pPr algn="l"/>
                      <a:r>
                        <a:rPr sz="1600" b="0">
                          <a:solidFill>
                            <a:srgbClr val="333333"/>
                          </a:solidFill>
                        </a:rPr>
                        <a:t>about 61.8 min</a:t>
                      </a:r>
                      <a:endParaRPr sz="1600" b="0">
                        <a:solidFill>
                          <a:srgbClr val="333333"/>
                        </a:solidFill>
                        <a:latin typeface="Calibri"/>
                      </a:endParaRPr>
                    </a:p>
                  </a:txBody>
                  <a:tcPr marL="54864" marR="54864" marT="18288" marB="18288" anchor="ctr"/>
                </a:tc>
                <a:extLst>
                  <a:ext uri="{0D108BD9-81ED-4DB2-BD59-A6C34878D82A}">
                    <a16:rowId xmlns:a16="http://schemas.microsoft.com/office/drawing/2014/main" val="10001"/>
                  </a:ext>
                </a:extLst>
              </a:tr>
              <a:tr h="513347">
                <a:tc>
                  <a:txBody>
                    <a:bodyPr/>
                    <a:lstStyle/>
                    <a:p>
                      <a:r>
                        <a:rPr sz="1600" b="0" dirty="0">
                          <a:solidFill>
                            <a:srgbClr val="333333"/>
                          </a:solidFill>
                        </a:rPr>
                        <a:t>lambda=1000</a:t>
                      </a:r>
                      <a:endParaRPr sz="1600" b="0" dirty="0">
                        <a:solidFill>
                          <a:srgbClr val="333333"/>
                        </a:solidFill>
                        <a:latin typeface="Calibri"/>
                      </a:endParaRPr>
                    </a:p>
                  </a:txBody>
                  <a:tcPr marL="54864" marR="54864" marT="18288" marB="18288" anchor="ctr"/>
                </a:tc>
                <a:tc>
                  <a:txBody>
                    <a:bodyPr/>
                    <a:lstStyle/>
                    <a:p>
                      <a:pPr algn="l"/>
                      <a:r>
                        <a:rPr sz="1600" b="0">
                          <a:solidFill>
                            <a:srgbClr val="333333"/>
                          </a:solidFill>
                        </a:rPr>
                        <a:t>192.9 s</a:t>
                      </a:r>
                      <a:endParaRPr sz="1600" b="0">
                        <a:solidFill>
                          <a:srgbClr val="333333"/>
                        </a:solidFill>
                        <a:latin typeface="Calibri"/>
                      </a:endParaRPr>
                    </a:p>
                  </a:txBody>
                  <a:tcPr marL="54864" marR="54864" marT="18288" marB="18288" anchor="ctr"/>
                </a:tc>
                <a:tc>
                  <a:txBody>
                    <a:bodyPr/>
                    <a:lstStyle/>
                    <a:p>
                      <a:pPr algn="l"/>
                      <a:r>
                        <a:rPr sz="1600" b="0">
                          <a:solidFill>
                            <a:srgbClr val="333333"/>
                          </a:solidFill>
                        </a:rPr>
                        <a:t>3,086.4 s</a:t>
                      </a:r>
                      <a:endParaRPr sz="1600" b="0">
                        <a:solidFill>
                          <a:srgbClr val="333333"/>
                        </a:solidFill>
                        <a:latin typeface="Calibri"/>
                      </a:endParaRPr>
                    </a:p>
                  </a:txBody>
                  <a:tcPr marL="54864" marR="54864" marT="18288" marB="18288" anchor="ctr"/>
                </a:tc>
                <a:tc>
                  <a:txBody>
                    <a:bodyPr/>
                    <a:lstStyle/>
                    <a:p>
                      <a:pPr algn="l"/>
                      <a:r>
                        <a:rPr sz="1600" b="0" dirty="0">
                          <a:solidFill>
                            <a:srgbClr val="333333"/>
                          </a:solidFill>
                        </a:rPr>
                        <a:t>about 51.4 min</a:t>
                      </a:r>
                      <a:endParaRPr sz="1600" b="0" dirty="0">
                        <a:solidFill>
                          <a:srgbClr val="333333"/>
                        </a:solidFill>
                        <a:latin typeface="Calibri"/>
                      </a:endParaRPr>
                    </a:p>
                  </a:txBody>
                  <a:tcPr marL="54864" marR="54864" marT="18288" marB="18288"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67138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FADAF-7053-A285-E4F4-1D5BFF251F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BD6176-903E-1CB4-7D08-0DB3A9628029}"/>
              </a:ext>
            </a:extLst>
          </p:cNvPr>
          <p:cNvSpPr txBox="1"/>
          <p:nvPr/>
        </p:nvSpPr>
        <p:spPr>
          <a:xfrm>
            <a:off x="496948" y="306740"/>
            <a:ext cx="9450731" cy="369332"/>
          </a:xfrm>
          <a:prstGeom prst="rect">
            <a:avLst/>
          </a:prstGeom>
          <a:noFill/>
        </p:spPr>
        <p:txBody>
          <a:bodyPr wrap="square">
            <a:spAutoFit/>
          </a:bodyPr>
          <a:lstStyle/>
          <a:p>
            <a:r>
              <a:rPr lang="en-US" altLang="zh-CN" sz="1800" b="1" dirty="0"/>
              <a:t>Question</a:t>
            </a:r>
            <a:r>
              <a:rPr lang="zh-CN" altLang="en-US" sz="1800" dirty="0"/>
              <a:t> </a:t>
            </a:r>
            <a:r>
              <a:rPr lang="en-US" altLang="zh-CN" sz="1800" dirty="0"/>
              <a:t>from</a:t>
            </a:r>
            <a:r>
              <a:rPr lang="zh-CN" altLang="en-US" sz="1800" dirty="0"/>
              <a:t> </a:t>
            </a:r>
            <a:r>
              <a:rPr lang="en-US" altLang="zh-CN" sz="1800" dirty="0"/>
              <a:t>ANL:</a:t>
            </a:r>
            <a:r>
              <a:rPr lang="zh-CN" altLang="en-US" sz="1800" dirty="0"/>
              <a:t> </a:t>
            </a:r>
            <a:r>
              <a:rPr lang="en-US" altLang="zh-CN" sz="1800" dirty="0"/>
              <a:t>Found</a:t>
            </a:r>
            <a:r>
              <a:rPr lang="zh-CN" altLang="en-US" sz="1800" dirty="0"/>
              <a:t> </a:t>
            </a:r>
            <a:r>
              <a:rPr lang="en-US" altLang="zh-CN" sz="1800" dirty="0"/>
              <a:t>some</a:t>
            </a:r>
            <a:r>
              <a:rPr lang="zh-CN" altLang="en-US" sz="1800" dirty="0"/>
              <a:t> </a:t>
            </a:r>
            <a:r>
              <a:rPr lang="en-US" altLang="zh-CN" sz="1800" dirty="0"/>
              <a:t>route</a:t>
            </a:r>
            <a:r>
              <a:rPr lang="zh-CN" altLang="en-US" sz="1800" dirty="0"/>
              <a:t> </a:t>
            </a:r>
            <a:r>
              <a:rPr lang="en-US" altLang="zh-CN" sz="1800" dirty="0"/>
              <a:t>choice</a:t>
            </a:r>
            <a:r>
              <a:rPr lang="zh-CN" altLang="en-US" sz="1800" dirty="0"/>
              <a:t> </a:t>
            </a:r>
            <a:r>
              <a:rPr lang="en-US" altLang="zh-CN" dirty="0"/>
              <a:t>of</a:t>
            </a:r>
            <a:r>
              <a:rPr lang="zh-CN" altLang="en-US" dirty="0"/>
              <a:t> </a:t>
            </a:r>
            <a:r>
              <a:rPr lang="en-US" altLang="zh-CN" dirty="0"/>
              <a:t>Non</a:t>
            </a:r>
            <a:r>
              <a:rPr lang="zh-CN" altLang="en-US" dirty="0"/>
              <a:t> </a:t>
            </a:r>
            <a:r>
              <a:rPr lang="en-US" altLang="zh-CN" dirty="0"/>
              <a:t>BNSF</a:t>
            </a:r>
            <a:r>
              <a:rPr lang="zh-CN" altLang="en-US" dirty="0"/>
              <a:t> </a:t>
            </a:r>
            <a:r>
              <a:rPr lang="en-US" altLang="zh-CN" dirty="0"/>
              <a:t>company</a:t>
            </a:r>
            <a:r>
              <a:rPr lang="zh-CN" altLang="en-US" dirty="0"/>
              <a:t> </a:t>
            </a:r>
            <a:r>
              <a:rPr lang="en-US" altLang="zh-CN" dirty="0"/>
              <a:t>in</a:t>
            </a:r>
            <a:r>
              <a:rPr lang="zh-CN" altLang="en-US" dirty="0"/>
              <a:t> </a:t>
            </a:r>
            <a:r>
              <a:rPr lang="en-US" altLang="zh-CN" dirty="0"/>
              <a:t>Southern</a:t>
            </a:r>
            <a:r>
              <a:rPr lang="zh-CN" altLang="en-US" dirty="0"/>
              <a:t> </a:t>
            </a:r>
            <a:r>
              <a:rPr lang="en-US" altLang="zh-CN" dirty="0"/>
              <a:t>Transcon</a:t>
            </a:r>
            <a:r>
              <a:rPr lang="zh-CN" altLang="en-US" dirty="0"/>
              <a:t> </a:t>
            </a:r>
            <a:endParaRPr lang="en-US" sz="1800" dirty="0"/>
          </a:p>
        </p:txBody>
      </p:sp>
      <p:sp>
        <p:nvSpPr>
          <p:cNvPr id="4" name="TextBox 3">
            <a:extLst>
              <a:ext uri="{FF2B5EF4-FFF2-40B4-BE49-F238E27FC236}">
                <a16:creationId xmlns:a16="http://schemas.microsoft.com/office/drawing/2014/main" id="{D207BDFB-BA4E-1F5B-7049-B9486AED5BAF}"/>
              </a:ext>
            </a:extLst>
          </p:cNvPr>
          <p:cNvSpPr txBox="1"/>
          <p:nvPr/>
        </p:nvSpPr>
        <p:spPr>
          <a:xfrm>
            <a:off x="496947" y="885598"/>
            <a:ext cx="9450731" cy="1477328"/>
          </a:xfrm>
          <a:prstGeom prst="rect">
            <a:avLst/>
          </a:prstGeom>
          <a:noFill/>
        </p:spPr>
        <p:txBody>
          <a:bodyPr wrap="square" rtlCol="0">
            <a:spAutoFit/>
          </a:bodyPr>
          <a:lstStyle/>
          <a:p>
            <a:r>
              <a:rPr lang="en-US" b="1" dirty="0"/>
              <a:t>Answer</a:t>
            </a:r>
            <a:r>
              <a:rPr lang="en-US" altLang="zh-CN" dirty="0"/>
              <a:t>:</a:t>
            </a:r>
            <a:r>
              <a:rPr lang="zh-CN" altLang="en-US" dirty="0"/>
              <a:t> </a:t>
            </a:r>
            <a:r>
              <a:rPr lang="en-US" dirty="0"/>
              <a:t>The issue is confirmed. Under the current solver settings, railroad transfer penalties can reduce carrier switching but cannot make BNSF preferred. For the representative LA–Kansas Intermodal trip, the New Mexico–Kansas portion is indeed UP-dominant. A BNSF-specific preference, whitelist, or non-BNSF mileage penalty is required to force the trip to use BNSF fully or as much as possible.</a:t>
            </a:r>
          </a:p>
        </p:txBody>
      </p:sp>
      <p:sp>
        <p:nvSpPr>
          <p:cNvPr id="5" name="TextBox 4"/>
          <p:cNvSpPr txBox="1"/>
          <p:nvPr/>
        </p:nvSpPr>
        <p:spPr>
          <a:xfrm>
            <a:off x="502920" y="2697480"/>
            <a:ext cx="5685418" cy="3040576"/>
          </a:xfrm>
          <a:prstGeom prst="rect">
            <a:avLst/>
          </a:prstGeom>
          <a:noFill/>
        </p:spPr>
        <p:txBody>
          <a:bodyPr wrap="square" lIns="54864" tIns="0" rIns="54864" bIns="0">
            <a:spAutoFit/>
          </a:bodyPr>
          <a:lstStyle/>
          <a:p>
            <a:pPr>
              <a:spcBef>
                <a:spcPts val="0"/>
              </a:spcBef>
              <a:spcAft>
                <a:spcPts val="450"/>
              </a:spcAft>
            </a:pPr>
            <a:r>
              <a:rPr sz="1800" b="0" i="0" dirty="0">
                <a:solidFill>
                  <a:srgbClr val="333333"/>
                </a:solidFill>
                <a:latin typeface="Calibri"/>
              </a:rPr>
              <a:t>Yes. </a:t>
            </a:r>
            <a:r>
              <a:rPr sz="1800" b="0" i="0" dirty="0" err="1">
                <a:solidFill>
                  <a:srgbClr val="333333"/>
                </a:solidFill>
                <a:latin typeface="Calibri"/>
              </a:rPr>
              <a:t>transfer_lambda</a:t>
            </a:r>
            <a:r>
              <a:rPr sz="1800" b="0" i="0" dirty="0">
                <a:solidFill>
                  <a:srgbClr val="333333"/>
                </a:solidFill>
                <a:latin typeface="Calibri"/>
              </a:rPr>
              <a:t> alone cannot guarantee routing over BNSF — the key is the newly added corridor preference penalty.</a:t>
            </a:r>
          </a:p>
          <a:p>
            <a:pPr>
              <a:spcBef>
                <a:spcPts val="0"/>
              </a:spcBef>
              <a:spcAft>
                <a:spcPts val="450"/>
              </a:spcAft>
            </a:pPr>
            <a:r>
              <a:rPr sz="1800" b="0" i="0" dirty="0">
                <a:solidFill>
                  <a:srgbClr val="333333"/>
                </a:solidFill>
                <a:latin typeface="Calibri"/>
              </a:rPr>
              <a:t>A parameter combination worth showing is:</a:t>
            </a:r>
          </a:p>
          <a:p>
            <a:pPr>
              <a:spcBef>
                <a:spcPts val="300"/>
              </a:spcBef>
              <a:spcAft>
                <a:spcPts val="600"/>
              </a:spcAft>
            </a:pPr>
            <a:r>
              <a:rPr sz="1575" b="0" i="0" dirty="0">
                <a:solidFill>
                  <a:srgbClr val="333333"/>
                </a:solidFill>
                <a:latin typeface="Courier New"/>
              </a:rPr>
              <a:t>Step 4b </a:t>
            </a:r>
            <a:r>
              <a:rPr sz="1575" b="0" i="0" dirty="0" err="1">
                <a:solidFill>
                  <a:srgbClr val="333333"/>
                </a:solidFill>
                <a:latin typeface="Courier New"/>
              </a:rPr>
              <a:t>sequence_transfer_lambda_miles</a:t>
            </a:r>
            <a:r>
              <a:rPr sz="1575" b="0" i="0" dirty="0">
                <a:solidFill>
                  <a:srgbClr val="333333"/>
                </a:solidFill>
                <a:latin typeface="Courier New"/>
              </a:rPr>
              <a:t> = 100</a:t>
            </a:r>
            <a:br>
              <a:rPr dirty="0"/>
            </a:br>
            <a:r>
              <a:rPr sz="1575" b="0" i="0" dirty="0">
                <a:solidFill>
                  <a:srgbClr val="333333"/>
                </a:solidFill>
                <a:latin typeface="Courier New"/>
              </a:rPr>
              <a:t>Step 4b </a:t>
            </a:r>
            <a:r>
              <a:rPr sz="1575" b="0" i="0" dirty="0" err="1">
                <a:solidFill>
                  <a:srgbClr val="333333"/>
                </a:solidFill>
                <a:latin typeface="Courier New"/>
              </a:rPr>
              <a:t>sequence_max_transfer_count</a:t>
            </a:r>
            <a:r>
              <a:rPr sz="1575" b="0" i="0" dirty="0">
                <a:solidFill>
                  <a:srgbClr val="333333"/>
                </a:solidFill>
                <a:latin typeface="Courier New"/>
              </a:rPr>
              <a:t>    = 3</a:t>
            </a:r>
            <a:br>
              <a:rPr dirty="0"/>
            </a:br>
            <a:br>
              <a:rPr dirty="0"/>
            </a:br>
            <a:r>
              <a:rPr sz="1575" b="0" i="0" dirty="0">
                <a:solidFill>
                  <a:srgbClr val="333333"/>
                </a:solidFill>
                <a:latin typeface="Courier New"/>
              </a:rPr>
              <a:t>Step 6 </a:t>
            </a:r>
            <a:r>
              <a:rPr sz="1575" b="0" i="0" dirty="0" err="1">
                <a:solidFill>
                  <a:srgbClr val="333333"/>
                </a:solidFill>
                <a:latin typeface="Courier New"/>
              </a:rPr>
              <a:t>transfer_lambda</a:t>
            </a:r>
            <a:r>
              <a:rPr sz="1575" b="0" i="0" dirty="0">
                <a:solidFill>
                  <a:srgbClr val="333333"/>
                </a:solidFill>
                <a:latin typeface="Courier New"/>
              </a:rPr>
              <a:t>                 = 0</a:t>
            </a:r>
            <a:br>
              <a:rPr dirty="0"/>
            </a:br>
            <a:r>
              <a:rPr sz="1575" b="0" i="0" dirty="0">
                <a:solidFill>
                  <a:srgbClr val="333333"/>
                </a:solidFill>
                <a:latin typeface="Courier New"/>
              </a:rPr>
              <a:t>Step 6 </a:t>
            </a:r>
            <a:r>
              <a:rPr sz="1575" b="0" i="0" dirty="0" err="1">
                <a:solidFill>
                  <a:srgbClr val="333333"/>
                </a:solidFill>
                <a:latin typeface="Courier New"/>
              </a:rPr>
              <a:t>max_transfer_count</a:t>
            </a:r>
            <a:r>
              <a:rPr sz="1575" b="0" i="0" dirty="0">
                <a:solidFill>
                  <a:srgbClr val="333333"/>
                </a:solidFill>
                <a:latin typeface="Courier New"/>
              </a:rPr>
              <a:t>              = 3</a:t>
            </a:r>
            <a:br>
              <a:rPr dirty="0"/>
            </a:br>
            <a:br>
              <a:rPr dirty="0"/>
            </a:br>
            <a:r>
              <a:rPr sz="1575" b="1" i="0" dirty="0" err="1">
                <a:solidFill>
                  <a:srgbClr val="333333"/>
                </a:solidFill>
                <a:latin typeface="Courier New"/>
              </a:rPr>
              <a:t>corridor_nonowner_penalty</a:t>
            </a:r>
            <a:r>
              <a:rPr sz="1575" b="1" i="0" dirty="0">
                <a:solidFill>
                  <a:srgbClr val="333333"/>
                </a:solidFill>
                <a:latin typeface="Courier New"/>
              </a:rPr>
              <a:t>              = 5.0</a:t>
            </a:r>
          </a:p>
        </p:txBody>
      </p:sp>
      <p:graphicFrame>
        <p:nvGraphicFramePr>
          <p:cNvPr id="6" name="Table 5"/>
          <p:cNvGraphicFramePr>
            <a:graphicFrameLocks noGrp="1"/>
          </p:cNvGraphicFramePr>
          <p:nvPr>
            <p:extLst>
              <p:ext uri="{D42A27DB-BD31-4B8C-83A1-F6EECF244321}">
                <p14:modId xmlns:p14="http://schemas.microsoft.com/office/powerpoint/2010/main" val="3192905899"/>
              </p:ext>
            </p:extLst>
          </p:nvPr>
        </p:nvGraphicFramePr>
        <p:xfrm>
          <a:off x="6707604" y="3276338"/>
          <a:ext cx="5288281" cy="989045"/>
        </p:xfrm>
        <a:graphic>
          <a:graphicData uri="http://schemas.openxmlformats.org/drawingml/2006/table">
            <a:tbl>
              <a:tblPr firstRow="1">
                <a:tableStyleId>{5C22544A-7EE6-4342-B048-85BDC9FD1C3A}</a:tableStyleId>
              </a:tblPr>
              <a:tblGrid>
                <a:gridCol w="2237349">
                  <a:extLst>
                    <a:ext uri="{9D8B030D-6E8A-4147-A177-3AD203B41FA5}">
                      <a16:colId xmlns:a16="http://schemas.microsoft.com/office/drawing/2014/main" val="20000"/>
                    </a:ext>
                  </a:extLst>
                </a:gridCol>
                <a:gridCol w="1525466">
                  <a:extLst>
                    <a:ext uri="{9D8B030D-6E8A-4147-A177-3AD203B41FA5}">
                      <a16:colId xmlns:a16="http://schemas.microsoft.com/office/drawing/2014/main" val="20001"/>
                    </a:ext>
                  </a:extLst>
                </a:gridCol>
                <a:gridCol w="1525466">
                  <a:extLst>
                    <a:ext uri="{9D8B030D-6E8A-4147-A177-3AD203B41FA5}">
                      <a16:colId xmlns:a16="http://schemas.microsoft.com/office/drawing/2014/main" val="20002"/>
                    </a:ext>
                  </a:extLst>
                </a:gridCol>
              </a:tblGrid>
              <a:tr h="464789">
                <a:tc>
                  <a:txBody>
                    <a:bodyPr/>
                    <a:lstStyle/>
                    <a:p>
                      <a:r>
                        <a:rPr sz="1600" b="1" dirty="0">
                          <a:solidFill>
                            <a:srgbClr val="333333"/>
                          </a:solidFill>
                          <a:latin typeface="Calibri"/>
                        </a:rPr>
                        <a:t>Metric</a:t>
                      </a:r>
                    </a:p>
                  </a:txBody>
                  <a:tcPr marL="54864" marR="54864" marT="18288" marB="18288" anchor="ctr">
                    <a:noFill/>
                  </a:tcPr>
                </a:tc>
                <a:tc>
                  <a:txBody>
                    <a:bodyPr/>
                    <a:lstStyle/>
                    <a:p>
                      <a:pPr algn="l"/>
                      <a:r>
                        <a:rPr sz="1600" b="1">
                          <a:solidFill>
                            <a:srgbClr val="333333"/>
                          </a:solidFill>
                          <a:latin typeface="Calibri"/>
                        </a:rPr>
                        <a:t>Baseline</a:t>
                      </a:r>
                    </a:p>
                  </a:txBody>
                  <a:tcPr marL="54864" marR="54864" marT="18288" marB="18288" anchor="ctr">
                    <a:noFill/>
                  </a:tcPr>
                </a:tc>
                <a:tc>
                  <a:txBody>
                    <a:bodyPr/>
                    <a:lstStyle/>
                    <a:p>
                      <a:pPr algn="l"/>
                      <a:r>
                        <a:rPr sz="1600" b="1">
                          <a:solidFill>
                            <a:srgbClr val="333333"/>
                          </a:solidFill>
                          <a:latin typeface="Calibri"/>
                        </a:rPr>
                        <a:t>New parameters</a:t>
                      </a:r>
                    </a:p>
                  </a:txBody>
                  <a:tcPr marL="54864" marR="54864" marT="18288" marB="18288" anchor="ctr">
                    <a:noFill/>
                  </a:tcPr>
                </a:tc>
                <a:extLst>
                  <a:ext uri="{0D108BD9-81ED-4DB2-BD59-A6C34878D82A}">
                    <a16:rowId xmlns:a16="http://schemas.microsoft.com/office/drawing/2014/main" val="10000"/>
                  </a:ext>
                </a:extLst>
              </a:tr>
              <a:tr h="464789">
                <a:tc>
                  <a:txBody>
                    <a:bodyPr/>
                    <a:lstStyle/>
                    <a:p>
                      <a:r>
                        <a:rPr sz="1600" b="0" dirty="0">
                          <a:solidFill>
                            <a:srgbClr val="333333"/>
                          </a:solidFill>
                          <a:latin typeface="Calibri"/>
                        </a:rPr>
                        <a:t>BNSF total mileage</a:t>
                      </a:r>
                    </a:p>
                  </a:txBody>
                  <a:tcPr marL="54864" marR="54864" marT="18288" marB="18288" anchor="ctr">
                    <a:noFill/>
                  </a:tcPr>
                </a:tc>
                <a:tc>
                  <a:txBody>
                    <a:bodyPr/>
                    <a:lstStyle/>
                    <a:p>
                      <a:pPr algn="l"/>
                      <a:r>
                        <a:rPr sz="1600" b="0">
                          <a:solidFill>
                            <a:srgbClr val="333333"/>
                          </a:solidFill>
                          <a:latin typeface="Calibri"/>
                        </a:rPr>
                        <a:t>1,177.5 mi (67.9%)</a:t>
                      </a:r>
                    </a:p>
                  </a:txBody>
                  <a:tcPr marL="54864" marR="54864" marT="18288" marB="18288" anchor="ctr">
                    <a:noFill/>
                  </a:tcPr>
                </a:tc>
                <a:tc>
                  <a:txBody>
                    <a:bodyPr/>
                    <a:lstStyle/>
                    <a:p>
                      <a:pPr algn="l"/>
                      <a:r>
                        <a:rPr sz="1600" b="0" dirty="0">
                          <a:solidFill>
                            <a:srgbClr val="333333"/>
                          </a:solidFill>
                          <a:latin typeface="Calibri"/>
                        </a:rPr>
                        <a:t>1,</a:t>
                      </a:r>
                      <a:r>
                        <a:rPr lang="en-US" altLang="zh-CN" sz="1600" b="0" dirty="0">
                          <a:solidFill>
                            <a:srgbClr val="333333"/>
                          </a:solidFill>
                          <a:latin typeface="Calibri"/>
                        </a:rPr>
                        <a:t>815</a:t>
                      </a:r>
                      <a:r>
                        <a:rPr sz="1600" b="0" dirty="0">
                          <a:solidFill>
                            <a:srgbClr val="333333"/>
                          </a:solidFill>
                          <a:latin typeface="Calibri"/>
                        </a:rPr>
                        <a:t>.8 mi (9</a:t>
                      </a:r>
                      <a:r>
                        <a:rPr lang="en-US" altLang="zh-CN" sz="1600" b="0" dirty="0">
                          <a:solidFill>
                            <a:srgbClr val="333333"/>
                          </a:solidFill>
                          <a:latin typeface="Calibri"/>
                        </a:rPr>
                        <a:t>9</a:t>
                      </a:r>
                      <a:r>
                        <a:rPr sz="1600" b="0" dirty="0">
                          <a:solidFill>
                            <a:srgbClr val="333333"/>
                          </a:solidFill>
                          <a:latin typeface="Calibri"/>
                        </a:rPr>
                        <a:t>.</a:t>
                      </a:r>
                      <a:r>
                        <a:rPr lang="en-US" altLang="zh-CN" sz="1600" b="0" dirty="0">
                          <a:solidFill>
                            <a:srgbClr val="333333"/>
                          </a:solidFill>
                          <a:latin typeface="Calibri"/>
                        </a:rPr>
                        <a:t>6</a:t>
                      </a:r>
                      <a:r>
                        <a:rPr sz="1600" b="0" dirty="0">
                          <a:solidFill>
                            <a:srgbClr val="333333"/>
                          </a:solidFill>
                          <a:latin typeface="Calibri"/>
                        </a:rPr>
                        <a:t>%)</a:t>
                      </a:r>
                    </a:p>
                  </a:txBody>
                  <a:tcPr marL="54864" marR="54864" marT="18288" marB="18288" anchor="ctr">
                    <a:noFill/>
                  </a:tcPr>
                </a:tc>
                <a:extLst>
                  <a:ext uri="{0D108BD9-81ED-4DB2-BD59-A6C34878D82A}">
                    <a16:rowId xmlns:a16="http://schemas.microsoft.com/office/drawing/2014/main" val="10001"/>
                  </a:ext>
                </a:extLst>
              </a:tr>
            </a:tbl>
          </a:graphicData>
        </a:graphic>
      </p:graphicFrame>
      <p:sp>
        <p:nvSpPr>
          <p:cNvPr id="7" name="TextBox 6">
            <a:extLst>
              <a:ext uri="{FF2B5EF4-FFF2-40B4-BE49-F238E27FC236}">
                <a16:creationId xmlns:a16="http://schemas.microsoft.com/office/drawing/2014/main" id="{E40AEE75-750F-9CD1-48B6-A2845D779649}"/>
              </a:ext>
            </a:extLst>
          </p:cNvPr>
          <p:cNvSpPr txBox="1"/>
          <p:nvPr/>
        </p:nvSpPr>
        <p:spPr>
          <a:xfrm>
            <a:off x="6707604" y="2924395"/>
            <a:ext cx="5484396" cy="369332"/>
          </a:xfrm>
          <a:prstGeom prst="rect">
            <a:avLst/>
          </a:prstGeom>
          <a:noFill/>
        </p:spPr>
        <p:txBody>
          <a:bodyPr wrap="square">
            <a:spAutoFit/>
          </a:bodyPr>
          <a:lstStyle/>
          <a:p>
            <a:pPr>
              <a:spcBef>
                <a:spcPts val="0"/>
              </a:spcBef>
              <a:spcAft>
                <a:spcPts val="450"/>
              </a:spcAft>
            </a:pPr>
            <a:r>
              <a:rPr lang="en-US" dirty="0"/>
              <a:t>LA → Chicago O</a:t>
            </a:r>
            <a:r>
              <a:rPr lang="en-US" altLang="zh-CN" dirty="0"/>
              <a:t>D</a:t>
            </a:r>
            <a:r>
              <a:rPr lang="en-US" dirty="0"/>
              <a:t>s</a:t>
            </a:r>
            <a:r>
              <a:rPr lang="zh-CN" altLang="en-US" dirty="0"/>
              <a:t> </a:t>
            </a:r>
            <a:r>
              <a:rPr lang="en-US" sz="1800" b="0" i="0" dirty="0">
                <a:solidFill>
                  <a:srgbClr val="333333"/>
                </a:solidFill>
                <a:latin typeface="Calibri"/>
              </a:rPr>
              <a:t>result:</a:t>
            </a:r>
          </a:p>
        </p:txBody>
      </p:sp>
      <p:sp>
        <p:nvSpPr>
          <p:cNvPr id="8" name="PageNumber"/>
          <p:cNvSpPr txBox="1"/>
          <p:nvPr/>
        </p:nvSpPr>
        <p:spPr>
          <a:xfrm>
            <a:off x="11797925" y="6394544"/>
            <a:ext cx="72135" cy="169277"/>
          </a:xfrm>
          <a:prstGeom prst="rect">
            <a:avLst/>
          </a:prstGeom>
          <a:noFill/>
        </p:spPr>
        <p:txBody>
          <a:bodyPr wrap="none" lIns="0" tIns="0" rIns="0" bIns="0">
            <a:spAutoFit/>
          </a:bodyPr>
          <a:lstStyle/>
          <a:p>
            <a:pPr algn="r"/>
            <a:r>
              <a:rPr lang="en-US" altLang="zh-CN" sz="1100" dirty="0">
                <a:solidFill>
                  <a:srgbClr val="777777"/>
                </a:solidFill>
                <a:latin typeface="Calibri"/>
              </a:rPr>
              <a:t>4</a:t>
            </a:r>
            <a:endParaRPr sz="1100" dirty="0">
              <a:solidFill>
                <a:srgbClr val="777777"/>
              </a:solidFill>
              <a:latin typeface="Calibri"/>
            </a:endParaRPr>
          </a:p>
        </p:txBody>
      </p:sp>
      <p:pic>
        <p:nvPicPr>
          <p:cNvPr id="2" name="Picture 1">
            <a:extLst>
              <a:ext uri="{FF2B5EF4-FFF2-40B4-BE49-F238E27FC236}">
                <a16:creationId xmlns:a16="http://schemas.microsoft.com/office/drawing/2014/main" id="{20F09441-B706-2E89-532B-9CF046642260}"/>
              </a:ext>
            </a:extLst>
          </p:cNvPr>
          <p:cNvPicPr>
            <a:picLocks noChangeAspect="1"/>
          </p:cNvPicPr>
          <p:nvPr/>
        </p:nvPicPr>
        <p:blipFill>
          <a:blip r:embed="rId2"/>
          <a:stretch>
            <a:fillRect/>
          </a:stretch>
        </p:blipFill>
        <p:spPr>
          <a:xfrm>
            <a:off x="6384453" y="5135595"/>
            <a:ext cx="5611432" cy="969655"/>
          </a:xfrm>
          <a:prstGeom prst="rect">
            <a:avLst/>
          </a:prstGeom>
        </p:spPr>
      </p:pic>
      <p:sp>
        <p:nvSpPr>
          <p:cNvPr id="9" name="TextBox 8">
            <a:extLst>
              <a:ext uri="{FF2B5EF4-FFF2-40B4-BE49-F238E27FC236}">
                <a16:creationId xmlns:a16="http://schemas.microsoft.com/office/drawing/2014/main" id="{5D5FA88D-AFE2-8EBF-5DE0-DB6146388775}"/>
              </a:ext>
            </a:extLst>
          </p:cNvPr>
          <p:cNvSpPr txBox="1"/>
          <p:nvPr/>
        </p:nvSpPr>
        <p:spPr>
          <a:xfrm>
            <a:off x="6599320" y="4662216"/>
            <a:ext cx="1750596" cy="369332"/>
          </a:xfrm>
          <a:prstGeom prst="rect">
            <a:avLst/>
          </a:prstGeom>
          <a:noFill/>
        </p:spPr>
        <p:txBody>
          <a:bodyPr wrap="square" rtlCol="0">
            <a:spAutoFit/>
          </a:bodyPr>
          <a:lstStyle/>
          <a:p>
            <a:r>
              <a:rPr lang="en-US" altLang="zh-CN" dirty="0" err="1"/>
              <a:t>tap_</a:t>
            </a:r>
            <a:r>
              <a:rPr lang="en-US" dirty="0" err="1"/>
              <a:t>lite</a:t>
            </a:r>
            <a:r>
              <a:rPr lang="en-US" altLang="zh-CN" dirty="0" err="1"/>
              <a:t>_cg.cpp</a:t>
            </a:r>
            <a:r>
              <a:rPr lang="en-US" altLang="zh-CN" dirty="0"/>
              <a:t>:</a:t>
            </a:r>
            <a:endParaRPr lang="en-US" dirty="0"/>
          </a:p>
        </p:txBody>
      </p:sp>
    </p:spTree>
    <p:extLst>
      <p:ext uri="{BB962C8B-B14F-4D97-AF65-F5344CB8AC3E}">
        <p14:creationId xmlns:p14="http://schemas.microsoft.com/office/powerpoint/2010/main" val="2978769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30508DE-B7B0-DC77-B995-3BA22916E698}"/>
              </a:ext>
            </a:extLst>
          </p:cNvPr>
          <p:cNvPicPr>
            <a:picLocks noChangeAspect="1"/>
          </p:cNvPicPr>
          <p:nvPr/>
        </p:nvPicPr>
        <p:blipFill>
          <a:blip r:embed="rId2"/>
          <a:stretch>
            <a:fillRect/>
          </a:stretch>
        </p:blipFill>
        <p:spPr>
          <a:xfrm>
            <a:off x="5942105" y="764045"/>
            <a:ext cx="5292900" cy="3060954"/>
          </a:xfrm>
          <a:prstGeom prst="rect">
            <a:avLst/>
          </a:prstGeom>
        </p:spPr>
      </p:pic>
      <p:sp>
        <p:nvSpPr>
          <p:cNvPr id="6" name="TextBox 5"/>
          <p:cNvSpPr txBox="1"/>
          <p:nvPr/>
        </p:nvSpPr>
        <p:spPr>
          <a:xfrm>
            <a:off x="279132" y="853619"/>
            <a:ext cx="5486400" cy="646331"/>
          </a:xfrm>
          <a:prstGeom prst="rect">
            <a:avLst/>
          </a:prstGeom>
          <a:noFill/>
        </p:spPr>
        <p:txBody>
          <a:bodyPr wrap="square" lIns="54864" tIns="0" rIns="54864" bIns="0">
            <a:spAutoFit/>
          </a:bodyPr>
          <a:lstStyle/>
          <a:p>
            <a:pPr>
              <a:spcBef>
                <a:spcPts val="0"/>
              </a:spcBef>
              <a:spcAft>
                <a:spcPts val="450"/>
              </a:spcAft>
            </a:pPr>
            <a:r>
              <a:rPr sz="1400" b="0" i="0" dirty="0">
                <a:solidFill>
                  <a:srgbClr val="333333"/>
                </a:solidFill>
                <a:latin typeface="Calibri"/>
              </a:rPr>
              <a:t>The superscript + denotes the accumulation phase of queue buildup / oversaturation, i.e. from the onset of congestion T₀ until the queue reaches its maximum </a:t>
            </a:r>
            <a:r>
              <a:rPr sz="1400" b="0" i="0" dirty="0" err="1">
                <a:solidFill>
                  <a:srgbClr val="333333"/>
                </a:solidFill>
                <a:latin typeface="Calibri"/>
              </a:rPr>
              <a:t>T</a:t>
            </a:r>
            <a:r>
              <a:rPr sz="1400" b="0" i="0" baseline="-25000" dirty="0" err="1">
                <a:solidFill>
                  <a:srgbClr val="333333"/>
                </a:solidFill>
                <a:latin typeface="Calibri"/>
              </a:rPr>
              <a:t>p</a:t>
            </a:r>
            <a:r>
              <a:rPr sz="1400" b="0" i="0" dirty="0">
                <a:solidFill>
                  <a:srgbClr val="333333"/>
                </a:solidFill>
                <a:latin typeface="Calibri"/>
              </a:rPr>
              <a:t>:</a:t>
            </a:r>
          </a:p>
        </p:txBody>
      </p:sp>
      <p:pic>
        <p:nvPicPr>
          <p:cNvPr id="7" name="Picture 6" descr="940473d542c24702.png"/>
          <p:cNvPicPr>
            <a:picLocks noChangeAspect="1"/>
          </p:cNvPicPr>
          <p:nvPr/>
        </p:nvPicPr>
        <p:blipFill>
          <a:blip r:embed="rId3"/>
          <a:stretch>
            <a:fillRect/>
          </a:stretch>
        </p:blipFill>
        <p:spPr>
          <a:xfrm>
            <a:off x="2431290" y="1580506"/>
            <a:ext cx="695594" cy="267536"/>
          </a:xfrm>
          <a:prstGeom prst="rect">
            <a:avLst/>
          </a:prstGeom>
        </p:spPr>
      </p:pic>
      <p:sp>
        <p:nvSpPr>
          <p:cNvPr id="8" name="TextBox 7"/>
          <p:cNvSpPr txBox="1"/>
          <p:nvPr/>
        </p:nvSpPr>
        <p:spPr>
          <a:xfrm>
            <a:off x="272453" y="1739953"/>
            <a:ext cx="5486400" cy="215444"/>
          </a:xfrm>
          <a:prstGeom prst="rect">
            <a:avLst/>
          </a:prstGeom>
          <a:noFill/>
        </p:spPr>
        <p:txBody>
          <a:bodyPr wrap="square" lIns="54864" tIns="0" rIns="54864" bIns="0">
            <a:spAutoFit/>
          </a:bodyPr>
          <a:lstStyle/>
          <a:p>
            <a:pPr>
              <a:spcBef>
                <a:spcPts val="0"/>
              </a:spcBef>
              <a:spcAft>
                <a:spcPts val="450"/>
              </a:spcAft>
            </a:pPr>
            <a:r>
              <a:rPr sz="1400" b="0" i="0" dirty="0">
                <a:solidFill>
                  <a:srgbClr val="333333"/>
                </a:solidFill>
                <a:latin typeface="Calibri"/>
              </a:rPr>
              <a:t>Define:</a:t>
            </a:r>
          </a:p>
        </p:txBody>
      </p:sp>
      <p:pic>
        <p:nvPicPr>
          <p:cNvPr id="9" name="Picture 8" descr="903c1a3ad9ad2563.png"/>
          <p:cNvPicPr>
            <a:picLocks noChangeAspect="1"/>
          </p:cNvPicPr>
          <p:nvPr/>
        </p:nvPicPr>
        <p:blipFill>
          <a:blip r:embed="rId4"/>
          <a:stretch>
            <a:fillRect/>
          </a:stretch>
        </p:blipFill>
        <p:spPr>
          <a:xfrm>
            <a:off x="1892312" y="2016762"/>
            <a:ext cx="1890956" cy="794825"/>
          </a:xfrm>
          <a:prstGeom prst="rect">
            <a:avLst/>
          </a:prstGeom>
        </p:spPr>
      </p:pic>
      <p:sp>
        <p:nvSpPr>
          <p:cNvPr id="10" name="TextBox 9"/>
          <p:cNvSpPr txBox="1"/>
          <p:nvPr/>
        </p:nvSpPr>
        <p:spPr>
          <a:xfrm>
            <a:off x="272453" y="2910156"/>
            <a:ext cx="5486400" cy="215444"/>
          </a:xfrm>
          <a:prstGeom prst="rect">
            <a:avLst/>
          </a:prstGeom>
          <a:noFill/>
        </p:spPr>
        <p:txBody>
          <a:bodyPr wrap="square" lIns="54864" tIns="0" rIns="54864" bIns="0">
            <a:spAutoFit/>
          </a:bodyPr>
          <a:lstStyle/>
          <a:p>
            <a:pPr>
              <a:spcBef>
                <a:spcPts val="0"/>
              </a:spcBef>
              <a:spcAft>
                <a:spcPts val="450"/>
              </a:spcAft>
            </a:pPr>
            <a:r>
              <a:rPr sz="1400" b="0" i="0" dirty="0">
                <a:solidFill>
                  <a:srgbClr val="333333"/>
                </a:solidFill>
                <a:latin typeface="Calibri"/>
              </a:rPr>
              <a:t>the cumulative number of trains arriving in this period;</a:t>
            </a:r>
          </a:p>
        </p:txBody>
      </p:sp>
      <p:pic>
        <p:nvPicPr>
          <p:cNvPr id="11" name="Picture 10" descr="6e6094f4a3b4ead2.png"/>
          <p:cNvPicPr>
            <a:picLocks noChangeAspect="1"/>
          </p:cNvPicPr>
          <p:nvPr/>
        </p:nvPicPr>
        <p:blipFill>
          <a:blip r:embed="rId5"/>
          <a:stretch>
            <a:fillRect/>
          </a:stretch>
        </p:blipFill>
        <p:spPr>
          <a:xfrm>
            <a:off x="1892312" y="3235222"/>
            <a:ext cx="1890956" cy="794824"/>
          </a:xfrm>
          <a:prstGeom prst="rect">
            <a:avLst/>
          </a:prstGeom>
        </p:spPr>
      </p:pic>
      <p:sp>
        <p:nvSpPr>
          <p:cNvPr id="12" name="TextBox 11"/>
          <p:cNvSpPr txBox="1"/>
          <p:nvPr/>
        </p:nvSpPr>
        <p:spPr>
          <a:xfrm>
            <a:off x="272453" y="4105696"/>
            <a:ext cx="5486400" cy="710451"/>
          </a:xfrm>
          <a:prstGeom prst="rect">
            <a:avLst/>
          </a:prstGeom>
          <a:noFill/>
        </p:spPr>
        <p:txBody>
          <a:bodyPr wrap="square" lIns="54864" tIns="0" rIns="54864" bIns="0">
            <a:spAutoFit/>
          </a:bodyPr>
          <a:lstStyle/>
          <a:p>
            <a:pPr>
              <a:spcBef>
                <a:spcPts val="0"/>
              </a:spcBef>
              <a:spcAft>
                <a:spcPts val="450"/>
              </a:spcAft>
            </a:pPr>
            <a:r>
              <a:rPr sz="1400" b="0" i="0" dirty="0">
                <a:solidFill>
                  <a:srgbClr val="333333"/>
                </a:solidFill>
                <a:latin typeface="Calibri"/>
              </a:rPr>
              <a:t>the cumulative number of trains that can be served / released in the same period.</a:t>
            </a:r>
          </a:p>
          <a:p>
            <a:pPr>
              <a:spcBef>
                <a:spcPts val="0"/>
              </a:spcBef>
              <a:spcAft>
                <a:spcPts val="450"/>
              </a:spcAft>
            </a:pPr>
            <a:r>
              <a:rPr sz="1400" b="0" i="0" dirty="0">
                <a:solidFill>
                  <a:srgbClr val="333333"/>
                </a:solidFill>
                <a:latin typeface="Calibri"/>
              </a:rPr>
              <a:t>So the difference between the two is the backlog:</a:t>
            </a:r>
          </a:p>
        </p:txBody>
      </p:sp>
      <p:pic>
        <p:nvPicPr>
          <p:cNvPr id="13" name="Picture 12" descr="abec73d08e8f2ce7.png"/>
          <p:cNvPicPr>
            <a:picLocks noChangeAspect="1"/>
          </p:cNvPicPr>
          <p:nvPr/>
        </p:nvPicPr>
        <p:blipFill>
          <a:blip r:embed="rId6"/>
          <a:stretch>
            <a:fillRect/>
          </a:stretch>
        </p:blipFill>
        <p:spPr>
          <a:xfrm>
            <a:off x="1790513" y="4984805"/>
            <a:ext cx="2463635" cy="480840"/>
          </a:xfrm>
          <a:prstGeom prst="rect">
            <a:avLst/>
          </a:prstGeom>
        </p:spPr>
      </p:pic>
      <p:sp>
        <p:nvSpPr>
          <p:cNvPr id="14" name="PageNumber"/>
          <p:cNvSpPr txBox="1"/>
          <p:nvPr/>
        </p:nvSpPr>
        <p:spPr>
          <a:xfrm>
            <a:off x="11906504" y="6382512"/>
            <a:ext cx="72136" cy="169277"/>
          </a:xfrm>
          <a:prstGeom prst="rect">
            <a:avLst/>
          </a:prstGeom>
          <a:noFill/>
        </p:spPr>
        <p:txBody>
          <a:bodyPr wrap="none" lIns="0" tIns="0" rIns="0" bIns="0">
            <a:spAutoFit/>
          </a:bodyPr>
          <a:lstStyle/>
          <a:p>
            <a:pPr algn="r"/>
            <a:r>
              <a:rPr lang="en-US" altLang="zh-CN" sz="1100" dirty="0">
                <a:solidFill>
                  <a:srgbClr val="777777"/>
                </a:solidFill>
                <a:latin typeface="Calibri"/>
              </a:rPr>
              <a:t>5</a:t>
            </a:r>
            <a:endParaRPr sz="1100" dirty="0">
              <a:solidFill>
                <a:srgbClr val="777777"/>
              </a:solidFill>
              <a:latin typeface="Calibri"/>
            </a:endParaRPr>
          </a:p>
        </p:txBody>
      </p:sp>
      <p:sp>
        <p:nvSpPr>
          <p:cNvPr id="2" name="TextBox 1">
            <a:extLst>
              <a:ext uri="{FF2B5EF4-FFF2-40B4-BE49-F238E27FC236}">
                <a16:creationId xmlns:a16="http://schemas.microsoft.com/office/drawing/2014/main" id="{61EA6B28-48DA-1633-AD63-F26B658B129B}"/>
              </a:ext>
            </a:extLst>
          </p:cNvPr>
          <p:cNvSpPr txBox="1"/>
          <p:nvPr/>
        </p:nvSpPr>
        <p:spPr>
          <a:xfrm>
            <a:off x="6096000" y="3736112"/>
            <a:ext cx="6035040" cy="276999"/>
          </a:xfrm>
          <a:prstGeom prst="rect">
            <a:avLst/>
          </a:prstGeom>
          <a:noFill/>
        </p:spPr>
        <p:txBody>
          <a:bodyPr wrap="square" lIns="54864" tIns="0" rIns="54864" bIns="0">
            <a:spAutoFit/>
          </a:bodyPr>
          <a:lstStyle/>
          <a:p>
            <a:pPr>
              <a:spcBef>
                <a:spcPts val="760"/>
              </a:spcBef>
              <a:spcAft>
                <a:spcPts val="284"/>
              </a:spcAft>
            </a:pPr>
            <a:r>
              <a:rPr b="1" i="0" dirty="0">
                <a:solidFill>
                  <a:srgbClr val="1A1A1A"/>
                </a:solidFill>
                <a:latin typeface="Calibri"/>
              </a:rPr>
              <a:t>What is </a:t>
            </a:r>
            <a:r>
              <a:rPr b="1" i="0" dirty="0" err="1">
                <a:solidFill>
                  <a:srgbClr val="1A1A1A"/>
                </a:solidFill>
                <a:latin typeface="Calibri"/>
              </a:rPr>
              <a:t>μ</a:t>
            </a:r>
            <a:r>
              <a:rPr b="1" i="0" dirty="0">
                <a:solidFill>
                  <a:srgbClr val="1A1A1A"/>
                </a:solidFill>
                <a:latin typeface="Calibri"/>
              </a:rPr>
              <a:t>?</a:t>
            </a:r>
          </a:p>
        </p:txBody>
      </p:sp>
      <p:pic>
        <p:nvPicPr>
          <p:cNvPr id="3" name="Picture 2" descr="dbe58d37aa95b45b.png">
            <a:extLst>
              <a:ext uri="{FF2B5EF4-FFF2-40B4-BE49-F238E27FC236}">
                <a16:creationId xmlns:a16="http://schemas.microsoft.com/office/drawing/2014/main" id="{96B214C7-A68D-5E2F-4834-B31F52A9C696}"/>
              </a:ext>
            </a:extLst>
          </p:cNvPr>
          <p:cNvPicPr>
            <a:picLocks noChangeAspect="1"/>
          </p:cNvPicPr>
          <p:nvPr/>
        </p:nvPicPr>
        <p:blipFill>
          <a:blip r:embed="rId7"/>
          <a:stretch>
            <a:fillRect/>
          </a:stretch>
        </p:blipFill>
        <p:spPr>
          <a:xfrm>
            <a:off x="7727758" y="4148614"/>
            <a:ext cx="2771523" cy="340088"/>
          </a:xfrm>
          <a:prstGeom prst="rect">
            <a:avLst/>
          </a:prstGeom>
        </p:spPr>
      </p:pic>
      <p:sp>
        <p:nvSpPr>
          <p:cNvPr id="4" name="TextBox 3">
            <a:extLst>
              <a:ext uri="{FF2B5EF4-FFF2-40B4-BE49-F238E27FC236}">
                <a16:creationId xmlns:a16="http://schemas.microsoft.com/office/drawing/2014/main" id="{4782C644-EAD1-DBD3-0B23-9642BF2486B7}"/>
              </a:ext>
            </a:extLst>
          </p:cNvPr>
          <p:cNvSpPr txBox="1"/>
          <p:nvPr/>
        </p:nvSpPr>
        <p:spPr>
          <a:xfrm>
            <a:off x="6096000" y="4549510"/>
            <a:ext cx="6035040" cy="215444"/>
          </a:xfrm>
          <a:prstGeom prst="rect">
            <a:avLst/>
          </a:prstGeom>
          <a:noFill/>
        </p:spPr>
        <p:txBody>
          <a:bodyPr wrap="square" lIns="54864" tIns="0" rIns="54864" bIns="0">
            <a:spAutoFit/>
          </a:bodyPr>
          <a:lstStyle/>
          <a:p>
            <a:pPr>
              <a:spcBef>
                <a:spcPts val="0"/>
              </a:spcBef>
              <a:spcAft>
                <a:spcPts val="284"/>
              </a:spcAft>
            </a:pPr>
            <a:r>
              <a:rPr sz="1400" b="0" i="0" dirty="0">
                <a:solidFill>
                  <a:srgbClr val="333333"/>
                </a:solidFill>
                <a:latin typeface="Calibri"/>
              </a:rPr>
              <a:t>The unit is usually:</a:t>
            </a:r>
          </a:p>
        </p:txBody>
      </p:sp>
      <p:sp>
        <p:nvSpPr>
          <p:cNvPr id="15" name="TextBox 14">
            <a:extLst>
              <a:ext uri="{FF2B5EF4-FFF2-40B4-BE49-F238E27FC236}">
                <a16:creationId xmlns:a16="http://schemas.microsoft.com/office/drawing/2014/main" id="{355035B4-6B3F-B6DD-2F20-B7BB15575755}"/>
              </a:ext>
            </a:extLst>
          </p:cNvPr>
          <p:cNvSpPr txBox="1"/>
          <p:nvPr/>
        </p:nvSpPr>
        <p:spPr>
          <a:xfrm>
            <a:off x="6096000" y="4909097"/>
            <a:ext cx="6035040" cy="469359"/>
          </a:xfrm>
          <a:prstGeom prst="rect">
            <a:avLst/>
          </a:prstGeom>
          <a:noFill/>
        </p:spPr>
        <p:txBody>
          <a:bodyPr wrap="square" lIns="54864" tIns="0" rIns="54864" bIns="0">
            <a:spAutoFit/>
          </a:bodyPr>
          <a:lstStyle/>
          <a:p>
            <a:pPr>
              <a:spcBef>
                <a:spcPts val="0"/>
              </a:spcBef>
              <a:spcAft>
                <a:spcPts val="284"/>
              </a:spcAft>
            </a:pPr>
            <a:r>
              <a:rPr sz="1400" b="0" i="0" dirty="0">
                <a:solidFill>
                  <a:srgbClr val="333333"/>
                </a:solidFill>
                <a:latin typeface="Calibri"/>
              </a:rPr>
              <a:t>i.e. how many trains this resource can “digest” per minute.</a:t>
            </a:r>
          </a:p>
          <a:p>
            <a:pPr>
              <a:spcBef>
                <a:spcPts val="0"/>
              </a:spcBef>
              <a:spcAft>
                <a:spcPts val="284"/>
              </a:spcAft>
            </a:pPr>
            <a:r>
              <a:rPr sz="1400" b="0" i="0" dirty="0">
                <a:solidFill>
                  <a:srgbClr val="333333"/>
                </a:solidFill>
                <a:latin typeface="Calibri"/>
              </a:rPr>
              <a:t>For example, with your current 30-min Fluid Queue baseline:</a:t>
            </a:r>
          </a:p>
        </p:txBody>
      </p:sp>
      <p:pic>
        <p:nvPicPr>
          <p:cNvPr id="16" name="Picture 15" descr="51f07acfbf291806.png">
            <a:extLst>
              <a:ext uri="{FF2B5EF4-FFF2-40B4-BE49-F238E27FC236}">
                <a16:creationId xmlns:a16="http://schemas.microsoft.com/office/drawing/2014/main" id="{6433357B-F161-53DC-CE1B-E728A8626A71}"/>
              </a:ext>
            </a:extLst>
          </p:cNvPr>
          <p:cNvPicPr>
            <a:picLocks noChangeAspect="1"/>
          </p:cNvPicPr>
          <p:nvPr/>
        </p:nvPicPr>
        <p:blipFill>
          <a:blip r:embed="rId8"/>
          <a:stretch>
            <a:fillRect/>
          </a:stretch>
        </p:blipFill>
        <p:spPr>
          <a:xfrm>
            <a:off x="8226161" y="5522599"/>
            <a:ext cx="1774713" cy="222816"/>
          </a:xfrm>
          <a:prstGeom prst="rect">
            <a:avLst/>
          </a:prstGeom>
        </p:spPr>
      </p:pic>
      <p:pic>
        <p:nvPicPr>
          <p:cNvPr id="18" name="Picture 17" descr="bc4b3b5f095c6a0b.png">
            <a:extLst>
              <a:ext uri="{FF2B5EF4-FFF2-40B4-BE49-F238E27FC236}">
                <a16:creationId xmlns:a16="http://schemas.microsoft.com/office/drawing/2014/main" id="{5220E434-CD24-ECE4-3A9B-848BA1DE114E}"/>
              </a:ext>
            </a:extLst>
          </p:cNvPr>
          <p:cNvPicPr>
            <a:picLocks noChangeAspect="1"/>
          </p:cNvPicPr>
          <p:nvPr/>
        </p:nvPicPr>
        <p:blipFill>
          <a:blip r:embed="rId9"/>
          <a:stretch>
            <a:fillRect/>
          </a:stretch>
        </p:blipFill>
        <p:spPr>
          <a:xfrm>
            <a:off x="8226161" y="5889558"/>
            <a:ext cx="1702056" cy="595027"/>
          </a:xfrm>
          <a:prstGeom prst="rect">
            <a:avLst/>
          </a:prstGeom>
        </p:spPr>
      </p:pic>
      <p:sp>
        <p:nvSpPr>
          <p:cNvPr id="21" name="TextBox 20">
            <a:extLst>
              <a:ext uri="{FF2B5EF4-FFF2-40B4-BE49-F238E27FC236}">
                <a16:creationId xmlns:a16="http://schemas.microsoft.com/office/drawing/2014/main" id="{121309DB-4B20-3209-D01D-8BB2619C7823}"/>
              </a:ext>
            </a:extLst>
          </p:cNvPr>
          <p:cNvSpPr txBox="1"/>
          <p:nvPr/>
        </p:nvSpPr>
        <p:spPr>
          <a:xfrm>
            <a:off x="272452" y="79717"/>
            <a:ext cx="7740579" cy="523220"/>
          </a:xfrm>
          <a:prstGeom prst="rect">
            <a:avLst/>
          </a:prstGeom>
          <a:noFill/>
        </p:spPr>
        <p:txBody>
          <a:bodyPr wrap="square">
            <a:spAutoFit/>
          </a:bodyPr>
          <a:lstStyle/>
          <a:p>
            <a:pPr>
              <a:spcBef>
                <a:spcPts val="960"/>
              </a:spcBef>
              <a:spcAft>
                <a:spcPts val="359"/>
              </a:spcAft>
            </a:pPr>
            <a:r>
              <a:rPr lang="en-US" altLang="zh-CN" sz="2800" b="1" i="0" dirty="0">
                <a:solidFill>
                  <a:srgbClr val="1A1A1A"/>
                </a:solidFill>
                <a:latin typeface="Calibri"/>
              </a:rPr>
              <a:t>Update</a:t>
            </a:r>
            <a:r>
              <a:rPr lang="zh-CN" altLang="en-US" sz="2800" b="1" i="0" dirty="0">
                <a:solidFill>
                  <a:srgbClr val="1A1A1A"/>
                </a:solidFill>
                <a:latin typeface="Calibri"/>
              </a:rPr>
              <a:t> </a:t>
            </a:r>
            <a:r>
              <a:rPr lang="en-US" altLang="zh-CN" sz="2800" b="1" i="0" dirty="0">
                <a:solidFill>
                  <a:srgbClr val="1A1A1A"/>
                </a:solidFill>
                <a:latin typeface="Calibri"/>
              </a:rPr>
              <a:t>for</a:t>
            </a:r>
            <a:r>
              <a:rPr lang="zh-CN" altLang="en-US" sz="2800" b="1" i="0" dirty="0">
                <a:solidFill>
                  <a:srgbClr val="1A1A1A"/>
                </a:solidFill>
                <a:latin typeface="Calibri"/>
              </a:rPr>
              <a:t> </a:t>
            </a:r>
            <a:r>
              <a:rPr lang="en-US" altLang="zh-CN" sz="2800" b="1" i="0" dirty="0">
                <a:solidFill>
                  <a:srgbClr val="1A1A1A"/>
                </a:solidFill>
                <a:latin typeface="Calibri"/>
              </a:rPr>
              <a:t>this</a:t>
            </a:r>
            <a:r>
              <a:rPr lang="zh-CN" altLang="en-US" sz="2800" b="1" i="0" dirty="0">
                <a:solidFill>
                  <a:srgbClr val="1A1A1A"/>
                </a:solidFill>
                <a:latin typeface="Calibri"/>
              </a:rPr>
              <a:t> </a:t>
            </a:r>
            <a:r>
              <a:rPr lang="en-US" altLang="zh-CN" sz="2800" b="1" i="0" dirty="0">
                <a:solidFill>
                  <a:srgbClr val="1A1A1A"/>
                </a:solidFill>
                <a:latin typeface="Calibri"/>
              </a:rPr>
              <a:t>week:</a:t>
            </a:r>
            <a:r>
              <a:rPr lang="zh-CN" altLang="en-US" sz="2800" b="1" i="0" dirty="0">
                <a:solidFill>
                  <a:srgbClr val="1A1A1A"/>
                </a:solidFill>
                <a:latin typeface="Calibri"/>
              </a:rPr>
              <a:t> </a:t>
            </a:r>
            <a:r>
              <a:rPr lang="en-US" sz="2800" b="1" i="0" dirty="0">
                <a:solidFill>
                  <a:srgbClr val="1A1A1A"/>
                </a:solidFill>
                <a:latin typeface="Calibri"/>
              </a:rPr>
              <a:t>Fluid Queue Interpretation</a:t>
            </a:r>
          </a:p>
        </p:txBody>
      </p:sp>
      <p:pic>
        <p:nvPicPr>
          <p:cNvPr id="22" name="Picture 21">
            <a:extLst>
              <a:ext uri="{FF2B5EF4-FFF2-40B4-BE49-F238E27FC236}">
                <a16:creationId xmlns:a16="http://schemas.microsoft.com/office/drawing/2014/main" id="{EEED4817-EACE-964F-0127-C0BD31568E22}"/>
              </a:ext>
            </a:extLst>
          </p:cNvPr>
          <p:cNvPicPr>
            <a:picLocks noChangeAspect="1"/>
          </p:cNvPicPr>
          <p:nvPr/>
        </p:nvPicPr>
        <p:blipFill>
          <a:blip r:embed="rId10"/>
          <a:stretch>
            <a:fillRect/>
          </a:stretch>
        </p:blipFill>
        <p:spPr>
          <a:xfrm>
            <a:off x="60960" y="5872476"/>
            <a:ext cx="6561484" cy="712332"/>
          </a:xfrm>
          <a:prstGeom prst="rect">
            <a:avLst/>
          </a:prstGeom>
        </p:spPr>
      </p:pic>
    </p:spTree>
    <p:extLst>
      <p:ext uri="{BB962C8B-B14F-4D97-AF65-F5344CB8AC3E}">
        <p14:creationId xmlns:p14="http://schemas.microsoft.com/office/powerpoint/2010/main" val="668209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28600"/>
            <a:ext cx="11430000" cy="258404"/>
          </a:xfrm>
          <a:prstGeom prst="rect">
            <a:avLst/>
          </a:prstGeom>
          <a:noFill/>
        </p:spPr>
        <p:txBody>
          <a:bodyPr wrap="square" lIns="54864" tIns="0" rIns="54864" bIns="0">
            <a:spAutoFit/>
          </a:bodyPr>
          <a:lstStyle/>
          <a:p>
            <a:pPr>
              <a:spcBef>
                <a:spcPts val="0"/>
              </a:spcBef>
              <a:spcAft>
                <a:spcPts val="419"/>
              </a:spcAft>
            </a:pPr>
            <a:r>
              <a:rPr sz="1679" b="0" i="0" dirty="0">
                <a:solidFill>
                  <a:srgbClr val="333333"/>
                </a:solidFill>
                <a:latin typeface="Calibri"/>
              </a:rPr>
              <a:t>This formula is the core mapping current Fluid-Queue Soft-</a:t>
            </a:r>
            <a:r>
              <a:rPr sz="1679" b="0" i="0" dirty="0" err="1">
                <a:solidFill>
                  <a:srgbClr val="333333"/>
                </a:solidFill>
                <a:latin typeface="Calibri"/>
              </a:rPr>
              <a:t>Lagrangian</a:t>
            </a:r>
            <a:r>
              <a:rPr sz="1679" b="0" i="0" dirty="0">
                <a:solidFill>
                  <a:srgbClr val="333333"/>
                </a:solidFill>
                <a:latin typeface="Calibri"/>
              </a:rPr>
              <a:t> that turns “queueing severity” into a resource price:</a:t>
            </a:r>
          </a:p>
        </p:txBody>
      </p:sp>
      <p:pic>
        <p:nvPicPr>
          <p:cNvPr id="3" name="Picture 2" descr="b379e5111b2c89ad.png"/>
          <p:cNvPicPr>
            <a:picLocks noChangeAspect="1"/>
          </p:cNvPicPr>
          <p:nvPr/>
        </p:nvPicPr>
        <p:blipFill>
          <a:blip r:embed="rId2"/>
          <a:stretch>
            <a:fillRect/>
          </a:stretch>
        </p:blipFill>
        <p:spPr>
          <a:xfrm>
            <a:off x="4704313" y="629716"/>
            <a:ext cx="2661452" cy="892911"/>
          </a:xfrm>
          <a:prstGeom prst="rect">
            <a:avLst/>
          </a:prstGeom>
        </p:spPr>
      </p:pic>
      <p:sp>
        <p:nvSpPr>
          <p:cNvPr id="8" name="PageNumber"/>
          <p:cNvSpPr txBox="1"/>
          <p:nvPr/>
        </p:nvSpPr>
        <p:spPr>
          <a:xfrm>
            <a:off x="11784585" y="6401159"/>
            <a:ext cx="72135" cy="169277"/>
          </a:xfrm>
          <a:prstGeom prst="rect">
            <a:avLst/>
          </a:prstGeom>
          <a:noFill/>
        </p:spPr>
        <p:txBody>
          <a:bodyPr wrap="none" lIns="0" tIns="0" rIns="0" bIns="0">
            <a:spAutoFit/>
          </a:bodyPr>
          <a:lstStyle/>
          <a:p>
            <a:pPr algn="r"/>
            <a:r>
              <a:rPr lang="en-US" altLang="zh-CN" sz="1100" dirty="0">
                <a:solidFill>
                  <a:srgbClr val="777777"/>
                </a:solidFill>
                <a:latin typeface="Calibri"/>
              </a:rPr>
              <a:t>6</a:t>
            </a:r>
            <a:endParaRPr sz="1100" dirty="0">
              <a:solidFill>
                <a:srgbClr val="777777"/>
              </a:solidFill>
              <a:latin typeface="Calibri"/>
            </a:endParaRPr>
          </a:p>
        </p:txBody>
      </p:sp>
      <p:sp>
        <p:nvSpPr>
          <p:cNvPr id="9" name="TextBox 8">
            <a:extLst>
              <a:ext uri="{FF2B5EF4-FFF2-40B4-BE49-F238E27FC236}">
                <a16:creationId xmlns:a16="http://schemas.microsoft.com/office/drawing/2014/main" id="{6938EA4E-2AEB-FC97-626A-1250A75684DD}"/>
              </a:ext>
            </a:extLst>
          </p:cNvPr>
          <p:cNvSpPr txBox="1"/>
          <p:nvPr/>
        </p:nvSpPr>
        <p:spPr>
          <a:xfrm>
            <a:off x="335280" y="1938803"/>
            <a:ext cx="5760720" cy="267637"/>
          </a:xfrm>
          <a:prstGeom prst="rect">
            <a:avLst/>
          </a:prstGeom>
          <a:noFill/>
        </p:spPr>
        <p:txBody>
          <a:bodyPr wrap="square" lIns="54864" tIns="0" rIns="54864" bIns="0">
            <a:spAutoFit/>
          </a:bodyPr>
          <a:lstStyle/>
          <a:p>
            <a:pPr>
              <a:spcBef>
                <a:spcPts val="0"/>
              </a:spcBef>
              <a:spcAft>
                <a:spcPts val="434"/>
              </a:spcAft>
            </a:pPr>
            <a:r>
              <a:rPr sz="1739" b="0" i="0" dirty="0">
                <a:solidFill>
                  <a:srgbClr val="333333"/>
                </a:solidFill>
                <a:latin typeface="Calibri"/>
              </a:rPr>
              <a:t>Because </a:t>
            </a:r>
            <a:r>
              <a:rPr lang="en-US" altLang="zh-CN" sz="1739" b="0" i="0" dirty="0">
                <a:solidFill>
                  <a:srgbClr val="333333"/>
                </a:solidFill>
                <a:latin typeface="Calibri"/>
              </a:rPr>
              <a:t>we</a:t>
            </a:r>
            <a:r>
              <a:rPr sz="1739" b="0" i="0" dirty="0">
                <a:solidFill>
                  <a:srgbClr val="333333"/>
                </a:solidFill>
                <a:latin typeface="Calibri"/>
              </a:rPr>
              <a:t> cannot simply write:</a:t>
            </a:r>
          </a:p>
        </p:txBody>
      </p:sp>
      <p:pic>
        <p:nvPicPr>
          <p:cNvPr id="10" name="Picture 9" descr="32301f1a11d9f141.png">
            <a:extLst>
              <a:ext uri="{FF2B5EF4-FFF2-40B4-BE49-F238E27FC236}">
                <a16:creationId xmlns:a16="http://schemas.microsoft.com/office/drawing/2014/main" id="{DCDB9EC4-FF15-8EB0-35C1-6BB8DD620113}"/>
              </a:ext>
            </a:extLst>
          </p:cNvPr>
          <p:cNvPicPr>
            <a:picLocks noChangeAspect="1"/>
          </p:cNvPicPr>
          <p:nvPr/>
        </p:nvPicPr>
        <p:blipFill>
          <a:blip r:embed="rId3"/>
          <a:stretch>
            <a:fillRect/>
          </a:stretch>
        </p:blipFill>
        <p:spPr>
          <a:xfrm>
            <a:off x="3540811" y="1903629"/>
            <a:ext cx="417652" cy="322188"/>
          </a:xfrm>
          <a:prstGeom prst="rect">
            <a:avLst/>
          </a:prstGeom>
        </p:spPr>
      </p:pic>
      <p:sp>
        <p:nvSpPr>
          <p:cNvPr id="11" name="TextBox 10">
            <a:extLst>
              <a:ext uri="{FF2B5EF4-FFF2-40B4-BE49-F238E27FC236}">
                <a16:creationId xmlns:a16="http://schemas.microsoft.com/office/drawing/2014/main" id="{1C1D5906-5ADE-6314-2E55-C8384DD1AA52}"/>
              </a:ext>
            </a:extLst>
          </p:cNvPr>
          <p:cNvSpPr txBox="1"/>
          <p:nvPr/>
        </p:nvSpPr>
        <p:spPr>
          <a:xfrm>
            <a:off x="335280" y="2474515"/>
            <a:ext cx="5760720" cy="912647"/>
          </a:xfrm>
          <a:prstGeom prst="rect">
            <a:avLst/>
          </a:prstGeom>
          <a:noFill/>
        </p:spPr>
        <p:txBody>
          <a:bodyPr wrap="square" lIns="54864" tIns="0" rIns="54864" bIns="0">
            <a:spAutoFit/>
          </a:bodyPr>
          <a:lstStyle/>
          <a:p>
            <a:pPr>
              <a:spcBef>
                <a:spcPts val="0"/>
              </a:spcBef>
              <a:spcAft>
                <a:spcPts val="434"/>
              </a:spcAft>
            </a:pPr>
            <a:r>
              <a:rPr sz="1739" b="0" i="0" dirty="0">
                <a:solidFill>
                  <a:srgbClr val="333333"/>
                </a:solidFill>
                <a:latin typeface="Calibri"/>
              </a:rPr>
              <a:t>otherwise, with β = 3, the unit becomes min³, which is hard to interpret physically.</a:t>
            </a:r>
          </a:p>
          <a:p>
            <a:pPr>
              <a:spcBef>
                <a:spcPts val="0"/>
              </a:spcBef>
              <a:spcAft>
                <a:spcPts val="434"/>
              </a:spcAft>
            </a:pPr>
            <a:r>
              <a:rPr sz="1739" b="0" i="0" dirty="0">
                <a:solidFill>
                  <a:srgbClr val="333333"/>
                </a:solidFill>
                <a:latin typeface="Calibri"/>
              </a:rPr>
              <a:t>Written as:</a:t>
            </a:r>
          </a:p>
        </p:txBody>
      </p:sp>
      <p:pic>
        <p:nvPicPr>
          <p:cNvPr id="12" name="Picture 11" descr="f07f364349f3c53c.png">
            <a:extLst>
              <a:ext uri="{FF2B5EF4-FFF2-40B4-BE49-F238E27FC236}">
                <a16:creationId xmlns:a16="http://schemas.microsoft.com/office/drawing/2014/main" id="{E56A71CD-0CBD-B6F3-3C3D-C54B6A1E13BA}"/>
              </a:ext>
            </a:extLst>
          </p:cNvPr>
          <p:cNvPicPr>
            <a:picLocks noChangeAspect="1"/>
          </p:cNvPicPr>
          <p:nvPr/>
        </p:nvPicPr>
        <p:blipFill>
          <a:blip r:embed="rId4"/>
          <a:stretch>
            <a:fillRect/>
          </a:stretch>
        </p:blipFill>
        <p:spPr>
          <a:xfrm>
            <a:off x="3215640" y="3196598"/>
            <a:ext cx="877069" cy="757740"/>
          </a:xfrm>
          <a:prstGeom prst="rect">
            <a:avLst/>
          </a:prstGeom>
        </p:spPr>
      </p:pic>
      <p:sp>
        <p:nvSpPr>
          <p:cNvPr id="13" name="TextBox 12">
            <a:extLst>
              <a:ext uri="{FF2B5EF4-FFF2-40B4-BE49-F238E27FC236}">
                <a16:creationId xmlns:a16="http://schemas.microsoft.com/office/drawing/2014/main" id="{28BD3090-E950-A896-C207-78AB2A02215E}"/>
              </a:ext>
            </a:extLst>
          </p:cNvPr>
          <p:cNvSpPr txBox="1"/>
          <p:nvPr/>
        </p:nvSpPr>
        <p:spPr>
          <a:xfrm>
            <a:off x="374582" y="3954338"/>
            <a:ext cx="5760720" cy="645261"/>
          </a:xfrm>
          <a:prstGeom prst="rect">
            <a:avLst/>
          </a:prstGeom>
          <a:noFill/>
        </p:spPr>
        <p:txBody>
          <a:bodyPr wrap="square" lIns="54864" tIns="0" rIns="54864" bIns="0">
            <a:spAutoFit/>
          </a:bodyPr>
          <a:lstStyle/>
          <a:p>
            <a:pPr>
              <a:spcBef>
                <a:spcPts val="0"/>
              </a:spcBef>
              <a:spcAft>
                <a:spcPts val="434"/>
              </a:spcAft>
            </a:pPr>
            <a:r>
              <a:rPr sz="1739" b="0" i="0" dirty="0">
                <a:solidFill>
                  <a:srgbClr val="333333"/>
                </a:solidFill>
                <a:latin typeface="Calibri"/>
              </a:rPr>
              <a:t>this part has no unit.</a:t>
            </a:r>
          </a:p>
          <a:p>
            <a:pPr>
              <a:spcBef>
                <a:spcPts val="0"/>
              </a:spcBef>
              <a:spcAft>
                <a:spcPts val="434"/>
              </a:spcAft>
            </a:pPr>
            <a:r>
              <a:rPr sz="1739" b="0" i="0" dirty="0">
                <a:solidFill>
                  <a:srgbClr val="333333"/>
                </a:solidFill>
                <a:latin typeface="Calibri"/>
              </a:rPr>
              <a:t>Therefore:</a:t>
            </a:r>
          </a:p>
        </p:txBody>
      </p:sp>
      <p:pic>
        <p:nvPicPr>
          <p:cNvPr id="14" name="Picture 13" descr="37751881bf32a9ff.png">
            <a:extLst>
              <a:ext uri="{FF2B5EF4-FFF2-40B4-BE49-F238E27FC236}">
                <a16:creationId xmlns:a16="http://schemas.microsoft.com/office/drawing/2014/main" id="{3007A1BD-D298-0342-8266-50F8AC5098AD}"/>
              </a:ext>
            </a:extLst>
          </p:cNvPr>
          <p:cNvPicPr>
            <a:picLocks noChangeAspect="1"/>
          </p:cNvPicPr>
          <p:nvPr/>
        </p:nvPicPr>
        <p:blipFill>
          <a:blip r:embed="rId5"/>
          <a:stretch>
            <a:fillRect/>
          </a:stretch>
        </p:blipFill>
        <p:spPr>
          <a:xfrm>
            <a:off x="3349885" y="4534704"/>
            <a:ext cx="608578" cy="346054"/>
          </a:xfrm>
          <a:prstGeom prst="rect">
            <a:avLst/>
          </a:prstGeom>
        </p:spPr>
      </p:pic>
      <p:sp>
        <p:nvSpPr>
          <p:cNvPr id="15" name="TextBox 14">
            <a:extLst>
              <a:ext uri="{FF2B5EF4-FFF2-40B4-BE49-F238E27FC236}">
                <a16:creationId xmlns:a16="http://schemas.microsoft.com/office/drawing/2014/main" id="{56A3A60F-8522-4870-A8F1-931898D3AEEF}"/>
              </a:ext>
            </a:extLst>
          </p:cNvPr>
          <p:cNvSpPr txBox="1"/>
          <p:nvPr/>
        </p:nvSpPr>
        <p:spPr>
          <a:xfrm>
            <a:off x="374582" y="4989961"/>
            <a:ext cx="5760720" cy="322630"/>
          </a:xfrm>
          <a:prstGeom prst="rect">
            <a:avLst/>
          </a:prstGeom>
          <a:noFill/>
        </p:spPr>
        <p:txBody>
          <a:bodyPr wrap="square" lIns="54864" tIns="0" rIns="54864" bIns="0">
            <a:spAutoFit/>
          </a:bodyPr>
          <a:lstStyle/>
          <a:p>
            <a:pPr>
              <a:spcBef>
                <a:spcPts val="0"/>
              </a:spcBef>
              <a:spcAft>
                <a:spcPts val="434"/>
              </a:spcAft>
            </a:pPr>
            <a:r>
              <a:rPr sz="1739" b="0" i="0" dirty="0">
                <a:solidFill>
                  <a:srgbClr val="333333"/>
                </a:solidFill>
                <a:latin typeface="Calibri"/>
              </a:rPr>
              <a:t>determines the unit of the price, while</a:t>
            </a:r>
          </a:p>
        </p:txBody>
      </p:sp>
      <p:pic>
        <p:nvPicPr>
          <p:cNvPr id="16" name="Picture 15" descr="f07f364349f3c53c.png">
            <a:extLst>
              <a:ext uri="{FF2B5EF4-FFF2-40B4-BE49-F238E27FC236}">
                <a16:creationId xmlns:a16="http://schemas.microsoft.com/office/drawing/2014/main" id="{F27F5312-889A-D95E-5E0A-0379A3506746}"/>
              </a:ext>
            </a:extLst>
          </p:cNvPr>
          <p:cNvPicPr>
            <a:picLocks noChangeAspect="1"/>
          </p:cNvPicPr>
          <p:nvPr/>
        </p:nvPicPr>
        <p:blipFill>
          <a:blip r:embed="rId4"/>
          <a:stretch>
            <a:fillRect/>
          </a:stretch>
        </p:blipFill>
        <p:spPr>
          <a:xfrm>
            <a:off x="3254942" y="5413526"/>
            <a:ext cx="877069" cy="757740"/>
          </a:xfrm>
          <a:prstGeom prst="rect">
            <a:avLst/>
          </a:prstGeom>
        </p:spPr>
      </p:pic>
      <p:sp>
        <p:nvSpPr>
          <p:cNvPr id="17" name="TextBox 16">
            <a:extLst>
              <a:ext uri="{FF2B5EF4-FFF2-40B4-BE49-F238E27FC236}">
                <a16:creationId xmlns:a16="http://schemas.microsoft.com/office/drawing/2014/main" id="{DB0CFA57-F581-AA19-8310-C9254F9BBD88}"/>
              </a:ext>
            </a:extLst>
          </p:cNvPr>
          <p:cNvSpPr txBox="1"/>
          <p:nvPr/>
        </p:nvSpPr>
        <p:spPr>
          <a:xfrm>
            <a:off x="335280" y="6247806"/>
            <a:ext cx="5760720" cy="322630"/>
          </a:xfrm>
          <a:prstGeom prst="rect">
            <a:avLst/>
          </a:prstGeom>
          <a:noFill/>
        </p:spPr>
        <p:txBody>
          <a:bodyPr wrap="square" lIns="54864" tIns="0" rIns="54864" bIns="0">
            <a:spAutoFit/>
          </a:bodyPr>
          <a:lstStyle/>
          <a:p>
            <a:pPr>
              <a:spcBef>
                <a:spcPts val="0"/>
              </a:spcBef>
              <a:spcAft>
                <a:spcPts val="434"/>
              </a:spcAft>
            </a:pPr>
            <a:r>
              <a:rPr sz="1739" b="0" i="0" dirty="0">
                <a:solidFill>
                  <a:srgbClr val="333333"/>
                </a:solidFill>
                <a:latin typeface="Calibri"/>
              </a:rPr>
              <a:t>only decides “how severe the congestion is”.</a:t>
            </a:r>
          </a:p>
        </p:txBody>
      </p:sp>
      <p:sp>
        <p:nvSpPr>
          <p:cNvPr id="18" name="TextBox 17">
            <a:extLst>
              <a:ext uri="{FF2B5EF4-FFF2-40B4-BE49-F238E27FC236}">
                <a16:creationId xmlns:a16="http://schemas.microsoft.com/office/drawing/2014/main" id="{92A43246-B41C-6857-4CFA-B62920B30700}"/>
              </a:ext>
            </a:extLst>
          </p:cNvPr>
          <p:cNvSpPr txBox="1"/>
          <p:nvPr/>
        </p:nvSpPr>
        <p:spPr>
          <a:xfrm>
            <a:off x="320040" y="1441964"/>
            <a:ext cx="6100010" cy="461665"/>
          </a:xfrm>
          <a:prstGeom prst="rect">
            <a:avLst/>
          </a:prstGeom>
          <a:noFill/>
        </p:spPr>
        <p:txBody>
          <a:bodyPr wrap="square">
            <a:spAutoFit/>
          </a:bodyPr>
          <a:lstStyle/>
          <a:p>
            <a:pPr>
              <a:spcBef>
                <a:spcPts val="1160"/>
              </a:spcBef>
              <a:spcAft>
                <a:spcPts val="434"/>
              </a:spcAft>
            </a:pPr>
            <a:r>
              <a:rPr lang="en-US" sz="2400" b="1" i="0" dirty="0">
                <a:solidFill>
                  <a:srgbClr val="1A1A1A"/>
                </a:solidFill>
                <a:latin typeface="Calibri"/>
              </a:rPr>
              <a:t>Why </a:t>
            </a:r>
            <a:r>
              <a:rPr lang="en-US" altLang="zh-CN" sz="2400" b="1" i="0" dirty="0">
                <a:solidFill>
                  <a:srgbClr val="1A1A1A"/>
                </a:solidFill>
                <a:latin typeface="Calibri"/>
              </a:rPr>
              <a:t>D</a:t>
            </a:r>
            <a:r>
              <a:rPr lang="en-US" sz="2400" b="1" i="0" dirty="0">
                <a:solidFill>
                  <a:srgbClr val="1A1A1A"/>
                </a:solidFill>
                <a:latin typeface="Calibri"/>
              </a:rPr>
              <a:t>ivide </a:t>
            </a:r>
            <a:r>
              <a:rPr lang="en-US" altLang="zh-CN" sz="2400" b="1" i="0" dirty="0">
                <a:solidFill>
                  <a:srgbClr val="1A1A1A"/>
                </a:solidFill>
                <a:latin typeface="Calibri"/>
              </a:rPr>
              <a:t>B</a:t>
            </a:r>
            <a:r>
              <a:rPr lang="en-US" sz="2400" b="1" i="0" dirty="0">
                <a:solidFill>
                  <a:srgbClr val="1A1A1A"/>
                </a:solidFill>
                <a:latin typeface="Calibri"/>
              </a:rPr>
              <a:t>y </a:t>
            </a:r>
            <a:r>
              <a:rPr lang="el-GR" sz="2400" b="1" i="0" dirty="0">
                <a:solidFill>
                  <a:srgbClr val="1A1A1A"/>
                </a:solidFill>
                <a:latin typeface="Calibri"/>
              </a:rPr>
              <a:t>τ</a:t>
            </a:r>
            <a:r>
              <a:rPr lang="el-GR" sz="2400" b="1" i="0" baseline="-25000" dirty="0">
                <a:solidFill>
                  <a:srgbClr val="1A1A1A"/>
                </a:solidFill>
                <a:latin typeface="Calibri"/>
              </a:rPr>
              <a:t>0</a:t>
            </a:r>
          </a:p>
        </p:txBody>
      </p:sp>
      <p:pic>
        <p:nvPicPr>
          <p:cNvPr id="19" name="Picture 18">
            <a:extLst>
              <a:ext uri="{FF2B5EF4-FFF2-40B4-BE49-F238E27FC236}">
                <a16:creationId xmlns:a16="http://schemas.microsoft.com/office/drawing/2014/main" id="{42049E10-B3C7-77A9-2FDD-CBE1532F4804}"/>
              </a:ext>
            </a:extLst>
          </p:cNvPr>
          <p:cNvPicPr>
            <a:picLocks noChangeAspect="1"/>
          </p:cNvPicPr>
          <p:nvPr/>
        </p:nvPicPr>
        <p:blipFill>
          <a:blip r:embed="rId6"/>
          <a:stretch>
            <a:fillRect/>
          </a:stretch>
        </p:blipFill>
        <p:spPr>
          <a:xfrm>
            <a:off x="5185194" y="2982516"/>
            <a:ext cx="6671526" cy="2997777"/>
          </a:xfrm>
          <a:prstGeom prst="rect">
            <a:avLst/>
          </a:prstGeom>
        </p:spPr>
      </p:pic>
    </p:spTree>
    <p:extLst>
      <p:ext uri="{BB962C8B-B14F-4D97-AF65-F5344CB8AC3E}">
        <p14:creationId xmlns:p14="http://schemas.microsoft.com/office/powerpoint/2010/main" val="3403983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693880-FCAF-7A49-0B52-58763DF5AF59}"/>
              </a:ext>
            </a:extLst>
          </p:cNvPr>
          <p:cNvPicPr>
            <a:picLocks noChangeAspect="1"/>
          </p:cNvPicPr>
          <p:nvPr/>
        </p:nvPicPr>
        <p:blipFill>
          <a:blip r:embed="rId2"/>
          <a:stretch>
            <a:fillRect/>
          </a:stretch>
        </p:blipFill>
        <p:spPr>
          <a:xfrm>
            <a:off x="853551" y="3131715"/>
            <a:ext cx="6521032" cy="326615"/>
          </a:xfrm>
          <a:prstGeom prst="rect">
            <a:avLst/>
          </a:prstGeom>
        </p:spPr>
      </p:pic>
      <p:sp>
        <p:nvSpPr>
          <p:cNvPr id="5" name="TextBox 4">
            <a:extLst>
              <a:ext uri="{FF2B5EF4-FFF2-40B4-BE49-F238E27FC236}">
                <a16:creationId xmlns:a16="http://schemas.microsoft.com/office/drawing/2014/main" id="{76529292-743F-73BB-0B35-48E5ABC6D1BA}"/>
              </a:ext>
            </a:extLst>
          </p:cNvPr>
          <p:cNvSpPr txBox="1"/>
          <p:nvPr/>
        </p:nvSpPr>
        <p:spPr>
          <a:xfrm>
            <a:off x="514349" y="244041"/>
            <a:ext cx="3717758" cy="461665"/>
          </a:xfrm>
          <a:prstGeom prst="rect">
            <a:avLst/>
          </a:prstGeom>
          <a:noFill/>
        </p:spPr>
        <p:txBody>
          <a:bodyPr wrap="square" rtlCol="0">
            <a:spAutoFit/>
          </a:bodyPr>
          <a:lstStyle/>
          <a:p>
            <a:r>
              <a:rPr lang="en-US" altLang="zh-CN" sz="2400" b="1" dirty="0"/>
              <a:t>Generalized</a:t>
            </a:r>
            <a:r>
              <a:rPr lang="zh-CN" altLang="en-US" sz="2400" b="1" dirty="0"/>
              <a:t> </a:t>
            </a:r>
            <a:r>
              <a:rPr lang="en-US" altLang="zh-CN" sz="2400" b="1" dirty="0"/>
              <a:t>cost</a:t>
            </a:r>
            <a:r>
              <a:rPr lang="zh-CN" altLang="en-US" sz="2400" b="1" dirty="0"/>
              <a:t> </a:t>
            </a:r>
            <a:r>
              <a:rPr lang="en-US" altLang="zh-CN" sz="2400" b="1" dirty="0"/>
              <a:t>in</a:t>
            </a:r>
            <a:r>
              <a:rPr lang="zh-CN" altLang="en-US" sz="2400" b="1" dirty="0"/>
              <a:t> </a:t>
            </a:r>
            <a:r>
              <a:rPr lang="en-US" altLang="zh-CN" sz="2400" b="1" dirty="0"/>
              <a:t>DP</a:t>
            </a:r>
            <a:endParaRPr lang="en-US" sz="2400" b="1" dirty="0"/>
          </a:p>
        </p:txBody>
      </p:sp>
      <p:pic>
        <p:nvPicPr>
          <p:cNvPr id="6" name="Picture 5">
            <a:extLst>
              <a:ext uri="{FF2B5EF4-FFF2-40B4-BE49-F238E27FC236}">
                <a16:creationId xmlns:a16="http://schemas.microsoft.com/office/drawing/2014/main" id="{0A7F5162-C1C9-2220-1B88-59A0A3F76FD6}"/>
              </a:ext>
            </a:extLst>
          </p:cNvPr>
          <p:cNvPicPr>
            <a:picLocks noChangeAspect="1"/>
          </p:cNvPicPr>
          <p:nvPr/>
        </p:nvPicPr>
        <p:blipFill>
          <a:blip r:embed="rId3"/>
          <a:stretch>
            <a:fillRect/>
          </a:stretch>
        </p:blipFill>
        <p:spPr>
          <a:xfrm>
            <a:off x="730952" y="4068958"/>
            <a:ext cx="6050286" cy="731120"/>
          </a:xfrm>
          <a:prstGeom prst="rect">
            <a:avLst/>
          </a:prstGeom>
        </p:spPr>
      </p:pic>
      <p:pic>
        <p:nvPicPr>
          <p:cNvPr id="10" name="Picture 9">
            <a:extLst>
              <a:ext uri="{FF2B5EF4-FFF2-40B4-BE49-F238E27FC236}">
                <a16:creationId xmlns:a16="http://schemas.microsoft.com/office/drawing/2014/main" id="{4CA34426-17FC-0F83-8F3C-4A5D19D1C7AA}"/>
              </a:ext>
            </a:extLst>
          </p:cNvPr>
          <p:cNvPicPr>
            <a:picLocks noChangeAspect="1"/>
          </p:cNvPicPr>
          <p:nvPr/>
        </p:nvPicPr>
        <p:blipFill>
          <a:blip r:embed="rId4"/>
          <a:stretch>
            <a:fillRect/>
          </a:stretch>
        </p:blipFill>
        <p:spPr>
          <a:xfrm>
            <a:off x="588467" y="2622753"/>
            <a:ext cx="754490" cy="514969"/>
          </a:xfrm>
          <a:prstGeom prst="rect">
            <a:avLst/>
          </a:prstGeom>
        </p:spPr>
      </p:pic>
      <p:pic>
        <p:nvPicPr>
          <p:cNvPr id="11" name="Picture 10">
            <a:extLst>
              <a:ext uri="{FF2B5EF4-FFF2-40B4-BE49-F238E27FC236}">
                <a16:creationId xmlns:a16="http://schemas.microsoft.com/office/drawing/2014/main" id="{6279E848-25FA-BACC-91D3-5E185AC61881}"/>
              </a:ext>
            </a:extLst>
          </p:cNvPr>
          <p:cNvPicPr>
            <a:picLocks noChangeAspect="1"/>
          </p:cNvPicPr>
          <p:nvPr/>
        </p:nvPicPr>
        <p:blipFill>
          <a:blip r:embed="rId5"/>
          <a:srcRect l="3713" t="292" r="-3713" b="-292"/>
          <a:stretch>
            <a:fillRect/>
          </a:stretch>
        </p:blipFill>
        <p:spPr>
          <a:xfrm>
            <a:off x="588467" y="3575843"/>
            <a:ext cx="874250" cy="538922"/>
          </a:xfrm>
          <a:prstGeom prst="rect">
            <a:avLst/>
          </a:prstGeom>
        </p:spPr>
      </p:pic>
      <p:cxnSp>
        <p:nvCxnSpPr>
          <p:cNvPr id="20" name="Straight Connector 19">
            <a:extLst>
              <a:ext uri="{FF2B5EF4-FFF2-40B4-BE49-F238E27FC236}">
                <a16:creationId xmlns:a16="http://schemas.microsoft.com/office/drawing/2014/main" id="{1451E732-547F-6184-2E5F-984DDEF52885}"/>
              </a:ext>
            </a:extLst>
          </p:cNvPr>
          <p:cNvCxnSpPr>
            <a:cxnSpLocks/>
          </p:cNvCxnSpPr>
          <p:nvPr/>
        </p:nvCxnSpPr>
        <p:spPr>
          <a:xfrm>
            <a:off x="481263" y="1519287"/>
            <a:ext cx="6809874" cy="24111"/>
          </a:xfrm>
          <a:prstGeom prst="line">
            <a:avLst/>
          </a:prstGeom>
        </p:spPr>
        <p:style>
          <a:lnRef idx="2">
            <a:schemeClr val="dk1"/>
          </a:lnRef>
          <a:fillRef idx="0">
            <a:schemeClr val="dk1"/>
          </a:fillRef>
          <a:effectRef idx="1">
            <a:schemeClr val="dk1"/>
          </a:effectRef>
          <a:fontRef idx="minor">
            <a:schemeClr val="tx1"/>
          </a:fontRef>
        </p:style>
      </p:cxnSp>
      <p:pic>
        <p:nvPicPr>
          <p:cNvPr id="23" name="Picture 22">
            <a:extLst>
              <a:ext uri="{FF2B5EF4-FFF2-40B4-BE49-F238E27FC236}">
                <a16:creationId xmlns:a16="http://schemas.microsoft.com/office/drawing/2014/main" id="{C32DDD3F-384B-0637-9265-A8407EDECB27}"/>
              </a:ext>
            </a:extLst>
          </p:cNvPr>
          <p:cNvPicPr>
            <a:picLocks noChangeAspect="1"/>
          </p:cNvPicPr>
          <p:nvPr/>
        </p:nvPicPr>
        <p:blipFill>
          <a:blip r:embed="rId6"/>
          <a:stretch>
            <a:fillRect/>
          </a:stretch>
        </p:blipFill>
        <p:spPr>
          <a:xfrm>
            <a:off x="796995" y="717299"/>
            <a:ext cx="5918200" cy="673100"/>
          </a:xfrm>
          <a:prstGeom prst="rect">
            <a:avLst/>
          </a:prstGeom>
        </p:spPr>
      </p:pic>
      <p:pic>
        <p:nvPicPr>
          <p:cNvPr id="25" name="Picture 24">
            <a:extLst>
              <a:ext uri="{FF2B5EF4-FFF2-40B4-BE49-F238E27FC236}">
                <a16:creationId xmlns:a16="http://schemas.microsoft.com/office/drawing/2014/main" id="{FB5CC3B9-1FCA-AF5B-18E5-C420BD9941DB}"/>
              </a:ext>
            </a:extLst>
          </p:cNvPr>
          <p:cNvPicPr>
            <a:picLocks noChangeAspect="1"/>
          </p:cNvPicPr>
          <p:nvPr/>
        </p:nvPicPr>
        <p:blipFill>
          <a:blip r:embed="rId7"/>
          <a:srcRect l="8936" t="5187" b="1"/>
          <a:stretch>
            <a:fillRect/>
          </a:stretch>
        </p:blipFill>
        <p:spPr>
          <a:xfrm>
            <a:off x="634385" y="1618513"/>
            <a:ext cx="754491" cy="405724"/>
          </a:xfrm>
          <a:prstGeom prst="rect">
            <a:avLst/>
          </a:prstGeom>
        </p:spPr>
      </p:pic>
      <p:pic>
        <p:nvPicPr>
          <p:cNvPr id="26" name="Picture 25">
            <a:extLst>
              <a:ext uri="{FF2B5EF4-FFF2-40B4-BE49-F238E27FC236}">
                <a16:creationId xmlns:a16="http://schemas.microsoft.com/office/drawing/2014/main" id="{490464AB-4235-26CB-F618-CE29C671481B}"/>
              </a:ext>
            </a:extLst>
          </p:cNvPr>
          <p:cNvPicPr>
            <a:picLocks noChangeAspect="1"/>
          </p:cNvPicPr>
          <p:nvPr/>
        </p:nvPicPr>
        <p:blipFill>
          <a:blip r:embed="rId8"/>
          <a:stretch>
            <a:fillRect/>
          </a:stretch>
        </p:blipFill>
        <p:spPr>
          <a:xfrm>
            <a:off x="1024002" y="2027575"/>
            <a:ext cx="6179785" cy="502244"/>
          </a:xfrm>
          <a:prstGeom prst="rect">
            <a:avLst/>
          </a:prstGeom>
        </p:spPr>
      </p:pic>
      <p:pic>
        <p:nvPicPr>
          <p:cNvPr id="27" name="Picture 26">
            <a:extLst>
              <a:ext uri="{FF2B5EF4-FFF2-40B4-BE49-F238E27FC236}">
                <a16:creationId xmlns:a16="http://schemas.microsoft.com/office/drawing/2014/main" id="{565565A4-2B62-BA4B-6D51-C0ACB8DFEA18}"/>
              </a:ext>
            </a:extLst>
          </p:cNvPr>
          <p:cNvPicPr>
            <a:picLocks noChangeAspect="1"/>
          </p:cNvPicPr>
          <p:nvPr/>
        </p:nvPicPr>
        <p:blipFill>
          <a:blip r:embed="rId9"/>
          <a:stretch>
            <a:fillRect/>
          </a:stretch>
        </p:blipFill>
        <p:spPr>
          <a:xfrm>
            <a:off x="7458030" y="1870447"/>
            <a:ext cx="4654550" cy="947206"/>
          </a:xfrm>
          <a:prstGeom prst="rect">
            <a:avLst/>
          </a:prstGeom>
        </p:spPr>
      </p:pic>
      <p:sp>
        <p:nvSpPr>
          <p:cNvPr id="28" name="PageNumber"/>
          <p:cNvSpPr txBox="1"/>
          <p:nvPr/>
        </p:nvSpPr>
        <p:spPr>
          <a:xfrm>
            <a:off x="11774157" y="6383348"/>
            <a:ext cx="72135" cy="169277"/>
          </a:xfrm>
          <a:prstGeom prst="rect">
            <a:avLst/>
          </a:prstGeom>
          <a:noFill/>
        </p:spPr>
        <p:txBody>
          <a:bodyPr wrap="none" lIns="0" tIns="0" rIns="0" bIns="0">
            <a:spAutoFit/>
          </a:bodyPr>
          <a:lstStyle/>
          <a:p>
            <a:pPr algn="r"/>
            <a:r>
              <a:rPr lang="en-US" altLang="zh-CN" sz="1100" dirty="0">
                <a:solidFill>
                  <a:srgbClr val="777777"/>
                </a:solidFill>
                <a:latin typeface="Calibri"/>
              </a:rPr>
              <a:t>7</a:t>
            </a:r>
            <a:endParaRPr sz="1100" dirty="0">
              <a:solidFill>
                <a:srgbClr val="777777"/>
              </a:solidFill>
              <a:latin typeface="Calibri"/>
            </a:endParaRPr>
          </a:p>
        </p:txBody>
      </p:sp>
      <p:pic>
        <p:nvPicPr>
          <p:cNvPr id="3" name="Picture 2">
            <a:extLst>
              <a:ext uri="{FF2B5EF4-FFF2-40B4-BE49-F238E27FC236}">
                <a16:creationId xmlns:a16="http://schemas.microsoft.com/office/drawing/2014/main" id="{CF7FC149-5F06-4949-D862-4763DA27F788}"/>
              </a:ext>
            </a:extLst>
          </p:cNvPr>
          <p:cNvPicPr>
            <a:picLocks noChangeAspect="1"/>
          </p:cNvPicPr>
          <p:nvPr/>
        </p:nvPicPr>
        <p:blipFill>
          <a:blip r:embed="rId10"/>
          <a:stretch>
            <a:fillRect/>
          </a:stretch>
        </p:blipFill>
        <p:spPr>
          <a:xfrm>
            <a:off x="538316" y="5022860"/>
            <a:ext cx="1010176" cy="414704"/>
          </a:xfrm>
          <a:prstGeom prst="rect">
            <a:avLst/>
          </a:prstGeom>
        </p:spPr>
      </p:pic>
      <p:pic>
        <p:nvPicPr>
          <p:cNvPr id="4" name="Picture 3">
            <a:extLst>
              <a:ext uri="{FF2B5EF4-FFF2-40B4-BE49-F238E27FC236}">
                <a16:creationId xmlns:a16="http://schemas.microsoft.com/office/drawing/2014/main" id="{E57F2A63-77EA-2F2E-96A1-A6C07771117C}"/>
              </a:ext>
            </a:extLst>
          </p:cNvPr>
          <p:cNvPicPr>
            <a:picLocks noChangeAspect="1"/>
          </p:cNvPicPr>
          <p:nvPr/>
        </p:nvPicPr>
        <p:blipFill>
          <a:blip r:embed="rId11"/>
          <a:srcRect t="52638"/>
          <a:stretch>
            <a:fillRect/>
          </a:stretch>
        </p:blipFill>
        <p:spPr>
          <a:xfrm>
            <a:off x="1462717" y="5239487"/>
            <a:ext cx="5740693" cy="1440456"/>
          </a:xfrm>
          <a:prstGeom prst="rect">
            <a:avLst/>
          </a:prstGeom>
        </p:spPr>
      </p:pic>
      <p:cxnSp>
        <p:nvCxnSpPr>
          <p:cNvPr id="19" name="Straight Connector 18">
            <a:extLst>
              <a:ext uri="{FF2B5EF4-FFF2-40B4-BE49-F238E27FC236}">
                <a16:creationId xmlns:a16="http://schemas.microsoft.com/office/drawing/2014/main" id="{8C0BD851-19E5-1568-07A4-E851419B8589}"/>
              </a:ext>
            </a:extLst>
          </p:cNvPr>
          <p:cNvCxnSpPr>
            <a:cxnSpLocks/>
          </p:cNvCxnSpPr>
          <p:nvPr/>
        </p:nvCxnSpPr>
        <p:spPr>
          <a:xfrm flipV="1">
            <a:off x="7374583" y="1475596"/>
            <a:ext cx="0" cy="4888020"/>
          </a:xfrm>
          <a:prstGeom prst="line">
            <a:avLst/>
          </a:prstGeom>
        </p:spPr>
        <p:style>
          <a:lnRef idx="2">
            <a:schemeClr val="dk1"/>
          </a:lnRef>
          <a:fillRef idx="0">
            <a:schemeClr val="dk1"/>
          </a:fillRef>
          <a:effectRef idx="1">
            <a:schemeClr val="dk1"/>
          </a:effectRef>
          <a:fontRef idx="minor">
            <a:schemeClr val="tx1"/>
          </a:fontRef>
        </p:style>
      </p:cxnSp>
      <p:pic>
        <p:nvPicPr>
          <p:cNvPr id="30" name="Picture 29">
            <a:extLst>
              <a:ext uri="{FF2B5EF4-FFF2-40B4-BE49-F238E27FC236}">
                <a16:creationId xmlns:a16="http://schemas.microsoft.com/office/drawing/2014/main" id="{0176357E-A4FA-B81A-6A20-2C0853CB07C7}"/>
              </a:ext>
            </a:extLst>
          </p:cNvPr>
          <p:cNvPicPr>
            <a:picLocks noChangeAspect="1"/>
          </p:cNvPicPr>
          <p:nvPr/>
        </p:nvPicPr>
        <p:blipFill>
          <a:blip r:embed="rId12"/>
          <a:stretch>
            <a:fillRect/>
          </a:stretch>
        </p:blipFill>
        <p:spPr>
          <a:xfrm>
            <a:off x="7483227" y="3737676"/>
            <a:ext cx="5153369" cy="2159869"/>
          </a:xfrm>
          <a:prstGeom prst="rect">
            <a:avLst/>
          </a:prstGeom>
        </p:spPr>
      </p:pic>
      <p:pic>
        <p:nvPicPr>
          <p:cNvPr id="31" name="Picture 30">
            <a:extLst>
              <a:ext uri="{FF2B5EF4-FFF2-40B4-BE49-F238E27FC236}">
                <a16:creationId xmlns:a16="http://schemas.microsoft.com/office/drawing/2014/main" id="{9C71388A-537E-A36F-B14D-FC689A7D7A83}"/>
              </a:ext>
            </a:extLst>
          </p:cNvPr>
          <p:cNvPicPr>
            <a:picLocks noChangeAspect="1"/>
          </p:cNvPicPr>
          <p:nvPr/>
        </p:nvPicPr>
        <p:blipFill>
          <a:blip r:embed="rId13"/>
          <a:stretch>
            <a:fillRect/>
          </a:stretch>
        </p:blipFill>
        <p:spPr>
          <a:xfrm>
            <a:off x="7503918" y="3295022"/>
            <a:ext cx="522104" cy="442654"/>
          </a:xfrm>
          <a:prstGeom prst="rect">
            <a:avLst/>
          </a:prstGeom>
        </p:spPr>
      </p:pic>
      <p:cxnSp>
        <p:nvCxnSpPr>
          <p:cNvPr id="33" name="Straight Connector 32">
            <a:extLst>
              <a:ext uri="{FF2B5EF4-FFF2-40B4-BE49-F238E27FC236}">
                <a16:creationId xmlns:a16="http://schemas.microsoft.com/office/drawing/2014/main" id="{E825B914-4AFA-6FFD-CBCB-2C625B99C201}"/>
              </a:ext>
            </a:extLst>
          </p:cNvPr>
          <p:cNvCxnSpPr>
            <a:cxnSpLocks/>
          </p:cNvCxnSpPr>
          <p:nvPr/>
        </p:nvCxnSpPr>
        <p:spPr>
          <a:xfrm>
            <a:off x="481263" y="2622753"/>
            <a:ext cx="6809874" cy="24111"/>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08D63D69-0DE5-087A-15E1-782FD406137F}"/>
              </a:ext>
            </a:extLst>
          </p:cNvPr>
          <p:cNvCxnSpPr>
            <a:cxnSpLocks/>
          </p:cNvCxnSpPr>
          <p:nvPr/>
        </p:nvCxnSpPr>
        <p:spPr>
          <a:xfrm>
            <a:off x="481263" y="3623052"/>
            <a:ext cx="6809874" cy="24111"/>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A898CBBF-3AE8-D6AA-FE9F-02D487BC4043}"/>
              </a:ext>
            </a:extLst>
          </p:cNvPr>
          <p:cNvCxnSpPr>
            <a:cxnSpLocks/>
          </p:cNvCxnSpPr>
          <p:nvPr/>
        </p:nvCxnSpPr>
        <p:spPr>
          <a:xfrm>
            <a:off x="481263" y="4917807"/>
            <a:ext cx="6809874" cy="2411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84440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8A894-EF66-D5DE-D8BF-791609349DA8}"/>
              </a:ext>
            </a:extLst>
          </p:cNvPr>
          <p:cNvSpPr>
            <a:spLocks noGrp="1"/>
          </p:cNvSpPr>
          <p:nvPr>
            <p:ph type="title"/>
          </p:nvPr>
        </p:nvSpPr>
        <p:spPr>
          <a:xfrm>
            <a:off x="669758" y="449348"/>
            <a:ext cx="4936958" cy="344738"/>
          </a:xfrm>
        </p:spPr>
        <p:txBody>
          <a:bodyPr>
            <a:normAutofit fontScale="90000"/>
          </a:bodyPr>
          <a:lstStyle/>
          <a:p>
            <a:r>
              <a:rPr lang="en-US" altLang="zh-CN" dirty="0">
                <a:latin typeface="Calibri" panose="020F0502020204030204" pitchFamily="34" charset="0"/>
                <a:cs typeface="Calibri" panose="020F0502020204030204" pitchFamily="34" charset="0"/>
              </a:rPr>
              <a:t>Result</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(RAS</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dataset</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3):</a:t>
            </a:r>
            <a:endParaRPr lang="en-US" dirty="0">
              <a:latin typeface="Calibri" panose="020F0502020204030204" pitchFamily="34" charset="0"/>
              <a:cs typeface="Calibri" panose="020F0502020204030204" pitchFamily="34" charset="0"/>
            </a:endParaRPr>
          </a:p>
        </p:txBody>
      </p:sp>
      <p:pic>
        <p:nvPicPr>
          <p:cNvPr id="3" name="Picture 2" descr="e1707056b6c4036a.png"/>
          <p:cNvPicPr>
            <a:picLocks noChangeAspect="1"/>
          </p:cNvPicPr>
          <p:nvPr/>
        </p:nvPicPr>
        <p:blipFill>
          <a:blip r:embed="rId2"/>
          <a:stretch>
            <a:fillRect/>
          </a:stretch>
        </p:blipFill>
        <p:spPr>
          <a:xfrm>
            <a:off x="4906822" y="1429881"/>
            <a:ext cx="2378354" cy="517641"/>
          </a:xfrm>
          <a:prstGeom prst="rect">
            <a:avLst/>
          </a:prstGeom>
        </p:spPr>
      </p:pic>
      <p:pic>
        <p:nvPicPr>
          <p:cNvPr id="4" name="Picture 3" descr="595233ffddd1183b.png"/>
          <p:cNvPicPr>
            <a:picLocks noChangeAspect="1"/>
          </p:cNvPicPr>
          <p:nvPr/>
        </p:nvPicPr>
        <p:blipFill>
          <a:blip r:embed="rId3"/>
          <a:stretch>
            <a:fillRect/>
          </a:stretch>
        </p:blipFill>
        <p:spPr>
          <a:xfrm>
            <a:off x="4889334" y="2165150"/>
            <a:ext cx="2413330" cy="517641"/>
          </a:xfrm>
          <a:prstGeom prst="rect">
            <a:avLst/>
          </a:prstGeom>
        </p:spPr>
      </p:pic>
      <p:sp>
        <p:nvSpPr>
          <p:cNvPr id="5" name="TextBox 4"/>
          <p:cNvSpPr txBox="1"/>
          <p:nvPr/>
        </p:nvSpPr>
        <p:spPr>
          <a:xfrm>
            <a:off x="1981200" y="2791606"/>
            <a:ext cx="8229600" cy="378256"/>
          </a:xfrm>
          <a:prstGeom prst="rect">
            <a:avLst/>
          </a:prstGeom>
          <a:noFill/>
        </p:spPr>
        <p:txBody>
          <a:bodyPr wrap="square" lIns="54864" tIns="0" rIns="54864" bIns="0">
            <a:spAutoFit/>
          </a:bodyPr>
          <a:lstStyle/>
          <a:p>
            <a:pPr>
              <a:spcBef>
                <a:spcPts val="0"/>
              </a:spcBef>
              <a:spcAft>
                <a:spcPts val="509"/>
              </a:spcAft>
            </a:pPr>
            <a:r>
              <a:rPr sz="2039" b="0" i="0">
                <a:solidFill>
                  <a:srgbClr val="333333"/>
                </a:solidFill>
                <a:latin typeface="Calibri"/>
              </a:rPr>
              <a:t>Absolute gap:</a:t>
            </a:r>
          </a:p>
        </p:txBody>
      </p:sp>
      <p:pic>
        <p:nvPicPr>
          <p:cNvPr id="6" name="Picture 5" descr="76167dc3ddb3f44a.png"/>
          <p:cNvPicPr>
            <a:picLocks noChangeAspect="1"/>
          </p:cNvPicPr>
          <p:nvPr/>
        </p:nvPicPr>
        <p:blipFill>
          <a:blip r:embed="rId4"/>
          <a:stretch>
            <a:fillRect/>
          </a:stretch>
        </p:blipFill>
        <p:spPr>
          <a:xfrm>
            <a:off x="2885221" y="3278676"/>
            <a:ext cx="6421556" cy="538627"/>
          </a:xfrm>
          <a:prstGeom prst="rect">
            <a:avLst/>
          </a:prstGeom>
        </p:spPr>
      </p:pic>
      <p:sp>
        <p:nvSpPr>
          <p:cNvPr id="7" name="TextBox 6"/>
          <p:cNvSpPr txBox="1"/>
          <p:nvPr/>
        </p:nvSpPr>
        <p:spPr>
          <a:xfrm>
            <a:off x="1981200" y="3926117"/>
            <a:ext cx="8229600" cy="378256"/>
          </a:xfrm>
          <a:prstGeom prst="rect">
            <a:avLst/>
          </a:prstGeom>
          <a:noFill/>
        </p:spPr>
        <p:txBody>
          <a:bodyPr wrap="square" lIns="54864" tIns="0" rIns="54864" bIns="0">
            <a:spAutoFit/>
          </a:bodyPr>
          <a:lstStyle/>
          <a:p>
            <a:pPr>
              <a:spcBef>
                <a:spcPts val="0"/>
              </a:spcBef>
              <a:spcAft>
                <a:spcPts val="509"/>
              </a:spcAft>
            </a:pPr>
            <a:r>
              <a:rPr sz="2039" b="0" i="0" dirty="0">
                <a:solidFill>
                  <a:srgbClr val="333333"/>
                </a:solidFill>
                <a:latin typeface="Calibri"/>
              </a:rPr>
              <a:t>Relative gap (normalized by UB):</a:t>
            </a:r>
          </a:p>
        </p:txBody>
      </p:sp>
      <p:pic>
        <p:nvPicPr>
          <p:cNvPr id="8" name="Picture 7" descr="f75a56b3d87d2d49.png"/>
          <p:cNvPicPr>
            <a:picLocks noChangeAspect="1"/>
          </p:cNvPicPr>
          <p:nvPr/>
        </p:nvPicPr>
        <p:blipFill>
          <a:blip r:embed="rId5"/>
          <a:stretch>
            <a:fillRect/>
          </a:stretch>
        </p:blipFill>
        <p:spPr>
          <a:xfrm>
            <a:off x="4487113" y="4413187"/>
            <a:ext cx="3217773" cy="909370"/>
          </a:xfrm>
          <a:prstGeom prst="rect">
            <a:avLst/>
          </a:prstGeom>
        </p:spPr>
      </p:pic>
      <p:sp>
        <p:nvSpPr>
          <p:cNvPr id="9" name="PageNumber"/>
          <p:cNvSpPr txBox="1"/>
          <p:nvPr/>
        </p:nvSpPr>
        <p:spPr>
          <a:xfrm>
            <a:off x="10943979" y="6382512"/>
            <a:ext cx="72135" cy="169277"/>
          </a:xfrm>
          <a:prstGeom prst="rect">
            <a:avLst/>
          </a:prstGeom>
          <a:noFill/>
        </p:spPr>
        <p:txBody>
          <a:bodyPr wrap="none" lIns="0" tIns="0" rIns="0" bIns="0">
            <a:spAutoFit/>
          </a:bodyPr>
          <a:lstStyle/>
          <a:p>
            <a:pPr algn="r"/>
            <a:r>
              <a:rPr lang="en-US" altLang="zh-CN" sz="1100" dirty="0">
                <a:solidFill>
                  <a:srgbClr val="777777"/>
                </a:solidFill>
                <a:latin typeface="Calibri"/>
              </a:rPr>
              <a:t>8</a:t>
            </a:r>
            <a:endParaRPr sz="1100" dirty="0">
              <a:solidFill>
                <a:srgbClr val="777777"/>
              </a:solidFill>
              <a:latin typeface="Calibri"/>
            </a:endParaRPr>
          </a:p>
        </p:txBody>
      </p:sp>
    </p:spTree>
    <p:extLst>
      <p:ext uri="{BB962C8B-B14F-4D97-AF65-F5344CB8AC3E}">
        <p14:creationId xmlns:p14="http://schemas.microsoft.com/office/powerpoint/2010/main" val="1337681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8C9F93-B90D-2F30-5DCE-1A3B5BB812E1}"/>
              </a:ext>
            </a:extLst>
          </p:cNvPr>
          <p:cNvPicPr>
            <a:picLocks noChangeAspect="1"/>
          </p:cNvPicPr>
          <p:nvPr/>
        </p:nvPicPr>
        <p:blipFill>
          <a:blip r:embed="rId2"/>
          <a:srcRect t="3860"/>
          <a:stretch>
            <a:fillRect/>
          </a:stretch>
        </p:blipFill>
        <p:spPr>
          <a:xfrm>
            <a:off x="2290804" y="0"/>
            <a:ext cx="7610391" cy="6858000"/>
          </a:xfrm>
          <a:prstGeom prst="rect">
            <a:avLst/>
          </a:prstGeom>
        </p:spPr>
      </p:pic>
      <p:sp>
        <p:nvSpPr>
          <p:cNvPr id="2" name="PageNumber">
            <a:extLst>
              <a:ext uri="{FF2B5EF4-FFF2-40B4-BE49-F238E27FC236}">
                <a16:creationId xmlns:a16="http://schemas.microsoft.com/office/drawing/2014/main" id="{C5AEC547-9A17-2D03-21FB-8CF3AA2F1AC6}"/>
              </a:ext>
            </a:extLst>
          </p:cNvPr>
          <p:cNvSpPr txBox="1"/>
          <p:nvPr/>
        </p:nvSpPr>
        <p:spPr>
          <a:xfrm>
            <a:off x="10943979" y="6382512"/>
            <a:ext cx="72135" cy="169277"/>
          </a:xfrm>
          <a:prstGeom prst="rect">
            <a:avLst/>
          </a:prstGeom>
          <a:noFill/>
        </p:spPr>
        <p:txBody>
          <a:bodyPr wrap="none" lIns="0" tIns="0" rIns="0" bIns="0">
            <a:spAutoFit/>
          </a:bodyPr>
          <a:lstStyle/>
          <a:p>
            <a:pPr algn="r"/>
            <a:r>
              <a:rPr lang="en-US" altLang="zh-CN" sz="1100" dirty="0">
                <a:solidFill>
                  <a:srgbClr val="777777"/>
                </a:solidFill>
                <a:latin typeface="Calibri"/>
              </a:rPr>
              <a:t>9</a:t>
            </a:r>
            <a:endParaRPr sz="1100" dirty="0">
              <a:solidFill>
                <a:srgbClr val="777777"/>
              </a:solidFill>
              <a:latin typeface="Calibri"/>
            </a:endParaRPr>
          </a:p>
        </p:txBody>
      </p:sp>
    </p:spTree>
    <p:extLst>
      <p:ext uri="{BB962C8B-B14F-4D97-AF65-F5344CB8AC3E}">
        <p14:creationId xmlns:p14="http://schemas.microsoft.com/office/powerpoint/2010/main" val="2360047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00088"/>
            <a:ext cx="11338560" cy="369332"/>
          </a:xfrm>
          <a:prstGeom prst="rect">
            <a:avLst/>
          </a:prstGeom>
          <a:noFill/>
        </p:spPr>
        <p:txBody>
          <a:bodyPr wrap="square" lIns="54864" tIns="0" rIns="54864" bIns="0">
            <a:spAutoFit/>
          </a:bodyPr>
          <a:lstStyle/>
          <a:p>
            <a:pPr>
              <a:spcBef>
                <a:spcPts val="1200"/>
              </a:spcBef>
              <a:spcAft>
                <a:spcPts val="450"/>
              </a:spcAft>
            </a:pPr>
            <a:r>
              <a:rPr lang="en-US" altLang="zh-CN" sz="2400" b="1" dirty="0">
                <a:solidFill>
                  <a:srgbClr val="1A1A1A"/>
                </a:solidFill>
                <a:latin typeface="Calibri"/>
              </a:rPr>
              <a:t>Approaches</a:t>
            </a:r>
            <a:r>
              <a:rPr lang="zh-CN" altLang="en-US" sz="2400" b="1" dirty="0">
                <a:solidFill>
                  <a:srgbClr val="1A1A1A"/>
                </a:solidFill>
                <a:latin typeface="Calibri"/>
              </a:rPr>
              <a:t> </a:t>
            </a:r>
            <a:r>
              <a:rPr lang="en-US" altLang="zh-CN" sz="2400" b="1" dirty="0">
                <a:solidFill>
                  <a:srgbClr val="1A1A1A"/>
                </a:solidFill>
                <a:latin typeface="Calibri"/>
              </a:rPr>
              <a:t>P</a:t>
            </a:r>
            <a:r>
              <a:rPr lang="en-US" sz="2400" b="1" dirty="0">
                <a:solidFill>
                  <a:srgbClr val="1A1A1A"/>
                </a:solidFill>
                <a:latin typeface="Calibri"/>
              </a:rPr>
              <a:t>roduced</a:t>
            </a:r>
            <a:r>
              <a:rPr sz="2400" b="1" i="0" dirty="0">
                <a:solidFill>
                  <a:srgbClr val="1A1A1A"/>
                </a:solidFill>
                <a:latin typeface="Calibri"/>
              </a:rPr>
              <a:t> </a:t>
            </a:r>
            <a:r>
              <a:rPr lang="en-US" altLang="zh-CN" sz="2400" b="1" dirty="0">
                <a:solidFill>
                  <a:srgbClr val="1A1A1A"/>
                </a:solidFill>
                <a:latin typeface="Calibri"/>
              </a:rPr>
              <a:t>F</a:t>
            </a:r>
            <a:r>
              <a:rPr sz="2400" b="1" i="0" dirty="0">
                <a:solidFill>
                  <a:srgbClr val="1A1A1A"/>
                </a:solidFill>
                <a:latin typeface="Calibri"/>
              </a:rPr>
              <a:t>easible UB</a:t>
            </a:r>
          </a:p>
        </p:txBody>
      </p:sp>
      <p:sp>
        <p:nvSpPr>
          <p:cNvPr id="8" name="TextBox 7">
            <a:extLst>
              <a:ext uri="{FF2B5EF4-FFF2-40B4-BE49-F238E27FC236}">
                <a16:creationId xmlns:a16="http://schemas.microsoft.com/office/drawing/2014/main" id="{02A6C8CD-692A-3BE9-D8E8-C4470F91D2DE}"/>
              </a:ext>
            </a:extLst>
          </p:cNvPr>
          <p:cNvSpPr txBox="1"/>
          <p:nvPr/>
        </p:nvSpPr>
        <p:spPr>
          <a:xfrm>
            <a:off x="320040" y="708522"/>
            <a:ext cx="5669280" cy="537583"/>
          </a:xfrm>
          <a:prstGeom prst="rect">
            <a:avLst/>
          </a:prstGeom>
          <a:noFill/>
        </p:spPr>
        <p:txBody>
          <a:bodyPr wrap="square" lIns="54864" tIns="0" rIns="54864" bIns="0">
            <a:spAutoFit/>
          </a:bodyPr>
          <a:lstStyle/>
          <a:p>
            <a:pPr>
              <a:spcBef>
                <a:spcPts val="1040"/>
              </a:spcBef>
              <a:spcAft>
                <a:spcPts val="390"/>
              </a:spcAft>
            </a:pPr>
            <a:r>
              <a:rPr lang="en-US" altLang="zh-CN" sz="1600" b="1" dirty="0">
                <a:solidFill>
                  <a:srgbClr val="1A1A1A"/>
                </a:solidFill>
                <a:latin typeface="Calibri"/>
              </a:rPr>
              <a:t>C</a:t>
            </a:r>
            <a:r>
              <a:rPr sz="1600" b="1" i="0" dirty="0">
                <a:solidFill>
                  <a:srgbClr val="1A1A1A"/>
                </a:solidFill>
                <a:latin typeface="Calibri"/>
              </a:rPr>
              <a:t>hoosing one trajectory per train out of all candidates</a:t>
            </a:r>
          </a:p>
          <a:p>
            <a:pPr>
              <a:spcBef>
                <a:spcPts val="0"/>
              </a:spcBef>
              <a:spcAft>
                <a:spcPts val="390"/>
              </a:spcAft>
            </a:pPr>
            <a:r>
              <a:rPr sz="1560" b="0" i="0" dirty="0">
                <a:solidFill>
                  <a:srgbClr val="333333"/>
                </a:solidFill>
                <a:latin typeface="Calibri"/>
              </a:rPr>
              <a:t>Mathematically this can be understood as:</a:t>
            </a:r>
          </a:p>
        </p:txBody>
      </p:sp>
      <p:pic>
        <p:nvPicPr>
          <p:cNvPr id="9" name="Picture 8" descr="6369307dee56cd5d.png">
            <a:extLst>
              <a:ext uri="{FF2B5EF4-FFF2-40B4-BE49-F238E27FC236}">
                <a16:creationId xmlns:a16="http://schemas.microsoft.com/office/drawing/2014/main" id="{233DD110-A6D8-9E8C-E9A3-92DC33997E6F}"/>
              </a:ext>
            </a:extLst>
          </p:cNvPr>
          <p:cNvPicPr>
            <a:picLocks noChangeAspect="1"/>
          </p:cNvPicPr>
          <p:nvPr/>
        </p:nvPicPr>
        <p:blipFill>
          <a:blip r:embed="rId2"/>
          <a:stretch>
            <a:fillRect/>
          </a:stretch>
        </p:blipFill>
        <p:spPr>
          <a:xfrm>
            <a:off x="1167437" y="1404500"/>
            <a:ext cx="3974485" cy="759592"/>
          </a:xfrm>
          <a:prstGeom prst="rect">
            <a:avLst/>
          </a:prstGeom>
        </p:spPr>
      </p:pic>
      <p:sp>
        <p:nvSpPr>
          <p:cNvPr id="13" name="TextBox 12">
            <a:extLst>
              <a:ext uri="{FF2B5EF4-FFF2-40B4-BE49-F238E27FC236}">
                <a16:creationId xmlns:a16="http://schemas.microsoft.com/office/drawing/2014/main" id="{2FC7B146-BDFD-AE7F-F772-49769A0902D7}"/>
              </a:ext>
            </a:extLst>
          </p:cNvPr>
          <p:cNvSpPr txBox="1"/>
          <p:nvPr/>
        </p:nvSpPr>
        <p:spPr>
          <a:xfrm>
            <a:off x="320040" y="2247303"/>
            <a:ext cx="5669280" cy="289255"/>
          </a:xfrm>
          <a:prstGeom prst="rect">
            <a:avLst/>
          </a:prstGeom>
          <a:noFill/>
        </p:spPr>
        <p:txBody>
          <a:bodyPr wrap="square" lIns="54864" tIns="0" rIns="54864" bIns="0">
            <a:spAutoFit/>
          </a:bodyPr>
          <a:lstStyle/>
          <a:p>
            <a:pPr>
              <a:spcBef>
                <a:spcPts val="0"/>
              </a:spcBef>
              <a:spcAft>
                <a:spcPts val="390"/>
              </a:spcAft>
            </a:pPr>
            <a:r>
              <a:rPr sz="1560" b="0" i="0">
                <a:solidFill>
                  <a:srgbClr val="333333"/>
                </a:solidFill>
                <a:latin typeface="Calibri"/>
              </a:rPr>
              <a:t>Every train must choose exactly one:</a:t>
            </a:r>
          </a:p>
        </p:txBody>
      </p:sp>
      <p:pic>
        <p:nvPicPr>
          <p:cNvPr id="14" name="Picture 13" descr="ece7ebb60d08f21b.png">
            <a:extLst>
              <a:ext uri="{FF2B5EF4-FFF2-40B4-BE49-F238E27FC236}">
                <a16:creationId xmlns:a16="http://schemas.microsoft.com/office/drawing/2014/main" id="{E2DDB6D4-A889-B01B-DAEB-3BF1A102581D}"/>
              </a:ext>
            </a:extLst>
          </p:cNvPr>
          <p:cNvPicPr>
            <a:picLocks noChangeAspect="1"/>
          </p:cNvPicPr>
          <p:nvPr/>
        </p:nvPicPr>
        <p:blipFill>
          <a:blip r:embed="rId3"/>
          <a:stretch>
            <a:fillRect/>
          </a:stretch>
        </p:blipFill>
        <p:spPr>
          <a:xfrm>
            <a:off x="2467302" y="2619768"/>
            <a:ext cx="1374754" cy="791687"/>
          </a:xfrm>
          <a:prstGeom prst="rect">
            <a:avLst/>
          </a:prstGeom>
        </p:spPr>
      </p:pic>
      <p:sp>
        <p:nvSpPr>
          <p:cNvPr id="15" name="TextBox 14">
            <a:extLst>
              <a:ext uri="{FF2B5EF4-FFF2-40B4-BE49-F238E27FC236}">
                <a16:creationId xmlns:a16="http://schemas.microsoft.com/office/drawing/2014/main" id="{5D3E6B60-24E5-B95E-AB5B-3B77B9E3C515}"/>
              </a:ext>
            </a:extLst>
          </p:cNvPr>
          <p:cNvSpPr txBox="1"/>
          <p:nvPr/>
        </p:nvSpPr>
        <p:spPr>
          <a:xfrm>
            <a:off x="320040" y="3494666"/>
            <a:ext cx="5669280" cy="289255"/>
          </a:xfrm>
          <a:prstGeom prst="rect">
            <a:avLst/>
          </a:prstGeom>
          <a:noFill/>
        </p:spPr>
        <p:txBody>
          <a:bodyPr wrap="square" lIns="54864" tIns="0" rIns="54864" bIns="0">
            <a:spAutoFit/>
          </a:bodyPr>
          <a:lstStyle/>
          <a:p>
            <a:pPr>
              <a:spcBef>
                <a:spcPts val="0"/>
              </a:spcBef>
              <a:spcAft>
                <a:spcPts val="390"/>
              </a:spcAft>
            </a:pPr>
            <a:r>
              <a:rPr sz="1560" b="0" i="0">
                <a:solidFill>
                  <a:srgbClr val="333333"/>
                </a:solidFill>
                <a:latin typeface="Calibri"/>
              </a:rPr>
              <a:t>If trajectory p and trajectory q conflict under continuous headway:</a:t>
            </a:r>
          </a:p>
        </p:txBody>
      </p:sp>
      <p:pic>
        <p:nvPicPr>
          <p:cNvPr id="16" name="Picture 15" descr="773158ccea2b5fc6.png">
            <a:extLst>
              <a:ext uri="{FF2B5EF4-FFF2-40B4-BE49-F238E27FC236}">
                <a16:creationId xmlns:a16="http://schemas.microsoft.com/office/drawing/2014/main" id="{E7493D70-6F8E-37C1-E15A-2A8FB81A8259}"/>
              </a:ext>
            </a:extLst>
          </p:cNvPr>
          <p:cNvPicPr>
            <a:picLocks noChangeAspect="1"/>
          </p:cNvPicPr>
          <p:nvPr/>
        </p:nvPicPr>
        <p:blipFill>
          <a:blip r:embed="rId4"/>
          <a:stretch>
            <a:fillRect/>
          </a:stretch>
        </p:blipFill>
        <p:spPr>
          <a:xfrm>
            <a:off x="2395087" y="3867132"/>
            <a:ext cx="1519184" cy="449336"/>
          </a:xfrm>
          <a:prstGeom prst="rect">
            <a:avLst/>
          </a:prstGeom>
        </p:spPr>
      </p:pic>
      <p:sp>
        <p:nvSpPr>
          <p:cNvPr id="17" name="TextBox 16">
            <a:extLst>
              <a:ext uri="{FF2B5EF4-FFF2-40B4-BE49-F238E27FC236}">
                <a16:creationId xmlns:a16="http://schemas.microsoft.com/office/drawing/2014/main" id="{EEEAD3AA-CFF7-2BFA-E3CF-EF067FE118DF}"/>
              </a:ext>
            </a:extLst>
          </p:cNvPr>
          <p:cNvSpPr txBox="1"/>
          <p:nvPr/>
        </p:nvSpPr>
        <p:spPr>
          <a:xfrm>
            <a:off x="320040" y="4399678"/>
            <a:ext cx="5669280" cy="578510"/>
          </a:xfrm>
          <a:prstGeom prst="rect">
            <a:avLst/>
          </a:prstGeom>
          <a:noFill/>
        </p:spPr>
        <p:txBody>
          <a:bodyPr wrap="square" lIns="54864" tIns="0" rIns="54864" bIns="0">
            <a:spAutoFit/>
          </a:bodyPr>
          <a:lstStyle/>
          <a:p>
            <a:pPr>
              <a:spcBef>
                <a:spcPts val="0"/>
              </a:spcBef>
              <a:spcAft>
                <a:spcPts val="390"/>
              </a:spcAft>
            </a:pPr>
            <a:r>
              <a:rPr sz="1560" b="0" i="0">
                <a:solidFill>
                  <a:srgbClr val="333333"/>
                </a:solidFill>
                <a:latin typeface="Calibri"/>
              </a:rPr>
              <a:t>Then look for a 20-train selection that satisfies all these constraints.</a:t>
            </a:r>
          </a:p>
          <a:p>
            <a:pPr>
              <a:spcBef>
                <a:spcPts val="0"/>
              </a:spcBef>
              <a:spcAft>
                <a:spcPts val="390"/>
              </a:spcAft>
            </a:pPr>
            <a:r>
              <a:rPr sz="1560" b="0" i="0">
                <a:solidFill>
                  <a:srgbClr val="333333"/>
                </a:solidFill>
                <a:latin typeface="Calibri"/>
              </a:rPr>
              <a:t>The corresponding objective:</a:t>
            </a:r>
          </a:p>
        </p:txBody>
      </p:sp>
      <p:pic>
        <p:nvPicPr>
          <p:cNvPr id="18" name="Picture 17" descr="5f92073ad10b6cfe.png">
            <a:extLst>
              <a:ext uri="{FF2B5EF4-FFF2-40B4-BE49-F238E27FC236}">
                <a16:creationId xmlns:a16="http://schemas.microsoft.com/office/drawing/2014/main" id="{E4BA6273-FDEC-7E3D-DBFC-2D7628208EF8}"/>
              </a:ext>
            </a:extLst>
          </p:cNvPr>
          <p:cNvPicPr>
            <a:picLocks noChangeAspect="1"/>
          </p:cNvPicPr>
          <p:nvPr/>
        </p:nvPicPr>
        <p:blipFill>
          <a:blip r:embed="rId5"/>
          <a:stretch>
            <a:fillRect/>
          </a:stretch>
        </p:blipFill>
        <p:spPr>
          <a:xfrm>
            <a:off x="2146348" y="5061399"/>
            <a:ext cx="2016663" cy="780989"/>
          </a:xfrm>
          <a:prstGeom prst="rect">
            <a:avLst/>
          </a:prstGeom>
        </p:spPr>
      </p:pic>
      <p:sp>
        <p:nvSpPr>
          <p:cNvPr id="19" name="TextBox 18">
            <a:extLst>
              <a:ext uri="{FF2B5EF4-FFF2-40B4-BE49-F238E27FC236}">
                <a16:creationId xmlns:a16="http://schemas.microsoft.com/office/drawing/2014/main" id="{10E8CE41-37F5-8A94-D0C6-D1AF5D6F7D58}"/>
              </a:ext>
            </a:extLst>
          </p:cNvPr>
          <p:cNvSpPr txBox="1"/>
          <p:nvPr/>
        </p:nvSpPr>
        <p:spPr>
          <a:xfrm>
            <a:off x="320040" y="5925599"/>
            <a:ext cx="5669280" cy="289255"/>
          </a:xfrm>
          <a:prstGeom prst="rect">
            <a:avLst/>
          </a:prstGeom>
          <a:noFill/>
        </p:spPr>
        <p:txBody>
          <a:bodyPr wrap="square" lIns="54864" tIns="0" rIns="54864" bIns="0">
            <a:spAutoFit/>
          </a:bodyPr>
          <a:lstStyle/>
          <a:p>
            <a:pPr>
              <a:spcBef>
                <a:spcPts val="0"/>
              </a:spcBef>
              <a:spcAft>
                <a:spcPts val="390"/>
              </a:spcAft>
            </a:pPr>
            <a:r>
              <a:rPr sz="1560" b="0" i="0">
                <a:solidFill>
                  <a:srgbClr val="333333"/>
                </a:solidFill>
                <a:latin typeface="Calibri"/>
              </a:rPr>
              <a:t>The legal combination found so far is:</a:t>
            </a:r>
          </a:p>
        </p:txBody>
      </p:sp>
      <p:pic>
        <p:nvPicPr>
          <p:cNvPr id="20" name="Picture 19" descr="3e4aece9871a0770.png">
            <a:extLst>
              <a:ext uri="{FF2B5EF4-FFF2-40B4-BE49-F238E27FC236}">
                <a16:creationId xmlns:a16="http://schemas.microsoft.com/office/drawing/2014/main" id="{1FF6B4AE-5A1C-A18C-B11F-D12F84155A86}"/>
              </a:ext>
            </a:extLst>
          </p:cNvPr>
          <p:cNvPicPr>
            <a:picLocks noChangeAspect="1"/>
          </p:cNvPicPr>
          <p:nvPr/>
        </p:nvPicPr>
        <p:blipFill>
          <a:blip r:embed="rId6"/>
          <a:stretch>
            <a:fillRect/>
          </a:stretch>
        </p:blipFill>
        <p:spPr>
          <a:xfrm>
            <a:off x="2603708" y="6298064"/>
            <a:ext cx="1101943" cy="235366"/>
          </a:xfrm>
          <a:prstGeom prst="rect">
            <a:avLst/>
          </a:prstGeom>
        </p:spPr>
      </p:pic>
      <p:sp>
        <p:nvSpPr>
          <p:cNvPr id="21" name="TextBox 20">
            <a:extLst>
              <a:ext uri="{FF2B5EF4-FFF2-40B4-BE49-F238E27FC236}">
                <a16:creationId xmlns:a16="http://schemas.microsoft.com/office/drawing/2014/main" id="{B1F01EE1-DF03-A620-40F1-082FF522D9AD}"/>
              </a:ext>
            </a:extLst>
          </p:cNvPr>
          <p:cNvSpPr txBox="1"/>
          <p:nvPr/>
        </p:nvSpPr>
        <p:spPr>
          <a:xfrm>
            <a:off x="6263640" y="587943"/>
            <a:ext cx="5577840" cy="4293098"/>
          </a:xfrm>
          <a:prstGeom prst="rect">
            <a:avLst/>
          </a:prstGeom>
          <a:noFill/>
        </p:spPr>
        <p:txBody>
          <a:bodyPr wrap="square" lIns="54864" tIns="0" rIns="54864" bIns="0">
            <a:spAutoFit/>
          </a:bodyPr>
          <a:lstStyle/>
          <a:p>
            <a:pPr>
              <a:spcBef>
                <a:spcPts val="1360"/>
              </a:spcBef>
              <a:spcAft>
                <a:spcPts val="509"/>
              </a:spcAft>
            </a:pPr>
            <a:r>
              <a:rPr lang="en-US" altLang="zh-CN" sz="2000" b="1" dirty="0">
                <a:solidFill>
                  <a:srgbClr val="1A1A1A"/>
                </a:solidFill>
                <a:latin typeface="Calibri"/>
              </a:rPr>
              <a:t>I</a:t>
            </a:r>
            <a:r>
              <a:rPr sz="2000" b="1" i="0" dirty="0">
                <a:solidFill>
                  <a:srgbClr val="1A1A1A"/>
                </a:solidFill>
                <a:latin typeface="Calibri"/>
              </a:rPr>
              <a:t>ndependent validation</a:t>
            </a:r>
          </a:p>
          <a:p>
            <a:pPr>
              <a:spcBef>
                <a:spcPts val="0"/>
              </a:spcBef>
              <a:spcAft>
                <a:spcPts val="509"/>
              </a:spcAft>
            </a:pPr>
            <a:r>
              <a:rPr sz="2000" b="0" i="0" dirty="0">
                <a:solidFill>
                  <a:srgbClr val="333333"/>
                </a:solidFill>
                <a:latin typeface="Calibri"/>
              </a:rPr>
              <a:t>After finding this solution, the optimization solver is not trusted directly.</a:t>
            </a:r>
          </a:p>
          <a:p>
            <a:pPr>
              <a:spcBef>
                <a:spcPts val="0"/>
              </a:spcBef>
              <a:spcAft>
                <a:spcPts val="509"/>
              </a:spcAft>
            </a:pPr>
            <a:r>
              <a:rPr sz="2000" b="0" i="0" dirty="0">
                <a:solidFill>
                  <a:srgbClr val="333333"/>
                </a:solidFill>
                <a:latin typeface="Calibri"/>
              </a:rPr>
              <a:t>From the actually selected trajectories, the program </a:t>
            </a:r>
            <a:r>
              <a:rPr lang="en-US" altLang="zh-CN" sz="2000" b="0" i="0" dirty="0">
                <a:solidFill>
                  <a:srgbClr val="333333"/>
                </a:solidFill>
                <a:latin typeface="Calibri"/>
              </a:rPr>
              <a:t>check</a:t>
            </a:r>
            <a:r>
              <a:rPr sz="2000" b="0" i="0" dirty="0">
                <a:solidFill>
                  <a:srgbClr val="333333"/>
                </a:solidFill>
                <a:latin typeface="Calibri"/>
              </a:rPr>
              <a:t>:</a:t>
            </a:r>
          </a:p>
          <a:p>
            <a:pPr marL="256032" indent="-164592">
              <a:spcBef>
                <a:spcPts val="0"/>
              </a:spcBef>
              <a:spcAft>
                <a:spcPts val="254"/>
              </a:spcAft>
            </a:pPr>
            <a:r>
              <a:rPr sz="2000" b="0" i="0" dirty="0">
                <a:solidFill>
                  <a:srgbClr val="333333"/>
                </a:solidFill>
                <a:latin typeface="Calibri"/>
              </a:rPr>
              <a:t>•  the entry time of each arc;</a:t>
            </a:r>
          </a:p>
          <a:p>
            <a:pPr marL="256032" indent="-164592">
              <a:spcBef>
                <a:spcPts val="0"/>
              </a:spcBef>
              <a:spcAft>
                <a:spcPts val="254"/>
              </a:spcAft>
            </a:pPr>
            <a:r>
              <a:rPr sz="2000" b="0" i="0" dirty="0">
                <a:solidFill>
                  <a:srgbClr val="333333"/>
                </a:solidFill>
                <a:latin typeface="Calibri"/>
              </a:rPr>
              <a:t>•  exit time;</a:t>
            </a:r>
          </a:p>
          <a:p>
            <a:pPr marL="256032" indent="-164592">
              <a:spcBef>
                <a:spcPts val="0"/>
              </a:spcBef>
              <a:spcAft>
                <a:spcPts val="254"/>
              </a:spcAft>
            </a:pPr>
            <a:r>
              <a:rPr sz="2000" b="0" i="0" dirty="0">
                <a:solidFill>
                  <a:srgbClr val="333333"/>
                </a:solidFill>
                <a:latin typeface="Calibri"/>
              </a:rPr>
              <a:t>•  direction;</a:t>
            </a:r>
          </a:p>
          <a:p>
            <a:pPr marL="256032" indent="-164592">
              <a:spcBef>
                <a:spcPts val="0"/>
              </a:spcBef>
              <a:spcAft>
                <a:spcPts val="254"/>
              </a:spcAft>
            </a:pPr>
            <a:r>
              <a:rPr sz="2000" b="0" i="0" dirty="0">
                <a:solidFill>
                  <a:srgbClr val="333333"/>
                </a:solidFill>
                <a:latin typeface="Calibri"/>
              </a:rPr>
              <a:t>•  MOW;</a:t>
            </a:r>
          </a:p>
          <a:p>
            <a:pPr marL="256032" indent="-164592">
              <a:spcBef>
                <a:spcPts val="0"/>
              </a:spcBef>
              <a:spcAft>
                <a:spcPts val="254"/>
              </a:spcAft>
            </a:pPr>
            <a:r>
              <a:rPr sz="2000" b="0" i="0" dirty="0">
                <a:solidFill>
                  <a:srgbClr val="333333"/>
                </a:solidFill>
                <a:latin typeface="Calibri"/>
              </a:rPr>
              <a:t>•  safety separation;</a:t>
            </a:r>
          </a:p>
          <a:p>
            <a:pPr>
              <a:spcBef>
                <a:spcPts val="0"/>
              </a:spcBef>
              <a:spcAft>
                <a:spcPts val="509"/>
              </a:spcAft>
            </a:pPr>
            <a:r>
              <a:rPr sz="2000" b="0" i="0" dirty="0">
                <a:solidFill>
                  <a:srgbClr val="333333"/>
                </a:solidFill>
                <a:latin typeface="Calibri"/>
              </a:rPr>
              <a:t>and checks all pairs.</a:t>
            </a:r>
          </a:p>
          <a:p>
            <a:pPr>
              <a:spcBef>
                <a:spcPts val="0"/>
              </a:spcBef>
              <a:spcAft>
                <a:spcPts val="509"/>
              </a:spcAft>
            </a:pPr>
            <a:r>
              <a:rPr sz="2000" b="0" i="0" dirty="0">
                <a:solidFill>
                  <a:srgbClr val="333333"/>
                </a:solidFill>
                <a:latin typeface="Calibri"/>
              </a:rPr>
              <a:t>Finally:</a:t>
            </a:r>
          </a:p>
        </p:txBody>
      </p:sp>
      <p:pic>
        <p:nvPicPr>
          <p:cNvPr id="22" name="Picture 21" descr="64ce3279375b166c.png">
            <a:extLst>
              <a:ext uri="{FF2B5EF4-FFF2-40B4-BE49-F238E27FC236}">
                <a16:creationId xmlns:a16="http://schemas.microsoft.com/office/drawing/2014/main" id="{55F376FE-73A6-21E9-09D3-3723471568BF}"/>
              </a:ext>
            </a:extLst>
          </p:cNvPr>
          <p:cNvPicPr>
            <a:picLocks noChangeAspect="1"/>
          </p:cNvPicPr>
          <p:nvPr/>
        </p:nvPicPr>
        <p:blipFill>
          <a:blip r:embed="rId7"/>
          <a:stretch>
            <a:fillRect/>
          </a:stretch>
        </p:blipFill>
        <p:spPr>
          <a:xfrm>
            <a:off x="6794222" y="4881041"/>
            <a:ext cx="4516674" cy="478511"/>
          </a:xfrm>
          <a:prstGeom prst="rect">
            <a:avLst/>
          </a:prstGeom>
        </p:spPr>
      </p:pic>
      <p:sp>
        <p:nvSpPr>
          <p:cNvPr id="23" name="TextBox 22">
            <a:extLst>
              <a:ext uri="{FF2B5EF4-FFF2-40B4-BE49-F238E27FC236}">
                <a16:creationId xmlns:a16="http://schemas.microsoft.com/office/drawing/2014/main" id="{47D43BDF-6F79-D846-2BC1-01B3F49DD6F8}"/>
              </a:ext>
            </a:extLst>
          </p:cNvPr>
          <p:cNvSpPr txBox="1"/>
          <p:nvPr/>
        </p:nvSpPr>
        <p:spPr>
          <a:xfrm>
            <a:off x="6263640" y="5484709"/>
            <a:ext cx="5577840" cy="378256"/>
          </a:xfrm>
          <a:prstGeom prst="rect">
            <a:avLst/>
          </a:prstGeom>
          <a:noFill/>
        </p:spPr>
        <p:txBody>
          <a:bodyPr wrap="square" lIns="54864" tIns="0" rIns="54864" bIns="0">
            <a:spAutoFit/>
          </a:bodyPr>
          <a:lstStyle/>
          <a:p>
            <a:pPr>
              <a:spcBef>
                <a:spcPts val="0"/>
              </a:spcBef>
              <a:spcAft>
                <a:spcPts val="509"/>
              </a:spcAft>
            </a:pPr>
            <a:r>
              <a:rPr sz="2039" b="0" i="0" dirty="0">
                <a:solidFill>
                  <a:srgbClr val="333333"/>
                </a:solidFill>
                <a:latin typeface="Calibri"/>
              </a:rPr>
              <a:t>which is why it qualifies as a legal:</a:t>
            </a:r>
          </a:p>
        </p:txBody>
      </p:sp>
      <p:pic>
        <p:nvPicPr>
          <p:cNvPr id="24" name="Picture 23" descr="087d699e643b148e.png">
            <a:extLst>
              <a:ext uri="{FF2B5EF4-FFF2-40B4-BE49-F238E27FC236}">
                <a16:creationId xmlns:a16="http://schemas.microsoft.com/office/drawing/2014/main" id="{B704A824-3F71-1508-0496-36F755BA9986}"/>
              </a:ext>
            </a:extLst>
          </p:cNvPr>
          <p:cNvPicPr>
            <a:picLocks noChangeAspect="1"/>
          </p:cNvPicPr>
          <p:nvPr/>
        </p:nvPicPr>
        <p:blipFill>
          <a:blip r:embed="rId8"/>
          <a:stretch>
            <a:fillRect/>
          </a:stretch>
        </p:blipFill>
        <p:spPr>
          <a:xfrm>
            <a:off x="8720289" y="5945716"/>
            <a:ext cx="664540" cy="314782"/>
          </a:xfrm>
          <a:prstGeom prst="rect">
            <a:avLst/>
          </a:prstGeom>
        </p:spPr>
      </p:pic>
      <p:sp>
        <p:nvSpPr>
          <p:cNvPr id="26" name="PageNumber">
            <a:extLst>
              <a:ext uri="{FF2B5EF4-FFF2-40B4-BE49-F238E27FC236}">
                <a16:creationId xmlns:a16="http://schemas.microsoft.com/office/drawing/2014/main" id="{A3B5D3D5-65C4-1216-ABB7-0C9F9CAAC28B}"/>
              </a:ext>
            </a:extLst>
          </p:cNvPr>
          <p:cNvSpPr txBox="1"/>
          <p:nvPr/>
        </p:nvSpPr>
        <p:spPr>
          <a:xfrm>
            <a:off x="10871844" y="6382512"/>
            <a:ext cx="144270" cy="169277"/>
          </a:xfrm>
          <a:prstGeom prst="rect">
            <a:avLst/>
          </a:prstGeom>
          <a:noFill/>
        </p:spPr>
        <p:txBody>
          <a:bodyPr wrap="none" lIns="0" tIns="0" rIns="0" bIns="0">
            <a:spAutoFit/>
          </a:bodyPr>
          <a:lstStyle/>
          <a:p>
            <a:pPr algn="r"/>
            <a:r>
              <a:rPr lang="en-US" altLang="zh-CN" sz="1100" dirty="0">
                <a:solidFill>
                  <a:srgbClr val="777777"/>
                </a:solidFill>
                <a:latin typeface="Calibri"/>
              </a:rPr>
              <a:t>10</a:t>
            </a:r>
            <a:endParaRPr sz="1100" dirty="0">
              <a:solidFill>
                <a:srgbClr val="777777"/>
              </a:solidFill>
              <a:latin typeface="Calibri"/>
            </a:endParaRPr>
          </a:p>
        </p:txBody>
      </p:sp>
    </p:spTree>
    <p:extLst>
      <p:ext uri="{BB962C8B-B14F-4D97-AF65-F5344CB8AC3E}">
        <p14:creationId xmlns:p14="http://schemas.microsoft.com/office/powerpoint/2010/main" val="949999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7912" y="162630"/>
            <a:ext cx="8229600" cy="3783087"/>
          </a:xfrm>
          <a:prstGeom prst="rect">
            <a:avLst/>
          </a:prstGeom>
          <a:noFill/>
        </p:spPr>
        <p:txBody>
          <a:bodyPr wrap="square" lIns="54864" tIns="0" rIns="54864" bIns="0">
            <a:spAutoFit/>
          </a:bodyPr>
          <a:lstStyle/>
          <a:p>
            <a:pPr>
              <a:spcBef>
                <a:spcPts val="1120"/>
              </a:spcBef>
              <a:spcAft>
                <a:spcPts val="419"/>
              </a:spcAft>
            </a:pPr>
            <a:r>
              <a:rPr sz="2400" b="1" i="0" dirty="0">
                <a:solidFill>
                  <a:srgbClr val="1A1A1A"/>
                </a:solidFill>
                <a:latin typeface="Calibri"/>
              </a:rPr>
              <a:t>Fix train 1</a:t>
            </a:r>
          </a:p>
          <a:p>
            <a:pPr>
              <a:spcBef>
                <a:spcPts val="0"/>
              </a:spcBef>
              <a:spcAft>
                <a:spcPts val="419"/>
              </a:spcAft>
            </a:pPr>
            <a:r>
              <a:rPr b="0" i="0" dirty="0">
                <a:solidFill>
                  <a:srgbClr val="333333"/>
                </a:solidFill>
                <a:latin typeface="Calibri"/>
              </a:rPr>
              <a:t>Mark the cell/resource blocks it occupies as unavailable.</a:t>
            </a:r>
          </a:p>
          <a:p>
            <a:pPr>
              <a:spcBef>
                <a:spcPts val="1120"/>
              </a:spcBef>
              <a:spcAft>
                <a:spcPts val="419"/>
              </a:spcAft>
            </a:pPr>
            <a:r>
              <a:rPr sz="2400" b="1" i="0" dirty="0">
                <a:solidFill>
                  <a:srgbClr val="1A1A1A"/>
                </a:solidFill>
                <a:latin typeface="Calibri"/>
              </a:rPr>
              <a:t>train 2</a:t>
            </a:r>
          </a:p>
          <a:p>
            <a:pPr>
              <a:spcBef>
                <a:spcPts val="0"/>
              </a:spcBef>
              <a:spcAft>
                <a:spcPts val="419"/>
              </a:spcAft>
            </a:pPr>
            <a:r>
              <a:rPr b="0" i="0" dirty="0">
                <a:solidFill>
                  <a:srgbClr val="333333"/>
                </a:solidFill>
                <a:latin typeface="Calibri"/>
              </a:rPr>
              <a:t>Run the single-train DP again.</a:t>
            </a:r>
          </a:p>
          <a:p>
            <a:pPr>
              <a:spcBef>
                <a:spcPts val="0"/>
              </a:spcBef>
              <a:spcAft>
                <a:spcPts val="419"/>
              </a:spcAft>
            </a:pPr>
            <a:r>
              <a:rPr b="0" i="0" dirty="0">
                <a:solidFill>
                  <a:srgbClr val="333333"/>
                </a:solidFill>
                <a:latin typeface="Calibri"/>
              </a:rPr>
              <a:t>The DP decides by itself:</a:t>
            </a:r>
          </a:p>
          <a:p>
            <a:pPr marL="256032" indent="-164592">
              <a:spcBef>
                <a:spcPts val="0"/>
              </a:spcBef>
              <a:spcAft>
                <a:spcPts val="209"/>
              </a:spcAft>
            </a:pPr>
            <a:r>
              <a:rPr b="0" i="0" dirty="0">
                <a:solidFill>
                  <a:srgbClr val="333333"/>
                </a:solidFill>
                <a:latin typeface="Calibri"/>
              </a:rPr>
              <a:t>•  late departure;</a:t>
            </a:r>
          </a:p>
          <a:p>
            <a:pPr marL="256032" indent="-164592">
              <a:spcBef>
                <a:spcPts val="0"/>
              </a:spcBef>
              <a:spcAft>
                <a:spcPts val="209"/>
              </a:spcAft>
            </a:pPr>
            <a:r>
              <a:rPr b="0" i="0" dirty="0">
                <a:solidFill>
                  <a:srgbClr val="333333"/>
                </a:solidFill>
                <a:latin typeface="Calibri"/>
              </a:rPr>
              <a:t>•  siding waiting;</a:t>
            </a:r>
          </a:p>
          <a:p>
            <a:pPr marL="256032" indent="-164592">
              <a:spcBef>
                <a:spcPts val="0"/>
              </a:spcBef>
              <a:spcAft>
                <a:spcPts val="209"/>
              </a:spcAft>
            </a:pPr>
            <a:r>
              <a:rPr b="0" i="0" dirty="0">
                <a:solidFill>
                  <a:srgbClr val="333333"/>
                </a:solidFill>
                <a:latin typeface="Calibri"/>
              </a:rPr>
              <a:t>•  operational route;</a:t>
            </a:r>
          </a:p>
          <a:p>
            <a:pPr marL="256032" indent="-164592">
              <a:spcBef>
                <a:spcPts val="0"/>
              </a:spcBef>
              <a:spcAft>
                <a:spcPts val="209"/>
              </a:spcAft>
            </a:pPr>
            <a:r>
              <a:rPr b="0" i="0" dirty="0">
                <a:solidFill>
                  <a:srgbClr val="333333"/>
                </a:solidFill>
                <a:latin typeface="Calibri"/>
              </a:rPr>
              <a:t>•  timing.</a:t>
            </a:r>
          </a:p>
          <a:p>
            <a:pPr>
              <a:spcBef>
                <a:spcPts val="0"/>
              </a:spcBef>
              <a:spcAft>
                <a:spcPts val="419"/>
              </a:spcAft>
            </a:pPr>
            <a:r>
              <a:rPr b="0" i="0" dirty="0">
                <a:solidFill>
                  <a:srgbClr val="333333"/>
                </a:solidFill>
                <a:latin typeface="Calibri"/>
              </a:rPr>
              <a:t>Then fix train 2.</a:t>
            </a:r>
          </a:p>
          <a:p>
            <a:pPr>
              <a:spcBef>
                <a:spcPts val="0"/>
              </a:spcBef>
              <a:spcAft>
                <a:spcPts val="419"/>
              </a:spcAft>
            </a:pPr>
            <a:r>
              <a:rPr b="0" i="0" dirty="0">
                <a:solidFill>
                  <a:srgbClr val="333333"/>
                </a:solidFill>
                <a:latin typeface="Calibri"/>
              </a:rPr>
              <a:t>And continue:</a:t>
            </a:r>
          </a:p>
        </p:txBody>
      </p:sp>
      <p:pic>
        <p:nvPicPr>
          <p:cNvPr id="3" name="Picture 2" descr="e08daa665df92944.png"/>
          <p:cNvPicPr>
            <a:picLocks noChangeAspect="1"/>
          </p:cNvPicPr>
          <p:nvPr/>
        </p:nvPicPr>
        <p:blipFill>
          <a:blip r:embed="rId2"/>
          <a:stretch>
            <a:fillRect/>
          </a:stretch>
        </p:blipFill>
        <p:spPr>
          <a:xfrm>
            <a:off x="3612711" y="4081261"/>
            <a:ext cx="3992178" cy="426293"/>
          </a:xfrm>
          <a:prstGeom prst="rect">
            <a:avLst/>
          </a:prstGeom>
        </p:spPr>
      </p:pic>
      <p:sp>
        <p:nvSpPr>
          <p:cNvPr id="4" name="TextBox 3"/>
          <p:cNvSpPr txBox="1"/>
          <p:nvPr/>
        </p:nvSpPr>
        <p:spPr>
          <a:xfrm>
            <a:off x="1337912" y="4897690"/>
            <a:ext cx="8229600" cy="276999"/>
          </a:xfrm>
          <a:prstGeom prst="rect">
            <a:avLst/>
          </a:prstGeom>
          <a:noFill/>
        </p:spPr>
        <p:txBody>
          <a:bodyPr wrap="square" lIns="54864" tIns="0" rIns="54864" bIns="0">
            <a:spAutoFit/>
          </a:bodyPr>
          <a:lstStyle/>
          <a:p>
            <a:pPr>
              <a:spcBef>
                <a:spcPts val="0"/>
              </a:spcBef>
              <a:spcAft>
                <a:spcPts val="419"/>
              </a:spcAft>
            </a:pPr>
            <a:r>
              <a:rPr b="0" i="0" dirty="0">
                <a:solidFill>
                  <a:srgbClr val="333333"/>
                </a:solidFill>
                <a:latin typeface="Calibri"/>
              </a:rPr>
              <a:t>This is sequential feasible recovery / upper bound.</a:t>
            </a:r>
          </a:p>
        </p:txBody>
      </p:sp>
      <p:sp>
        <p:nvSpPr>
          <p:cNvPr id="5" name="PageNumber"/>
          <p:cNvSpPr txBox="1"/>
          <p:nvPr/>
        </p:nvSpPr>
        <p:spPr>
          <a:xfrm>
            <a:off x="11109960" y="6382512"/>
            <a:ext cx="868680" cy="292608"/>
          </a:xfrm>
          <a:prstGeom prst="rect">
            <a:avLst/>
          </a:prstGeom>
          <a:noFill/>
        </p:spPr>
        <p:txBody>
          <a:bodyPr wrap="none" lIns="0" tIns="0" rIns="0" bIns="0">
            <a:spAutoFit/>
          </a:bodyPr>
          <a:lstStyle/>
          <a:p>
            <a:pPr algn="r"/>
            <a:r>
              <a:rPr sz="1100">
                <a:solidFill>
                  <a:srgbClr val="777777"/>
                </a:solidFill>
                <a:latin typeface="Calibri"/>
              </a:rPr>
              <a:t>32</a:t>
            </a:r>
          </a:p>
        </p:txBody>
      </p:sp>
    </p:spTree>
    <p:extLst>
      <p:ext uri="{BB962C8B-B14F-4D97-AF65-F5344CB8AC3E}">
        <p14:creationId xmlns:p14="http://schemas.microsoft.com/office/powerpoint/2010/main" val="2773535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5544" y="277207"/>
            <a:ext cx="8229600" cy="369332"/>
          </a:xfrm>
          <a:prstGeom prst="rect">
            <a:avLst/>
          </a:prstGeom>
          <a:noFill/>
        </p:spPr>
        <p:txBody>
          <a:bodyPr wrap="square" lIns="54864" tIns="0" rIns="54864" bIns="0">
            <a:spAutoFit/>
          </a:bodyPr>
          <a:lstStyle/>
          <a:p>
            <a:pPr>
              <a:spcBef>
                <a:spcPts val="1000"/>
              </a:spcBef>
              <a:spcAft>
                <a:spcPts val="375"/>
              </a:spcAft>
            </a:pPr>
            <a:r>
              <a:rPr lang="en-US" altLang="zh-CN" sz="2400" b="1" dirty="0">
                <a:solidFill>
                  <a:srgbClr val="1A1A1A"/>
                </a:solidFill>
                <a:latin typeface="Calibri"/>
              </a:rPr>
              <a:t>Next and current step (not fully implemented)</a:t>
            </a:r>
            <a:r>
              <a:rPr lang="en-US" sz="2400" b="1" dirty="0">
                <a:solidFill>
                  <a:srgbClr val="1A1A1A"/>
                </a:solidFill>
                <a:latin typeface="Calibri"/>
              </a:rPr>
              <a:t>: Pruning</a:t>
            </a:r>
          </a:p>
        </p:txBody>
      </p:sp>
      <p:pic>
        <p:nvPicPr>
          <p:cNvPr id="3" name="Picture 2" descr="ce89df0d71b9bbf3.png"/>
          <p:cNvPicPr>
            <a:picLocks noChangeAspect="1"/>
          </p:cNvPicPr>
          <p:nvPr/>
        </p:nvPicPr>
        <p:blipFill>
          <a:blip r:embed="rId2"/>
          <a:stretch>
            <a:fillRect/>
          </a:stretch>
        </p:blipFill>
        <p:spPr>
          <a:xfrm>
            <a:off x="3521759" y="1646409"/>
            <a:ext cx="1997323" cy="331017"/>
          </a:xfrm>
          <a:prstGeom prst="rect">
            <a:avLst/>
          </a:prstGeom>
        </p:spPr>
      </p:pic>
      <p:sp>
        <p:nvSpPr>
          <p:cNvPr id="4" name="TextBox 3"/>
          <p:cNvSpPr txBox="1"/>
          <p:nvPr/>
        </p:nvSpPr>
        <p:spPr>
          <a:xfrm>
            <a:off x="578855" y="2137259"/>
            <a:ext cx="7013071" cy="276999"/>
          </a:xfrm>
          <a:prstGeom prst="rect">
            <a:avLst/>
          </a:prstGeom>
          <a:noFill/>
        </p:spPr>
        <p:txBody>
          <a:bodyPr wrap="square" lIns="54864" tIns="0" rIns="54864" bIns="0">
            <a:spAutoFit/>
          </a:bodyPr>
          <a:lstStyle/>
          <a:p>
            <a:pPr>
              <a:spcBef>
                <a:spcPts val="0"/>
              </a:spcBef>
              <a:spcAft>
                <a:spcPts val="480"/>
              </a:spcAft>
            </a:pPr>
            <a:r>
              <a:rPr b="0" i="0">
                <a:solidFill>
                  <a:srgbClr val="333333"/>
                </a:solidFill>
                <a:latin typeface="Calibri"/>
              </a:rPr>
              <a:t>where:</a:t>
            </a:r>
          </a:p>
        </p:txBody>
      </p:sp>
      <p:pic>
        <p:nvPicPr>
          <p:cNvPr id="5" name="Picture 4" descr="fea8c559d973219a.png"/>
          <p:cNvPicPr>
            <a:picLocks noChangeAspect="1"/>
          </p:cNvPicPr>
          <p:nvPr/>
        </p:nvPicPr>
        <p:blipFill>
          <a:blip r:embed="rId3"/>
          <a:stretch>
            <a:fillRect/>
          </a:stretch>
        </p:blipFill>
        <p:spPr>
          <a:xfrm>
            <a:off x="578855" y="2574090"/>
            <a:ext cx="4594963" cy="331017"/>
          </a:xfrm>
          <a:prstGeom prst="rect">
            <a:avLst/>
          </a:prstGeom>
        </p:spPr>
      </p:pic>
      <p:pic>
        <p:nvPicPr>
          <p:cNvPr id="6" name="Picture 5" descr="d0acf865a84aa230.png"/>
          <p:cNvPicPr>
            <a:picLocks noChangeAspect="1"/>
          </p:cNvPicPr>
          <p:nvPr/>
        </p:nvPicPr>
        <p:blipFill>
          <a:blip r:embed="rId4"/>
          <a:stretch>
            <a:fillRect/>
          </a:stretch>
        </p:blipFill>
        <p:spPr>
          <a:xfrm>
            <a:off x="567587" y="3127067"/>
            <a:ext cx="5066242" cy="331017"/>
          </a:xfrm>
          <a:prstGeom prst="rect">
            <a:avLst/>
          </a:prstGeom>
        </p:spPr>
      </p:pic>
      <p:sp>
        <p:nvSpPr>
          <p:cNvPr id="7" name="TextBox 6"/>
          <p:cNvSpPr txBox="1"/>
          <p:nvPr/>
        </p:nvSpPr>
        <p:spPr>
          <a:xfrm>
            <a:off x="578855" y="3679790"/>
            <a:ext cx="7013071" cy="276999"/>
          </a:xfrm>
          <a:prstGeom prst="rect">
            <a:avLst/>
          </a:prstGeom>
          <a:noFill/>
        </p:spPr>
        <p:txBody>
          <a:bodyPr wrap="square" lIns="54864" tIns="0" rIns="54864" bIns="0">
            <a:spAutoFit/>
          </a:bodyPr>
          <a:lstStyle/>
          <a:p>
            <a:pPr>
              <a:spcBef>
                <a:spcPts val="0"/>
              </a:spcBef>
              <a:spcAft>
                <a:spcPts val="480"/>
              </a:spcAft>
            </a:pPr>
            <a:r>
              <a:rPr b="0" i="0">
                <a:solidFill>
                  <a:srgbClr val="333333"/>
                </a:solidFill>
                <a:latin typeface="Calibri"/>
              </a:rPr>
              <a:t>If a feasible UB is already available:</a:t>
            </a:r>
          </a:p>
        </p:txBody>
      </p:sp>
      <p:pic>
        <p:nvPicPr>
          <p:cNvPr id="8" name="Picture 7" descr="bc947903672bf0ed.png"/>
          <p:cNvPicPr>
            <a:picLocks noChangeAspect="1"/>
          </p:cNvPicPr>
          <p:nvPr/>
        </p:nvPicPr>
        <p:blipFill>
          <a:blip r:embed="rId5"/>
          <a:stretch>
            <a:fillRect/>
          </a:stretch>
        </p:blipFill>
        <p:spPr>
          <a:xfrm>
            <a:off x="4417141" y="4138211"/>
            <a:ext cx="471278" cy="252470"/>
          </a:xfrm>
          <a:prstGeom prst="rect">
            <a:avLst/>
          </a:prstGeom>
        </p:spPr>
      </p:pic>
      <p:sp>
        <p:nvSpPr>
          <p:cNvPr id="9" name="TextBox 8"/>
          <p:cNvSpPr txBox="1"/>
          <p:nvPr/>
        </p:nvSpPr>
        <p:spPr>
          <a:xfrm>
            <a:off x="578855" y="4536888"/>
            <a:ext cx="7013071" cy="276999"/>
          </a:xfrm>
          <a:prstGeom prst="rect">
            <a:avLst/>
          </a:prstGeom>
          <a:noFill/>
        </p:spPr>
        <p:txBody>
          <a:bodyPr wrap="square" lIns="54864" tIns="0" rIns="54864" bIns="0">
            <a:spAutoFit/>
          </a:bodyPr>
          <a:lstStyle/>
          <a:p>
            <a:pPr>
              <a:spcBef>
                <a:spcPts val="0"/>
              </a:spcBef>
              <a:spcAft>
                <a:spcPts val="480"/>
              </a:spcAft>
            </a:pPr>
            <a:r>
              <a:rPr b="0" i="0">
                <a:solidFill>
                  <a:srgbClr val="333333"/>
                </a:solidFill>
                <a:latin typeface="Calibri"/>
              </a:rPr>
              <a:t>then any state with:</a:t>
            </a:r>
          </a:p>
        </p:txBody>
      </p:sp>
      <p:pic>
        <p:nvPicPr>
          <p:cNvPr id="10" name="Picture 9" descr="0ff09349d3512e47.png"/>
          <p:cNvPicPr>
            <a:picLocks noChangeAspect="1"/>
          </p:cNvPicPr>
          <p:nvPr/>
        </p:nvPicPr>
        <p:blipFill>
          <a:blip r:embed="rId6"/>
          <a:stretch>
            <a:fillRect/>
          </a:stretch>
        </p:blipFill>
        <p:spPr>
          <a:xfrm>
            <a:off x="3485549" y="4995307"/>
            <a:ext cx="2059037" cy="488110"/>
          </a:xfrm>
          <a:prstGeom prst="rect">
            <a:avLst/>
          </a:prstGeom>
        </p:spPr>
      </p:pic>
      <p:sp>
        <p:nvSpPr>
          <p:cNvPr id="11" name="TextBox 10"/>
          <p:cNvSpPr txBox="1"/>
          <p:nvPr/>
        </p:nvSpPr>
        <p:spPr>
          <a:xfrm>
            <a:off x="578855" y="5670500"/>
            <a:ext cx="7013071" cy="618118"/>
          </a:xfrm>
          <a:prstGeom prst="rect">
            <a:avLst/>
          </a:prstGeom>
          <a:noFill/>
        </p:spPr>
        <p:txBody>
          <a:bodyPr wrap="square" lIns="54864" tIns="0" rIns="54864" bIns="0">
            <a:spAutoFit/>
          </a:bodyPr>
          <a:lstStyle/>
          <a:p>
            <a:pPr>
              <a:spcBef>
                <a:spcPts val="0"/>
              </a:spcBef>
              <a:spcAft>
                <a:spcPts val="480"/>
              </a:spcAft>
            </a:pPr>
            <a:r>
              <a:rPr b="0" i="0" dirty="0">
                <a:solidFill>
                  <a:srgbClr val="333333"/>
                </a:solidFill>
                <a:latin typeface="Calibri"/>
              </a:rPr>
              <a:t>can be pruned directly.</a:t>
            </a:r>
          </a:p>
          <a:p>
            <a:pPr>
              <a:spcBef>
                <a:spcPts val="0"/>
              </a:spcBef>
              <a:spcAft>
                <a:spcPts val="480"/>
              </a:spcAft>
            </a:pPr>
            <a:r>
              <a:rPr b="0" i="0" dirty="0">
                <a:solidFill>
                  <a:srgbClr val="333333"/>
                </a:solidFill>
                <a:latin typeface="Calibri"/>
              </a:rPr>
              <a:t>This is exactly branch-and-bound / A*-style lower-bound pruning.</a:t>
            </a:r>
          </a:p>
        </p:txBody>
      </p:sp>
      <p:sp>
        <p:nvSpPr>
          <p:cNvPr id="13" name="TextBox 12">
            <a:extLst>
              <a:ext uri="{FF2B5EF4-FFF2-40B4-BE49-F238E27FC236}">
                <a16:creationId xmlns:a16="http://schemas.microsoft.com/office/drawing/2014/main" id="{FC0C3EB2-8698-CED3-9180-6C94511B6FD0}"/>
              </a:ext>
            </a:extLst>
          </p:cNvPr>
          <p:cNvSpPr txBox="1"/>
          <p:nvPr/>
        </p:nvSpPr>
        <p:spPr>
          <a:xfrm>
            <a:off x="435544" y="1026312"/>
            <a:ext cx="5198285" cy="369332"/>
          </a:xfrm>
          <a:prstGeom prst="rect">
            <a:avLst/>
          </a:prstGeom>
          <a:noFill/>
        </p:spPr>
        <p:txBody>
          <a:bodyPr wrap="square">
            <a:spAutoFit/>
          </a:bodyPr>
          <a:lstStyle/>
          <a:p>
            <a:pPr>
              <a:spcBef>
                <a:spcPts val="0"/>
              </a:spcBef>
              <a:spcAft>
                <a:spcPts val="480"/>
              </a:spcAft>
            </a:pPr>
            <a:r>
              <a:rPr lang="en-US" b="0" i="0" dirty="0">
                <a:solidFill>
                  <a:srgbClr val="333333"/>
                </a:solidFill>
                <a:latin typeface="Calibri"/>
              </a:rPr>
              <a:t>The idea is:</a:t>
            </a:r>
          </a:p>
        </p:txBody>
      </p:sp>
      <p:sp>
        <p:nvSpPr>
          <p:cNvPr id="16" name="PageNumber">
            <a:extLst>
              <a:ext uri="{FF2B5EF4-FFF2-40B4-BE49-F238E27FC236}">
                <a16:creationId xmlns:a16="http://schemas.microsoft.com/office/drawing/2014/main" id="{F4C4E142-BD67-E028-0CF1-7631CF8B3F08}"/>
              </a:ext>
            </a:extLst>
          </p:cNvPr>
          <p:cNvSpPr txBox="1"/>
          <p:nvPr/>
        </p:nvSpPr>
        <p:spPr>
          <a:xfrm>
            <a:off x="10871844" y="6382512"/>
            <a:ext cx="144270" cy="169277"/>
          </a:xfrm>
          <a:prstGeom prst="rect">
            <a:avLst/>
          </a:prstGeom>
          <a:noFill/>
        </p:spPr>
        <p:txBody>
          <a:bodyPr wrap="none" lIns="0" tIns="0" rIns="0" bIns="0">
            <a:spAutoFit/>
          </a:bodyPr>
          <a:lstStyle/>
          <a:p>
            <a:pPr algn="r"/>
            <a:r>
              <a:rPr lang="en-US" altLang="zh-CN" sz="1100" dirty="0">
                <a:solidFill>
                  <a:srgbClr val="777777"/>
                </a:solidFill>
                <a:latin typeface="Calibri"/>
              </a:rPr>
              <a:t>11</a:t>
            </a:r>
            <a:endParaRPr sz="1100" dirty="0">
              <a:solidFill>
                <a:srgbClr val="777777"/>
              </a:solidFill>
              <a:latin typeface="Calibri"/>
            </a:endParaRPr>
          </a:p>
        </p:txBody>
      </p:sp>
    </p:spTree>
    <p:extLst>
      <p:ext uri="{BB962C8B-B14F-4D97-AF65-F5344CB8AC3E}">
        <p14:creationId xmlns:p14="http://schemas.microsoft.com/office/powerpoint/2010/main" val="1334721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58100"/>
            <a:ext cx="5486400" cy="949875"/>
          </a:xfrm>
          <a:prstGeom prst="rect">
            <a:avLst/>
          </a:prstGeom>
          <a:noFill/>
        </p:spPr>
        <p:txBody>
          <a:bodyPr wrap="square" lIns="54864" tIns="0" rIns="54864" bIns="0">
            <a:spAutoFit/>
          </a:bodyPr>
          <a:lstStyle/>
          <a:p>
            <a:pPr>
              <a:spcBef>
                <a:spcPts val="0"/>
              </a:spcBef>
              <a:spcAft>
                <a:spcPts val="509"/>
              </a:spcAft>
            </a:pPr>
            <a:r>
              <a:rPr sz="2039" b="0" i="0" dirty="0">
                <a:solidFill>
                  <a:srgbClr val="333333"/>
                </a:solidFill>
                <a:latin typeface="Calibri"/>
              </a:rPr>
              <a:t>For instance, try at least:</a:t>
            </a:r>
          </a:p>
          <a:p>
            <a:pPr>
              <a:spcBef>
                <a:spcPts val="1360"/>
              </a:spcBef>
              <a:spcAft>
                <a:spcPts val="509"/>
              </a:spcAft>
            </a:pPr>
            <a:r>
              <a:rPr sz="2550" b="1" i="0" dirty="0">
                <a:solidFill>
                  <a:srgbClr val="1A1A1A"/>
                </a:solidFill>
                <a:latin typeface="Calibri"/>
              </a:rPr>
              <a:t>earliest departure first</a:t>
            </a:r>
          </a:p>
        </p:txBody>
      </p:sp>
      <p:pic>
        <p:nvPicPr>
          <p:cNvPr id="3" name="Picture 2" descr="6819b9b75911ffba.png"/>
          <p:cNvPicPr>
            <a:picLocks noChangeAspect="1"/>
          </p:cNvPicPr>
          <p:nvPr/>
        </p:nvPicPr>
        <p:blipFill>
          <a:blip r:embed="rId2"/>
          <a:stretch>
            <a:fillRect/>
          </a:stretch>
        </p:blipFill>
        <p:spPr>
          <a:xfrm>
            <a:off x="2389464" y="2320505"/>
            <a:ext cx="1804751" cy="461680"/>
          </a:xfrm>
          <a:prstGeom prst="rect">
            <a:avLst/>
          </a:prstGeom>
        </p:spPr>
      </p:pic>
      <p:sp>
        <p:nvSpPr>
          <p:cNvPr id="4" name="TextBox 3"/>
          <p:cNvSpPr txBox="1"/>
          <p:nvPr/>
        </p:nvSpPr>
        <p:spPr>
          <a:xfrm>
            <a:off x="548640" y="2891000"/>
            <a:ext cx="5486400" cy="2642184"/>
          </a:xfrm>
          <a:prstGeom prst="rect">
            <a:avLst/>
          </a:prstGeom>
          <a:noFill/>
        </p:spPr>
        <p:txBody>
          <a:bodyPr wrap="square" lIns="54864" tIns="0" rIns="54864" bIns="0">
            <a:spAutoFit/>
          </a:bodyPr>
          <a:lstStyle/>
          <a:p>
            <a:pPr>
              <a:spcBef>
                <a:spcPts val="1360"/>
              </a:spcBef>
              <a:spcAft>
                <a:spcPts val="509"/>
              </a:spcAft>
            </a:pPr>
            <a:r>
              <a:rPr sz="2550" b="1" i="0" dirty="0">
                <a:solidFill>
                  <a:srgbClr val="1A1A1A"/>
                </a:solidFill>
                <a:latin typeface="Calibri"/>
              </a:rPr>
              <a:t>highest cost priority first</a:t>
            </a:r>
          </a:p>
          <a:p>
            <a:pPr>
              <a:spcBef>
                <a:spcPts val="0"/>
              </a:spcBef>
              <a:spcAft>
                <a:spcPts val="509"/>
              </a:spcAft>
            </a:pPr>
            <a:r>
              <a:rPr sz="2039" b="0" i="0" dirty="0">
                <a:solidFill>
                  <a:srgbClr val="333333"/>
                </a:solidFill>
                <a:latin typeface="Calibri"/>
              </a:rPr>
              <a:t>Fix the train with the largest schedule deviation cost first.</a:t>
            </a:r>
          </a:p>
          <a:p>
            <a:pPr>
              <a:spcBef>
                <a:spcPts val="1360"/>
              </a:spcBef>
              <a:spcAft>
                <a:spcPts val="509"/>
              </a:spcAft>
            </a:pPr>
            <a:r>
              <a:rPr sz="2550" b="1" i="0" dirty="0">
                <a:solidFill>
                  <a:srgbClr val="1A1A1A"/>
                </a:solidFill>
                <a:latin typeface="Calibri"/>
              </a:rPr>
              <a:t>most constrained first</a:t>
            </a:r>
          </a:p>
          <a:p>
            <a:pPr>
              <a:spcBef>
                <a:spcPts val="0"/>
              </a:spcBef>
              <a:spcAft>
                <a:spcPts val="509"/>
              </a:spcAft>
            </a:pPr>
            <a:r>
              <a:rPr sz="2039" b="0" i="0" dirty="0">
                <a:solidFill>
                  <a:srgbClr val="333333"/>
                </a:solidFill>
                <a:latin typeface="Calibri"/>
              </a:rPr>
              <a:t>Schedule the train with the fewest available route/timing options first.</a:t>
            </a:r>
          </a:p>
        </p:txBody>
      </p:sp>
      <p:sp>
        <p:nvSpPr>
          <p:cNvPr id="5" name="TextBox 4"/>
          <p:cNvSpPr txBox="1"/>
          <p:nvPr/>
        </p:nvSpPr>
        <p:spPr>
          <a:xfrm>
            <a:off x="6341844" y="880712"/>
            <a:ext cx="5486400" cy="1950440"/>
          </a:xfrm>
          <a:prstGeom prst="rect">
            <a:avLst/>
          </a:prstGeom>
          <a:noFill/>
        </p:spPr>
        <p:txBody>
          <a:bodyPr wrap="square" lIns="54864" tIns="0" rIns="54864" bIns="0">
            <a:spAutoFit/>
          </a:bodyPr>
          <a:lstStyle/>
          <a:p>
            <a:pPr>
              <a:spcBef>
                <a:spcPts val="1360"/>
              </a:spcBef>
              <a:spcAft>
                <a:spcPts val="509"/>
              </a:spcAft>
            </a:pPr>
            <a:r>
              <a:rPr sz="2550" b="1" i="0" dirty="0">
                <a:solidFill>
                  <a:srgbClr val="1A1A1A"/>
                </a:solidFill>
                <a:latin typeface="Calibri"/>
              </a:rPr>
              <a:t>highest conflict degree first</a:t>
            </a:r>
          </a:p>
          <a:p>
            <a:pPr>
              <a:spcBef>
                <a:spcPts val="0"/>
              </a:spcBef>
              <a:spcAft>
                <a:spcPts val="509"/>
              </a:spcAft>
            </a:pPr>
            <a:r>
              <a:rPr sz="2039" b="0" i="0" dirty="0">
                <a:solidFill>
                  <a:srgbClr val="333333"/>
                </a:solidFill>
                <a:latin typeface="Calibri"/>
              </a:rPr>
              <a:t>Handle the train that conflicts with the most other trains first.</a:t>
            </a:r>
          </a:p>
          <a:p>
            <a:pPr>
              <a:spcBef>
                <a:spcPts val="1360"/>
              </a:spcBef>
              <a:spcAft>
                <a:spcPts val="509"/>
              </a:spcAft>
            </a:pPr>
            <a:r>
              <a:rPr sz="2550" b="1" i="0" dirty="0">
                <a:solidFill>
                  <a:srgbClr val="1A1A1A"/>
                </a:solidFill>
                <a:latin typeface="Calibri"/>
              </a:rPr>
              <a:t>Soft-</a:t>
            </a:r>
            <a:r>
              <a:rPr sz="2550" b="1" i="0" dirty="0" err="1">
                <a:solidFill>
                  <a:srgbClr val="1A1A1A"/>
                </a:solidFill>
                <a:latin typeface="Calibri"/>
              </a:rPr>
              <a:t>Lagrangian</a:t>
            </a:r>
            <a:r>
              <a:rPr sz="2550" b="1" i="0" dirty="0">
                <a:solidFill>
                  <a:srgbClr val="1A1A1A"/>
                </a:solidFill>
                <a:latin typeface="Calibri"/>
              </a:rPr>
              <a:t> price burden first</a:t>
            </a:r>
          </a:p>
        </p:txBody>
      </p:sp>
      <p:pic>
        <p:nvPicPr>
          <p:cNvPr id="6" name="Picture 5" descr="6d4caa376e111f19.png"/>
          <p:cNvPicPr>
            <a:picLocks noChangeAspect="1"/>
          </p:cNvPicPr>
          <p:nvPr/>
        </p:nvPicPr>
        <p:blipFill>
          <a:blip r:embed="rId3"/>
          <a:stretch>
            <a:fillRect/>
          </a:stretch>
        </p:blipFill>
        <p:spPr>
          <a:xfrm>
            <a:off x="7878378" y="2939966"/>
            <a:ext cx="2413330" cy="839419"/>
          </a:xfrm>
          <a:prstGeom prst="rect">
            <a:avLst/>
          </a:prstGeom>
        </p:spPr>
      </p:pic>
      <p:sp>
        <p:nvSpPr>
          <p:cNvPr id="7" name="TextBox 6"/>
          <p:cNvSpPr txBox="1"/>
          <p:nvPr/>
        </p:nvSpPr>
        <p:spPr>
          <a:xfrm>
            <a:off x="6341844" y="3888199"/>
            <a:ext cx="5486400" cy="756513"/>
          </a:xfrm>
          <a:prstGeom prst="rect">
            <a:avLst/>
          </a:prstGeom>
          <a:noFill/>
        </p:spPr>
        <p:txBody>
          <a:bodyPr wrap="square" lIns="54864" tIns="0" rIns="54864" bIns="0">
            <a:spAutoFit/>
          </a:bodyPr>
          <a:lstStyle/>
          <a:p>
            <a:pPr>
              <a:spcBef>
                <a:spcPts val="0"/>
              </a:spcBef>
              <a:spcAft>
                <a:spcPts val="509"/>
              </a:spcAft>
            </a:pPr>
            <a:r>
              <a:rPr sz="2039" b="0" i="0">
                <a:solidFill>
                  <a:srgbClr val="333333"/>
                </a:solidFill>
                <a:latin typeface="Calibri"/>
              </a:rPr>
              <a:t>Handle the most congested train first.</a:t>
            </a:r>
          </a:p>
          <a:p>
            <a:pPr>
              <a:spcBef>
                <a:spcPts val="0"/>
              </a:spcBef>
              <a:spcAft>
                <a:spcPts val="509"/>
              </a:spcAft>
            </a:pPr>
            <a:r>
              <a:rPr sz="2039" b="0" i="0">
                <a:solidFill>
                  <a:srgbClr val="333333"/>
                </a:solidFill>
                <a:latin typeface="Calibri"/>
              </a:rPr>
              <a:t>Each ordering gives:</a:t>
            </a:r>
          </a:p>
        </p:txBody>
      </p:sp>
      <p:pic>
        <p:nvPicPr>
          <p:cNvPr id="8" name="Picture 7" descr="89109ecc4e6141b2.png"/>
          <p:cNvPicPr>
            <a:picLocks noChangeAspect="1"/>
          </p:cNvPicPr>
          <p:nvPr/>
        </p:nvPicPr>
        <p:blipFill>
          <a:blip r:embed="rId4"/>
          <a:stretch>
            <a:fillRect/>
          </a:stretch>
        </p:blipFill>
        <p:spPr>
          <a:xfrm>
            <a:off x="8591885" y="4753526"/>
            <a:ext cx="986317" cy="391728"/>
          </a:xfrm>
          <a:prstGeom prst="rect">
            <a:avLst/>
          </a:prstGeom>
        </p:spPr>
      </p:pic>
      <p:sp>
        <p:nvSpPr>
          <p:cNvPr id="9" name="TextBox 8"/>
          <p:cNvSpPr txBox="1"/>
          <p:nvPr/>
        </p:nvSpPr>
        <p:spPr>
          <a:xfrm>
            <a:off x="6341844" y="5254068"/>
            <a:ext cx="5486400" cy="378256"/>
          </a:xfrm>
          <a:prstGeom prst="rect">
            <a:avLst/>
          </a:prstGeom>
          <a:noFill/>
        </p:spPr>
        <p:txBody>
          <a:bodyPr wrap="square" lIns="54864" tIns="0" rIns="54864" bIns="0">
            <a:spAutoFit/>
          </a:bodyPr>
          <a:lstStyle/>
          <a:p>
            <a:pPr>
              <a:spcBef>
                <a:spcPts val="0"/>
              </a:spcBef>
              <a:spcAft>
                <a:spcPts val="509"/>
              </a:spcAft>
            </a:pPr>
            <a:r>
              <a:rPr sz="2039" b="0" i="0">
                <a:solidFill>
                  <a:srgbClr val="333333"/>
                </a:solidFill>
                <a:latin typeface="Calibri"/>
              </a:rPr>
              <a:t>and finally:</a:t>
            </a:r>
          </a:p>
        </p:txBody>
      </p:sp>
      <p:pic>
        <p:nvPicPr>
          <p:cNvPr id="10" name="Picture 9" descr="5129e02155475d6c.png"/>
          <p:cNvPicPr>
            <a:picLocks noChangeAspect="1"/>
          </p:cNvPicPr>
          <p:nvPr/>
        </p:nvPicPr>
        <p:blipFill>
          <a:blip r:embed="rId5"/>
          <a:stretch>
            <a:fillRect/>
          </a:stretch>
        </p:blipFill>
        <p:spPr>
          <a:xfrm>
            <a:off x="7591577" y="5741139"/>
            <a:ext cx="2986933" cy="790453"/>
          </a:xfrm>
          <a:prstGeom prst="rect">
            <a:avLst/>
          </a:prstGeom>
        </p:spPr>
      </p:pic>
      <p:sp>
        <p:nvSpPr>
          <p:cNvPr id="12" name="TextBox 11">
            <a:extLst>
              <a:ext uri="{FF2B5EF4-FFF2-40B4-BE49-F238E27FC236}">
                <a16:creationId xmlns:a16="http://schemas.microsoft.com/office/drawing/2014/main" id="{B62FC61B-4328-19D9-7071-83EEC050570E}"/>
              </a:ext>
            </a:extLst>
          </p:cNvPr>
          <p:cNvSpPr txBox="1"/>
          <p:nvPr/>
        </p:nvSpPr>
        <p:spPr>
          <a:xfrm>
            <a:off x="548640" y="183434"/>
            <a:ext cx="8733724" cy="484748"/>
          </a:xfrm>
          <a:prstGeom prst="rect">
            <a:avLst/>
          </a:prstGeom>
          <a:noFill/>
        </p:spPr>
        <p:txBody>
          <a:bodyPr wrap="square">
            <a:spAutoFit/>
          </a:bodyPr>
          <a:lstStyle/>
          <a:p>
            <a:pPr>
              <a:spcBef>
                <a:spcPts val="1360"/>
              </a:spcBef>
              <a:spcAft>
                <a:spcPts val="509"/>
              </a:spcAft>
            </a:pPr>
            <a:r>
              <a:rPr lang="en-US" altLang="zh-CN" sz="2550" b="1" dirty="0">
                <a:solidFill>
                  <a:srgbClr val="1A1A1A"/>
                </a:solidFill>
                <a:latin typeface="Calibri"/>
              </a:rPr>
              <a:t>I</a:t>
            </a:r>
            <a:r>
              <a:rPr lang="en-US" sz="2550" b="1" i="0" dirty="0">
                <a:solidFill>
                  <a:srgbClr val="1A1A1A"/>
                </a:solidFill>
                <a:latin typeface="Calibri"/>
              </a:rPr>
              <a:t>mplemented as “multi-ordering </a:t>
            </a:r>
            <a:r>
              <a:rPr lang="en-US" altLang="zh-CN" sz="2550" b="1" i="0" dirty="0">
                <a:solidFill>
                  <a:srgbClr val="1A1A1A"/>
                </a:solidFill>
                <a:latin typeface="Calibri"/>
              </a:rPr>
              <a:t>S</a:t>
            </a:r>
            <a:r>
              <a:rPr lang="en-US" sz="2550" b="1" i="0" dirty="0">
                <a:solidFill>
                  <a:srgbClr val="1A1A1A"/>
                </a:solidFill>
                <a:latin typeface="Calibri"/>
              </a:rPr>
              <a:t>equential </a:t>
            </a:r>
            <a:r>
              <a:rPr lang="en-US" altLang="zh-CN" sz="2550" b="1" dirty="0">
                <a:solidFill>
                  <a:srgbClr val="1A1A1A"/>
                </a:solidFill>
                <a:latin typeface="Calibri"/>
              </a:rPr>
              <a:t>R</a:t>
            </a:r>
            <a:r>
              <a:rPr lang="en-US" sz="2550" b="1" i="0" dirty="0">
                <a:solidFill>
                  <a:srgbClr val="1A1A1A"/>
                </a:solidFill>
                <a:latin typeface="Calibri"/>
              </a:rPr>
              <a:t>ecovery”</a:t>
            </a:r>
          </a:p>
        </p:txBody>
      </p:sp>
      <p:sp>
        <p:nvSpPr>
          <p:cNvPr id="11" name="PageNumber">
            <a:extLst>
              <a:ext uri="{FF2B5EF4-FFF2-40B4-BE49-F238E27FC236}">
                <a16:creationId xmlns:a16="http://schemas.microsoft.com/office/drawing/2014/main" id="{931B7906-F27A-18F6-20ED-E3706386C207}"/>
              </a:ext>
            </a:extLst>
          </p:cNvPr>
          <p:cNvSpPr txBox="1"/>
          <p:nvPr/>
        </p:nvSpPr>
        <p:spPr>
          <a:xfrm>
            <a:off x="11076381" y="6380122"/>
            <a:ext cx="144270" cy="169277"/>
          </a:xfrm>
          <a:prstGeom prst="rect">
            <a:avLst/>
          </a:prstGeom>
          <a:noFill/>
        </p:spPr>
        <p:txBody>
          <a:bodyPr wrap="none" lIns="0" tIns="0" rIns="0" bIns="0">
            <a:spAutoFit/>
          </a:bodyPr>
          <a:lstStyle/>
          <a:p>
            <a:pPr algn="r"/>
            <a:r>
              <a:rPr lang="en-US" altLang="zh-CN" sz="1100" dirty="0">
                <a:solidFill>
                  <a:srgbClr val="777777"/>
                </a:solidFill>
                <a:latin typeface="Calibri"/>
              </a:rPr>
              <a:t>12</a:t>
            </a:r>
            <a:endParaRPr sz="1100" dirty="0">
              <a:solidFill>
                <a:srgbClr val="777777"/>
              </a:solidFill>
              <a:latin typeface="Calibri"/>
            </a:endParaRPr>
          </a:p>
        </p:txBody>
      </p:sp>
    </p:spTree>
    <p:extLst>
      <p:ext uri="{BB962C8B-B14F-4D97-AF65-F5344CB8AC3E}">
        <p14:creationId xmlns:p14="http://schemas.microsoft.com/office/powerpoint/2010/main" val="3263573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4457</TotalTime>
  <Words>913</Words>
  <Application>Microsoft Macintosh PowerPoint</Application>
  <PresentationFormat>Widescreen</PresentationFormat>
  <Paragraphs>124</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(RAS dataset 3):</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Wenlin Li</dc:creator>
  <cp:lastModifiedBy>Wenlin Li</cp:lastModifiedBy>
  <cp:revision>34</cp:revision>
  <dcterms:created xsi:type="dcterms:W3CDTF">2026-08-18T03:47:51Z</dcterms:created>
  <dcterms:modified xsi:type="dcterms:W3CDTF">2026-08-25T14:59:06Z</dcterms:modified>
</cp:coreProperties>
</file>